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74" r:id="rId4"/>
    <p:sldId id="276" r:id="rId5"/>
    <p:sldId id="283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7FD3C-ADB6-419E-B195-EB912BF3AA02}" v="1" dt="2024-10-05T13:37:25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0307CDC7-505E-4DEF-990A-B84B1D645FA4}"/>
    <pc:docChg chg="custSel delSld modSld">
      <pc:chgData name="Christian Villanueva" userId="9367907e4847b616" providerId="LiveId" clId="{0307CDC7-505E-4DEF-990A-B84B1D645FA4}" dt="2023-12-14T00:57:10.501" v="2310" actId="20577"/>
      <pc:docMkLst>
        <pc:docMk/>
      </pc:docMkLst>
      <pc:sldChg chg="modSp mod">
        <pc:chgData name="Christian Villanueva" userId="9367907e4847b616" providerId="LiveId" clId="{0307CDC7-505E-4DEF-990A-B84B1D645FA4}" dt="2023-12-13T04:45:27.110" v="2" actId="20577"/>
        <pc:sldMkLst>
          <pc:docMk/>
          <pc:sldMk cId="2517860399" sldId="256"/>
        </pc:sldMkLst>
        <pc:spChg chg="mod">
          <ac:chgData name="Christian Villanueva" userId="9367907e4847b616" providerId="LiveId" clId="{0307CDC7-505E-4DEF-990A-B84B1D645FA4}" dt="2023-12-13T04:45:27.110" v="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0307CDC7-505E-4DEF-990A-B84B1D645FA4}" dt="2023-12-13T04:47:39.875" v="392" actId="20577"/>
        <pc:sldMkLst>
          <pc:docMk/>
          <pc:sldMk cId="1457034104" sldId="257"/>
        </pc:sldMkLst>
        <pc:spChg chg="mod">
          <ac:chgData name="Christian Villanueva" userId="9367907e4847b616" providerId="LiveId" clId="{0307CDC7-505E-4DEF-990A-B84B1D645FA4}" dt="2023-12-13T04:45:33.836" v="12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0307CDC7-505E-4DEF-990A-B84B1D645FA4}" dt="2023-12-13T04:47:39.875" v="392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delSp modSp del mod">
        <pc:chgData name="Christian Villanueva" userId="9367907e4847b616" providerId="LiveId" clId="{0307CDC7-505E-4DEF-990A-B84B1D645FA4}" dt="2023-12-13T04:47:54.894" v="404" actId="47"/>
        <pc:sldMkLst>
          <pc:docMk/>
          <pc:sldMk cId="3805736252" sldId="273"/>
        </pc:sldMkLst>
        <pc:spChg chg="mod">
          <ac:chgData name="Christian Villanueva" userId="9367907e4847b616" providerId="LiveId" clId="{0307CDC7-505E-4DEF-990A-B84B1D645FA4}" dt="2023-12-13T04:47:45.922" v="401" actId="20577"/>
          <ac:spMkLst>
            <pc:docMk/>
            <pc:sldMk cId="3805736252" sldId="273"/>
            <ac:spMk id="2" creationId="{86705015-20EE-35FE-01D6-B865C6688E52}"/>
          </ac:spMkLst>
        </pc:spChg>
        <pc:picChg chg="del">
          <ac:chgData name="Christian Villanueva" userId="9367907e4847b616" providerId="LiveId" clId="{0307CDC7-505E-4DEF-990A-B84B1D645FA4}" dt="2023-12-13T04:47:47.977" v="402" actId="478"/>
          <ac:picMkLst>
            <pc:docMk/>
            <pc:sldMk cId="3805736252" sldId="273"/>
            <ac:picMk id="5" creationId="{00AEBD0D-BF1F-6F47-0334-AA01A332CFE5}"/>
          </ac:picMkLst>
        </pc:picChg>
      </pc:sldChg>
      <pc:sldChg chg="modSp mod">
        <pc:chgData name="Christian Villanueva" userId="9367907e4847b616" providerId="LiveId" clId="{0307CDC7-505E-4DEF-990A-B84B1D645FA4}" dt="2023-12-13T04:50:57.475" v="786" actId="20577"/>
        <pc:sldMkLst>
          <pc:docMk/>
          <pc:sldMk cId="1730968163" sldId="274"/>
        </pc:sldMkLst>
        <pc:spChg chg="mod">
          <ac:chgData name="Christian Villanueva" userId="9367907e4847b616" providerId="LiveId" clId="{0307CDC7-505E-4DEF-990A-B84B1D645FA4}" dt="2023-12-13T04:50:57.475" v="786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0307CDC7-505E-4DEF-990A-B84B1D645FA4}" dt="2023-12-13T04:55:27.471" v="1105" actId="20577"/>
        <pc:sldMkLst>
          <pc:docMk/>
          <pc:sldMk cId="900127888" sldId="276"/>
        </pc:sldMkLst>
        <pc:spChg chg="mod">
          <ac:chgData name="Christian Villanueva" userId="9367907e4847b616" providerId="LiveId" clId="{0307CDC7-505E-4DEF-990A-B84B1D645FA4}" dt="2023-12-13T04:54:21.327" v="832" actId="20577"/>
          <ac:spMkLst>
            <pc:docMk/>
            <pc:sldMk cId="900127888" sldId="276"/>
            <ac:spMk id="2" creationId="{86705015-20EE-35FE-01D6-B865C6688E52}"/>
          </ac:spMkLst>
        </pc:spChg>
        <pc:spChg chg="mod">
          <ac:chgData name="Christian Villanueva" userId="9367907e4847b616" providerId="LiveId" clId="{0307CDC7-505E-4DEF-990A-B84B1D645FA4}" dt="2023-12-13T04:55:27.471" v="1105" actId="20577"/>
          <ac:spMkLst>
            <pc:docMk/>
            <pc:sldMk cId="900127888" sldId="276"/>
            <ac:spMk id="9" creationId="{30D555CC-90BC-BE52-9BE3-30C735F83DFB}"/>
          </ac:spMkLst>
        </pc:spChg>
      </pc:sldChg>
      <pc:sldChg chg="del">
        <pc:chgData name="Christian Villanueva" userId="9367907e4847b616" providerId="LiveId" clId="{0307CDC7-505E-4DEF-990A-B84B1D645FA4}" dt="2023-12-13T04:47:50.585" v="403" actId="47"/>
        <pc:sldMkLst>
          <pc:docMk/>
          <pc:sldMk cId="4252742030" sldId="282"/>
        </pc:sldMkLst>
      </pc:sldChg>
      <pc:sldChg chg="addSp delSp modSp mod">
        <pc:chgData name="Christian Villanueva" userId="9367907e4847b616" providerId="LiveId" clId="{0307CDC7-505E-4DEF-990A-B84B1D645FA4}" dt="2023-12-13T05:01:20.678" v="1917" actId="1076"/>
        <pc:sldMkLst>
          <pc:docMk/>
          <pc:sldMk cId="1852912204" sldId="283"/>
        </pc:sldMkLst>
        <pc:spChg chg="mod">
          <ac:chgData name="Christian Villanueva" userId="9367907e4847b616" providerId="LiveId" clId="{0307CDC7-505E-4DEF-990A-B84B1D645FA4}" dt="2023-12-13T04:55:44.602" v="1148" actId="20577"/>
          <ac:spMkLst>
            <pc:docMk/>
            <pc:sldMk cId="1852912204" sldId="283"/>
            <ac:spMk id="2" creationId="{86705015-20EE-35FE-01D6-B865C6688E52}"/>
          </ac:spMkLst>
        </pc:spChg>
        <pc:spChg chg="add mod">
          <ac:chgData name="Christian Villanueva" userId="9367907e4847b616" providerId="LiveId" clId="{0307CDC7-505E-4DEF-990A-B84B1D645FA4}" dt="2023-12-13T05:01:20.678" v="1917" actId="1076"/>
          <ac:spMkLst>
            <pc:docMk/>
            <pc:sldMk cId="1852912204" sldId="283"/>
            <ac:spMk id="5" creationId="{1911BA79-F690-09D6-26D8-DCDF196F7893}"/>
          </ac:spMkLst>
        </pc:spChg>
        <pc:spChg chg="mod">
          <ac:chgData name="Christian Villanueva" userId="9367907e4847b616" providerId="LiveId" clId="{0307CDC7-505E-4DEF-990A-B84B1D645FA4}" dt="2023-12-13T05:00:35.687" v="1893" actId="14100"/>
          <ac:spMkLst>
            <pc:docMk/>
            <pc:sldMk cId="1852912204" sldId="283"/>
            <ac:spMk id="9" creationId="{30D555CC-90BC-BE52-9BE3-30C735F83DFB}"/>
          </ac:spMkLst>
        </pc:spChg>
        <pc:picChg chg="del">
          <ac:chgData name="Christian Villanueva" userId="9367907e4847b616" providerId="LiveId" clId="{0307CDC7-505E-4DEF-990A-B84B1D645FA4}" dt="2023-12-13T04:55:58.615" v="1149" actId="478"/>
          <ac:picMkLst>
            <pc:docMk/>
            <pc:sldMk cId="1852912204" sldId="283"/>
            <ac:picMk id="4" creationId="{25E41957-C13B-F548-F1E8-011B83D3B276}"/>
          </ac:picMkLst>
        </pc:picChg>
        <pc:picChg chg="add mod">
          <ac:chgData name="Christian Villanueva" userId="9367907e4847b616" providerId="LiveId" clId="{0307CDC7-505E-4DEF-990A-B84B1D645FA4}" dt="2023-12-13T05:00:42.447" v="1896" actId="1076"/>
          <ac:picMkLst>
            <pc:docMk/>
            <pc:sldMk cId="1852912204" sldId="283"/>
            <ac:picMk id="1026" creationId="{6016B3E6-3205-543B-361D-1EC048A7F62F}"/>
          </ac:picMkLst>
        </pc:picChg>
      </pc:sldChg>
      <pc:sldChg chg="addSp modSp mod">
        <pc:chgData name="Christian Villanueva" userId="9367907e4847b616" providerId="LiveId" clId="{0307CDC7-505E-4DEF-990A-B84B1D645FA4}" dt="2023-12-14T00:57:10.501" v="2310" actId="20577"/>
        <pc:sldMkLst>
          <pc:docMk/>
          <pc:sldMk cId="353108808" sldId="289"/>
        </pc:sldMkLst>
        <pc:spChg chg="mod">
          <ac:chgData name="Christian Villanueva" userId="9367907e4847b616" providerId="LiveId" clId="{0307CDC7-505E-4DEF-990A-B84B1D645FA4}" dt="2023-12-13T05:06:42.660" v="2069" actId="20577"/>
          <ac:spMkLst>
            <pc:docMk/>
            <pc:sldMk cId="353108808" sldId="289"/>
            <ac:spMk id="2" creationId="{86705015-20EE-35FE-01D6-B865C6688E52}"/>
          </ac:spMkLst>
        </pc:spChg>
        <pc:spChg chg="add mod">
          <ac:chgData name="Christian Villanueva" userId="9367907e4847b616" providerId="LiveId" clId="{0307CDC7-505E-4DEF-990A-B84B1D645FA4}" dt="2023-12-13T05:12:21.147" v="2268"/>
          <ac:spMkLst>
            <pc:docMk/>
            <pc:sldMk cId="353108808" sldId="289"/>
            <ac:spMk id="3" creationId="{2C98F4BA-238E-D2B1-EC05-2BC3275935DA}"/>
          </ac:spMkLst>
        </pc:spChg>
        <pc:spChg chg="mod">
          <ac:chgData name="Christian Villanueva" userId="9367907e4847b616" providerId="LiveId" clId="{0307CDC7-505E-4DEF-990A-B84B1D645FA4}" dt="2023-12-14T00:57:10.501" v="2310" actId="20577"/>
          <ac:spMkLst>
            <pc:docMk/>
            <pc:sldMk cId="353108808" sldId="289"/>
            <ac:spMk id="9" creationId="{30D555CC-90BC-BE52-9BE3-30C735F83DFB}"/>
          </ac:spMkLst>
        </pc:spChg>
        <pc:picChg chg="add mod">
          <ac:chgData name="Christian Villanueva" userId="9367907e4847b616" providerId="LiveId" clId="{0307CDC7-505E-4DEF-990A-B84B1D645FA4}" dt="2023-12-13T05:11:44.745" v="2261" actId="1076"/>
          <ac:picMkLst>
            <pc:docMk/>
            <pc:sldMk cId="353108808" sldId="289"/>
            <ac:picMk id="2050" creationId="{E4473D90-B020-AAB2-F395-8F5FB8F4F74A}"/>
          </ac:picMkLst>
        </pc:picChg>
      </pc:sldChg>
    </pc:docChg>
  </pc:docChgLst>
  <pc:docChgLst>
    <pc:chgData name="Christian Villanueva" userId="9367907e4847b616" providerId="LiveId" clId="{E637FD3C-ADB6-419E-B195-EB912BF3AA02}"/>
    <pc:docChg chg="custSel modSld">
      <pc:chgData name="Christian Villanueva" userId="9367907e4847b616" providerId="LiveId" clId="{E637FD3C-ADB6-419E-B195-EB912BF3AA02}" dt="2024-10-05T13:42:46.687" v="393" actId="20577"/>
      <pc:docMkLst>
        <pc:docMk/>
      </pc:docMkLst>
      <pc:sldChg chg="modSp mod">
        <pc:chgData name="Christian Villanueva" userId="9367907e4847b616" providerId="LiveId" clId="{E637FD3C-ADB6-419E-B195-EB912BF3AA02}" dt="2024-10-05T13:42:46.687" v="393" actId="20577"/>
        <pc:sldMkLst>
          <pc:docMk/>
          <pc:sldMk cId="353108808" sldId="289"/>
        </pc:sldMkLst>
        <pc:spChg chg="mod">
          <ac:chgData name="Christian Villanueva" userId="9367907e4847b616" providerId="LiveId" clId="{E637FD3C-ADB6-419E-B195-EB912BF3AA02}" dt="2024-10-05T13:42:46.687" v="393" actId="20577"/>
          <ac:spMkLst>
            <pc:docMk/>
            <pc:sldMk cId="353108808" sldId="289"/>
            <ac:spMk id="9" creationId="{30D555CC-90BC-BE52-9BE3-30C735F83DF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K-</a:t>
            </a:r>
            <a:r>
              <a:rPr lang="es-SV" dirty="0" err="1">
                <a:solidFill>
                  <a:srgbClr val="FFFFFF"/>
                </a:solidFill>
              </a:rPr>
              <a:t>means</a:t>
            </a:r>
            <a:r>
              <a:rPr lang="es-SV" dirty="0">
                <a:solidFill>
                  <a:srgbClr val="FFFFFF"/>
                </a:solidFill>
              </a:rPr>
              <a:t> </a:t>
            </a:r>
            <a:r>
              <a:rPr lang="es-SV" dirty="0" err="1">
                <a:solidFill>
                  <a:srgbClr val="FFFFFF"/>
                </a:solidFill>
              </a:rPr>
              <a:t>Clustering</a:t>
            </a:r>
            <a:r>
              <a:rPr lang="es-SV" dirty="0">
                <a:solidFill>
                  <a:srgbClr val="FFFFFF"/>
                </a:solidFill>
              </a:rPr>
              <a:t> II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K-</a:t>
            </a:r>
            <a:r>
              <a:rPr lang="es-SV" sz="4800" dirty="0" err="1">
                <a:solidFill>
                  <a:srgbClr val="FFFFFF"/>
                </a:solidFill>
              </a:rPr>
              <a:t>means</a:t>
            </a:r>
            <a:r>
              <a:rPr lang="es-SV" sz="4800" dirty="0">
                <a:solidFill>
                  <a:srgbClr val="FFFFFF"/>
                </a:solidFill>
              </a:rPr>
              <a:t> ++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En muchas ocasiones lo que sucede es que no tenemos una forma de que el proceso converja, o que la cantidad de iteraciones que debe hacer sean muchas para encontrar una solución. Entonces, ¿de qué depende la convergencia? </a:t>
            </a:r>
          </a:p>
          <a:p>
            <a:pPr marL="0" indent="0" algn="just">
              <a:buNone/>
            </a:pPr>
            <a:endParaRPr lang="es-SV" sz="2000" dirty="0"/>
          </a:p>
          <a:p>
            <a:pPr marL="0" indent="0" algn="just">
              <a:buNone/>
            </a:pPr>
            <a:r>
              <a:rPr lang="es-SV" sz="2000" dirty="0"/>
              <a:t>Depende de qué tan bien elijamos nuestros centroides.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Algoritmo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457200" indent="-457200" algn="just">
              <a:buAutoNum type="arabicPeriod"/>
            </a:pPr>
            <a:r>
              <a:rPr lang="es-SV" sz="2000" dirty="0"/>
              <a:t>Seleccionamos un centroide al azar.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Encontramos la distancia entre cada punto y el centroide seleccionado.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Seleccionamos el próximo centroide como el punto más lejano que existe entre este y el centroide anterior.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Repetimos los pasos 3 y 4 hasta encontrar la cantidad de </a:t>
            </a:r>
            <a:r>
              <a:rPr lang="es-SV" sz="2000" dirty="0" err="1"/>
              <a:t>clusters</a:t>
            </a:r>
            <a:r>
              <a:rPr lang="es-SV" sz="2000" dirty="0"/>
              <a:t> (k) que andamos buscando.</a:t>
            </a:r>
            <a:endParaRPr lang="es-SV" sz="1600" dirty="0"/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¿Cuántos </a:t>
            </a:r>
            <a:r>
              <a:rPr lang="es-SV" sz="4800" dirty="0" err="1">
                <a:solidFill>
                  <a:srgbClr val="FFFFFF"/>
                </a:solidFill>
              </a:rPr>
              <a:t>clusters</a:t>
            </a:r>
            <a:r>
              <a:rPr lang="es-SV" sz="4800" dirty="0">
                <a:solidFill>
                  <a:srgbClr val="FFFFFF"/>
                </a:solidFill>
              </a:rPr>
              <a:t> debemos crear?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Existen</a:t>
            </a:r>
            <a:r>
              <a:rPr lang="en-US" sz="3600" dirty="0"/>
              <a:t> </a:t>
            </a:r>
            <a:r>
              <a:rPr lang="en-US" sz="3600" dirty="0" err="1"/>
              <a:t>diferentes</a:t>
            </a:r>
            <a:r>
              <a:rPr lang="en-US" sz="3600" dirty="0"/>
              <a:t> </a:t>
            </a:r>
            <a:r>
              <a:rPr lang="en-US" sz="3600" dirty="0" err="1"/>
              <a:t>métodos</a:t>
            </a:r>
            <a:r>
              <a:rPr lang="en-US" sz="3600" dirty="0"/>
              <a:t> para </a:t>
            </a:r>
            <a:r>
              <a:rPr lang="en-US" sz="3600" dirty="0" err="1"/>
              <a:t>determinar</a:t>
            </a:r>
            <a:r>
              <a:rPr lang="en-US" sz="3600" dirty="0"/>
              <a:t> la </a:t>
            </a:r>
            <a:r>
              <a:rPr lang="en-US" sz="3600" dirty="0" err="1"/>
              <a:t>cantidad</a:t>
            </a:r>
            <a:r>
              <a:rPr lang="en-US" sz="3600" dirty="0"/>
              <a:t> </a:t>
            </a:r>
            <a:r>
              <a:rPr lang="en-US" sz="3600" dirty="0" err="1"/>
              <a:t>óptima</a:t>
            </a:r>
            <a:r>
              <a:rPr lang="en-US" sz="3600" dirty="0"/>
              <a:t> de cluster que </a:t>
            </a:r>
            <a:r>
              <a:rPr lang="en-US" sz="3600" dirty="0" err="1"/>
              <a:t>tenemos</a:t>
            </a:r>
            <a:r>
              <a:rPr lang="en-US" sz="3600" dirty="0"/>
              <a:t> que </a:t>
            </a:r>
            <a:r>
              <a:rPr lang="en-US" sz="3600" dirty="0" err="1"/>
              <a:t>encontrar</a:t>
            </a:r>
            <a:r>
              <a:rPr lang="en-US" sz="3600" dirty="0"/>
              <a:t>. Los </a:t>
            </a:r>
            <a:r>
              <a:rPr lang="en-US" sz="3600" dirty="0" err="1"/>
              <a:t>más</a:t>
            </a:r>
            <a:r>
              <a:rPr lang="en-US" sz="3600" dirty="0"/>
              <a:t> </a:t>
            </a:r>
            <a:r>
              <a:rPr lang="en-US" sz="3600" dirty="0" err="1"/>
              <a:t>usados</a:t>
            </a:r>
            <a:r>
              <a:rPr lang="en-US" sz="3600" dirty="0"/>
              <a:t> son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método</a:t>
            </a:r>
            <a:r>
              <a:rPr lang="en-US" sz="3600" dirty="0"/>
              <a:t> de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errores</a:t>
            </a:r>
            <a:r>
              <a:rPr lang="en-US" sz="3600" dirty="0"/>
              <a:t> intra-clusters y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método</a:t>
            </a:r>
            <a:r>
              <a:rPr lang="en-US" sz="3600" dirty="0"/>
              <a:t> Silhouette.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2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 err="1">
                <a:solidFill>
                  <a:srgbClr val="FFFFFF"/>
                </a:solidFill>
              </a:rPr>
              <a:t>Elbow</a:t>
            </a:r>
            <a:r>
              <a:rPr lang="es-SV" sz="4800" dirty="0">
                <a:solidFill>
                  <a:srgbClr val="FFFFFF"/>
                </a:solidFill>
              </a:rPr>
              <a:t> o Errores </a:t>
            </a:r>
            <a:r>
              <a:rPr lang="es-SV" sz="4800" dirty="0" err="1">
                <a:solidFill>
                  <a:srgbClr val="FFFFFF"/>
                </a:solidFill>
              </a:rPr>
              <a:t>intra-clusters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55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La idea general de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método</a:t>
            </a:r>
            <a:r>
              <a:rPr lang="en-US" sz="2000" dirty="0"/>
              <a:t> es </a:t>
            </a:r>
            <a:r>
              <a:rPr lang="en-US" sz="2000" dirty="0" err="1"/>
              <a:t>encontrar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error que intra-cluster, es </a:t>
            </a:r>
            <a:r>
              <a:rPr lang="en-US" sz="2000" dirty="0" err="1"/>
              <a:t>decir</a:t>
            </a:r>
            <a:r>
              <a:rPr lang="en-US" sz="2000" dirty="0"/>
              <a:t> la que la </a:t>
            </a:r>
            <a:r>
              <a:rPr lang="en-US" sz="2000" dirty="0" err="1"/>
              <a:t>suma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cuadrados</a:t>
            </a:r>
            <a:r>
              <a:rPr lang="en-US" sz="2000" dirty="0"/>
              <a:t> entre </a:t>
            </a:r>
            <a:r>
              <a:rPr lang="en-US" sz="2000" dirty="0" err="1"/>
              <a:t>los</a:t>
            </a:r>
            <a:r>
              <a:rPr lang="en-US" sz="2000" dirty="0"/>
              <a:t> clusters </a:t>
            </a:r>
            <a:r>
              <a:rPr lang="en-US" sz="2000" dirty="0" err="1"/>
              <a:t>estamos</a:t>
            </a:r>
            <a:r>
              <a:rPr lang="en-US" sz="2000" dirty="0"/>
              <a:t> </a:t>
            </a:r>
            <a:r>
              <a:rPr lang="en-US" sz="2000" dirty="0" err="1"/>
              <a:t>buscando</a:t>
            </a:r>
            <a:r>
              <a:rPr lang="en-US" sz="2000" dirty="0"/>
              <a:t> que sea </a:t>
            </a:r>
            <a:r>
              <a:rPr lang="en-US" sz="2000" dirty="0" err="1"/>
              <a:t>mínima</a:t>
            </a:r>
            <a:r>
              <a:rPr lang="en-US" sz="2000" dirty="0"/>
              <a:t>, es </a:t>
            </a:r>
            <a:r>
              <a:rPr lang="en-US" sz="2000" dirty="0" err="1"/>
              <a:t>decir</a:t>
            </a:r>
            <a:r>
              <a:rPr lang="en-US" sz="2000" dirty="0"/>
              <a:t> que </a:t>
            </a:r>
            <a:r>
              <a:rPr lang="en-US" sz="2000" dirty="0" err="1"/>
              <a:t>estos</a:t>
            </a:r>
            <a:r>
              <a:rPr lang="en-US" sz="2000" dirty="0"/>
              <a:t> </a:t>
            </a:r>
            <a:r>
              <a:rPr lang="en-US" sz="2000" dirty="0" err="1"/>
              <a:t>sean</a:t>
            </a:r>
            <a:r>
              <a:rPr lang="en-US" sz="2000" dirty="0"/>
              <a:t> lo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compactos</a:t>
            </a:r>
            <a:r>
              <a:rPr lang="en-US" sz="2000" dirty="0"/>
              <a:t> </a:t>
            </a:r>
            <a:r>
              <a:rPr lang="en-US" sz="2000" dirty="0" err="1"/>
              <a:t>posible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Generamos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algoritmo</a:t>
            </a:r>
            <a:r>
              <a:rPr lang="en-US" sz="2000" dirty="0"/>
              <a:t> de clusters para </a:t>
            </a:r>
            <a:r>
              <a:rPr lang="en-US" sz="2000" dirty="0" err="1"/>
              <a:t>cada</a:t>
            </a:r>
            <a:r>
              <a:rPr lang="en-US" sz="2000" dirty="0"/>
              <a:t> valor de k,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ejemplo</a:t>
            </a:r>
            <a:r>
              <a:rPr lang="en-US" sz="2000" dirty="0"/>
              <a:t> de 2 a 10.</a:t>
            </a:r>
          </a:p>
          <a:p>
            <a:pPr marL="457200" indent="-457200">
              <a:buAutoNum type="arabicPeriod"/>
            </a:pPr>
            <a:r>
              <a:rPr lang="en-US" sz="2000" dirty="0"/>
              <a:t>Para </a:t>
            </a:r>
            <a:r>
              <a:rPr lang="en-US" sz="2000" dirty="0" err="1"/>
              <a:t>cada</a:t>
            </a:r>
            <a:r>
              <a:rPr lang="en-US" sz="2000" dirty="0"/>
              <a:t> k, </a:t>
            </a:r>
            <a:r>
              <a:rPr lang="en-US" sz="2000" dirty="0" err="1"/>
              <a:t>calculamos</a:t>
            </a:r>
            <a:r>
              <a:rPr lang="en-US" sz="2000" dirty="0"/>
              <a:t> la </a:t>
            </a:r>
            <a:r>
              <a:rPr lang="en-US" sz="2000" dirty="0" err="1"/>
              <a:t>suma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cuadrados</a:t>
            </a:r>
            <a:r>
              <a:rPr lang="en-US" sz="2000" dirty="0"/>
              <a:t>. 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Graficamos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curva de </a:t>
            </a:r>
            <a:r>
              <a:rPr lang="en-US" sz="2000" dirty="0" err="1"/>
              <a:t>estas</a:t>
            </a:r>
            <a:r>
              <a:rPr lang="en-US" sz="2000" dirty="0"/>
              <a:t> </a:t>
            </a:r>
            <a:r>
              <a:rPr lang="en-US" sz="2000" dirty="0" err="1"/>
              <a:t>combinaciones</a:t>
            </a:r>
            <a:r>
              <a:rPr lang="en-US" sz="2000" dirty="0"/>
              <a:t>. </a:t>
            </a:r>
            <a:r>
              <a:rPr lang="en-US" sz="2000" dirty="0" err="1"/>
              <a:t>Donde</a:t>
            </a:r>
            <a:r>
              <a:rPr lang="en-US" sz="2000" dirty="0"/>
              <a:t> </a:t>
            </a:r>
            <a:r>
              <a:rPr lang="en-US" sz="2000" dirty="0" err="1"/>
              <a:t>encontremos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inflexion, </a:t>
            </a:r>
            <a:r>
              <a:rPr lang="en-US" sz="2000" dirty="0" err="1"/>
              <a:t>en</a:t>
            </a:r>
            <a:r>
              <a:rPr lang="en-US" sz="2000" dirty="0"/>
              <a:t> ese punto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quedaremos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que posterior a </a:t>
            </a:r>
            <a:r>
              <a:rPr lang="en-US" sz="2000" dirty="0" err="1"/>
              <a:t>ella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cambios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no son </a:t>
            </a:r>
            <a:r>
              <a:rPr lang="en-US" sz="2000" dirty="0" err="1"/>
              <a:t>significativos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Determining The Optimal Number Of Clusters: 3 Must Know ...">
            <a:extLst>
              <a:ext uri="{FF2B5EF4-FFF2-40B4-BE49-F238E27FC236}">
                <a16:creationId xmlns:a16="http://schemas.microsoft.com/office/drawing/2014/main" id="{6016B3E6-3205-543B-361D-1EC048A7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495" y="2079755"/>
            <a:ext cx="3778120" cy="377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1BA79-F690-09D6-26D8-DCDF196F7893}"/>
              </a:ext>
            </a:extLst>
          </p:cNvPr>
          <p:cNvSpPr txBox="1"/>
          <p:nvPr/>
        </p:nvSpPr>
        <p:spPr>
          <a:xfrm>
            <a:off x="7734495" y="5876634"/>
            <a:ext cx="4013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100" dirty="0"/>
              <a:t>Tomado de: https://www.datanovia.com/en/lessons/determining-the-optimal-number-of-clusters-3-must-know-methods/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291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Método </a:t>
            </a:r>
            <a:r>
              <a:rPr lang="es-SV" sz="4800" dirty="0" err="1">
                <a:solidFill>
                  <a:srgbClr val="FFFFFF"/>
                </a:solidFill>
              </a:rPr>
              <a:t>Silhouette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1700"/>
                <a:ext cx="6393024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Este </a:t>
                </a:r>
                <a:r>
                  <a:rPr lang="en-US" sz="2000" dirty="0" err="1"/>
                  <a:t>método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mide</a:t>
                </a:r>
                <a:r>
                  <a:rPr lang="en-US" sz="2000" dirty="0"/>
                  <a:t> la “</a:t>
                </a:r>
                <a:r>
                  <a:rPr lang="en-US" sz="2000" dirty="0" err="1"/>
                  <a:t>calidad</a:t>
                </a:r>
                <a:r>
                  <a:rPr lang="en-US" sz="2000" dirty="0"/>
                  <a:t>” del cluster </a:t>
                </a:r>
                <a:r>
                  <a:rPr lang="en-US" sz="2000" dirty="0" err="1"/>
                  <a:t>construído</a:t>
                </a:r>
                <a:r>
                  <a:rPr lang="en-US" sz="2000" dirty="0"/>
                  <a:t>. Entre </a:t>
                </a:r>
                <a:r>
                  <a:rPr lang="en-US" sz="2000" dirty="0" err="1"/>
                  <a:t>más</a:t>
                </a:r>
                <a:r>
                  <a:rPr lang="en-US" sz="2000" dirty="0"/>
                  <a:t> alto sea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promedio</a:t>
                </a:r>
                <a:r>
                  <a:rPr lang="en-US" sz="2000" dirty="0"/>
                  <a:t> de Silhouette, </a:t>
                </a:r>
                <a:r>
                  <a:rPr lang="en-US" sz="2000" dirty="0" err="1"/>
                  <a:t>mejor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será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cluster. Este se </a:t>
                </a:r>
                <a:r>
                  <a:rPr lang="en-US" sz="2000" dirty="0" err="1"/>
                  <a:t>construye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igual</a:t>
                </a:r>
                <a:r>
                  <a:rPr lang="en-US" sz="2000" dirty="0"/>
                  <a:t> que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método</a:t>
                </a:r>
                <a:r>
                  <a:rPr lang="en-US" sz="2000" dirty="0"/>
                  <a:t> intra-cluster: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 err="1"/>
                  <a:t>Generamos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algoritmo</a:t>
                </a:r>
                <a:r>
                  <a:rPr lang="en-US" sz="2000" dirty="0"/>
                  <a:t> de clusters para </a:t>
                </a:r>
                <a:r>
                  <a:rPr lang="en-US" sz="2000" dirty="0" err="1"/>
                  <a:t>cada</a:t>
                </a:r>
                <a:r>
                  <a:rPr lang="en-US" sz="2000" dirty="0"/>
                  <a:t> valor de k, </a:t>
                </a:r>
                <a:r>
                  <a:rPr lang="en-US" sz="2000" dirty="0" err="1"/>
                  <a:t>por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ejemplo</a:t>
                </a:r>
                <a:r>
                  <a:rPr lang="en-US" sz="2000" dirty="0"/>
                  <a:t> de 2 a 10.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Para </a:t>
                </a:r>
                <a:r>
                  <a:rPr lang="en-US" sz="2000" dirty="0" err="1"/>
                  <a:t>cada</a:t>
                </a:r>
                <a:r>
                  <a:rPr lang="en-US" sz="2000" dirty="0"/>
                  <a:t> k, </a:t>
                </a:r>
                <a:r>
                  <a:rPr lang="en-US" sz="2000" dirty="0" err="1"/>
                  <a:t>calculamos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promedio</a:t>
                </a:r>
                <a:r>
                  <a:rPr lang="en-US" sz="2000" dirty="0"/>
                  <a:t> Silhouette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 err="1"/>
                  <a:t>Graficamos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curva de </a:t>
                </a:r>
                <a:r>
                  <a:rPr lang="en-US" sz="2000" dirty="0" err="1"/>
                  <a:t>estas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combinaciones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Donde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encontremos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máximo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en</a:t>
                </a:r>
                <a:r>
                  <a:rPr lang="en-US" sz="2000" dirty="0"/>
                  <a:t> ese punto </a:t>
                </a:r>
                <a:r>
                  <a:rPr lang="en-US" sz="2000" dirty="0" err="1"/>
                  <a:t>nos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quedaremos</a:t>
                </a:r>
                <a:r>
                  <a:rPr lang="en-US" sz="2000" dirty="0"/>
                  <a:t>.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𝐶𝑜𝑒𝑓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err="1"/>
                  <a:t>Donde</a:t>
                </a:r>
                <a:r>
                  <a:rPr lang="en-US" sz="2000" dirty="0"/>
                  <a:t>:</a:t>
                </a:r>
                <a:br>
                  <a:rPr lang="en-US" sz="2000" dirty="0"/>
                </a:br>
                <a:r>
                  <a:rPr lang="en-US" sz="2000" dirty="0"/>
                  <a:t>b: es la </a:t>
                </a:r>
                <a:r>
                  <a:rPr lang="en-US" sz="2000" dirty="0" err="1"/>
                  <a:t>distancia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promedio</a:t>
                </a:r>
                <a:r>
                  <a:rPr lang="en-US" sz="2000" dirty="0"/>
                  <a:t> de un punto a </a:t>
                </a:r>
                <a:r>
                  <a:rPr lang="en-US" sz="2000" dirty="0" err="1"/>
                  <a:t>todos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demás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su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mismo</a:t>
                </a:r>
                <a:r>
                  <a:rPr lang="en-US" sz="2000" dirty="0"/>
                  <a:t> cluster.</a:t>
                </a:r>
              </a:p>
              <a:p>
                <a:pPr marL="0" indent="0">
                  <a:buNone/>
                </a:pPr>
                <a:r>
                  <a:rPr lang="en-US" sz="2000" dirty="0"/>
                  <a:t>a: es la </a:t>
                </a:r>
                <a:r>
                  <a:rPr lang="en-US" sz="2000" dirty="0" err="1"/>
                  <a:t>distancia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promedio</a:t>
                </a:r>
                <a:r>
                  <a:rPr lang="en-US" sz="2000" dirty="0"/>
                  <a:t> de un punto a </a:t>
                </a:r>
                <a:r>
                  <a:rPr lang="en-US" sz="2000" dirty="0" err="1"/>
                  <a:t>todos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demás</a:t>
                </a:r>
                <a:r>
                  <a:rPr lang="en-US" sz="2000" dirty="0"/>
                  <a:t> del cluster mas </a:t>
                </a:r>
                <a:r>
                  <a:rPr lang="en-US" sz="2000" dirty="0" err="1"/>
                  <a:t>cercano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Lo que </a:t>
                </a:r>
                <a:r>
                  <a:rPr lang="en-US" sz="2000" dirty="0" err="1"/>
                  <a:t>buscamos</a:t>
                </a:r>
                <a:r>
                  <a:rPr lang="en-US" sz="2000" dirty="0"/>
                  <a:t> es que </a:t>
                </a:r>
                <a:r>
                  <a:rPr lang="en-US" sz="2000" dirty="0" err="1"/>
                  <a:t>este</a:t>
                </a:r>
                <a:r>
                  <a:rPr lang="en-US" sz="2000" dirty="0"/>
                  <a:t> valor sea lo </a:t>
                </a:r>
                <a:r>
                  <a:rPr lang="en-US" sz="2000" dirty="0" err="1"/>
                  <a:t>más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cercano</a:t>
                </a:r>
                <a:r>
                  <a:rPr lang="en-US" sz="2000" dirty="0"/>
                  <a:t> a 1.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1700"/>
                <a:ext cx="6393024" cy="4351338"/>
              </a:xfrm>
              <a:blipFill>
                <a:blip r:embed="rId2"/>
                <a:stretch>
                  <a:fillRect l="-66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K-means Cluster Analysis · UC Business Analytics R Programming Guide">
            <a:extLst>
              <a:ext uri="{FF2B5EF4-FFF2-40B4-BE49-F238E27FC236}">
                <a16:creationId xmlns:a16="http://schemas.microsoft.com/office/drawing/2014/main" id="{E4473D90-B020-AAB2-F395-8F5FB8F4F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224" y="2171700"/>
            <a:ext cx="4561682" cy="325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98F4BA-238E-D2B1-EC05-2BC3275935DA}"/>
              </a:ext>
            </a:extLst>
          </p:cNvPr>
          <p:cNvSpPr txBox="1"/>
          <p:nvPr/>
        </p:nvSpPr>
        <p:spPr>
          <a:xfrm>
            <a:off x="7610670" y="5776119"/>
            <a:ext cx="4013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100" dirty="0"/>
              <a:t>Tomado de: https://uc-r.github.io/kmeans_clustering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310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12184</TotalTime>
  <Words>421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K-means Clustering II</vt:lpstr>
      <vt:lpstr>K-means ++</vt:lpstr>
      <vt:lpstr>Algoritmo</vt:lpstr>
      <vt:lpstr>¿Cuántos clusters debemos crear?</vt:lpstr>
      <vt:lpstr>Elbow o Errores intra-clusters</vt:lpstr>
      <vt:lpstr>Método Silhouette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2</cp:revision>
  <dcterms:created xsi:type="dcterms:W3CDTF">2023-06-19T22:41:02Z</dcterms:created>
  <dcterms:modified xsi:type="dcterms:W3CDTF">2024-10-05T13:42:51Z</dcterms:modified>
</cp:coreProperties>
</file>