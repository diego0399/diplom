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9" r:id="rId1"/>
  </p:sldMasterIdLst>
  <p:notesMasterIdLst>
    <p:notesMasterId r:id="rId15"/>
  </p:notesMasterIdLst>
  <p:handoutMasterIdLst>
    <p:handoutMasterId r:id="rId16"/>
  </p:handoutMasterIdLst>
  <p:sldIdLst>
    <p:sldId id="348" r:id="rId2"/>
    <p:sldId id="370" r:id="rId3"/>
    <p:sldId id="372" r:id="rId4"/>
    <p:sldId id="373" r:id="rId5"/>
    <p:sldId id="381" r:id="rId6"/>
    <p:sldId id="403" r:id="rId7"/>
    <p:sldId id="376" r:id="rId8"/>
    <p:sldId id="379" r:id="rId9"/>
    <p:sldId id="378" r:id="rId10"/>
    <p:sldId id="388" r:id="rId11"/>
    <p:sldId id="380" r:id="rId12"/>
    <p:sldId id="383" r:id="rId13"/>
    <p:sldId id="386" r:id="rId14"/>
  </p:sldIdLst>
  <p:sldSz cx="9144000" cy="6858000" type="screen4x3"/>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784DC2-2D7B-4704-BDF0-E3E3CF6AF14E}" v="1" dt="2025-07-12T17:32:10.18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49" autoAdjust="0"/>
    <p:restoredTop sz="94660"/>
  </p:normalViewPr>
  <p:slideViewPr>
    <p:cSldViewPr>
      <p:cViewPr varScale="1">
        <p:scale>
          <a:sx n="78" d="100"/>
          <a:sy n="78" d="100"/>
        </p:scale>
        <p:origin x="1325"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62448556-085F-4944-9D53-BF33C4A21BFF}" type="datetimeFigureOut">
              <a:rPr lang="en-US" smtClean="0"/>
              <a:t>5/6/2026</a:t>
            </a:fld>
            <a:endParaRPr lang="en-US"/>
          </a:p>
        </p:txBody>
      </p:sp>
      <p:sp>
        <p:nvSpPr>
          <p:cNvPr id="4" name="Marcador de pie de página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5" name="Marcador de número de diapositiva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8EADB7BC-5DBC-4BEB-ADE5-1EA302A9FEE4}" type="slidenum">
              <a:rPr lang="en-US" smtClean="0"/>
              <a:t>‹Nº›</a:t>
            </a:fld>
            <a:endParaRPr lang="en-US"/>
          </a:p>
        </p:txBody>
      </p:sp>
    </p:spTree>
    <p:extLst>
      <p:ext uri="{BB962C8B-B14F-4D97-AF65-F5344CB8AC3E}">
        <p14:creationId xmlns:p14="http://schemas.microsoft.com/office/powerpoint/2010/main" val="40604553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s-SV"/>
          </a:p>
        </p:txBody>
      </p:sp>
      <p:sp>
        <p:nvSpPr>
          <p:cNvPr id="3" name="Marcador de fecha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9107B469-6375-4B31-9E8D-F0F5D1F96C44}" type="datetimeFigureOut">
              <a:rPr lang="es-SV" smtClean="0"/>
              <a:t>6/5/2026</a:t>
            </a:fld>
            <a:endParaRPr lang="es-SV"/>
          </a:p>
        </p:txBody>
      </p:sp>
      <p:sp>
        <p:nvSpPr>
          <p:cNvPr id="4" name="Marcador de imagen de diapositiva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es-SV"/>
          </a:p>
        </p:txBody>
      </p:sp>
      <p:sp>
        <p:nvSpPr>
          <p:cNvPr id="5" name="Marcador de nota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SV"/>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079CFB16-7B83-48BD-9148-02186C72AF1D}" type="slidenum">
              <a:rPr lang="es-SV" smtClean="0"/>
              <a:t>‹Nº›</a:t>
            </a:fld>
            <a:endParaRPr lang="es-SV"/>
          </a:p>
        </p:txBody>
      </p:sp>
    </p:spTree>
    <p:extLst>
      <p:ext uri="{BB962C8B-B14F-4D97-AF65-F5344CB8AC3E}">
        <p14:creationId xmlns:p14="http://schemas.microsoft.com/office/powerpoint/2010/main" val="1859179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B5F6883-5435-47D5-880C-1B4DF04FBDCC}" type="datetimeFigureOut">
              <a:rPr lang="es-SV" smtClean="0"/>
              <a:pPr/>
              <a:t>6/5/2026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2031843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B5F6883-5435-47D5-880C-1B4DF04FBDCC}" type="datetimeFigureOut">
              <a:rPr lang="es-SV" smtClean="0"/>
              <a:pPr/>
              <a:t>6/5/2026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215124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B5F6883-5435-47D5-880C-1B4DF04FBDCC}" type="datetimeFigureOut">
              <a:rPr lang="es-SV" smtClean="0"/>
              <a:pPr/>
              <a:t>6/5/2026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462786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B5F6883-5435-47D5-880C-1B4DF04FBDCC}" type="datetimeFigureOut">
              <a:rPr lang="es-SV" smtClean="0"/>
              <a:pPr/>
              <a:t>6/5/2026</a:t>
            </a:fld>
            <a:endParaRPr lang="es-SV"/>
          </a:p>
        </p:txBody>
      </p:sp>
      <p:sp>
        <p:nvSpPr>
          <p:cNvPr id="6" name="Footer Placeholder 5"/>
          <p:cNvSpPr>
            <a:spLocks noGrp="1"/>
          </p:cNvSpPr>
          <p:nvPr>
            <p:ph type="ftr" sz="quarter" idx="11"/>
          </p:nvPr>
        </p:nvSpPr>
        <p:spPr/>
        <p:txBody>
          <a:bodyPr/>
          <a:lstStyle/>
          <a:p>
            <a:endParaRPr lang="es-SV"/>
          </a:p>
        </p:txBody>
      </p:sp>
      <p:sp>
        <p:nvSpPr>
          <p:cNvPr id="7" name="Slide Number Placeholder 6"/>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3098950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B5F6883-5435-47D5-880C-1B4DF04FBDCC}" type="datetimeFigureOut">
              <a:rPr lang="es-SV" smtClean="0"/>
              <a:pPr/>
              <a:t>6/5/2026</a:t>
            </a:fld>
            <a:endParaRPr lang="es-SV"/>
          </a:p>
        </p:txBody>
      </p:sp>
      <p:sp>
        <p:nvSpPr>
          <p:cNvPr id="8" name="Footer Placeholder 7"/>
          <p:cNvSpPr>
            <a:spLocks noGrp="1"/>
          </p:cNvSpPr>
          <p:nvPr>
            <p:ph type="ftr" sz="quarter" idx="11"/>
          </p:nvPr>
        </p:nvSpPr>
        <p:spPr/>
        <p:txBody>
          <a:bodyPr/>
          <a:lstStyle/>
          <a:p>
            <a:endParaRPr lang="es-SV"/>
          </a:p>
        </p:txBody>
      </p:sp>
      <p:sp>
        <p:nvSpPr>
          <p:cNvPr id="9" name="Slide Number Placeholder 8"/>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426516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B5F6883-5435-47D5-880C-1B4DF04FBDCC}" type="datetimeFigureOut">
              <a:rPr lang="es-SV" smtClean="0"/>
              <a:pPr/>
              <a:t>6/5/2026</a:t>
            </a:fld>
            <a:endParaRPr lang="es-SV"/>
          </a:p>
        </p:txBody>
      </p:sp>
      <p:sp>
        <p:nvSpPr>
          <p:cNvPr id="4" name="Footer Placeholder 3"/>
          <p:cNvSpPr>
            <a:spLocks noGrp="1"/>
          </p:cNvSpPr>
          <p:nvPr>
            <p:ph type="ftr" sz="quarter" idx="11"/>
          </p:nvPr>
        </p:nvSpPr>
        <p:spPr/>
        <p:txBody>
          <a:bodyPr/>
          <a:lstStyle/>
          <a:p>
            <a:endParaRPr lang="es-SV"/>
          </a:p>
        </p:txBody>
      </p:sp>
      <p:sp>
        <p:nvSpPr>
          <p:cNvPr id="5" name="Slide Number Placeholder 4"/>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3171242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5F6883-5435-47D5-880C-1B4DF04FBDCC}" type="datetimeFigureOut">
              <a:rPr lang="es-SV" smtClean="0"/>
              <a:pPr/>
              <a:t>6/5/2026</a:t>
            </a:fld>
            <a:endParaRPr lang="es-SV"/>
          </a:p>
        </p:txBody>
      </p:sp>
      <p:sp>
        <p:nvSpPr>
          <p:cNvPr id="3" name="Footer Placeholder 2"/>
          <p:cNvSpPr>
            <a:spLocks noGrp="1"/>
          </p:cNvSpPr>
          <p:nvPr>
            <p:ph type="ftr" sz="quarter" idx="11"/>
          </p:nvPr>
        </p:nvSpPr>
        <p:spPr/>
        <p:txBody>
          <a:bodyPr/>
          <a:lstStyle/>
          <a:p>
            <a:endParaRPr lang="es-SV"/>
          </a:p>
        </p:txBody>
      </p:sp>
      <p:sp>
        <p:nvSpPr>
          <p:cNvPr id="4" name="Slide Number Placeholder 3"/>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2355737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B5F6883-5435-47D5-880C-1B4DF04FBDCC}" type="datetimeFigureOut">
              <a:rPr lang="es-SV" smtClean="0"/>
              <a:pPr/>
              <a:t>6/5/2026</a:t>
            </a:fld>
            <a:endParaRPr lang="es-SV"/>
          </a:p>
        </p:txBody>
      </p:sp>
      <p:sp>
        <p:nvSpPr>
          <p:cNvPr id="6" name="Footer Placeholder 5"/>
          <p:cNvSpPr>
            <a:spLocks noGrp="1"/>
          </p:cNvSpPr>
          <p:nvPr>
            <p:ph type="ftr" sz="quarter" idx="11"/>
          </p:nvPr>
        </p:nvSpPr>
        <p:spPr/>
        <p:txBody>
          <a:bodyPr/>
          <a:lstStyle/>
          <a:p>
            <a:endParaRPr lang="es-SV"/>
          </a:p>
        </p:txBody>
      </p:sp>
      <p:sp>
        <p:nvSpPr>
          <p:cNvPr id="7" name="Slide Number Placeholder 6"/>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3100746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B5F6883-5435-47D5-880C-1B4DF04FBDCC}" type="datetimeFigureOut">
              <a:rPr lang="es-SV" smtClean="0"/>
              <a:pPr/>
              <a:t>6/5/2026</a:t>
            </a:fld>
            <a:endParaRPr lang="es-SV"/>
          </a:p>
        </p:txBody>
      </p:sp>
      <p:sp>
        <p:nvSpPr>
          <p:cNvPr id="6" name="Footer Placeholder 5"/>
          <p:cNvSpPr>
            <a:spLocks noGrp="1"/>
          </p:cNvSpPr>
          <p:nvPr>
            <p:ph type="ftr" sz="quarter" idx="11"/>
          </p:nvPr>
        </p:nvSpPr>
        <p:spPr/>
        <p:txBody>
          <a:bodyPr/>
          <a:lstStyle/>
          <a:p>
            <a:endParaRPr lang="es-SV"/>
          </a:p>
        </p:txBody>
      </p:sp>
      <p:sp>
        <p:nvSpPr>
          <p:cNvPr id="7" name="Slide Number Placeholder 6"/>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1899889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B5F6883-5435-47D5-880C-1B4DF04FBDCC}" type="datetimeFigureOut">
              <a:rPr lang="es-SV" smtClean="0"/>
              <a:pPr/>
              <a:t>6/5/2026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1081124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B5F6883-5435-47D5-880C-1B4DF04FBDCC}" type="datetimeFigureOut">
              <a:rPr lang="es-SV" smtClean="0"/>
              <a:pPr/>
              <a:t>6/5/2026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2081552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5F6883-5435-47D5-880C-1B4DF04FBDCC}" type="datetimeFigureOut">
              <a:rPr lang="es-SV" smtClean="0"/>
              <a:pPr/>
              <a:t>6/5/2026</a:t>
            </a:fld>
            <a:endParaRPr lang="es-SV"/>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SV"/>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022E58-9AF6-4173-9FFF-BFAAE1D0EF7D}" type="slidenum">
              <a:rPr lang="es-SV" smtClean="0"/>
              <a:pPr/>
              <a:t>‹Nº›</a:t>
            </a:fld>
            <a:endParaRPr lang="es-SV"/>
          </a:p>
        </p:txBody>
      </p:sp>
    </p:spTree>
    <p:extLst>
      <p:ext uri="{BB962C8B-B14F-4D97-AF65-F5344CB8AC3E}">
        <p14:creationId xmlns:p14="http://schemas.microsoft.com/office/powerpoint/2010/main" val="1668435252"/>
      </p:ext>
    </p:extLst>
  </p:cSld>
  <p:clrMap bg1="dk1" tx1="lt1" bg2="dk2" tx2="lt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6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321732"/>
            <a:ext cx="5293730" cy="1964266"/>
          </a:xfrm>
          <a:prstGeom prst="rect">
            <a:avLst/>
          </a:prstGeom>
          <a:solidFill>
            <a:srgbClr val="5545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1 Título"/>
          <p:cNvSpPr>
            <a:spLocks noGrp="1"/>
          </p:cNvSpPr>
          <p:nvPr>
            <p:ph type="title"/>
          </p:nvPr>
        </p:nvSpPr>
        <p:spPr>
          <a:xfrm>
            <a:off x="393192" y="516804"/>
            <a:ext cx="4945641" cy="1625210"/>
          </a:xfrm>
        </p:spPr>
        <p:txBody>
          <a:bodyPr vert="horz" lIns="91440" tIns="45720" rIns="91440" bIns="45720" rtlCol="0" anchor="ctr">
            <a:normAutofit/>
          </a:bodyPr>
          <a:lstStyle/>
          <a:p>
            <a:r>
              <a:rPr lang="en-US" sz="3700" kern="1200">
                <a:solidFill>
                  <a:srgbClr val="FFFFFF"/>
                </a:solidFill>
                <a:latin typeface="+mj-lt"/>
                <a:ea typeface="+mj-ea"/>
                <a:cs typeface="+mj-cs"/>
              </a:rPr>
              <a:t>Probabilidad condicional </a:t>
            </a:r>
            <a:br>
              <a:rPr lang="en-US" sz="3700" kern="1200">
                <a:solidFill>
                  <a:srgbClr val="FFFFFF"/>
                </a:solidFill>
                <a:latin typeface="+mj-lt"/>
                <a:ea typeface="+mj-ea"/>
                <a:cs typeface="+mj-cs"/>
              </a:rPr>
            </a:br>
            <a:r>
              <a:rPr lang="en-US" sz="3700" kern="1200">
                <a:solidFill>
                  <a:srgbClr val="FFFFFF"/>
                </a:solidFill>
                <a:latin typeface="+mj-lt"/>
                <a:ea typeface="+mj-ea"/>
                <a:cs typeface="+mj-cs"/>
              </a:rPr>
              <a:t>(espacio muestral restringido)</a:t>
            </a:r>
          </a:p>
        </p:txBody>
      </p:sp>
      <p:sp>
        <p:nvSpPr>
          <p:cNvPr id="73" name="Rectangle 72">
            <a:extLst>
              <a:ext uri="{FF2B5EF4-FFF2-40B4-BE49-F238E27FC236}">
                <a16:creationId xmlns:a16="http://schemas.microsoft.com/office/drawing/2014/main" id="{36D30126-6314-4A93-B27E-5C66CF781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6888" y="2432305"/>
            <a:ext cx="5292501"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Preguntas PSU de Matemáticas: probabilidad condicionada - PSU">
            <a:extLst>
              <a:ext uri="{FF2B5EF4-FFF2-40B4-BE49-F238E27FC236}">
                <a16:creationId xmlns:a16="http://schemas.microsoft.com/office/drawing/2014/main" id="{F8B93549-C58F-4132-A565-E0C7ADB5940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25058" y="2836697"/>
            <a:ext cx="4934932" cy="3294067"/>
          </a:xfrm>
          <a:prstGeom prst="rect">
            <a:avLst/>
          </a:prstGeom>
          <a:noFill/>
          <a:extLst>
            <a:ext uri="{909E8E84-426E-40DD-AFC4-6F175D3DCCD1}">
              <a14:hiddenFill xmlns:a14="http://schemas.microsoft.com/office/drawing/2010/main">
                <a:solidFill>
                  <a:srgbClr val="FFFFFF"/>
                </a:solidFill>
              </a14:hiddenFill>
            </a:ext>
          </a:extLst>
        </p:spPr>
      </p:pic>
      <p:sp>
        <p:nvSpPr>
          <p:cNvPr id="75" name="Rectangle 74">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0991" y="321732"/>
            <a:ext cx="3251710"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2 Marcador de contenido"/>
          <p:cNvSpPr>
            <a:spLocks noGrp="1"/>
          </p:cNvSpPr>
          <p:nvPr>
            <p:ph sz="half" idx="1"/>
          </p:nvPr>
        </p:nvSpPr>
        <p:spPr>
          <a:xfrm>
            <a:off x="5717558" y="917725"/>
            <a:ext cx="3179553" cy="4852362"/>
          </a:xfrm>
        </p:spPr>
        <p:txBody>
          <a:bodyPr vert="horz" lIns="91440" tIns="45720" rIns="91440" bIns="45720" rtlCol="0" anchor="ctr">
            <a:normAutofit fontScale="92500" lnSpcReduction="10000"/>
          </a:bodyPr>
          <a:lstStyle/>
          <a:p>
            <a:pPr marL="82296"/>
            <a:endParaRPr lang="en-US" sz="1700" dirty="0">
              <a:solidFill>
                <a:srgbClr val="FFFFFF"/>
              </a:solidFill>
            </a:endParaRPr>
          </a:p>
          <a:p>
            <a:pPr marL="0" indent="0" algn="just">
              <a:buNone/>
            </a:pPr>
            <a:r>
              <a:rPr lang="en-US" dirty="0">
                <a:solidFill>
                  <a:srgbClr val="FFFFFF"/>
                </a:solidFill>
              </a:rPr>
              <a:t>Sean A y B </a:t>
            </a:r>
            <a:r>
              <a:rPr lang="en-US" dirty="0" err="1">
                <a:solidFill>
                  <a:srgbClr val="FFFFFF"/>
                </a:solidFill>
              </a:rPr>
              <a:t>sucesos</a:t>
            </a:r>
            <a:r>
              <a:rPr lang="en-US" dirty="0">
                <a:solidFill>
                  <a:srgbClr val="FFFFFF"/>
                </a:solidFill>
              </a:rPr>
              <a:t> del </a:t>
            </a:r>
            <a:r>
              <a:rPr lang="en-US" dirty="0" err="1">
                <a:solidFill>
                  <a:srgbClr val="FFFFFF"/>
                </a:solidFill>
              </a:rPr>
              <a:t>espacio</a:t>
            </a:r>
            <a:r>
              <a:rPr lang="en-US" dirty="0">
                <a:solidFill>
                  <a:srgbClr val="FFFFFF"/>
                </a:solidFill>
              </a:rPr>
              <a:t> </a:t>
            </a:r>
            <a:r>
              <a:rPr lang="en-US" dirty="0" err="1">
                <a:solidFill>
                  <a:srgbClr val="FFFFFF"/>
                </a:solidFill>
              </a:rPr>
              <a:t>muestral</a:t>
            </a:r>
            <a:r>
              <a:rPr lang="en-US" dirty="0">
                <a:solidFill>
                  <a:srgbClr val="FFFFFF"/>
                </a:solidFill>
              </a:rPr>
              <a:t> S, la </a:t>
            </a:r>
            <a:r>
              <a:rPr lang="en-US" dirty="0" err="1">
                <a:solidFill>
                  <a:srgbClr val="FFFFFF"/>
                </a:solidFill>
              </a:rPr>
              <a:t>probabilidad</a:t>
            </a:r>
            <a:r>
              <a:rPr lang="en-US" dirty="0">
                <a:solidFill>
                  <a:srgbClr val="FFFFFF"/>
                </a:solidFill>
              </a:rPr>
              <a:t> </a:t>
            </a:r>
            <a:r>
              <a:rPr lang="en-US" dirty="0" err="1">
                <a:solidFill>
                  <a:srgbClr val="FFFFFF"/>
                </a:solidFill>
              </a:rPr>
              <a:t>condicional</a:t>
            </a:r>
            <a:r>
              <a:rPr lang="en-US" dirty="0">
                <a:solidFill>
                  <a:srgbClr val="FFFFFF"/>
                </a:solidFill>
              </a:rPr>
              <a:t> dado un </a:t>
            </a:r>
            <a:r>
              <a:rPr lang="en-US" dirty="0" err="1">
                <a:solidFill>
                  <a:srgbClr val="FFFFFF"/>
                </a:solidFill>
              </a:rPr>
              <a:t>suceso</a:t>
            </a:r>
            <a:r>
              <a:rPr lang="en-US" dirty="0">
                <a:solidFill>
                  <a:srgbClr val="FFFFFF"/>
                </a:solidFill>
              </a:rPr>
              <a:t> se define:</a:t>
            </a:r>
          </a:p>
          <a:p>
            <a:pPr marL="82296" algn="just"/>
            <a:endParaRPr lang="en-US" dirty="0">
              <a:solidFill>
                <a:srgbClr val="FFFFFF"/>
              </a:solidFill>
            </a:endParaRPr>
          </a:p>
          <a:p>
            <a:pPr marL="0" indent="0" algn="just">
              <a:buNone/>
            </a:pPr>
            <a:r>
              <a:rPr lang="en-US" dirty="0">
                <a:solidFill>
                  <a:srgbClr val="FFFFFF"/>
                </a:solidFill>
              </a:rPr>
              <a:t>La </a:t>
            </a:r>
            <a:r>
              <a:rPr lang="en-US" dirty="0" err="1">
                <a:solidFill>
                  <a:srgbClr val="FFFFFF"/>
                </a:solidFill>
              </a:rPr>
              <a:t>probabilidad</a:t>
            </a:r>
            <a:r>
              <a:rPr lang="en-US" dirty="0">
                <a:solidFill>
                  <a:srgbClr val="FFFFFF"/>
                </a:solidFill>
              </a:rPr>
              <a:t> de A dado B es </a:t>
            </a:r>
            <a:r>
              <a:rPr lang="en-US" dirty="0" err="1">
                <a:solidFill>
                  <a:srgbClr val="FFFFFF"/>
                </a:solidFill>
              </a:rPr>
              <a:t>igual</a:t>
            </a:r>
            <a:r>
              <a:rPr lang="en-US" dirty="0">
                <a:solidFill>
                  <a:srgbClr val="FFFFFF"/>
                </a:solidFill>
              </a:rPr>
              <a:t> al </a:t>
            </a:r>
            <a:r>
              <a:rPr lang="en-US" dirty="0" err="1">
                <a:solidFill>
                  <a:srgbClr val="FFFFFF"/>
                </a:solidFill>
              </a:rPr>
              <a:t>cociente</a:t>
            </a:r>
            <a:r>
              <a:rPr lang="en-US" dirty="0">
                <a:solidFill>
                  <a:srgbClr val="FFFFFF"/>
                </a:solidFill>
              </a:rPr>
              <a:t> de la </a:t>
            </a:r>
            <a:r>
              <a:rPr lang="en-US" dirty="0" err="1">
                <a:solidFill>
                  <a:srgbClr val="FFFFFF"/>
                </a:solidFill>
              </a:rPr>
              <a:t>intersección</a:t>
            </a:r>
            <a:r>
              <a:rPr lang="en-US" dirty="0">
                <a:solidFill>
                  <a:srgbClr val="FFFFFF"/>
                </a:solidFill>
              </a:rPr>
              <a:t> de A con B entre la </a:t>
            </a:r>
            <a:r>
              <a:rPr lang="en-US" dirty="0" err="1">
                <a:solidFill>
                  <a:srgbClr val="FFFFFF"/>
                </a:solidFill>
              </a:rPr>
              <a:t>probabilidad</a:t>
            </a:r>
            <a:r>
              <a:rPr lang="en-US" dirty="0">
                <a:solidFill>
                  <a:srgbClr val="FFFFFF"/>
                </a:solidFill>
              </a:rPr>
              <a:t> del </a:t>
            </a:r>
            <a:r>
              <a:rPr lang="en-US" dirty="0" err="1">
                <a:solidFill>
                  <a:srgbClr val="FFFFFF"/>
                </a:solidFill>
              </a:rPr>
              <a:t>suceso</a:t>
            </a:r>
            <a:r>
              <a:rPr lang="en-US" dirty="0">
                <a:solidFill>
                  <a:srgbClr val="FFFFFF"/>
                </a:solidFill>
              </a:rPr>
              <a:t> B.</a:t>
            </a:r>
          </a:p>
          <a:p>
            <a:pPr marL="82296"/>
            <a:endParaRPr lang="en-US" sz="1700" i="1" dirty="0">
              <a:solidFill>
                <a:srgbClr val="FFFFFF"/>
              </a:solidFill>
            </a:endParaRPr>
          </a:p>
        </p:txBody>
      </p:sp>
    </p:spTree>
    <p:extLst>
      <p:ext uri="{BB962C8B-B14F-4D97-AF65-F5344CB8AC3E}">
        <p14:creationId xmlns:p14="http://schemas.microsoft.com/office/powerpoint/2010/main" val="374689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544" y="450221"/>
            <a:ext cx="3083948" cy="5957175"/>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1 Título"/>
          <p:cNvSpPr>
            <a:spLocks noGrp="1"/>
          </p:cNvSpPr>
          <p:nvPr>
            <p:ph type="title"/>
          </p:nvPr>
        </p:nvSpPr>
        <p:spPr>
          <a:xfrm>
            <a:off x="581025" y="761999"/>
            <a:ext cx="2633391" cy="5368413"/>
          </a:xfrm>
        </p:spPr>
        <p:txBody>
          <a:bodyPr>
            <a:normAutofit/>
          </a:bodyPr>
          <a:lstStyle/>
          <a:p>
            <a:r>
              <a:rPr lang="es-SV" sz="3400">
                <a:solidFill>
                  <a:srgbClr val="FFFFFF"/>
                </a:solidFill>
              </a:rPr>
              <a:t>Regla multiplicativa de la probabilidad</a:t>
            </a:r>
          </a:p>
        </p:txBody>
      </p:sp>
      <p:sp>
        <p:nvSpPr>
          <p:cNvPr id="10" name="Rectangle 9">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67955" y="446007"/>
            <a:ext cx="3507229" cy="595717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3820217" y="762000"/>
                <a:ext cx="3031732" cy="5368412"/>
              </a:xfrm>
            </p:spPr>
            <p:txBody>
              <a:bodyPr anchor="ctr">
                <a:normAutofit/>
              </a:bodyPr>
              <a:lstStyle/>
              <a:p>
                <a:pPr marL="0" indent="0">
                  <a:buNone/>
                </a:pPr>
                <a:r>
                  <a:rPr lang="es-SV" sz="2100"/>
                  <a:t>Sean A y B sucesos del S entonces</a:t>
                </a:r>
              </a:p>
              <a:p>
                <a:pPr marL="0" indent="0">
                  <a:buNone/>
                </a:pPr>
                <a:endParaRPr lang="es-SV" sz="2100"/>
              </a:p>
              <a:p>
                <a:pPr marL="0" indent="0">
                  <a:buNone/>
                </a:pPr>
                <a14:m>
                  <m:oMathPara xmlns:m="http://schemas.openxmlformats.org/officeDocument/2006/math">
                    <m:oMathParaPr>
                      <m:jc m:val="centerGroup"/>
                    </m:oMathParaPr>
                    <m:oMath xmlns:m="http://schemas.openxmlformats.org/officeDocument/2006/math">
                      <m:r>
                        <a:rPr lang="es-SV" sz="2100" i="1">
                          <a:latin typeface="Cambria Math" panose="02040503050406030204" pitchFamily="18" charset="0"/>
                        </a:rPr>
                        <m:t>𝑃</m:t>
                      </m:r>
                      <m:d>
                        <m:dPr>
                          <m:ctrlPr>
                            <a:rPr lang="es-SV" sz="2100" i="1">
                              <a:latin typeface="Cambria Math" panose="02040503050406030204" pitchFamily="18" charset="0"/>
                            </a:rPr>
                          </m:ctrlPr>
                        </m:dPr>
                        <m:e>
                          <m:r>
                            <a:rPr lang="es-SV" sz="2100" i="1">
                              <a:latin typeface="Cambria Math" panose="02040503050406030204" pitchFamily="18" charset="0"/>
                            </a:rPr>
                            <m:t>𝐴</m:t>
                          </m:r>
                          <m:r>
                            <a:rPr lang="es-SV" sz="2100" i="1">
                              <a:latin typeface="Cambria Math" panose="02040503050406030204" pitchFamily="18" charset="0"/>
                            </a:rPr>
                            <m:t>∩</m:t>
                          </m:r>
                          <m:r>
                            <a:rPr lang="es-SV" sz="2100" i="1">
                              <a:latin typeface="Cambria Math" panose="02040503050406030204" pitchFamily="18" charset="0"/>
                            </a:rPr>
                            <m:t>𝐵</m:t>
                          </m:r>
                        </m:e>
                      </m:d>
                      <m:r>
                        <a:rPr lang="es-SV" sz="2100" i="1">
                          <a:latin typeface="Cambria Math" panose="02040503050406030204" pitchFamily="18" charset="0"/>
                        </a:rPr>
                        <m:t>=</m:t>
                      </m:r>
                      <m:r>
                        <a:rPr lang="es-SV" sz="2100" i="1">
                          <a:latin typeface="Cambria Math" panose="02040503050406030204" pitchFamily="18" charset="0"/>
                        </a:rPr>
                        <m:t>𝑃</m:t>
                      </m:r>
                      <m:d>
                        <m:dPr>
                          <m:ctrlPr>
                            <a:rPr lang="es-SV" sz="2100" i="1">
                              <a:latin typeface="Cambria Math" panose="02040503050406030204" pitchFamily="18" charset="0"/>
                            </a:rPr>
                          </m:ctrlPr>
                        </m:dPr>
                        <m:e>
                          <m:r>
                            <a:rPr lang="es-SV" sz="2100" i="1">
                              <a:latin typeface="Cambria Math" panose="02040503050406030204" pitchFamily="18" charset="0"/>
                            </a:rPr>
                            <m:t>𝐴</m:t>
                          </m:r>
                        </m:e>
                      </m:d>
                      <m:r>
                        <a:rPr lang="es-SV" sz="2100" i="1">
                          <a:latin typeface="Cambria Math" panose="02040503050406030204" pitchFamily="18" charset="0"/>
                        </a:rPr>
                        <m:t>×</m:t>
                      </m:r>
                      <m:r>
                        <a:rPr lang="es-SV" sz="2100" i="1">
                          <a:latin typeface="Cambria Math" panose="02040503050406030204" pitchFamily="18" charset="0"/>
                        </a:rPr>
                        <m:t>𝑃</m:t>
                      </m:r>
                      <m:d>
                        <m:dPr>
                          <m:ctrlPr>
                            <a:rPr lang="es-SV" sz="2100" i="1">
                              <a:latin typeface="Cambria Math" panose="02040503050406030204" pitchFamily="18" charset="0"/>
                            </a:rPr>
                          </m:ctrlPr>
                        </m:dPr>
                        <m:e>
                          <m:f>
                            <m:fPr>
                              <m:type m:val="lin"/>
                              <m:ctrlPr>
                                <a:rPr lang="es-SV" sz="2100" i="1">
                                  <a:latin typeface="Cambria Math" panose="02040503050406030204" pitchFamily="18" charset="0"/>
                                </a:rPr>
                              </m:ctrlPr>
                            </m:fPr>
                            <m:num>
                              <m:r>
                                <a:rPr lang="es-SV" sz="2100" i="1">
                                  <a:latin typeface="Cambria Math" panose="02040503050406030204" pitchFamily="18" charset="0"/>
                                </a:rPr>
                                <m:t>𝐵</m:t>
                              </m:r>
                            </m:num>
                            <m:den>
                              <m:r>
                                <a:rPr lang="es-SV" sz="2100" i="1">
                                  <a:latin typeface="Cambria Math" panose="02040503050406030204" pitchFamily="18" charset="0"/>
                                </a:rPr>
                                <m:t>𝐴</m:t>
                              </m:r>
                            </m:den>
                          </m:f>
                        </m:e>
                      </m:d>
                    </m:oMath>
                  </m:oMathPara>
                </a14:m>
                <a:endParaRPr lang="es-SV" sz="2100"/>
              </a:p>
              <a:p>
                <a:pPr marL="0" indent="0">
                  <a:buNone/>
                </a:pPr>
                <a:endParaRPr lang="es-SV" sz="2100"/>
              </a:p>
              <a:p>
                <a:pPr marL="0" indent="0">
                  <a:buNone/>
                </a:pPr>
                <a14:m>
                  <m:oMathPara xmlns:m="http://schemas.openxmlformats.org/officeDocument/2006/math">
                    <m:oMathParaPr>
                      <m:jc m:val="centerGroup"/>
                    </m:oMathParaPr>
                    <m:oMath xmlns:m="http://schemas.openxmlformats.org/officeDocument/2006/math">
                      <m:r>
                        <a:rPr lang="es-SV" sz="2100" i="1">
                          <a:latin typeface="Cambria Math" panose="02040503050406030204" pitchFamily="18" charset="0"/>
                        </a:rPr>
                        <m:t>𝑃</m:t>
                      </m:r>
                      <m:d>
                        <m:dPr>
                          <m:ctrlPr>
                            <a:rPr lang="es-SV" sz="2100" i="1">
                              <a:latin typeface="Cambria Math" panose="02040503050406030204" pitchFamily="18" charset="0"/>
                            </a:rPr>
                          </m:ctrlPr>
                        </m:dPr>
                        <m:e>
                          <m:r>
                            <a:rPr lang="es-SV" sz="2100" i="1">
                              <a:latin typeface="Cambria Math" panose="02040503050406030204" pitchFamily="18" charset="0"/>
                            </a:rPr>
                            <m:t>𝐴</m:t>
                          </m:r>
                          <m:r>
                            <a:rPr lang="es-SV" sz="2100" i="1">
                              <a:latin typeface="Cambria Math" panose="02040503050406030204" pitchFamily="18" charset="0"/>
                            </a:rPr>
                            <m:t>∩</m:t>
                          </m:r>
                          <m:r>
                            <a:rPr lang="es-SV" sz="2100" i="1">
                              <a:latin typeface="Cambria Math" panose="02040503050406030204" pitchFamily="18" charset="0"/>
                            </a:rPr>
                            <m:t>𝐵</m:t>
                          </m:r>
                        </m:e>
                      </m:d>
                      <m:r>
                        <a:rPr lang="es-SV" sz="2100" i="1">
                          <a:latin typeface="Cambria Math" panose="02040503050406030204" pitchFamily="18" charset="0"/>
                        </a:rPr>
                        <m:t>=</m:t>
                      </m:r>
                      <m:r>
                        <a:rPr lang="es-SV" sz="2100" i="1">
                          <a:latin typeface="Cambria Math" panose="02040503050406030204" pitchFamily="18" charset="0"/>
                        </a:rPr>
                        <m:t>𝑃</m:t>
                      </m:r>
                      <m:r>
                        <a:rPr lang="es-SV" sz="2100" i="1">
                          <a:latin typeface="Cambria Math" panose="02040503050406030204" pitchFamily="18" charset="0"/>
                        </a:rPr>
                        <m:t>(</m:t>
                      </m:r>
                      <m:r>
                        <a:rPr lang="es-SV" sz="2100" i="1">
                          <a:latin typeface="Cambria Math" panose="02040503050406030204" pitchFamily="18" charset="0"/>
                        </a:rPr>
                        <m:t>𝐵</m:t>
                      </m:r>
                      <m:r>
                        <a:rPr lang="es-SV" sz="2100" i="1">
                          <a:latin typeface="Cambria Math" panose="02040503050406030204" pitchFamily="18" charset="0"/>
                        </a:rPr>
                        <m:t>)×</m:t>
                      </m:r>
                      <m:r>
                        <a:rPr lang="es-SV" sz="2100" i="1">
                          <a:latin typeface="Cambria Math" panose="02040503050406030204" pitchFamily="18" charset="0"/>
                        </a:rPr>
                        <m:t>𝑃</m:t>
                      </m:r>
                      <m:r>
                        <a:rPr lang="es-SV" sz="2100" i="1">
                          <a:latin typeface="Cambria Math" panose="02040503050406030204" pitchFamily="18" charset="0"/>
                        </a:rPr>
                        <m:t>(</m:t>
                      </m:r>
                      <m:f>
                        <m:fPr>
                          <m:type m:val="lin"/>
                          <m:ctrlPr>
                            <a:rPr lang="es-SV" sz="2100" i="1">
                              <a:latin typeface="Cambria Math" panose="02040503050406030204" pitchFamily="18" charset="0"/>
                            </a:rPr>
                          </m:ctrlPr>
                        </m:fPr>
                        <m:num>
                          <m:r>
                            <a:rPr lang="es-SV" sz="2100" i="1">
                              <a:latin typeface="Cambria Math" panose="02040503050406030204" pitchFamily="18" charset="0"/>
                            </a:rPr>
                            <m:t>𝐴</m:t>
                          </m:r>
                        </m:num>
                        <m:den>
                          <m:r>
                            <a:rPr lang="es-SV" sz="2100" i="1">
                              <a:latin typeface="Cambria Math" panose="02040503050406030204" pitchFamily="18" charset="0"/>
                            </a:rPr>
                            <m:t>𝐵</m:t>
                          </m:r>
                          <m:r>
                            <a:rPr lang="es-SV" sz="2100" i="1">
                              <a:latin typeface="Cambria Math" panose="02040503050406030204" pitchFamily="18" charset="0"/>
                            </a:rPr>
                            <m:t>)</m:t>
                          </m:r>
                        </m:den>
                      </m:f>
                    </m:oMath>
                  </m:oMathPara>
                </a14:m>
                <a:endParaRPr lang="es-SV" sz="2100"/>
              </a:p>
              <a:p>
                <a:pPr marL="0" indent="0">
                  <a:buNone/>
                </a:pPr>
                <a:r>
                  <a:rPr lang="es-SV" sz="2100"/>
                  <a:t>Demostración:</a:t>
                </a:r>
              </a:p>
              <a:p>
                <a:pPr marL="0" indent="0">
                  <a:buNone/>
                </a:pPr>
                <a14:m>
                  <m:oMathPara xmlns:m="http://schemas.openxmlformats.org/officeDocument/2006/math">
                    <m:oMathParaPr>
                      <m:jc m:val="centerGroup"/>
                    </m:oMathParaPr>
                    <m:oMath xmlns:m="http://schemas.openxmlformats.org/officeDocument/2006/math">
                      <m:r>
                        <a:rPr lang="es-SV" sz="2100" i="1">
                          <a:latin typeface="Cambria Math" panose="02040503050406030204" pitchFamily="18" charset="0"/>
                        </a:rPr>
                        <m:t>𝑃</m:t>
                      </m:r>
                      <m:d>
                        <m:dPr>
                          <m:ctrlPr>
                            <a:rPr lang="es-SV" sz="2100" i="1">
                              <a:latin typeface="Cambria Math" panose="02040503050406030204" pitchFamily="18" charset="0"/>
                            </a:rPr>
                          </m:ctrlPr>
                        </m:dPr>
                        <m:e>
                          <m:f>
                            <m:fPr>
                              <m:type m:val="lin"/>
                              <m:ctrlPr>
                                <a:rPr lang="es-SV" sz="2100" i="1">
                                  <a:latin typeface="Cambria Math" panose="02040503050406030204" pitchFamily="18" charset="0"/>
                                </a:rPr>
                              </m:ctrlPr>
                            </m:fPr>
                            <m:num>
                              <m:r>
                                <a:rPr lang="es-SV" sz="2100" i="1">
                                  <a:latin typeface="Cambria Math" panose="02040503050406030204" pitchFamily="18" charset="0"/>
                                </a:rPr>
                                <m:t>𝐴</m:t>
                              </m:r>
                            </m:num>
                            <m:den>
                              <m:r>
                                <a:rPr lang="es-SV" sz="2100" i="1">
                                  <a:latin typeface="Cambria Math" panose="02040503050406030204" pitchFamily="18" charset="0"/>
                                </a:rPr>
                                <m:t>𝐵</m:t>
                              </m:r>
                            </m:den>
                          </m:f>
                        </m:e>
                      </m:d>
                      <m:r>
                        <a:rPr lang="es-SV" sz="2100" i="1">
                          <a:latin typeface="Cambria Math" panose="02040503050406030204" pitchFamily="18" charset="0"/>
                        </a:rPr>
                        <m:t>=</m:t>
                      </m:r>
                      <m:f>
                        <m:fPr>
                          <m:ctrlPr>
                            <a:rPr lang="es-SV" sz="2100" i="1">
                              <a:latin typeface="Cambria Math" panose="02040503050406030204" pitchFamily="18" charset="0"/>
                            </a:rPr>
                          </m:ctrlPr>
                        </m:fPr>
                        <m:num>
                          <m:r>
                            <a:rPr lang="es-SV" sz="2100" i="1">
                              <a:latin typeface="Cambria Math" panose="02040503050406030204" pitchFamily="18" charset="0"/>
                            </a:rPr>
                            <m:t>𝑃</m:t>
                          </m:r>
                          <m:d>
                            <m:dPr>
                              <m:ctrlPr>
                                <a:rPr lang="es-SV" sz="2100" i="1">
                                  <a:latin typeface="Cambria Math" panose="02040503050406030204" pitchFamily="18" charset="0"/>
                                </a:rPr>
                              </m:ctrlPr>
                            </m:dPr>
                            <m:e>
                              <m:r>
                                <a:rPr lang="es-SV" sz="2100" i="1">
                                  <a:latin typeface="Cambria Math" panose="02040503050406030204" pitchFamily="18" charset="0"/>
                                </a:rPr>
                                <m:t>𝐴</m:t>
                              </m:r>
                              <m:r>
                                <a:rPr lang="es-SV" sz="2100" i="1">
                                  <a:latin typeface="Cambria Math" panose="02040503050406030204" pitchFamily="18" charset="0"/>
                                </a:rPr>
                                <m:t>∩</m:t>
                              </m:r>
                              <m:r>
                                <a:rPr lang="es-SV" sz="2100" i="1">
                                  <a:latin typeface="Cambria Math" panose="02040503050406030204" pitchFamily="18" charset="0"/>
                                </a:rPr>
                                <m:t>𝐵</m:t>
                              </m:r>
                            </m:e>
                          </m:d>
                        </m:num>
                        <m:den>
                          <m:r>
                            <a:rPr lang="es-SV" sz="2100" i="1">
                              <a:latin typeface="Cambria Math" panose="02040503050406030204" pitchFamily="18" charset="0"/>
                            </a:rPr>
                            <m:t>𝑃</m:t>
                          </m:r>
                          <m:d>
                            <m:dPr>
                              <m:ctrlPr>
                                <a:rPr lang="es-SV" sz="2100" i="1">
                                  <a:latin typeface="Cambria Math" panose="02040503050406030204" pitchFamily="18" charset="0"/>
                                </a:rPr>
                              </m:ctrlPr>
                            </m:dPr>
                            <m:e>
                              <m:r>
                                <a:rPr lang="es-SV" sz="2100" b="0" i="1">
                                  <a:latin typeface="Cambria Math"/>
                                </a:rPr>
                                <m:t>𝐵</m:t>
                              </m:r>
                            </m:e>
                          </m:d>
                        </m:den>
                      </m:f>
                    </m:oMath>
                  </m:oMathPara>
                </a14:m>
                <a:endParaRPr lang="es-SV" sz="2100"/>
              </a:p>
              <a:p>
                <a:pPr marL="0" indent="0">
                  <a:buNone/>
                </a:pPr>
                <a:endParaRPr lang="es-SV" sz="2100"/>
              </a:p>
              <a:p>
                <a:pPr marL="0" indent="0">
                  <a:buNone/>
                </a:pPr>
                <a14:m>
                  <m:oMathPara xmlns:m="http://schemas.openxmlformats.org/officeDocument/2006/math">
                    <m:oMathParaPr>
                      <m:jc m:val="centerGroup"/>
                    </m:oMathParaPr>
                    <m:oMath xmlns:m="http://schemas.openxmlformats.org/officeDocument/2006/math">
                      <m:r>
                        <a:rPr lang="es-SV" sz="2100" i="1">
                          <a:latin typeface="Cambria Math" panose="02040503050406030204" pitchFamily="18" charset="0"/>
                        </a:rPr>
                        <m:t>𝑃</m:t>
                      </m:r>
                      <m:d>
                        <m:dPr>
                          <m:ctrlPr>
                            <a:rPr lang="es-SV" sz="2100" i="1">
                              <a:latin typeface="Cambria Math" panose="02040503050406030204" pitchFamily="18" charset="0"/>
                            </a:rPr>
                          </m:ctrlPr>
                        </m:dPr>
                        <m:e>
                          <m:r>
                            <a:rPr lang="es-SV" sz="2100" b="0" i="1">
                              <a:latin typeface="Cambria Math"/>
                            </a:rPr>
                            <m:t>𝐵</m:t>
                          </m:r>
                        </m:e>
                      </m:d>
                      <m:r>
                        <a:rPr lang="es-SV" sz="2100" i="1">
                          <a:latin typeface="Cambria Math" panose="02040503050406030204" pitchFamily="18" charset="0"/>
                        </a:rPr>
                        <m:t>×</m:t>
                      </m:r>
                      <m:r>
                        <a:rPr lang="es-SV" sz="2100" i="1">
                          <a:latin typeface="Cambria Math" panose="02040503050406030204" pitchFamily="18" charset="0"/>
                        </a:rPr>
                        <m:t>𝑃</m:t>
                      </m:r>
                      <m:d>
                        <m:dPr>
                          <m:ctrlPr>
                            <a:rPr lang="es-SV" sz="2100" i="1">
                              <a:latin typeface="Cambria Math" panose="02040503050406030204" pitchFamily="18" charset="0"/>
                            </a:rPr>
                          </m:ctrlPr>
                        </m:dPr>
                        <m:e>
                          <m:f>
                            <m:fPr>
                              <m:type m:val="lin"/>
                              <m:ctrlPr>
                                <a:rPr lang="es-SV" sz="2100" i="1">
                                  <a:latin typeface="Cambria Math" panose="02040503050406030204" pitchFamily="18" charset="0"/>
                                </a:rPr>
                              </m:ctrlPr>
                            </m:fPr>
                            <m:num>
                              <m:r>
                                <a:rPr lang="es-SV" sz="2100" i="1">
                                  <a:latin typeface="Cambria Math" panose="02040503050406030204" pitchFamily="18" charset="0"/>
                                </a:rPr>
                                <m:t>𝐴</m:t>
                              </m:r>
                            </m:num>
                            <m:den>
                              <m:r>
                                <a:rPr lang="es-SV" sz="2100" i="1">
                                  <a:latin typeface="Cambria Math" panose="02040503050406030204" pitchFamily="18" charset="0"/>
                                </a:rPr>
                                <m:t>𝐵</m:t>
                              </m:r>
                            </m:den>
                          </m:f>
                        </m:e>
                      </m:d>
                      <m:r>
                        <a:rPr lang="es-SV" sz="2100" i="1">
                          <a:latin typeface="Cambria Math" panose="02040503050406030204" pitchFamily="18" charset="0"/>
                        </a:rPr>
                        <m:t>=</m:t>
                      </m:r>
                      <m:r>
                        <a:rPr lang="es-SV" sz="2100" i="1">
                          <a:latin typeface="Cambria Math" panose="02040503050406030204" pitchFamily="18" charset="0"/>
                        </a:rPr>
                        <m:t>𝑃</m:t>
                      </m:r>
                      <m:d>
                        <m:dPr>
                          <m:ctrlPr>
                            <a:rPr lang="es-SV" sz="2100" i="1">
                              <a:latin typeface="Cambria Math" panose="02040503050406030204" pitchFamily="18" charset="0"/>
                            </a:rPr>
                          </m:ctrlPr>
                        </m:dPr>
                        <m:e>
                          <m:r>
                            <a:rPr lang="es-SV" sz="2100" i="1">
                              <a:latin typeface="Cambria Math" panose="02040503050406030204" pitchFamily="18" charset="0"/>
                            </a:rPr>
                            <m:t>𝐴</m:t>
                          </m:r>
                          <m:r>
                            <a:rPr lang="es-SV" sz="2100" i="1">
                              <a:latin typeface="Cambria Math" panose="02040503050406030204" pitchFamily="18" charset="0"/>
                            </a:rPr>
                            <m:t>∩</m:t>
                          </m:r>
                          <m:r>
                            <a:rPr lang="es-SV" sz="2100" i="1">
                              <a:latin typeface="Cambria Math" panose="02040503050406030204" pitchFamily="18" charset="0"/>
                            </a:rPr>
                            <m:t>𝐵</m:t>
                          </m:r>
                        </m:e>
                      </m:d>
                    </m:oMath>
                  </m:oMathPara>
                </a14:m>
                <a:endParaRPr lang="es-SV" sz="2100"/>
              </a:p>
              <a:p>
                <a:pPr marL="0" indent="0">
                  <a:buNone/>
                </a:pPr>
                <a:endParaRPr lang="es-SV" sz="210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3820217" y="762000"/>
                <a:ext cx="3031732" cy="5368412"/>
              </a:xfrm>
              <a:blipFill>
                <a:blip r:embed="rId2"/>
                <a:stretch>
                  <a:fillRect l="-2414" r="-3018"/>
                </a:stretch>
              </a:blipFill>
            </p:spPr>
            <p:txBody>
              <a:bodyPr/>
              <a:lstStyle/>
              <a:p>
                <a:r>
                  <a:rPr lang="es-SV">
                    <a:noFill/>
                  </a:rPr>
                  <a:t> </a:t>
                </a:r>
              </a:p>
            </p:txBody>
          </p:sp>
        </mc:Fallback>
      </mc:AlternateContent>
      <p:sp>
        <p:nvSpPr>
          <p:cNvPr id="12" name="Rectangle 11">
            <a:extLst>
              <a:ext uri="{FF2B5EF4-FFF2-40B4-BE49-F238E27FC236}">
                <a16:creationId xmlns:a16="http://schemas.microsoft.com/office/drawing/2014/main" id="{A35BD09B-BC3A-45C0-AF8E-950F364CD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4616" y="448056"/>
            <a:ext cx="1577340" cy="2907792"/>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05CC4153-3F0D-4F4C-8F12-E8FC3FA40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2646" y="3494844"/>
            <a:ext cx="1578001" cy="290779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Tree>
    <p:extLst>
      <p:ext uri="{BB962C8B-B14F-4D97-AF65-F5344CB8AC3E}">
        <p14:creationId xmlns:p14="http://schemas.microsoft.com/office/powerpoint/2010/main" val="683573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97E3E-B90C-4D82-BAAA-36F7AC6A45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CF5E676-CA04-4CED-9F1E-5026ED66E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2124801" cy="2997599"/>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12" name="Freeform: Shape 11">
            <a:extLst>
              <a:ext uri="{FF2B5EF4-FFF2-40B4-BE49-F238E27FC236}">
                <a16:creationId xmlns:a16="http://schemas.microsoft.com/office/drawing/2014/main" id="{AFD1189F-9598-4281-8056-2845388D4D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124801" cy="2997599"/>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14" name="Freeform: Shape 13">
            <a:extLst>
              <a:ext uri="{FF2B5EF4-FFF2-40B4-BE49-F238E27FC236}">
                <a16:creationId xmlns:a16="http://schemas.microsoft.com/office/drawing/2014/main" id="{583E04E1-D74F-4ED6-972C-035F4FEC4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69564" y="3564607"/>
            <a:ext cx="2574436"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Freeform: Shape 15">
            <a:extLst>
              <a:ext uri="{FF2B5EF4-FFF2-40B4-BE49-F238E27FC236}">
                <a16:creationId xmlns:a16="http://schemas.microsoft.com/office/drawing/2014/main" id="{A2B5CBEA-F125-49B6-8335-227C325B1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69564" y="3564607"/>
            <a:ext cx="2574436"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Rectangle 17">
            <a:extLst>
              <a:ext uri="{FF2B5EF4-FFF2-40B4-BE49-F238E27FC236}">
                <a16:creationId xmlns:a16="http://schemas.microsoft.com/office/drawing/2014/main" id="{E51A97D9-C694-4307-818B-0C5BBF413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40789" y="819446"/>
            <a:ext cx="5223514" cy="5402463"/>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2C1D3151-5F97-4860-B56C-C98BD62CC2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40789" y="819446"/>
            <a:ext cx="5223514" cy="5402463"/>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8DE96824-E506-4448-8704-5EC7BF7BC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60243" y="727769"/>
            <a:ext cx="5223514" cy="5402463"/>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1 Título"/>
          <p:cNvSpPr>
            <a:spLocks noGrp="1"/>
          </p:cNvSpPr>
          <p:nvPr>
            <p:ph type="title"/>
          </p:nvPr>
        </p:nvSpPr>
        <p:spPr>
          <a:xfrm>
            <a:off x="2165073" y="1495956"/>
            <a:ext cx="4813854" cy="1340883"/>
          </a:xfrm>
        </p:spPr>
        <p:txBody>
          <a:bodyPr vert="horz" lIns="91440" tIns="45720" rIns="91440" bIns="45720" rtlCol="0" anchor="b">
            <a:normAutofit fontScale="90000"/>
          </a:bodyPr>
          <a:lstStyle/>
          <a:p>
            <a:pPr algn="ctr"/>
            <a:r>
              <a:rPr lang="en-US" sz="4700" kern="1200" dirty="0">
                <a:solidFill>
                  <a:schemeClr val="bg1"/>
                </a:solidFill>
                <a:latin typeface="+mj-lt"/>
                <a:ea typeface="+mj-ea"/>
                <a:cs typeface="+mj-cs"/>
              </a:rPr>
              <a:t>La </a:t>
            </a:r>
            <a:r>
              <a:rPr lang="en-US" sz="4700" kern="1200" dirty="0" err="1">
                <a:solidFill>
                  <a:schemeClr val="bg1"/>
                </a:solidFill>
                <a:latin typeface="+mj-lt"/>
                <a:ea typeface="+mj-ea"/>
                <a:cs typeface="+mj-cs"/>
              </a:rPr>
              <a:t>regla</a:t>
            </a:r>
            <a:r>
              <a:rPr lang="en-US" sz="4700" kern="1200" dirty="0">
                <a:solidFill>
                  <a:schemeClr val="bg1"/>
                </a:solidFill>
                <a:latin typeface="+mj-lt"/>
                <a:ea typeface="+mj-ea"/>
                <a:cs typeface="+mj-cs"/>
              </a:rPr>
              <a:t> </a:t>
            </a:r>
            <a:r>
              <a:rPr lang="en-US" sz="4700" kern="1200" dirty="0" err="1">
                <a:solidFill>
                  <a:schemeClr val="bg1"/>
                </a:solidFill>
                <a:latin typeface="+mj-lt"/>
                <a:ea typeface="+mj-ea"/>
                <a:cs typeface="+mj-cs"/>
              </a:rPr>
              <a:t>multiplicativa</a:t>
            </a:r>
            <a:r>
              <a:rPr lang="en-US" sz="4700" kern="1200" dirty="0">
                <a:solidFill>
                  <a:schemeClr val="bg1"/>
                </a:solidFill>
                <a:latin typeface="+mj-lt"/>
                <a:ea typeface="+mj-ea"/>
                <a:cs typeface="+mj-cs"/>
              </a:rPr>
              <a:t> se </a:t>
            </a:r>
            <a:r>
              <a:rPr lang="en-US" sz="4700" kern="1200" dirty="0" err="1">
                <a:solidFill>
                  <a:schemeClr val="bg1"/>
                </a:solidFill>
                <a:latin typeface="+mj-lt"/>
                <a:ea typeface="+mj-ea"/>
                <a:cs typeface="+mj-cs"/>
              </a:rPr>
              <a:t>puede</a:t>
            </a:r>
            <a:r>
              <a:rPr lang="en-US" sz="4700" kern="1200" dirty="0">
                <a:solidFill>
                  <a:schemeClr val="bg1"/>
                </a:solidFill>
                <a:latin typeface="+mj-lt"/>
                <a:ea typeface="+mj-ea"/>
                <a:cs typeface="+mj-cs"/>
              </a:rPr>
              <a:t> </a:t>
            </a:r>
            <a:r>
              <a:rPr lang="en-US" sz="4700" kern="1200" dirty="0" err="1">
                <a:solidFill>
                  <a:schemeClr val="bg1"/>
                </a:solidFill>
                <a:latin typeface="+mj-lt"/>
                <a:ea typeface="+mj-ea"/>
                <a:cs typeface="+mj-cs"/>
              </a:rPr>
              <a:t>generalizar</a:t>
            </a:r>
            <a:r>
              <a:rPr lang="en-US" sz="4700" kern="1200" dirty="0">
                <a:solidFill>
                  <a:schemeClr val="bg1"/>
                </a:solidFill>
                <a:latin typeface="+mj-lt"/>
                <a:ea typeface="+mj-ea"/>
                <a:cs typeface="+mj-cs"/>
              </a:rPr>
              <a:t>?</a:t>
            </a:r>
          </a:p>
        </p:txBody>
      </p:sp>
      <mc:AlternateContent xmlns:mc="http://schemas.openxmlformats.org/markup-compatibility/2006" xmlns:a14="http://schemas.microsoft.com/office/drawing/2010/main">
        <mc:Choice Requires="a14">
          <p:sp>
            <p:nvSpPr>
              <p:cNvPr id="3" name="2 Marcador de contenido"/>
              <p:cNvSpPr>
                <a:spLocks noGrp="1"/>
              </p:cNvSpPr>
              <p:nvPr>
                <p:ph type="body" idx="1"/>
              </p:nvPr>
            </p:nvSpPr>
            <p:spPr>
              <a:xfrm>
                <a:off x="2165073" y="3220933"/>
                <a:ext cx="4813854" cy="2211105"/>
              </a:xfrm>
            </p:spPr>
            <p:txBody>
              <a:bodyPr vert="horz" lIns="91440" tIns="45720" rIns="91440" bIns="45720" rtlCol="0">
                <a:normAutofit/>
              </a:bodyPr>
              <a:lstStyle/>
              <a:p>
                <a:pPr algn="ctr"/>
                <a:r>
                  <a:rPr lang="en-US" sz="1800" kern="1200" dirty="0">
                    <a:solidFill>
                      <a:schemeClr val="bg1"/>
                    </a:solidFill>
                    <a:latin typeface="+mn-lt"/>
                    <a:ea typeface="+mn-ea"/>
                    <a:cs typeface="+mn-cs"/>
                  </a:rPr>
                  <a:t>Si, </a:t>
                </a:r>
                <a:r>
                  <a:rPr lang="en-US" sz="1800" kern="1200" dirty="0" err="1">
                    <a:solidFill>
                      <a:schemeClr val="bg1"/>
                    </a:solidFill>
                    <a:latin typeface="+mn-lt"/>
                    <a:ea typeface="+mn-ea"/>
                    <a:cs typeface="+mn-cs"/>
                  </a:rPr>
                  <a:t>ya</a:t>
                </a:r>
                <a:r>
                  <a:rPr lang="en-US" sz="1800" kern="1200" dirty="0">
                    <a:solidFill>
                      <a:schemeClr val="bg1"/>
                    </a:solidFill>
                    <a:latin typeface="+mn-lt"/>
                    <a:ea typeface="+mn-ea"/>
                    <a:cs typeface="+mn-cs"/>
                  </a:rPr>
                  <a:t> que se </a:t>
                </a:r>
                <a:r>
                  <a:rPr lang="en-US" sz="1800" kern="1200" dirty="0" err="1">
                    <a:solidFill>
                      <a:schemeClr val="bg1"/>
                    </a:solidFill>
                    <a:latin typeface="+mn-lt"/>
                    <a:ea typeface="+mn-ea"/>
                    <a:cs typeface="+mn-cs"/>
                  </a:rPr>
                  <a:t>podrá</a:t>
                </a:r>
                <a:r>
                  <a:rPr lang="en-US" sz="1800" kern="1200" dirty="0">
                    <a:solidFill>
                      <a:schemeClr val="bg1"/>
                    </a:solidFill>
                    <a:latin typeface="+mn-lt"/>
                    <a:ea typeface="+mn-ea"/>
                    <a:cs typeface="+mn-cs"/>
                  </a:rPr>
                  <a:t> </a:t>
                </a:r>
                <a:r>
                  <a:rPr lang="en-US" sz="1800" kern="1200" dirty="0" err="1">
                    <a:solidFill>
                      <a:schemeClr val="bg1"/>
                    </a:solidFill>
                    <a:latin typeface="+mn-lt"/>
                    <a:ea typeface="+mn-ea"/>
                    <a:cs typeface="+mn-cs"/>
                  </a:rPr>
                  <a:t>tener</a:t>
                </a:r>
                <a:r>
                  <a:rPr lang="en-US" sz="1800" kern="1200" dirty="0">
                    <a:solidFill>
                      <a:schemeClr val="bg1"/>
                    </a:solidFill>
                    <a:latin typeface="+mn-lt"/>
                    <a:ea typeface="+mn-ea"/>
                    <a:cs typeface="+mn-cs"/>
                  </a:rPr>
                  <a:t> la </a:t>
                </a:r>
                <a:r>
                  <a:rPr lang="en-US" sz="1800" kern="1200" dirty="0" err="1">
                    <a:solidFill>
                      <a:schemeClr val="bg1"/>
                    </a:solidFill>
                    <a:latin typeface="+mn-lt"/>
                    <a:ea typeface="+mn-ea"/>
                    <a:cs typeface="+mn-cs"/>
                  </a:rPr>
                  <a:t>siguiente</a:t>
                </a:r>
                <a:r>
                  <a:rPr lang="en-US" sz="1800" kern="1200" dirty="0">
                    <a:solidFill>
                      <a:schemeClr val="bg1"/>
                    </a:solidFill>
                    <a:latin typeface="+mn-lt"/>
                    <a:ea typeface="+mn-ea"/>
                    <a:cs typeface="+mn-cs"/>
                  </a:rPr>
                  <a:t> </a:t>
                </a:r>
                <a:r>
                  <a:rPr lang="en-US" sz="1800" kern="1200" dirty="0" err="1">
                    <a:solidFill>
                      <a:schemeClr val="bg1"/>
                    </a:solidFill>
                    <a:latin typeface="+mn-lt"/>
                    <a:ea typeface="+mn-ea"/>
                    <a:cs typeface="+mn-cs"/>
                  </a:rPr>
                  <a:t>expresión</a:t>
                </a:r>
                <a:r>
                  <a:rPr lang="en-US" sz="1800" kern="1200" dirty="0">
                    <a:solidFill>
                      <a:schemeClr val="bg1"/>
                    </a:solidFill>
                    <a:latin typeface="+mn-lt"/>
                    <a:ea typeface="+mn-ea"/>
                    <a:cs typeface="+mn-cs"/>
                  </a:rPr>
                  <a:t> </a:t>
                </a:r>
                <a:r>
                  <a:rPr lang="en-US" sz="1800" kern="1200" dirty="0" err="1">
                    <a:solidFill>
                      <a:schemeClr val="bg1"/>
                    </a:solidFill>
                    <a:latin typeface="+mn-lt"/>
                    <a:ea typeface="+mn-ea"/>
                    <a:cs typeface="+mn-cs"/>
                  </a:rPr>
                  <a:t>cuando</a:t>
                </a:r>
                <a:r>
                  <a:rPr lang="en-US" sz="1800" kern="1200" dirty="0">
                    <a:solidFill>
                      <a:schemeClr val="bg1"/>
                    </a:solidFill>
                    <a:latin typeface="+mn-lt"/>
                    <a:ea typeface="+mn-ea"/>
                    <a:cs typeface="+mn-cs"/>
                  </a:rPr>
                  <a:t> se </a:t>
                </a:r>
                <a:r>
                  <a:rPr lang="en-US" sz="1800" kern="1200" dirty="0" err="1">
                    <a:solidFill>
                      <a:schemeClr val="bg1"/>
                    </a:solidFill>
                    <a:latin typeface="+mn-lt"/>
                    <a:ea typeface="+mn-ea"/>
                    <a:cs typeface="+mn-cs"/>
                  </a:rPr>
                  <a:t>considera</a:t>
                </a:r>
                <a:r>
                  <a:rPr lang="en-US" sz="1800" kern="1200" dirty="0">
                    <a:solidFill>
                      <a:schemeClr val="bg1"/>
                    </a:solidFill>
                    <a:latin typeface="+mn-lt"/>
                    <a:ea typeface="+mn-ea"/>
                    <a:cs typeface="+mn-cs"/>
                  </a:rPr>
                  <a:t> una </a:t>
                </a:r>
                <a:r>
                  <a:rPr lang="en-US" sz="1800" kern="1200" dirty="0" err="1">
                    <a:solidFill>
                      <a:schemeClr val="bg1"/>
                    </a:solidFill>
                    <a:latin typeface="+mn-lt"/>
                    <a:ea typeface="+mn-ea"/>
                    <a:cs typeface="+mn-cs"/>
                  </a:rPr>
                  <a:t>dependencia</a:t>
                </a:r>
                <a:r>
                  <a:rPr lang="en-US" sz="1800" kern="1200" dirty="0">
                    <a:solidFill>
                      <a:schemeClr val="bg1"/>
                    </a:solidFill>
                    <a:latin typeface="+mn-lt"/>
                    <a:ea typeface="+mn-ea"/>
                    <a:cs typeface="+mn-cs"/>
                  </a:rPr>
                  <a:t> entre la </a:t>
                </a:r>
                <a:r>
                  <a:rPr lang="en-US" sz="1800" kern="1200" dirty="0" err="1">
                    <a:solidFill>
                      <a:schemeClr val="bg1"/>
                    </a:solidFill>
                    <a:latin typeface="+mn-lt"/>
                    <a:ea typeface="+mn-ea"/>
                    <a:cs typeface="+mn-cs"/>
                  </a:rPr>
                  <a:t>ocurrencia</a:t>
                </a:r>
                <a:r>
                  <a:rPr lang="en-US" sz="1800" kern="1200" dirty="0">
                    <a:solidFill>
                      <a:schemeClr val="bg1"/>
                    </a:solidFill>
                    <a:latin typeface="+mn-lt"/>
                    <a:ea typeface="+mn-ea"/>
                    <a:cs typeface="+mn-cs"/>
                  </a:rPr>
                  <a:t> de </a:t>
                </a:r>
                <a:r>
                  <a:rPr lang="en-US" sz="1800" kern="1200" dirty="0" err="1">
                    <a:solidFill>
                      <a:schemeClr val="bg1"/>
                    </a:solidFill>
                    <a:latin typeface="+mn-lt"/>
                    <a:ea typeface="+mn-ea"/>
                    <a:cs typeface="+mn-cs"/>
                  </a:rPr>
                  <a:t>sucesos</a:t>
                </a:r>
                <a:r>
                  <a:rPr lang="en-US" sz="1800" kern="1200" dirty="0">
                    <a:solidFill>
                      <a:schemeClr val="bg1"/>
                    </a:solidFill>
                    <a:latin typeface="+mn-lt"/>
                    <a:ea typeface="+mn-ea"/>
                    <a:cs typeface="+mn-cs"/>
                  </a:rPr>
                  <a:t>.</a:t>
                </a:r>
              </a:p>
              <a:p>
                <a:pPr algn="ctr"/>
                <a:endParaRPr lang="en-US" sz="1800" i="1" kern="1200" dirty="0">
                  <a:solidFill>
                    <a:schemeClr val="bg1"/>
                  </a:solidFill>
                  <a:latin typeface="+mn-lt"/>
                  <a:ea typeface="+mn-ea"/>
                  <a:cs typeface="+mn-cs"/>
                </a:endParaRPr>
              </a:p>
              <a:p>
                <a:pPr algn="ctr"/>
                <a14:m>
                  <m:oMathPara xmlns:m="http://schemas.openxmlformats.org/officeDocument/2006/math">
                    <m:oMathParaPr>
                      <m:jc m:val="centerGroup"/>
                    </m:oMathParaPr>
                    <m:oMath xmlns:m="http://schemas.openxmlformats.org/officeDocument/2006/math">
                      <m:r>
                        <a:rPr lang="en-US" sz="1800" i="1" kern="1200">
                          <a:solidFill>
                            <a:schemeClr val="bg1"/>
                          </a:solidFill>
                          <a:latin typeface="Cambria Math" panose="02040503050406030204" pitchFamily="18" charset="0"/>
                          <a:ea typeface="+mn-ea"/>
                          <a:cs typeface="+mn-cs"/>
                        </a:rPr>
                        <m:t>𝑃</m:t>
                      </m:r>
                      <m:d>
                        <m:dPr>
                          <m:ctrlPr>
                            <a:rPr lang="en-US" sz="1800" i="1" kern="1200">
                              <a:solidFill>
                                <a:schemeClr val="bg1"/>
                              </a:solidFill>
                              <a:latin typeface="Cambria Math" panose="02040503050406030204" pitchFamily="18" charset="0"/>
                              <a:ea typeface="+mn-ea"/>
                              <a:cs typeface="+mn-cs"/>
                            </a:rPr>
                          </m:ctrlPr>
                        </m:dPr>
                        <m:e>
                          <m:r>
                            <a:rPr lang="en-US" sz="1800" i="1" kern="1200">
                              <a:solidFill>
                                <a:schemeClr val="bg1"/>
                              </a:solidFill>
                              <a:latin typeface="Cambria Math" panose="02040503050406030204" pitchFamily="18" charset="0"/>
                              <a:ea typeface="+mn-ea"/>
                              <a:cs typeface="+mn-cs"/>
                            </a:rPr>
                            <m:t>𝐴</m:t>
                          </m:r>
                          <m:r>
                            <a:rPr lang="en-US" sz="1800" i="1" kern="1200">
                              <a:solidFill>
                                <a:schemeClr val="bg1"/>
                              </a:solidFill>
                              <a:latin typeface="Cambria Math" panose="02040503050406030204" pitchFamily="18" charset="0"/>
                              <a:ea typeface="+mn-ea"/>
                              <a:cs typeface="+mn-cs"/>
                            </a:rPr>
                            <m:t>∩</m:t>
                          </m:r>
                          <m:r>
                            <a:rPr lang="en-US" sz="1800" i="1" kern="1200">
                              <a:solidFill>
                                <a:schemeClr val="bg1"/>
                              </a:solidFill>
                              <a:latin typeface="Cambria Math" panose="02040503050406030204" pitchFamily="18" charset="0"/>
                              <a:ea typeface="+mn-ea"/>
                              <a:cs typeface="+mn-cs"/>
                            </a:rPr>
                            <m:t>𝐵</m:t>
                          </m:r>
                          <m:r>
                            <a:rPr lang="en-US" sz="1800" i="1" kern="1200">
                              <a:solidFill>
                                <a:schemeClr val="bg1"/>
                              </a:solidFill>
                              <a:latin typeface="Cambria Math" panose="02040503050406030204" pitchFamily="18" charset="0"/>
                              <a:ea typeface="+mn-ea"/>
                              <a:cs typeface="+mn-cs"/>
                            </a:rPr>
                            <m:t>∩</m:t>
                          </m:r>
                          <m:r>
                            <a:rPr lang="en-US" sz="1800" i="1" kern="1200">
                              <a:solidFill>
                                <a:schemeClr val="bg1"/>
                              </a:solidFill>
                              <a:latin typeface="Cambria Math" panose="02040503050406030204" pitchFamily="18" charset="0"/>
                              <a:ea typeface="+mn-ea"/>
                              <a:cs typeface="+mn-cs"/>
                            </a:rPr>
                            <m:t>𝐶</m:t>
                          </m:r>
                        </m:e>
                      </m:d>
                      <m:r>
                        <a:rPr lang="en-US" sz="1800" i="1" kern="1200">
                          <a:solidFill>
                            <a:schemeClr val="bg1"/>
                          </a:solidFill>
                          <a:latin typeface="Cambria Math" panose="02040503050406030204" pitchFamily="18" charset="0"/>
                          <a:ea typeface="+mn-ea"/>
                          <a:cs typeface="+mn-cs"/>
                        </a:rPr>
                        <m:t>=</m:t>
                      </m:r>
                      <m:r>
                        <a:rPr lang="en-US" sz="1800" i="1" kern="1200">
                          <a:solidFill>
                            <a:schemeClr val="bg1"/>
                          </a:solidFill>
                          <a:latin typeface="Cambria Math" panose="02040503050406030204" pitchFamily="18" charset="0"/>
                          <a:ea typeface="+mn-ea"/>
                          <a:cs typeface="+mn-cs"/>
                        </a:rPr>
                        <m:t>𝑃</m:t>
                      </m:r>
                      <m:r>
                        <a:rPr lang="en-US" sz="1800" i="1" kern="1200">
                          <a:solidFill>
                            <a:schemeClr val="bg1"/>
                          </a:solidFill>
                          <a:latin typeface="Cambria Math" panose="02040503050406030204" pitchFamily="18" charset="0"/>
                          <a:ea typeface="+mn-ea"/>
                          <a:cs typeface="+mn-cs"/>
                        </a:rPr>
                        <m:t>(</m:t>
                      </m:r>
                      <m:r>
                        <a:rPr lang="en-US" sz="1800" i="1" kern="1200">
                          <a:solidFill>
                            <a:schemeClr val="bg1"/>
                          </a:solidFill>
                          <a:latin typeface="Cambria Math" panose="02040503050406030204" pitchFamily="18" charset="0"/>
                          <a:ea typeface="+mn-ea"/>
                          <a:cs typeface="+mn-cs"/>
                        </a:rPr>
                        <m:t>𝐴</m:t>
                      </m:r>
                      <m:r>
                        <a:rPr lang="en-US" sz="1800" i="1" kern="1200">
                          <a:solidFill>
                            <a:schemeClr val="bg1"/>
                          </a:solidFill>
                          <a:latin typeface="Cambria Math" panose="02040503050406030204" pitchFamily="18" charset="0"/>
                          <a:ea typeface="+mn-ea"/>
                          <a:cs typeface="+mn-cs"/>
                        </a:rPr>
                        <m:t>)×</m:t>
                      </m:r>
                      <m:r>
                        <a:rPr lang="en-US" sz="1800" i="1" kern="1200">
                          <a:solidFill>
                            <a:schemeClr val="bg1"/>
                          </a:solidFill>
                          <a:latin typeface="Cambria Math" panose="02040503050406030204" pitchFamily="18" charset="0"/>
                          <a:ea typeface="+mn-ea"/>
                          <a:cs typeface="+mn-cs"/>
                        </a:rPr>
                        <m:t>𝑃</m:t>
                      </m:r>
                      <m:r>
                        <a:rPr lang="en-US" sz="1800" i="1" kern="1200">
                          <a:solidFill>
                            <a:schemeClr val="bg1"/>
                          </a:solidFill>
                          <a:latin typeface="Cambria Math" panose="02040503050406030204" pitchFamily="18" charset="0"/>
                          <a:ea typeface="+mn-ea"/>
                          <a:cs typeface="+mn-cs"/>
                        </a:rPr>
                        <m:t>(</m:t>
                      </m:r>
                      <m:f>
                        <m:fPr>
                          <m:type m:val="lin"/>
                          <m:ctrlPr>
                            <a:rPr lang="en-US" sz="1800" i="1" kern="1200">
                              <a:solidFill>
                                <a:schemeClr val="bg1"/>
                              </a:solidFill>
                              <a:latin typeface="Cambria Math" panose="02040503050406030204" pitchFamily="18" charset="0"/>
                              <a:ea typeface="+mn-ea"/>
                              <a:cs typeface="+mn-cs"/>
                            </a:rPr>
                          </m:ctrlPr>
                        </m:fPr>
                        <m:num>
                          <m:r>
                            <a:rPr lang="en-US" sz="1800" i="1" kern="1200">
                              <a:solidFill>
                                <a:schemeClr val="bg1"/>
                              </a:solidFill>
                              <a:latin typeface="Cambria Math" panose="02040503050406030204" pitchFamily="18" charset="0"/>
                              <a:ea typeface="+mn-ea"/>
                              <a:cs typeface="+mn-cs"/>
                            </a:rPr>
                            <m:t>𝐵</m:t>
                          </m:r>
                        </m:num>
                        <m:den>
                          <m:r>
                            <a:rPr lang="en-US" sz="1800" i="1" kern="1200">
                              <a:solidFill>
                                <a:schemeClr val="bg1"/>
                              </a:solidFill>
                              <a:latin typeface="Cambria Math" panose="02040503050406030204" pitchFamily="18" charset="0"/>
                              <a:ea typeface="+mn-ea"/>
                              <a:cs typeface="+mn-cs"/>
                            </a:rPr>
                            <m:t>𝐴</m:t>
                          </m:r>
                        </m:den>
                      </m:f>
                      <m:r>
                        <a:rPr lang="en-US" sz="1800" i="1" kern="1200">
                          <a:solidFill>
                            <a:schemeClr val="bg1"/>
                          </a:solidFill>
                          <a:latin typeface="Cambria Math" panose="02040503050406030204" pitchFamily="18" charset="0"/>
                          <a:ea typeface="+mn-ea"/>
                          <a:cs typeface="+mn-cs"/>
                        </a:rPr>
                        <m:t>)×</m:t>
                      </m:r>
                      <m:r>
                        <a:rPr lang="en-US" sz="1800" i="1" kern="1200">
                          <a:solidFill>
                            <a:schemeClr val="bg1"/>
                          </a:solidFill>
                          <a:latin typeface="Cambria Math" panose="02040503050406030204" pitchFamily="18" charset="0"/>
                          <a:ea typeface="+mn-ea"/>
                          <a:cs typeface="+mn-cs"/>
                        </a:rPr>
                        <m:t>𝑃</m:t>
                      </m:r>
                      <m:r>
                        <a:rPr lang="en-US" sz="1800" i="1" kern="1200">
                          <a:solidFill>
                            <a:schemeClr val="bg1"/>
                          </a:solidFill>
                          <a:latin typeface="Cambria Math" panose="02040503050406030204" pitchFamily="18" charset="0"/>
                          <a:ea typeface="+mn-ea"/>
                          <a:cs typeface="+mn-cs"/>
                        </a:rPr>
                        <m:t>(</m:t>
                      </m:r>
                      <m:f>
                        <m:fPr>
                          <m:type m:val="lin"/>
                          <m:ctrlPr>
                            <a:rPr lang="en-US" sz="1800" i="1" kern="1200">
                              <a:solidFill>
                                <a:schemeClr val="bg1"/>
                              </a:solidFill>
                              <a:latin typeface="Cambria Math" panose="02040503050406030204" pitchFamily="18" charset="0"/>
                              <a:ea typeface="+mn-ea"/>
                              <a:cs typeface="+mn-cs"/>
                            </a:rPr>
                          </m:ctrlPr>
                        </m:fPr>
                        <m:num>
                          <m:r>
                            <a:rPr lang="en-US" sz="1800" i="1" kern="1200">
                              <a:solidFill>
                                <a:schemeClr val="bg1"/>
                              </a:solidFill>
                              <a:latin typeface="Cambria Math" panose="02040503050406030204" pitchFamily="18" charset="0"/>
                              <a:ea typeface="+mn-ea"/>
                              <a:cs typeface="+mn-cs"/>
                            </a:rPr>
                            <m:t>𝐶</m:t>
                          </m:r>
                        </m:num>
                        <m:den>
                          <m:r>
                            <a:rPr lang="en-US" sz="1800" i="1" kern="1200">
                              <a:solidFill>
                                <a:schemeClr val="bg1"/>
                              </a:solidFill>
                              <a:latin typeface="Cambria Math" panose="02040503050406030204" pitchFamily="18" charset="0"/>
                              <a:ea typeface="+mn-ea"/>
                              <a:cs typeface="+mn-cs"/>
                            </a:rPr>
                            <m:t>𝐴</m:t>
                          </m:r>
                          <m:r>
                            <a:rPr lang="en-US" sz="1800" i="1" kern="1200">
                              <a:solidFill>
                                <a:schemeClr val="bg1"/>
                              </a:solidFill>
                              <a:latin typeface="Cambria Math" panose="02040503050406030204" pitchFamily="18" charset="0"/>
                              <a:ea typeface="+mn-ea"/>
                              <a:cs typeface="+mn-cs"/>
                            </a:rPr>
                            <m:t>∩</m:t>
                          </m:r>
                          <m:r>
                            <a:rPr lang="en-US" sz="1800" i="1" kern="1200">
                              <a:solidFill>
                                <a:schemeClr val="bg1"/>
                              </a:solidFill>
                              <a:latin typeface="Cambria Math" panose="02040503050406030204" pitchFamily="18" charset="0"/>
                              <a:ea typeface="+mn-ea"/>
                              <a:cs typeface="+mn-cs"/>
                            </a:rPr>
                            <m:t>𝐵</m:t>
                          </m:r>
                        </m:den>
                      </m:f>
                      <m:r>
                        <a:rPr lang="en-US" sz="1800" i="1" kern="1200">
                          <a:solidFill>
                            <a:schemeClr val="bg1"/>
                          </a:solidFill>
                          <a:latin typeface="Cambria Math" panose="02040503050406030204" pitchFamily="18" charset="0"/>
                          <a:ea typeface="+mn-ea"/>
                          <a:cs typeface="+mn-cs"/>
                        </a:rPr>
                        <m:t>)</m:t>
                      </m:r>
                    </m:oMath>
                  </m:oMathPara>
                </a14:m>
                <a:endParaRPr lang="en-US" sz="1800" kern="1200" dirty="0">
                  <a:solidFill>
                    <a:schemeClr val="bg1"/>
                  </a:solidFill>
                  <a:latin typeface="+mn-lt"/>
                  <a:ea typeface="+mn-ea"/>
                  <a:cs typeface="+mn-cs"/>
                </a:endParaRPr>
              </a:p>
              <a:p>
                <a:pPr algn="ctr"/>
                <a:endParaRPr lang="en-US" sz="1400" kern="1200" dirty="0">
                  <a:solidFill>
                    <a:schemeClr val="bg1"/>
                  </a:solidFill>
                  <a:latin typeface="+mn-lt"/>
                  <a:ea typeface="+mn-ea"/>
                  <a:cs typeface="+mn-cs"/>
                </a:endParaRPr>
              </a:p>
            </p:txBody>
          </p:sp>
        </mc:Choice>
        <mc:Fallback xmlns="">
          <p:sp>
            <p:nvSpPr>
              <p:cNvPr id="3" name="2 Marcador de contenido"/>
              <p:cNvSpPr>
                <a:spLocks noGrp="1" noRot="1" noChangeAspect="1" noMove="1" noResize="1" noEditPoints="1" noAdjustHandles="1" noChangeArrowheads="1" noChangeShapeType="1" noTextEdit="1"/>
              </p:cNvSpPr>
              <p:nvPr>
                <p:ph type="body" idx="1"/>
              </p:nvPr>
            </p:nvSpPr>
            <p:spPr>
              <a:xfrm>
                <a:off x="2165073" y="3220933"/>
                <a:ext cx="4813854" cy="2211105"/>
              </a:xfrm>
              <a:blipFill>
                <a:blip r:embed="rId2"/>
                <a:stretch>
                  <a:fillRect t="-2479"/>
                </a:stretch>
              </a:blipFill>
            </p:spPr>
            <p:txBody>
              <a:bodyPr/>
              <a:lstStyle/>
              <a:p>
                <a:r>
                  <a:rPr lang="es-SV">
                    <a:noFill/>
                  </a:rPr>
                  <a:t> </a:t>
                </a:r>
              </a:p>
            </p:txBody>
          </p:sp>
        </mc:Fallback>
      </mc:AlternateContent>
      <p:sp>
        <p:nvSpPr>
          <p:cNvPr id="24" name="Freeform: Shape 23">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27769"/>
            <a:ext cx="1396390"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dirty="0"/>
          </a:p>
        </p:txBody>
      </p:sp>
      <p:sp>
        <p:nvSpPr>
          <p:cNvPr id="26" name="Graphic 212">
            <a:extLst>
              <a:ext uri="{FF2B5EF4-FFF2-40B4-BE49-F238E27FC236}">
                <a16:creationId xmlns:a16="http://schemas.microsoft.com/office/drawing/2014/main" id="{4FB204DF-284E-45F6-A017-79A4DF57BC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1494" y="343675"/>
            <a:ext cx="576140" cy="768186"/>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8" name="Graphic 212">
            <a:extLst>
              <a:ext uri="{FF2B5EF4-FFF2-40B4-BE49-F238E27FC236}">
                <a16:creationId xmlns:a16="http://schemas.microsoft.com/office/drawing/2014/main" id="{5EC6B544-8C84-47A6-885D-A4F09EF5C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1494" y="343675"/>
            <a:ext cx="576140" cy="768186"/>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30" name="Freeform: Shape 29">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67504"/>
            <a:ext cx="1396390"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dirty="0"/>
          </a:p>
        </p:txBody>
      </p:sp>
      <p:sp>
        <p:nvSpPr>
          <p:cNvPr id="32" name="Oval 31">
            <a:extLst>
              <a:ext uri="{FF2B5EF4-FFF2-40B4-BE49-F238E27FC236}">
                <a16:creationId xmlns:a16="http://schemas.microsoft.com/office/drawing/2014/main" id="{32C95C5C-6FBD-47FF-9CA6-066193539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7855" y="5100276"/>
            <a:ext cx="386946" cy="515928"/>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4" name="Oval 33">
            <a:extLst>
              <a:ext uri="{FF2B5EF4-FFF2-40B4-BE49-F238E27FC236}">
                <a16:creationId xmlns:a16="http://schemas.microsoft.com/office/drawing/2014/main" id="{4D1A5E71-B6B6-486A-8CDC-C7ABD9B90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7855" y="5100276"/>
            <a:ext cx="386946" cy="515928"/>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36"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21453" y="5987064"/>
            <a:ext cx="790849" cy="469689"/>
            <a:chOff x="9841624" y="4115729"/>
            <a:chExt cx="602169" cy="268223"/>
          </a:xfrm>
          <a:solidFill>
            <a:schemeClr val="bg1"/>
          </a:solidFill>
        </p:grpSpPr>
        <p:sp>
          <p:nvSpPr>
            <p:cNvPr id="37" name="Freeform: Shape 36">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4042671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06623" y="900814"/>
            <a:ext cx="569713"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08327" y="633165"/>
            <a:ext cx="36199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Shape 13">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965" y="636723"/>
            <a:ext cx="3000047"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1 Título"/>
          <p:cNvSpPr>
            <a:spLocks noGrp="1"/>
          </p:cNvSpPr>
          <p:nvPr>
            <p:ph type="title"/>
          </p:nvPr>
        </p:nvSpPr>
        <p:spPr>
          <a:xfrm>
            <a:off x="701154" y="982272"/>
            <a:ext cx="2541314" cy="4560970"/>
          </a:xfrm>
        </p:spPr>
        <p:txBody>
          <a:bodyPr>
            <a:normAutofit/>
          </a:bodyPr>
          <a:lstStyle/>
          <a:p>
            <a:r>
              <a:rPr lang="es-SV" sz="3000">
                <a:solidFill>
                  <a:srgbClr val="FFFFFF"/>
                </a:solidFill>
              </a:rPr>
              <a:t>Independencia de sucesos</a:t>
            </a:r>
          </a:p>
        </p:txBody>
      </p:sp>
      <p:sp>
        <p:nvSpPr>
          <p:cNvPr id="16"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676336" y="1352302"/>
            <a:ext cx="4991698"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3916396" y="1719618"/>
                <a:ext cx="4461623" cy="4334629"/>
              </a:xfrm>
            </p:spPr>
            <p:txBody>
              <a:bodyPr anchor="ctr">
                <a:normAutofit/>
              </a:bodyPr>
              <a:lstStyle/>
              <a:p>
                <a:pPr marL="0" indent="0">
                  <a:buNone/>
                </a:pPr>
                <a:r>
                  <a:rPr lang="es-SV" sz="1500" dirty="0">
                    <a:solidFill>
                      <a:srgbClr val="FEFFFF"/>
                    </a:solidFill>
                  </a:rPr>
                  <a:t>Dos sucesos A y B son independientes si la probabilidad de uno de ellos no se altera por el hecho de conocer que el otro ocurrió.</a:t>
                </a:r>
              </a:p>
              <a:p>
                <a:pPr marL="0" indent="0">
                  <a:buNone/>
                </a:pPr>
                <a:r>
                  <a:rPr lang="es-SV" sz="1500" dirty="0">
                    <a:solidFill>
                      <a:srgbClr val="FEFFFF"/>
                    </a:solidFill>
                  </a:rPr>
                  <a:t>Formalmente diremos que 2 sucesos A y B son independientes si se cumple cualquiera de las siguientes propiedades.</a:t>
                </a:r>
              </a:p>
              <a:p>
                <a:pPr marL="0" indent="0">
                  <a:buNone/>
                </a:pPr>
                <a:r>
                  <a:rPr lang="es-SV" sz="1500" dirty="0">
                    <a:solidFill>
                      <a:srgbClr val="FEFFFF"/>
                    </a:solidFill>
                  </a:rPr>
                  <a:t>1) </a:t>
                </a:r>
                <a14:m>
                  <m:oMath xmlns:m="http://schemas.openxmlformats.org/officeDocument/2006/math">
                    <m:r>
                      <a:rPr lang="es-SV" sz="1500" i="1">
                        <a:solidFill>
                          <a:srgbClr val="FEFFFF"/>
                        </a:solidFill>
                        <a:latin typeface="Cambria Math" panose="02040503050406030204" pitchFamily="18" charset="0"/>
                      </a:rPr>
                      <m:t>𝑃</m:t>
                    </m:r>
                    <m:d>
                      <m:dPr>
                        <m:ctrlPr>
                          <a:rPr lang="es-SV" sz="1500" i="1">
                            <a:solidFill>
                              <a:srgbClr val="FEFFFF"/>
                            </a:solidFill>
                            <a:latin typeface="Cambria Math" panose="02040503050406030204" pitchFamily="18" charset="0"/>
                          </a:rPr>
                        </m:ctrlPr>
                      </m:dPr>
                      <m:e>
                        <m:f>
                          <m:fPr>
                            <m:type m:val="lin"/>
                            <m:ctrlPr>
                              <a:rPr lang="es-SV" sz="1500" i="1">
                                <a:solidFill>
                                  <a:srgbClr val="FEFFFF"/>
                                </a:solidFill>
                                <a:latin typeface="Cambria Math" panose="02040503050406030204" pitchFamily="18" charset="0"/>
                              </a:rPr>
                            </m:ctrlPr>
                          </m:fPr>
                          <m:num>
                            <m:r>
                              <a:rPr lang="es-SV" sz="1500" i="1">
                                <a:solidFill>
                                  <a:srgbClr val="FEFFFF"/>
                                </a:solidFill>
                                <a:latin typeface="Cambria Math" panose="02040503050406030204" pitchFamily="18" charset="0"/>
                              </a:rPr>
                              <m:t>𝐵</m:t>
                            </m:r>
                          </m:num>
                          <m:den>
                            <m:r>
                              <a:rPr lang="es-SV" sz="1500" i="1">
                                <a:solidFill>
                                  <a:srgbClr val="FEFFFF"/>
                                </a:solidFill>
                                <a:latin typeface="Cambria Math" panose="02040503050406030204" pitchFamily="18" charset="0"/>
                              </a:rPr>
                              <m:t>𝐴</m:t>
                            </m:r>
                          </m:den>
                        </m:f>
                      </m:e>
                    </m:d>
                    <m:r>
                      <a:rPr lang="es-SV" sz="1500" i="1">
                        <a:solidFill>
                          <a:srgbClr val="FEFFFF"/>
                        </a:solidFill>
                        <a:latin typeface="Cambria Math" panose="02040503050406030204" pitchFamily="18" charset="0"/>
                      </a:rPr>
                      <m:t>=</m:t>
                    </m:r>
                    <m:r>
                      <a:rPr lang="es-SV" sz="1500" i="1">
                        <a:solidFill>
                          <a:srgbClr val="FEFFFF"/>
                        </a:solidFill>
                        <a:latin typeface="Cambria Math" panose="02040503050406030204" pitchFamily="18" charset="0"/>
                      </a:rPr>
                      <m:t>𝑃</m:t>
                    </m:r>
                    <m:d>
                      <m:dPr>
                        <m:ctrlPr>
                          <a:rPr lang="es-SV" sz="1500" i="1">
                            <a:solidFill>
                              <a:srgbClr val="FEFFFF"/>
                            </a:solidFill>
                            <a:latin typeface="Cambria Math" panose="02040503050406030204" pitchFamily="18" charset="0"/>
                          </a:rPr>
                        </m:ctrlPr>
                      </m:dPr>
                      <m:e>
                        <m:r>
                          <a:rPr lang="es-SV" sz="1500" i="1">
                            <a:solidFill>
                              <a:srgbClr val="FEFFFF"/>
                            </a:solidFill>
                            <a:latin typeface="Cambria Math" panose="02040503050406030204" pitchFamily="18" charset="0"/>
                          </a:rPr>
                          <m:t>𝐵</m:t>
                        </m:r>
                      </m:e>
                    </m:d>
                  </m:oMath>
                </a14:m>
                <a:endParaRPr lang="es-SV" sz="1500" dirty="0">
                  <a:solidFill>
                    <a:srgbClr val="FEFFFF"/>
                  </a:solidFill>
                </a:endParaRPr>
              </a:p>
              <a:p>
                <a:pPr marL="0" indent="0">
                  <a:buNone/>
                </a:pPr>
                <a:r>
                  <a:rPr lang="es-SV" sz="1500" dirty="0">
                    <a:solidFill>
                      <a:srgbClr val="FEFFFF"/>
                    </a:solidFill>
                  </a:rPr>
                  <a:t>2) </a:t>
                </a:r>
                <a14:m>
                  <m:oMath xmlns:m="http://schemas.openxmlformats.org/officeDocument/2006/math">
                    <m:r>
                      <a:rPr lang="es-SV" sz="1500" i="1">
                        <a:solidFill>
                          <a:srgbClr val="FEFFFF"/>
                        </a:solidFill>
                        <a:latin typeface="Cambria Math" panose="02040503050406030204" pitchFamily="18" charset="0"/>
                      </a:rPr>
                      <m:t>𝑃</m:t>
                    </m:r>
                    <m:d>
                      <m:dPr>
                        <m:ctrlPr>
                          <a:rPr lang="es-SV" sz="1500" i="1">
                            <a:solidFill>
                              <a:srgbClr val="FEFFFF"/>
                            </a:solidFill>
                            <a:latin typeface="Cambria Math" panose="02040503050406030204" pitchFamily="18" charset="0"/>
                          </a:rPr>
                        </m:ctrlPr>
                      </m:dPr>
                      <m:e>
                        <m:f>
                          <m:fPr>
                            <m:type m:val="lin"/>
                            <m:ctrlPr>
                              <a:rPr lang="es-SV" sz="1500" i="1">
                                <a:solidFill>
                                  <a:srgbClr val="FEFFFF"/>
                                </a:solidFill>
                                <a:latin typeface="Cambria Math" panose="02040503050406030204" pitchFamily="18" charset="0"/>
                              </a:rPr>
                            </m:ctrlPr>
                          </m:fPr>
                          <m:num>
                            <m:r>
                              <a:rPr lang="es-SV" sz="1500" i="1">
                                <a:solidFill>
                                  <a:srgbClr val="FEFFFF"/>
                                </a:solidFill>
                                <a:latin typeface="Cambria Math" panose="02040503050406030204" pitchFamily="18" charset="0"/>
                              </a:rPr>
                              <m:t>𝐴</m:t>
                            </m:r>
                          </m:num>
                          <m:den>
                            <m:r>
                              <a:rPr lang="es-SV" sz="1500" i="1">
                                <a:solidFill>
                                  <a:srgbClr val="FEFFFF"/>
                                </a:solidFill>
                                <a:latin typeface="Cambria Math" panose="02040503050406030204" pitchFamily="18" charset="0"/>
                              </a:rPr>
                              <m:t>𝐵</m:t>
                            </m:r>
                          </m:den>
                        </m:f>
                      </m:e>
                    </m:d>
                    <m:r>
                      <a:rPr lang="es-SV" sz="1500" i="1">
                        <a:solidFill>
                          <a:srgbClr val="FEFFFF"/>
                        </a:solidFill>
                        <a:latin typeface="Cambria Math" panose="02040503050406030204" pitchFamily="18" charset="0"/>
                      </a:rPr>
                      <m:t>=</m:t>
                    </m:r>
                    <m:r>
                      <a:rPr lang="es-SV" sz="1500" i="1">
                        <a:solidFill>
                          <a:srgbClr val="FEFFFF"/>
                        </a:solidFill>
                        <a:latin typeface="Cambria Math" panose="02040503050406030204" pitchFamily="18" charset="0"/>
                      </a:rPr>
                      <m:t>𝑃</m:t>
                    </m:r>
                    <m:d>
                      <m:dPr>
                        <m:ctrlPr>
                          <a:rPr lang="es-SV" sz="1500" i="1">
                            <a:solidFill>
                              <a:srgbClr val="FEFFFF"/>
                            </a:solidFill>
                            <a:latin typeface="Cambria Math" panose="02040503050406030204" pitchFamily="18" charset="0"/>
                          </a:rPr>
                        </m:ctrlPr>
                      </m:dPr>
                      <m:e>
                        <m:r>
                          <a:rPr lang="es-SV" sz="1500" i="1">
                            <a:solidFill>
                              <a:srgbClr val="FEFFFF"/>
                            </a:solidFill>
                            <a:latin typeface="Cambria Math" panose="02040503050406030204" pitchFamily="18" charset="0"/>
                          </a:rPr>
                          <m:t>𝐴</m:t>
                        </m:r>
                      </m:e>
                    </m:d>
                  </m:oMath>
                </a14:m>
                <a:endParaRPr lang="es-SV" sz="1500" dirty="0">
                  <a:solidFill>
                    <a:srgbClr val="FEFFFF"/>
                  </a:solidFill>
                </a:endParaRPr>
              </a:p>
              <a:p>
                <a:pPr marL="0" indent="0">
                  <a:buNone/>
                </a:pPr>
                <a:r>
                  <a:rPr lang="es-SV" sz="1500" dirty="0">
                    <a:solidFill>
                      <a:srgbClr val="FEFFFF"/>
                    </a:solidFill>
                  </a:rPr>
                  <a:t>3)</a:t>
                </a:r>
                <a14:m>
                  <m:oMath xmlns:m="http://schemas.openxmlformats.org/officeDocument/2006/math">
                    <m:r>
                      <a:rPr lang="es-SV" sz="1500" i="1">
                        <a:solidFill>
                          <a:srgbClr val="FEFFFF"/>
                        </a:solidFill>
                        <a:latin typeface="Cambria Math" panose="02040503050406030204" pitchFamily="18" charset="0"/>
                      </a:rPr>
                      <m:t>𝑃</m:t>
                    </m:r>
                    <m:d>
                      <m:dPr>
                        <m:ctrlPr>
                          <a:rPr lang="es-SV" sz="1500" i="1">
                            <a:solidFill>
                              <a:srgbClr val="FEFFFF"/>
                            </a:solidFill>
                            <a:latin typeface="Cambria Math" panose="02040503050406030204" pitchFamily="18" charset="0"/>
                          </a:rPr>
                        </m:ctrlPr>
                      </m:dPr>
                      <m:e>
                        <m:r>
                          <a:rPr lang="es-SV" sz="1500" i="1">
                            <a:solidFill>
                              <a:srgbClr val="FEFFFF"/>
                            </a:solidFill>
                            <a:latin typeface="Cambria Math" panose="02040503050406030204" pitchFamily="18" charset="0"/>
                          </a:rPr>
                          <m:t>𝐴</m:t>
                        </m:r>
                        <m:r>
                          <a:rPr lang="es-SV" sz="1500" i="1">
                            <a:solidFill>
                              <a:srgbClr val="FEFFFF"/>
                            </a:solidFill>
                            <a:latin typeface="Cambria Math" panose="02040503050406030204" pitchFamily="18" charset="0"/>
                          </a:rPr>
                          <m:t>∩</m:t>
                        </m:r>
                        <m:r>
                          <a:rPr lang="es-SV" sz="1500" i="1">
                            <a:solidFill>
                              <a:srgbClr val="FEFFFF"/>
                            </a:solidFill>
                            <a:latin typeface="Cambria Math" panose="02040503050406030204" pitchFamily="18" charset="0"/>
                          </a:rPr>
                          <m:t>𝐵</m:t>
                        </m:r>
                      </m:e>
                    </m:d>
                    <m:r>
                      <a:rPr lang="es-SV" sz="1500" i="1">
                        <a:solidFill>
                          <a:srgbClr val="FEFFFF"/>
                        </a:solidFill>
                        <a:latin typeface="Cambria Math" panose="02040503050406030204" pitchFamily="18" charset="0"/>
                      </a:rPr>
                      <m:t>=</m:t>
                    </m:r>
                    <m:r>
                      <a:rPr lang="es-SV" sz="1500" i="1">
                        <a:solidFill>
                          <a:srgbClr val="FEFFFF"/>
                        </a:solidFill>
                        <a:latin typeface="Cambria Math" panose="02040503050406030204" pitchFamily="18" charset="0"/>
                      </a:rPr>
                      <m:t>𝑃</m:t>
                    </m:r>
                    <m:d>
                      <m:dPr>
                        <m:ctrlPr>
                          <a:rPr lang="es-SV" sz="1500" i="1">
                            <a:solidFill>
                              <a:srgbClr val="FEFFFF"/>
                            </a:solidFill>
                            <a:latin typeface="Cambria Math" panose="02040503050406030204" pitchFamily="18" charset="0"/>
                          </a:rPr>
                        </m:ctrlPr>
                      </m:dPr>
                      <m:e>
                        <m:r>
                          <a:rPr lang="es-SV" sz="1500" i="1">
                            <a:solidFill>
                              <a:srgbClr val="FEFFFF"/>
                            </a:solidFill>
                            <a:latin typeface="Cambria Math" panose="02040503050406030204" pitchFamily="18" charset="0"/>
                          </a:rPr>
                          <m:t>𝐴</m:t>
                        </m:r>
                      </m:e>
                    </m:d>
                    <m:r>
                      <a:rPr lang="es-SV" sz="1500" i="1">
                        <a:solidFill>
                          <a:srgbClr val="FEFFFF"/>
                        </a:solidFill>
                        <a:latin typeface="Cambria Math" panose="02040503050406030204" pitchFamily="18" charset="0"/>
                      </a:rPr>
                      <m:t>×</m:t>
                    </m:r>
                    <m:r>
                      <a:rPr lang="es-SV" sz="1500" i="1">
                        <a:solidFill>
                          <a:srgbClr val="FEFFFF"/>
                        </a:solidFill>
                        <a:latin typeface="Cambria Math" panose="02040503050406030204" pitchFamily="18" charset="0"/>
                      </a:rPr>
                      <m:t>𝑃</m:t>
                    </m:r>
                    <m:d>
                      <m:dPr>
                        <m:ctrlPr>
                          <a:rPr lang="es-SV" sz="1500" i="1">
                            <a:solidFill>
                              <a:srgbClr val="FEFFFF"/>
                            </a:solidFill>
                            <a:latin typeface="Cambria Math" panose="02040503050406030204" pitchFamily="18" charset="0"/>
                          </a:rPr>
                        </m:ctrlPr>
                      </m:dPr>
                      <m:e>
                        <m:r>
                          <a:rPr lang="es-SV" sz="1500" i="1">
                            <a:solidFill>
                              <a:srgbClr val="FEFFFF"/>
                            </a:solidFill>
                            <a:latin typeface="Cambria Math" panose="02040503050406030204" pitchFamily="18" charset="0"/>
                          </a:rPr>
                          <m:t>𝐵</m:t>
                        </m:r>
                      </m:e>
                    </m:d>
                    <m:r>
                      <a:rPr lang="es-SV" sz="1500" i="1">
                        <a:solidFill>
                          <a:srgbClr val="FEFFFF"/>
                        </a:solidFill>
                        <a:latin typeface="Cambria Math" panose="02040503050406030204" pitchFamily="18" charset="0"/>
                      </a:rPr>
                      <m:t>  </m:t>
                    </m:r>
                    <m:r>
                      <a:rPr lang="es-SV" sz="1500" i="1">
                        <a:solidFill>
                          <a:srgbClr val="FEFFFF"/>
                        </a:solidFill>
                        <a:latin typeface="Cambria Math" panose="02040503050406030204" pitchFamily="18" charset="0"/>
                      </a:rPr>
                      <m:t>𝑅𝑒𝑔𝑙𝑎</m:t>
                    </m:r>
                    <m:r>
                      <a:rPr lang="es-SV" sz="1500" i="1">
                        <a:solidFill>
                          <a:srgbClr val="FEFFFF"/>
                        </a:solidFill>
                        <a:latin typeface="Cambria Math" panose="02040503050406030204" pitchFamily="18" charset="0"/>
                      </a:rPr>
                      <m:t> </m:t>
                    </m:r>
                    <m:r>
                      <a:rPr lang="es-SV" sz="1500" i="1">
                        <a:solidFill>
                          <a:srgbClr val="FEFFFF"/>
                        </a:solidFill>
                        <a:latin typeface="Cambria Math" panose="02040503050406030204" pitchFamily="18" charset="0"/>
                      </a:rPr>
                      <m:t>𝑚𝑢𝑙𝑡𝑖𝑝𝑙𝑖𝑐𝑎𝑡𝑖𝑣𝑎</m:t>
                    </m:r>
                    <m:r>
                      <a:rPr lang="es-SV" sz="1500" i="1">
                        <a:solidFill>
                          <a:srgbClr val="FEFFFF"/>
                        </a:solidFill>
                        <a:latin typeface="Cambria Math" panose="02040503050406030204" pitchFamily="18" charset="0"/>
                      </a:rPr>
                      <m:t> </m:t>
                    </m:r>
                    <m:r>
                      <a:rPr lang="es-SV" sz="1500" i="1">
                        <a:solidFill>
                          <a:srgbClr val="FEFFFF"/>
                        </a:solidFill>
                        <a:latin typeface="Cambria Math" panose="02040503050406030204" pitchFamily="18" charset="0"/>
                      </a:rPr>
                      <m:t>𝑠𝑢𝑐𝑒𝑠𝑜𝑠</m:t>
                    </m:r>
                    <m:r>
                      <a:rPr lang="es-SV" sz="1500" i="1">
                        <a:solidFill>
                          <a:srgbClr val="FEFFFF"/>
                        </a:solidFill>
                        <a:latin typeface="Cambria Math" panose="02040503050406030204" pitchFamily="18" charset="0"/>
                      </a:rPr>
                      <m:t> </m:t>
                    </m:r>
                    <m:r>
                      <a:rPr lang="es-SV" sz="1500" i="1">
                        <a:solidFill>
                          <a:srgbClr val="FEFFFF"/>
                        </a:solidFill>
                        <a:latin typeface="Cambria Math" panose="02040503050406030204" pitchFamily="18" charset="0"/>
                      </a:rPr>
                      <m:t>𝑖𝑛𝑑𝑒𝑝𝑒𝑛𝑑𝑖𝑒𝑛𝑡𝑒𝑠</m:t>
                    </m:r>
                  </m:oMath>
                </a14:m>
                <a:endParaRPr lang="es-SV" sz="1500" dirty="0">
                  <a:solidFill>
                    <a:srgbClr val="FEFFFF"/>
                  </a:solidFill>
                </a:endParaRPr>
              </a:p>
              <a:p>
                <a:pPr marL="0" indent="0">
                  <a:buNone/>
                </a:pPr>
                <a:r>
                  <a:rPr lang="es-SV" sz="1500" dirty="0">
                    <a:solidFill>
                      <a:srgbClr val="FEFFFF"/>
                    </a:solidFill>
                  </a:rPr>
                  <a:t>Se cumple cualquiera de las 3 igualdades.</a:t>
                </a:r>
              </a:p>
              <a:p>
                <a:pPr marL="0" indent="0">
                  <a:buNone/>
                </a:pPr>
                <a14:m>
                  <m:oMathPara xmlns:m="http://schemas.openxmlformats.org/officeDocument/2006/math">
                    <m:oMathParaPr>
                      <m:jc m:val="left"/>
                    </m:oMathParaPr>
                    <m:oMath xmlns:m="http://schemas.openxmlformats.org/officeDocument/2006/math">
                      <m:r>
                        <a:rPr lang="es-SV" sz="1500" i="1">
                          <a:solidFill>
                            <a:srgbClr val="FEFFFF"/>
                          </a:solidFill>
                          <a:latin typeface="Cambria Math" panose="02040503050406030204" pitchFamily="18" charset="0"/>
                        </a:rPr>
                        <m:t>𝑃</m:t>
                      </m:r>
                      <m:d>
                        <m:dPr>
                          <m:ctrlPr>
                            <a:rPr lang="es-SV" sz="1500" i="1">
                              <a:solidFill>
                                <a:srgbClr val="FEFFFF"/>
                              </a:solidFill>
                              <a:latin typeface="Cambria Math" panose="02040503050406030204" pitchFamily="18" charset="0"/>
                            </a:rPr>
                          </m:ctrlPr>
                        </m:dPr>
                        <m:e>
                          <m:r>
                            <a:rPr lang="es-SV" sz="1500" i="1">
                              <a:solidFill>
                                <a:srgbClr val="FEFFFF"/>
                              </a:solidFill>
                              <a:latin typeface="Cambria Math" panose="02040503050406030204" pitchFamily="18" charset="0"/>
                            </a:rPr>
                            <m:t>𝐴</m:t>
                          </m:r>
                          <m:r>
                            <a:rPr lang="es-SV" sz="1500" i="1">
                              <a:solidFill>
                                <a:srgbClr val="FEFFFF"/>
                              </a:solidFill>
                              <a:latin typeface="Cambria Math" panose="02040503050406030204" pitchFamily="18" charset="0"/>
                            </a:rPr>
                            <m:t>∩</m:t>
                          </m:r>
                          <m:r>
                            <a:rPr lang="es-SV" sz="1500" i="1">
                              <a:solidFill>
                                <a:srgbClr val="FEFFFF"/>
                              </a:solidFill>
                              <a:latin typeface="Cambria Math" panose="02040503050406030204" pitchFamily="18" charset="0"/>
                            </a:rPr>
                            <m:t>𝐵</m:t>
                          </m:r>
                        </m:e>
                      </m:d>
                      <m:r>
                        <a:rPr lang="es-SV" sz="1500" i="1">
                          <a:solidFill>
                            <a:srgbClr val="FEFFFF"/>
                          </a:solidFill>
                          <a:latin typeface="Cambria Math" panose="02040503050406030204" pitchFamily="18" charset="0"/>
                        </a:rPr>
                        <m:t>=</m:t>
                      </m:r>
                      <m:r>
                        <a:rPr lang="es-SV" sz="1500" i="1">
                          <a:solidFill>
                            <a:srgbClr val="FEFFFF"/>
                          </a:solidFill>
                          <a:latin typeface="Cambria Math" panose="02040503050406030204" pitchFamily="18" charset="0"/>
                        </a:rPr>
                        <m:t>𝑃</m:t>
                      </m:r>
                      <m:d>
                        <m:dPr>
                          <m:ctrlPr>
                            <a:rPr lang="es-SV" sz="1500" i="1">
                              <a:solidFill>
                                <a:srgbClr val="FEFFFF"/>
                              </a:solidFill>
                              <a:latin typeface="Cambria Math" panose="02040503050406030204" pitchFamily="18" charset="0"/>
                            </a:rPr>
                          </m:ctrlPr>
                        </m:dPr>
                        <m:e>
                          <m:r>
                            <a:rPr lang="es-SV" sz="1500" i="1">
                              <a:solidFill>
                                <a:srgbClr val="FEFFFF"/>
                              </a:solidFill>
                              <a:latin typeface="Cambria Math" panose="02040503050406030204" pitchFamily="18" charset="0"/>
                            </a:rPr>
                            <m:t>𝐴</m:t>
                          </m:r>
                        </m:e>
                      </m:d>
                      <m:r>
                        <a:rPr lang="es-SV" sz="1500" i="1">
                          <a:solidFill>
                            <a:srgbClr val="FEFFFF"/>
                          </a:solidFill>
                          <a:latin typeface="Cambria Math" panose="02040503050406030204" pitchFamily="18" charset="0"/>
                        </a:rPr>
                        <m:t>×</m:t>
                      </m:r>
                      <m:r>
                        <a:rPr lang="es-SV" sz="1500" b="0" i="1">
                          <a:solidFill>
                            <a:srgbClr val="FEFFFF"/>
                          </a:solidFill>
                          <a:latin typeface="Cambria Math"/>
                        </a:rPr>
                        <m:t>(</m:t>
                      </m:r>
                      <m:r>
                        <a:rPr lang="es-SV" sz="1500" i="1">
                          <a:solidFill>
                            <a:srgbClr val="FEFFFF"/>
                          </a:solidFill>
                          <a:latin typeface="Cambria Math" panose="02040503050406030204" pitchFamily="18" charset="0"/>
                        </a:rPr>
                        <m:t>𝑃</m:t>
                      </m:r>
                      <m:d>
                        <m:dPr>
                          <m:ctrlPr>
                            <a:rPr lang="es-SV" sz="1500" i="1">
                              <a:solidFill>
                                <a:srgbClr val="FEFFFF"/>
                              </a:solidFill>
                              <a:latin typeface="Cambria Math" panose="02040503050406030204" pitchFamily="18" charset="0"/>
                            </a:rPr>
                          </m:ctrlPr>
                        </m:dPr>
                        <m:e>
                          <m:f>
                            <m:fPr>
                              <m:type m:val="lin"/>
                              <m:ctrlPr>
                                <a:rPr lang="es-SV" sz="1500" i="1">
                                  <a:solidFill>
                                    <a:srgbClr val="FEFFFF"/>
                                  </a:solidFill>
                                  <a:latin typeface="Cambria Math" panose="02040503050406030204" pitchFamily="18" charset="0"/>
                                </a:rPr>
                              </m:ctrlPr>
                            </m:fPr>
                            <m:num>
                              <m:r>
                                <a:rPr lang="es-SV" sz="1500" i="1">
                                  <a:solidFill>
                                    <a:srgbClr val="FEFFFF"/>
                                  </a:solidFill>
                                  <a:latin typeface="Cambria Math" panose="02040503050406030204" pitchFamily="18" charset="0"/>
                                </a:rPr>
                                <m:t>𝐵</m:t>
                              </m:r>
                            </m:num>
                            <m:den>
                              <m:r>
                                <a:rPr lang="es-SV" sz="1500" i="1">
                                  <a:solidFill>
                                    <a:srgbClr val="FEFFFF"/>
                                  </a:solidFill>
                                  <a:latin typeface="Cambria Math" panose="02040503050406030204" pitchFamily="18" charset="0"/>
                                </a:rPr>
                                <m:t>𝐴</m:t>
                              </m:r>
                            </m:den>
                          </m:f>
                        </m:e>
                      </m:d>
                      <m:r>
                        <a:rPr lang="es-SV" sz="1500" i="1">
                          <a:solidFill>
                            <a:srgbClr val="FEFFFF"/>
                          </a:solidFill>
                          <a:latin typeface="Cambria Math" panose="02040503050406030204" pitchFamily="18" charset="0"/>
                        </a:rPr>
                        <m:t>=</m:t>
                      </m:r>
                      <m:r>
                        <a:rPr lang="es-SV" sz="1500" i="1">
                          <a:solidFill>
                            <a:srgbClr val="FEFFFF"/>
                          </a:solidFill>
                          <a:latin typeface="Cambria Math" panose="02040503050406030204" pitchFamily="18" charset="0"/>
                        </a:rPr>
                        <m:t>𝑃</m:t>
                      </m:r>
                      <m:d>
                        <m:dPr>
                          <m:ctrlPr>
                            <a:rPr lang="es-SV" sz="1500" i="1">
                              <a:solidFill>
                                <a:srgbClr val="FEFFFF"/>
                              </a:solidFill>
                              <a:latin typeface="Cambria Math" panose="02040503050406030204" pitchFamily="18" charset="0"/>
                            </a:rPr>
                          </m:ctrlPr>
                        </m:dPr>
                        <m:e>
                          <m:r>
                            <a:rPr lang="es-SV" sz="1500" i="1">
                              <a:solidFill>
                                <a:srgbClr val="FEFFFF"/>
                              </a:solidFill>
                              <a:latin typeface="Cambria Math" panose="02040503050406030204" pitchFamily="18" charset="0"/>
                            </a:rPr>
                            <m:t>𝐵</m:t>
                          </m:r>
                        </m:e>
                      </m:d>
                      <m:r>
                        <a:rPr lang="es-SV" sz="1500" i="1">
                          <a:solidFill>
                            <a:srgbClr val="FEFFFF"/>
                          </a:solidFill>
                          <a:latin typeface="Cambria Math" panose="02040503050406030204" pitchFamily="18" charset="0"/>
                        </a:rPr>
                        <m:t>  </m:t>
                      </m:r>
                      <m:r>
                        <a:rPr lang="es-SV" sz="1500" i="1">
                          <a:solidFill>
                            <a:srgbClr val="FEFFFF"/>
                          </a:solidFill>
                          <a:latin typeface="Cambria Math" panose="02040503050406030204" pitchFamily="18" charset="0"/>
                        </a:rPr>
                        <m:t>𝐼𝑛𝑑𝑒𝑝𝑒𝑛𝑑𝑒𝑛𝑐𝑖𝑎</m:t>
                      </m:r>
                      <m:r>
                        <a:rPr lang="es-SV" sz="1500" b="0" i="1">
                          <a:solidFill>
                            <a:srgbClr val="FEFFFF"/>
                          </a:solidFill>
                          <a:latin typeface="Cambria Math"/>
                        </a:rPr>
                        <m:t>)</m:t>
                      </m:r>
                    </m:oMath>
                  </m:oMathPara>
                </a14:m>
                <a:endParaRPr lang="es-SV" sz="1500" i="1" dirty="0">
                  <a:solidFill>
                    <a:srgbClr val="FEFFFF"/>
                  </a:solidFill>
                </a:endParaRPr>
              </a:p>
              <a:p>
                <a:pPr marL="0" indent="0">
                  <a:buNone/>
                </a:pPr>
                <a14:m>
                  <m:oMathPara xmlns:m="http://schemas.openxmlformats.org/officeDocument/2006/math">
                    <m:oMathParaPr>
                      <m:jc m:val="left"/>
                    </m:oMathParaPr>
                    <m:oMath xmlns:m="http://schemas.openxmlformats.org/officeDocument/2006/math">
                      <m:r>
                        <a:rPr lang="es-SV" sz="1500" i="1">
                          <a:solidFill>
                            <a:srgbClr val="FEFFFF"/>
                          </a:solidFill>
                          <a:latin typeface="Cambria Math" panose="02040503050406030204" pitchFamily="18" charset="0"/>
                        </a:rPr>
                        <m:t>𝑃</m:t>
                      </m:r>
                      <m:d>
                        <m:dPr>
                          <m:ctrlPr>
                            <a:rPr lang="es-SV" sz="1500" i="1">
                              <a:solidFill>
                                <a:srgbClr val="FEFFFF"/>
                              </a:solidFill>
                              <a:latin typeface="Cambria Math" panose="02040503050406030204" pitchFamily="18" charset="0"/>
                            </a:rPr>
                          </m:ctrlPr>
                        </m:dPr>
                        <m:e>
                          <m:r>
                            <a:rPr lang="es-SV" sz="1500" i="1">
                              <a:solidFill>
                                <a:srgbClr val="FEFFFF"/>
                              </a:solidFill>
                              <a:latin typeface="Cambria Math" panose="02040503050406030204" pitchFamily="18" charset="0"/>
                            </a:rPr>
                            <m:t>𝐴</m:t>
                          </m:r>
                          <m:r>
                            <a:rPr lang="es-SV" sz="1500" i="1">
                              <a:solidFill>
                                <a:srgbClr val="FEFFFF"/>
                              </a:solidFill>
                              <a:latin typeface="Cambria Math" panose="02040503050406030204" pitchFamily="18" charset="0"/>
                            </a:rPr>
                            <m:t>∩</m:t>
                          </m:r>
                          <m:r>
                            <a:rPr lang="es-SV" sz="1500" i="1">
                              <a:solidFill>
                                <a:srgbClr val="FEFFFF"/>
                              </a:solidFill>
                              <a:latin typeface="Cambria Math" panose="02040503050406030204" pitchFamily="18" charset="0"/>
                            </a:rPr>
                            <m:t>𝐵</m:t>
                          </m:r>
                        </m:e>
                      </m:d>
                      <m:r>
                        <a:rPr lang="es-SV" sz="1500" i="1">
                          <a:solidFill>
                            <a:srgbClr val="FEFFFF"/>
                          </a:solidFill>
                          <a:latin typeface="Cambria Math" panose="02040503050406030204" pitchFamily="18" charset="0"/>
                        </a:rPr>
                        <m:t>=</m:t>
                      </m:r>
                      <m:r>
                        <a:rPr lang="es-SV" sz="1500" i="1">
                          <a:solidFill>
                            <a:srgbClr val="FEFFFF"/>
                          </a:solidFill>
                          <a:latin typeface="Cambria Math" panose="02040503050406030204" pitchFamily="18" charset="0"/>
                        </a:rPr>
                        <m:t>𝑃</m:t>
                      </m:r>
                      <m:r>
                        <a:rPr lang="es-SV" sz="1500" i="1">
                          <a:solidFill>
                            <a:srgbClr val="FEFFFF"/>
                          </a:solidFill>
                          <a:latin typeface="Cambria Math" panose="02040503050406030204" pitchFamily="18" charset="0"/>
                        </a:rPr>
                        <m:t>(</m:t>
                      </m:r>
                      <m:r>
                        <a:rPr lang="es-SV" sz="1500" i="1">
                          <a:solidFill>
                            <a:srgbClr val="FEFFFF"/>
                          </a:solidFill>
                          <a:latin typeface="Cambria Math" panose="02040503050406030204" pitchFamily="18" charset="0"/>
                        </a:rPr>
                        <m:t>𝐴</m:t>
                      </m:r>
                      <m:r>
                        <a:rPr lang="es-SV" sz="1500" i="1">
                          <a:solidFill>
                            <a:srgbClr val="FEFFFF"/>
                          </a:solidFill>
                          <a:latin typeface="Cambria Math" panose="02040503050406030204" pitchFamily="18" charset="0"/>
                        </a:rPr>
                        <m:t>)×</m:t>
                      </m:r>
                      <m:r>
                        <a:rPr lang="es-SV" sz="1500" i="1">
                          <a:solidFill>
                            <a:srgbClr val="FEFFFF"/>
                          </a:solidFill>
                          <a:latin typeface="Cambria Math" panose="02040503050406030204" pitchFamily="18" charset="0"/>
                        </a:rPr>
                        <m:t>𝑃</m:t>
                      </m:r>
                      <m:r>
                        <a:rPr lang="es-SV" sz="1500" i="1">
                          <a:solidFill>
                            <a:srgbClr val="FEFFFF"/>
                          </a:solidFill>
                          <a:latin typeface="Cambria Math" panose="02040503050406030204" pitchFamily="18" charset="0"/>
                        </a:rPr>
                        <m:t>(</m:t>
                      </m:r>
                      <m:r>
                        <a:rPr lang="es-SV" sz="1500" i="1">
                          <a:solidFill>
                            <a:srgbClr val="FEFFFF"/>
                          </a:solidFill>
                          <a:latin typeface="Cambria Math" panose="02040503050406030204" pitchFamily="18" charset="0"/>
                        </a:rPr>
                        <m:t>𝐵</m:t>
                      </m:r>
                      <m:r>
                        <a:rPr lang="es-SV" sz="1500" i="1">
                          <a:solidFill>
                            <a:srgbClr val="FEFFFF"/>
                          </a:solidFill>
                          <a:latin typeface="Cambria Math" panose="02040503050406030204" pitchFamily="18" charset="0"/>
                        </a:rPr>
                        <m:t>)</m:t>
                      </m:r>
                    </m:oMath>
                  </m:oMathPara>
                </a14:m>
                <a:endParaRPr lang="es-SV" sz="1500" dirty="0">
                  <a:solidFill>
                    <a:srgbClr val="FEFFFF"/>
                  </a:solidFill>
                </a:endParaRPr>
              </a:p>
              <a:p>
                <a:endParaRPr lang="es-SV" sz="1500" dirty="0">
                  <a:solidFill>
                    <a:srgbClr val="FEFFFF"/>
                  </a:solidFill>
                </a:endParaRPr>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3916396" y="1719618"/>
                <a:ext cx="4461623" cy="4334629"/>
              </a:xfrm>
              <a:blipFill>
                <a:blip r:embed="rId2"/>
                <a:stretch>
                  <a:fillRect l="-546" r="-1093"/>
                </a:stretch>
              </a:blipFill>
            </p:spPr>
            <p:txBody>
              <a:bodyPr/>
              <a:lstStyle/>
              <a:p>
                <a:r>
                  <a:rPr lang="es-SV">
                    <a:noFill/>
                  </a:rPr>
                  <a:t> </a:t>
                </a:r>
              </a:p>
            </p:txBody>
          </p:sp>
        </mc:Fallback>
      </mc:AlternateContent>
    </p:spTree>
    <p:extLst>
      <p:ext uri="{BB962C8B-B14F-4D97-AF65-F5344CB8AC3E}">
        <p14:creationId xmlns:p14="http://schemas.microsoft.com/office/powerpoint/2010/main" val="3806290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SV" dirty="0"/>
              <a:t>Ejercicios sobre probabilidades </a:t>
            </a:r>
          </a:p>
        </p:txBody>
      </p:sp>
      <p:sp>
        <p:nvSpPr>
          <p:cNvPr id="3" name="Marcador de contenido 2"/>
          <p:cNvSpPr>
            <a:spLocks noGrp="1"/>
          </p:cNvSpPr>
          <p:nvPr>
            <p:ph idx="1"/>
          </p:nvPr>
        </p:nvSpPr>
        <p:spPr>
          <a:xfrm>
            <a:off x="179512" y="1219200"/>
            <a:ext cx="8784976" cy="5306144"/>
          </a:xfrm>
        </p:spPr>
        <p:txBody>
          <a:bodyPr>
            <a:normAutofit fontScale="92500" lnSpcReduction="10000"/>
          </a:bodyPr>
          <a:lstStyle/>
          <a:p>
            <a:pPr marL="0" indent="0" algn="just">
              <a:buNone/>
            </a:pPr>
            <a:r>
              <a:rPr lang="es-SV" sz="2000" dirty="0"/>
              <a:t>En una encuesta realizada por IBD/TIPPP para obtener información sobre la opinión respecto a las inversiones para el retiro (</a:t>
            </a:r>
            <a:r>
              <a:rPr lang="es-SV" sz="2000" i="1" dirty="0" err="1"/>
              <a:t>Investor’s</a:t>
            </a:r>
            <a:r>
              <a:rPr lang="es-SV" sz="2000" i="1" dirty="0"/>
              <a:t> Business </a:t>
            </a:r>
            <a:r>
              <a:rPr lang="es-SV" sz="2000" i="1" dirty="0" err="1"/>
              <a:t>Daily</a:t>
            </a:r>
            <a:r>
              <a:rPr lang="es-SV" sz="2000" i="1" dirty="0"/>
              <a:t>, </a:t>
            </a:r>
            <a:r>
              <a:rPr lang="es-SV" sz="2000" dirty="0"/>
              <a:t>5 de mayo de 2000) se les preguntó a los hombres y mujeres interrogados qué tan importante les parecía que era el nivel de riesgo al elegir una inversión para el retiro. Con los datos obtenidos se elaboró la siguiente tabla de probabilidades conjuntas. “Importante” significa que el interrogado respondió que el nivel de riesgo era importante o muy importante. (Anderson, </a:t>
            </a:r>
            <a:r>
              <a:rPr lang="es-SV" sz="2000" dirty="0" err="1"/>
              <a:t>Sweeney</a:t>
            </a:r>
            <a:r>
              <a:rPr lang="es-SV" sz="2000" dirty="0"/>
              <a:t> y Williams 2008)</a:t>
            </a:r>
          </a:p>
          <a:p>
            <a:pPr marL="0" indent="0" algn="just">
              <a:buNone/>
            </a:pPr>
            <a:endParaRPr lang="es-SV" sz="2000" dirty="0"/>
          </a:p>
          <a:p>
            <a:pPr marL="0" indent="0" algn="just">
              <a:buNone/>
            </a:pPr>
            <a:endParaRPr lang="es-SV" sz="2000" dirty="0"/>
          </a:p>
          <a:p>
            <a:pPr marL="0" indent="0" algn="just">
              <a:buNone/>
            </a:pPr>
            <a:endParaRPr lang="es-SV" sz="2000" dirty="0"/>
          </a:p>
          <a:p>
            <a:pPr marL="0" indent="0" algn="just">
              <a:buNone/>
            </a:pPr>
            <a:endParaRPr lang="es-SV" sz="2000" dirty="0"/>
          </a:p>
          <a:p>
            <a:pPr marL="0" indent="0" algn="just">
              <a:buNone/>
            </a:pPr>
            <a:endParaRPr lang="es-SV" sz="2000" dirty="0"/>
          </a:p>
          <a:p>
            <a:pPr algn="just"/>
            <a:r>
              <a:rPr lang="es-SV" sz="1900" dirty="0"/>
              <a:t>¿Cuál es la probabilidad de que uno de los interrogados diga que es importante?</a:t>
            </a:r>
          </a:p>
          <a:p>
            <a:pPr algn="just"/>
            <a:r>
              <a:rPr lang="es-SV" sz="1900" dirty="0"/>
              <a:t>¿Cuál es la probabilidad de que una de las mujeres interrogadas diga que es importante?</a:t>
            </a:r>
          </a:p>
          <a:p>
            <a:pPr algn="just"/>
            <a:r>
              <a:rPr lang="es-SV" sz="1900" dirty="0"/>
              <a:t>¿Cuál es la probabilidad de que uno de los hombres interrogados diga que es importante?</a:t>
            </a:r>
          </a:p>
          <a:p>
            <a:pPr algn="just"/>
            <a:r>
              <a:rPr lang="es-SV" sz="1900" dirty="0"/>
              <a:t>¿El nivel de riesgo es independiente del género del interrogado?</a:t>
            </a:r>
          </a:p>
          <a:p>
            <a:pPr algn="just"/>
            <a:r>
              <a:rPr lang="es-SV" sz="1900" dirty="0"/>
              <a:t>¿La opinión de hombres y mujeres difiere respecto al riesgo?</a:t>
            </a:r>
          </a:p>
        </p:txBody>
      </p:sp>
      <p:pic>
        <p:nvPicPr>
          <p:cNvPr id="4" name="Imagen 3"/>
          <p:cNvPicPr>
            <a:picLocks noChangeAspect="1"/>
          </p:cNvPicPr>
          <p:nvPr/>
        </p:nvPicPr>
        <p:blipFill>
          <a:blip r:embed="rId2"/>
          <a:stretch>
            <a:fillRect/>
          </a:stretch>
        </p:blipFill>
        <p:spPr>
          <a:xfrm>
            <a:off x="2051720" y="3284984"/>
            <a:ext cx="4462500" cy="1340000"/>
          </a:xfrm>
          <a:prstGeom prst="rect">
            <a:avLst/>
          </a:prstGeom>
        </p:spPr>
      </p:pic>
    </p:spTree>
    <p:extLst>
      <p:ext uri="{BB962C8B-B14F-4D97-AF65-F5344CB8AC3E}">
        <p14:creationId xmlns:p14="http://schemas.microsoft.com/office/powerpoint/2010/main" val="3508938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ítulo 1"/>
          <p:cNvSpPr>
            <a:spLocks noGrp="1"/>
          </p:cNvSpPr>
          <p:nvPr>
            <p:ph type="title"/>
          </p:nvPr>
        </p:nvSpPr>
        <p:spPr>
          <a:xfrm>
            <a:off x="582930" y="731519"/>
            <a:ext cx="2133893" cy="3237579"/>
          </a:xfrm>
        </p:spPr>
        <p:txBody>
          <a:bodyPr>
            <a:normAutofit/>
          </a:bodyPr>
          <a:lstStyle/>
          <a:p>
            <a:r>
              <a:rPr lang="es-SV" sz="2300">
                <a:solidFill>
                  <a:srgbClr val="FFFFFF"/>
                </a:solidFill>
              </a:rPr>
              <a:t>Ejercicios sobre probabilidades </a:t>
            </a:r>
          </a:p>
        </p:txBody>
      </p:sp>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2" name="Rectangle 11">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p:cNvSpPr>
            <a:spLocks noGrp="1"/>
          </p:cNvSpPr>
          <p:nvPr>
            <p:ph idx="1"/>
          </p:nvPr>
        </p:nvSpPr>
        <p:spPr>
          <a:xfrm>
            <a:off x="3284781" y="686862"/>
            <a:ext cx="5278194" cy="5475129"/>
          </a:xfrm>
        </p:spPr>
        <p:txBody>
          <a:bodyPr anchor="ctr">
            <a:normAutofit/>
          </a:bodyPr>
          <a:lstStyle/>
          <a:p>
            <a:pPr marL="0" indent="0">
              <a:buNone/>
            </a:pPr>
            <a:r>
              <a:rPr lang="es-SV" sz="2300"/>
              <a:t>Usted es gerente de calidad de una empresa manufacturera, se le pide que realice un muestreo de aceptación analizando  un lote de 200 artículos tiene 50 defectuosos y 150 buenos. Si seleccionamos 4 artículos, al azar, en orden, sin reemplazo.</a:t>
            </a:r>
          </a:p>
          <a:p>
            <a:pPr marL="0" indent="0">
              <a:buNone/>
            </a:pPr>
            <a:r>
              <a:rPr lang="es-SV" sz="2300"/>
              <a:t>¿Cuál es la probabilidad de obtener…?</a:t>
            </a:r>
          </a:p>
          <a:p>
            <a:pPr marL="0" indent="0">
              <a:buNone/>
            </a:pPr>
            <a:r>
              <a:rPr lang="es-SV" sz="2300"/>
              <a:t>a) Los cuatro defectuosos</a:t>
            </a:r>
          </a:p>
          <a:p>
            <a:pPr marL="0" indent="0">
              <a:buNone/>
            </a:pPr>
            <a:r>
              <a:rPr lang="es-SV" sz="2300"/>
              <a:t>b) El primero bueno, el segundo defectuoso, el tercero defectuoso y el ultimo bueno.</a:t>
            </a:r>
          </a:p>
          <a:p>
            <a:pPr marL="0" indent="0">
              <a:buNone/>
            </a:pPr>
            <a:r>
              <a:rPr lang="es-SV" sz="2300"/>
              <a:t>c) ¿Cual seria el criterio más conveniente para rechazar o en su caso aceptar el lote en cuestión? </a:t>
            </a:r>
          </a:p>
        </p:txBody>
      </p:sp>
    </p:spTree>
    <p:extLst>
      <p:ext uri="{BB962C8B-B14F-4D97-AF65-F5344CB8AC3E}">
        <p14:creationId xmlns:p14="http://schemas.microsoft.com/office/powerpoint/2010/main" val="1320167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Vídeo 3">
            <a:extLst>
              <a:ext uri="{FF2B5EF4-FFF2-40B4-BE49-F238E27FC236}">
                <a16:creationId xmlns:a16="http://schemas.microsoft.com/office/drawing/2014/main" id="{BEFF2717-40A1-4C42-BF7B-150A898939B0}"/>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l="5866" r="18920" b="-1"/>
          <a:stretch/>
        </p:blipFill>
        <p:spPr>
          <a:xfrm>
            <a:off x="-2285" y="10"/>
            <a:ext cx="9143999" cy="6857990"/>
          </a:xfrm>
          <a:prstGeom prst="rect">
            <a:avLst/>
          </a:prstGeom>
        </p:spPr>
      </p:pic>
      <p:sp>
        <p:nvSpPr>
          <p:cNvPr id="10" name="Rectangle 9">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9143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822960" y="325550"/>
            <a:ext cx="75438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4500">
                <a:solidFill>
                  <a:srgbClr val="FFFFFF"/>
                </a:solidFill>
              </a:rPr>
              <a:t>Guía de trabajo </a:t>
            </a:r>
          </a:p>
        </p:txBody>
      </p:sp>
    </p:spTree>
    <p:extLst>
      <p:ext uri="{BB962C8B-B14F-4D97-AF65-F5344CB8AC3E}">
        <p14:creationId xmlns:p14="http://schemas.microsoft.com/office/powerpoint/2010/main" val="3451875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01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SV" dirty="0"/>
              <a:t>Ejercicio 1</a:t>
            </a:r>
          </a:p>
        </p:txBody>
      </p:sp>
      <p:sp>
        <p:nvSpPr>
          <p:cNvPr id="3" name="Marcador de contenido 2"/>
          <p:cNvSpPr>
            <a:spLocks noGrp="1"/>
          </p:cNvSpPr>
          <p:nvPr>
            <p:ph idx="1"/>
          </p:nvPr>
        </p:nvSpPr>
        <p:spPr/>
        <p:txBody>
          <a:bodyPr>
            <a:normAutofit fontScale="70000" lnSpcReduction="20000"/>
          </a:bodyPr>
          <a:lstStyle/>
          <a:p>
            <a:pPr marL="0" indent="0" algn="just">
              <a:buNone/>
            </a:pPr>
            <a:r>
              <a:rPr lang="es-SV" dirty="0"/>
              <a:t>Un administrador financiero realiza dos nuevas inversiones, una en la industria del petróleo y otra en bonos municipales. Después de un año cada una de las inversiones se clasificará como buena o no. Considere como un experimento el resultado que se obtiene con estas dos acciones. </a:t>
            </a:r>
            <a:r>
              <a:rPr lang="es-SV" sz="2800" dirty="0"/>
              <a:t>(Anderson, </a:t>
            </a:r>
            <a:r>
              <a:rPr lang="es-SV" sz="2800" dirty="0" err="1"/>
              <a:t>Sweeney</a:t>
            </a:r>
            <a:r>
              <a:rPr lang="es-SV" sz="2800" dirty="0"/>
              <a:t> y Williams 2008)</a:t>
            </a:r>
            <a:endParaRPr lang="es-SV" dirty="0"/>
          </a:p>
          <a:p>
            <a:pPr algn="just"/>
            <a:r>
              <a:rPr lang="es-SV" dirty="0"/>
              <a:t>¿Cuántos puntos </a:t>
            </a:r>
            <a:r>
              <a:rPr lang="es-SV" dirty="0" err="1"/>
              <a:t>muestrales</a:t>
            </a:r>
            <a:r>
              <a:rPr lang="es-SV" dirty="0"/>
              <a:t> hay en este experimento?</a:t>
            </a:r>
          </a:p>
          <a:p>
            <a:pPr algn="just"/>
            <a:r>
              <a:rPr lang="es-SV" dirty="0"/>
              <a:t>Presente un diagrama de árbol y enumere los puntos </a:t>
            </a:r>
            <a:r>
              <a:rPr lang="es-SV" dirty="0" err="1"/>
              <a:t>muestrales</a:t>
            </a:r>
            <a:r>
              <a:rPr lang="es-SV" dirty="0"/>
              <a:t>.</a:t>
            </a:r>
          </a:p>
          <a:p>
            <a:pPr algn="just"/>
            <a:r>
              <a:rPr lang="es-SV" dirty="0"/>
              <a:t>Sea </a:t>
            </a:r>
            <a:r>
              <a:rPr lang="es-SV" i="1" dirty="0"/>
              <a:t>O =</a:t>
            </a:r>
            <a:r>
              <a:rPr lang="es-SV" dirty="0"/>
              <a:t> el evento la inversión en la industria del petróleo es buena y </a:t>
            </a:r>
            <a:r>
              <a:rPr lang="es-SV" i="1" dirty="0"/>
              <a:t>M =</a:t>
            </a:r>
            <a:r>
              <a:rPr lang="es-SV" dirty="0"/>
              <a:t> el evento la inversión en los fondos municipales es buena. Dé los puntos </a:t>
            </a:r>
            <a:r>
              <a:rPr lang="es-SV" dirty="0" err="1"/>
              <a:t>muestrales</a:t>
            </a:r>
            <a:r>
              <a:rPr lang="es-SV" dirty="0"/>
              <a:t> de </a:t>
            </a:r>
            <a:r>
              <a:rPr lang="es-SV" i="1" dirty="0"/>
              <a:t>O </a:t>
            </a:r>
            <a:r>
              <a:rPr lang="es-SV" dirty="0"/>
              <a:t>y de </a:t>
            </a:r>
            <a:r>
              <a:rPr lang="es-SV" i="1" dirty="0"/>
              <a:t>M.</a:t>
            </a:r>
          </a:p>
          <a:p>
            <a:pPr algn="just"/>
            <a:r>
              <a:rPr lang="es-SV" dirty="0"/>
              <a:t>Enumere los puntos </a:t>
            </a:r>
            <a:r>
              <a:rPr lang="es-SV" dirty="0" err="1"/>
              <a:t>muestrales</a:t>
            </a:r>
            <a:r>
              <a:rPr lang="es-SV" dirty="0"/>
              <a:t> de la unión de los eventos (</a:t>
            </a:r>
            <a:r>
              <a:rPr lang="es-SV" i="1" dirty="0"/>
              <a:t>O U</a:t>
            </a:r>
            <a:r>
              <a:rPr lang="es-SV" dirty="0"/>
              <a:t> </a:t>
            </a:r>
            <a:r>
              <a:rPr lang="es-SV" i="1" dirty="0"/>
              <a:t>M</a:t>
            </a:r>
            <a:r>
              <a:rPr lang="es-SV" dirty="0"/>
              <a:t>).</a:t>
            </a:r>
          </a:p>
          <a:p>
            <a:pPr algn="just"/>
            <a:r>
              <a:rPr lang="es-SV" dirty="0"/>
              <a:t>Cuente los puntos </a:t>
            </a:r>
            <a:r>
              <a:rPr lang="es-SV" dirty="0" err="1"/>
              <a:t>muestrales</a:t>
            </a:r>
            <a:r>
              <a:rPr lang="es-SV" dirty="0"/>
              <a:t> de la intersección de los eventos (</a:t>
            </a:r>
            <a:r>
              <a:rPr lang="es-SV" i="1" dirty="0"/>
              <a:t>O y</a:t>
            </a:r>
            <a:r>
              <a:rPr lang="es-SV" dirty="0"/>
              <a:t> </a:t>
            </a:r>
            <a:r>
              <a:rPr lang="es-SV" i="1" dirty="0"/>
              <a:t>M</a:t>
            </a:r>
            <a:r>
              <a:rPr lang="es-SV" dirty="0"/>
              <a:t>).</a:t>
            </a:r>
          </a:p>
          <a:p>
            <a:pPr algn="just"/>
            <a:r>
              <a:rPr lang="es-SV" dirty="0"/>
              <a:t>¿Son mutuamente excluyentes los eventos </a:t>
            </a:r>
            <a:r>
              <a:rPr lang="es-SV" i="1" dirty="0"/>
              <a:t>O </a:t>
            </a:r>
            <a:r>
              <a:rPr lang="es-SV" dirty="0"/>
              <a:t>y </a:t>
            </a:r>
            <a:r>
              <a:rPr lang="es-SV" i="1" dirty="0"/>
              <a:t>M</a:t>
            </a:r>
            <a:r>
              <a:rPr lang="es-SV" dirty="0"/>
              <a:t>? Explique.</a:t>
            </a:r>
          </a:p>
        </p:txBody>
      </p:sp>
    </p:spTree>
    <p:extLst>
      <p:ext uri="{BB962C8B-B14F-4D97-AF65-F5344CB8AC3E}">
        <p14:creationId xmlns:p14="http://schemas.microsoft.com/office/powerpoint/2010/main" val="972278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SV" dirty="0"/>
              <a:t>Ejercicio 2</a:t>
            </a:r>
          </a:p>
        </p:txBody>
      </p:sp>
      <p:sp>
        <p:nvSpPr>
          <p:cNvPr id="3" name="Marcador de contenido 2"/>
          <p:cNvSpPr>
            <a:spLocks noGrp="1"/>
          </p:cNvSpPr>
          <p:nvPr>
            <p:ph idx="1"/>
          </p:nvPr>
        </p:nvSpPr>
        <p:spPr/>
        <p:txBody>
          <a:bodyPr>
            <a:normAutofit fontScale="85000" lnSpcReduction="20000"/>
          </a:bodyPr>
          <a:lstStyle/>
          <a:p>
            <a:pPr marL="0" indent="0" algn="just">
              <a:buNone/>
            </a:pPr>
            <a:r>
              <a:rPr lang="es-SV" dirty="0"/>
              <a:t>En un sondeo se les pidió a 1035 adultos su opinión respecto a los negocios (</a:t>
            </a:r>
            <a:r>
              <a:rPr lang="es-SV" i="1" dirty="0" err="1"/>
              <a:t>BusinessWeek</a:t>
            </a:r>
            <a:r>
              <a:rPr lang="es-SV" dirty="0"/>
              <a:t>, 11 de septiembre de 2000). Una de las preguntas era: “¿Cómo califica usted a las empresas estadounidenses respecto a la calidad de los productos y competitividad a nivel mundial?” Las respuestas fueron: excelentes, 18%; bastante buenas, 50%; regulares, 26%; malas, 5% y no saben o no contestaron 1%. </a:t>
            </a:r>
            <a:r>
              <a:rPr lang="es-SV" sz="2800" dirty="0"/>
              <a:t>(Anderson, </a:t>
            </a:r>
            <a:r>
              <a:rPr lang="es-SV" sz="2800" dirty="0" err="1"/>
              <a:t>Sweeney</a:t>
            </a:r>
            <a:r>
              <a:rPr lang="es-SV" sz="2800" dirty="0"/>
              <a:t> y Williams 2008)</a:t>
            </a:r>
            <a:endParaRPr lang="es-SV" dirty="0"/>
          </a:p>
          <a:p>
            <a:pPr algn="just"/>
            <a:r>
              <a:rPr lang="es-SV" dirty="0"/>
              <a:t>¿Cuál es la probabilidad de que un interrogado considere a las empresas estadounidenses bastante buenas o excelentes?</a:t>
            </a:r>
          </a:p>
          <a:p>
            <a:pPr algn="just"/>
            <a:r>
              <a:rPr lang="es-SV" dirty="0"/>
              <a:t>¿Cuántos de los interrogados consideraron malas a las empresas estadounidenses?</a:t>
            </a:r>
          </a:p>
          <a:p>
            <a:pPr algn="just"/>
            <a:r>
              <a:rPr lang="es-SV" dirty="0"/>
              <a:t>¿Cuántos de los interrogados dijo no saber o no contestó?</a:t>
            </a:r>
          </a:p>
        </p:txBody>
      </p:sp>
    </p:spTree>
    <p:extLst>
      <p:ext uri="{BB962C8B-B14F-4D97-AF65-F5344CB8AC3E}">
        <p14:creationId xmlns:p14="http://schemas.microsoft.com/office/powerpoint/2010/main" val="170244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SV" dirty="0"/>
              <a:t>Ejercicio 3</a:t>
            </a:r>
          </a:p>
        </p:txBody>
      </p:sp>
      <p:sp>
        <p:nvSpPr>
          <p:cNvPr id="3" name="Marcador de contenido 2"/>
          <p:cNvSpPr>
            <a:spLocks noGrp="1"/>
          </p:cNvSpPr>
          <p:nvPr>
            <p:ph idx="1"/>
          </p:nvPr>
        </p:nvSpPr>
        <p:spPr/>
        <p:txBody>
          <a:bodyPr>
            <a:normAutofit fontScale="92500"/>
          </a:bodyPr>
          <a:lstStyle/>
          <a:p>
            <a:pPr marL="0" lvl="0" indent="0" algn="just">
              <a:buNone/>
            </a:pPr>
            <a:r>
              <a:rPr lang="es-SV" dirty="0"/>
              <a:t>En un curso de matemáticas impartido a 40 mujeres y 26 hombres, se les pregunto cuántos tenían computadora. Once hombres y siete mujeres respondieron afirmativamente. Si luego se selecciona al azar, un estudiante de la nómina de alumnos, determinar las probabilidades de que el estudiante elegido:</a:t>
            </a:r>
          </a:p>
          <a:p>
            <a:pPr lvl="0"/>
            <a:r>
              <a:rPr lang="es-SV" dirty="0"/>
              <a:t>Sea mujer. </a:t>
            </a:r>
          </a:p>
          <a:p>
            <a:pPr lvl="0"/>
            <a:r>
              <a:rPr lang="es-SV" dirty="0"/>
              <a:t>Sea mujer y tenga computadora. </a:t>
            </a:r>
          </a:p>
          <a:p>
            <a:pPr lvl="0"/>
            <a:r>
              <a:rPr lang="es-SV" dirty="0"/>
              <a:t>Sea hombre. </a:t>
            </a:r>
          </a:p>
          <a:p>
            <a:pPr lvl="0"/>
            <a:r>
              <a:rPr lang="es-SV" dirty="0"/>
              <a:t>Sea hombre y no tenga computadora. </a:t>
            </a:r>
          </a:p>
          <a:p>
            <a:pPr marL="0" indent="0">
              <a:buNone/>
            </a:pPr>
            <a:endParaRPr lang="es-SV" dirty="0"/>
          </a:p>
        </p:txBody>
      </p:sp>
    </p:spTree>
    <p:extLst>
      <p:ext uri="{BB962C8B-B14F-4D97-AF65-F5344CB8AC3E}">
        <p14:creationId xmlns:p14="http://schemas.microsoft.com/office/powerpoint/2010/main" val="2523505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95536" y="476672"/>
            <a:ext cx="8229600" cy="612304"/>
          </a:xfrm>
        </p:spPr>
        <p:txBody>
          <a:bodyPr>
            <a:normAutofit fontScale="90000"/>
          </a:bodyPr>
          <a:lstStyle/>
          <a:p>
            <a:r>
              <a:rPr lang="es-SV" dirty="0"/>
              <a:t>Ejercicio 4</a:t>
            </a:r>
          </a:p>
        </p:txBody>
      </p:sp>
      <p:sp>
        <p:nvSpPr>
          <p:cNvPr id="3" name="Marcador de contenido 2"/>
          <p:cNvSpPr>
            <a:spLocks noGrp="1"/>
          </p:cNvSpPr>
          <p:nvPr>
            <p:ph idx="1"/>
          </p:nvPr>
        </p:nvSpPr>
        <p:spPr>
          <a:xfrm>
            <a:off x="251520" y="1196752"/>
            <a:ext cx="8712968" cy="4960208"/>
          </a:xfrm>
        </p:spPr>
        <p:txBody>
          <a:bodyPr>
            <a:noAutofit/>
          </a:bodyPr>
          <a:lstStyle/>
          <a:p>
            <a:pPr marL="0" indent="0" algn="just">
              <a:buNone/>
            </a:pPr>
            <a:r>
              <a:rPr lang="es-SV" sz="1800" dirty="0"/>
              <a:t>A principios de 2003, el presidente de Estados Unidos propuso eliminar los impuestos a los dividendos de los accionistas con el argumento de que era un doble impuesto. Las corporaciones pagan impuestos sobre las ganancias que luego son repartidas como dividendos. En un sondeo realizado a 671 estadounidenses, Techno </a:t>
            </a:r>
            <a:r>
              <a:rPr lang="es-SV" sz="1800" dirty="0" err="1"/>
              <a:t>Metrica</a:t>
            </a:r>
            <a:r>
              <a:rPr lang="es-SV" sz="1800" dirty="0"/>
              <a:t> </a:t>
            </a:r>
            <a:r>
              <a:rPr lang="es-SV" sz="1800" dirty="0" err="1"/>
              <a:t>Market</a:t>
            </a:r>
            <a:r>
              <a:rPr lang="es-SV" sz="1800" dirty="0"/>
              <a:t> </a:t>
            </a:r>
            <a:r>
              <a:rPr lang="es-SV" sz="1800" dirty="0" err="1"/>
              <a:t>Intelligence</a:t>
            </a:r>
            <a:r>
              <a:rPr lang="es-SV" sz="1800" dirty="0"/>
              <a:t> halló que 47% estaban a favor de la propuesta, 44% se oponían a ella y 9% no estaban seguros (</a:t>
            </a:r>
            <a:r>
              <a:rPr lang="es-SV" sz="1800" i="1" dirty="0" err="1"/>
              <a:t>Investor’s</a:t>
            </a:r>
            <a:r>
              <a:rPr lang="es-SV" sz="1800" i="1" dirty="0"/>
              <a:t> Business Daily,</a:t>
            </a:r>
            <a:r>
              <a:rPr lang="es-SV" sz="1800" dirty="0"/>
              <a:t>13 de enero de 2003). Al analizar las respuestas de acuerdo con la pertenencia a los partidos políticos, se encontró en el sondeo que 29% de los demócratas estaban a favor, 64% de los republicanos estaban a favor y 48% de los independientes estaban a favor. (Anderson, </a:t>
            </a:r>
            <a:r>
              <a:rPr lang="es-SV" sz="1800" dirty="0" err="1"/>
              <a:t>Sweeney</a:t>
            </a:r>
            <a:r>
              <a:rPr lang="es-SV" sz="1800" dirty="0"/>
              <a:t> y Williams 2008)</a:t>
            </a:r>
          </a:p>
          <a:p>
            <a:pPr algn="just"/>
            <a:r>
              <a:rPr lang="es-SV" sz="1800" dirty="0"/>
              <a:t>¿Cuántos de los encuestados estuvieron a favor de la eliminación de los impuestos a los dividendos?</a:t>
            </a:r>
          </a:p>
          <a:p>
            <a:pPr algn="just"/>
            <a:r>
              <a:rPr lang="es-SV" sz="1800" dirty="0"/>
              <a:t>¿Cuál es la probabilidad condicional de que una persona sea demócrata dado que estuvo a favor?</a:t>
            </a:r>
          </a:p>
          <a:p>
            <a:pPr algn="just"/>
            <a:r>
              <a:rPr lang="es-SV" sz="1800" dirty="0"/>
              <a:t>¿Es la afiliación partidaria independiente de que una persona esté a favor de la propuesta?</a:t>
            </a:r>
          </a:p>
        </p:txBody>
      </p:sp>
    </p:spTree>
    <p:extLst>
      <p:ext uri="{BB962C8B-B14F-4D97-AF65-F5344CB8AC3E}">
        <p14:creationId xmlns:p14="http://schemas.microsoft.com/office/powerpoint/2010/main" val="2088833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SV" dirty="0"/>
              <a:t>Ejercicio 5</a:t>
            </a:r>
          </a:p>
        </p:txBody>
      </p:sp>
      <p:sp>
        <p:nvSpPr>
          <p:cNvPr id="3" name="Marcador de contenido 2"/>
          <p:cNvSpPr>
            <a:spLocks noGrp="1"/>
          </p:cNvSpPr>
          <p:nvPr>
            <p:ph idx="1"/>
          </p:nvPr>
        </p:nvSpPr>
        <p:spPr/>
        <p:txBody>
          <a:bodyPr/>
          <a:lstStyle/>
          <a:p>
            <a:pPr marL="0" lvl="0" indent="0">
              <a:buNone/>
            </a:pPr>
            <a:r>
              <a:rPr lang="es-SV" dirty="0"/>
              <a:t>Una empresa lanzara dos productos nuevos al mercado el próximo año; después de una investigación se encontró que la probabilidad de que el producto A tenga éxito es de 0.45 y la probabilidad de que el producto B tenga éxito es de 0.70.</a:t>
            </a:r>
          </a:p>
          <a:p>
            <a:pPr lvl="0"/>
            <a:r>
              <a:rPr lang="es-SV" dirty="0"/>
              <a:t>¿Cuál es la probabilidad de que ambos tenga éxito?</a:t>
            </a:r>
          </a:p>
          <a:p>
            <a:pPr lvl="0"/>
            <a:r>
              <a:rPr lang="es-SV" dirty="0"/>
              <a:t>¿Cuál es la probabilidad de que al menos uno de ellos tenga éxito?</a:t>
            </a:r>
          </a:p>
          <a:p>
            <a:pPr marL="0" indent="0">
              <a:buNone/>
            </a:pPr>
            <a:endParaRPr lang="es-SV" dirty="0"/>
          </a:p>
        </p:txBody>
      </p:sp>
    </p:spTree>
    <p:extLst>
      <p:ext uri="{BB962C8B-B14F-4D97-AF65-F5344CB8AC3E}">
        <p14:creationId xmlns:p14="http://schemas.microsoft.com/office/powerpoint/2010/main" val="2101485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SV" dirty="0"/>
              <a:t>Ejercicio 6</a:t>
            </a:r>
          </a:p>
        </p:txBody>
      </p:sp>
      <p:sp>
        <p:nvSpPr>
          <p:cNvPr id="3" name="Marcador de contenido 2"/>
          <p:cNvSpPr>
            <a:spLocks noGrp="1"/>
          </p:cNvSpPr>
          <p:nvPr>
            <p:ph idx="1"/>
          </p:nvPr>
        </p:nvSpPr>
        <p:spPr/>
        <p:txBody>
          <a:bodyPr>
            <a:normAutofit lnSpcReduction="10000"/>
          </a:bodyPr>
          <a:lstStyle/>
          <a:p>
            <a:pPr marL="0" lvl="0" indent="0">
              <a:buNone/>
            </a:pPr>
            <a:r>
              <a:rPr lang="es-SV" dirty="0"/>
              <a:t>La probabilidad de que un vuelo programado normalmente salga a tiempo es 0.83, la probabilidad de que llegue a tiempo es 0.82, y de que salga y llegue a tiempo es 0.78. Obtener la probabilidad de que un avión:</a:t>
            </a:r>
          </a:p>
          <a:p>
            <a:pPr lvl="0"/>
            <a:r>
              <a:rPr lang="es-SV" dirty="0"/>
              <a:t>Salga a tiempo, pero no llegue a tiempo</a:t>
            </a:r>
          </a:p>
          <a:p>
            <a:pPr lvl="0"/>
            <a:r>
              <a:rPr lang="es-SV" dirty="0"/>
              <a:t>No salga ni llegue a tiempo </a:t>
            </a:r>
          </a:p>
          <a:p>
            <a:pPr lvl="0"/>
            <a:r>
              <a:rPr lang="es-SV" dirty="0"/>
              <a:t>Llegue a tiempo, dado que salió a tiempo</a:t>
            </a:r>
          </a:p>
          <a:p>
            <a:pPr lvl="0"/>
            <a:r>
              <a:rPr lang="es-SV" dirty="0"/>
              <a:t>¿Son independientes los sucesos salir a tiempo y llegar a tiempo? Justifique su respuesta.</a:t>
            </a:r>
          </a:p>
          <a:p>
            <a:pPr marL="0" indent="0">
              <a:buNone/>
            </a:pPr>
            <a:endParaRPr lang="es-SV" dirty="0"/>
          </a:p>
        </p:txBody>
      </p:sp>
    </p:spTree>
    <p:extLst>
      <p:ext uri="{BB962C8B-B14F-4D97-AF65-F5344CB8AC3E}">
        <p14:creationId xmlns:p14="http://schemas.microsoft.com/office/powerpoint/2010/main" val="3299157520"/>
      </p:ext>
    </p:extLst>
  </p:cSld>
  <p:clrMapOvr>
    <a:masterClrMapping/>
  </p:clrMapOvr>
</p:sld>
</file>

<file path=ppt/theme/theme1.xml><?xml version="1.0" encoding="utf-8"?>
<a:theme xmlns:a="http://schemas.openxmlformats.org/drawingml/2006/main" name="Office Them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2515</TotalTime>
  <Words>1254</Words>
  <Application>Microsoft Office PowerPoint</Application>
  <PresentationFormat>Presentación en pantalla (4:3)</PresentationFormat>
  <Paragraphs>81</Paragraphs>
  <Slides>13</Slides>
  <Notes>0</Notes>
  <HiddenSlides>0</HiddenSlides>
  <MMClips>1</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Calibri</vt:lpstr>
      <vt:lpstr>Calibri Light</vt:lpstr>
      <vt:lpstr>Cambria Math</vt:lpstr>
      <vt:lpstr>Office Theme</vt:lpstr>
      <vt:lpstr>Probabilidad condicional  (espacio muestral restringido)</vt:lpstr>
      <vt:lpstr>Regla multiplicativa de la probabilidad</vt:lpstr>
      <vt:lpstr>La regla multiplicativa se puede generalizar?</vt:lpstr>
      <vt:lpstr>Independencia de sucesos</vt:lpstr>
      <vt:lpstr>Ejercicios sobre probabilidades </vt:lpstr>
      <vt:lpstr>Ejercicios sobre probabilidades </vt:lpstr>
      <vt:lpstr>Guía de trabajo </vt:lpstr>
      <vt:lpstr>Ejercicio 1</vt:lpstr>
      <vt:lpstr>Ejercicio 2</vt:lpstr>
      <vt:lpstr>Ejercicio 3</vt:lpstr>
      <vt:lpstr>Ejercicio 4</vt:lpstr>
      <vt:lpstr>Ejercicio 5</vt:lpstr>
      <vt:lpstr>Ejercicio 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Universidad centroamericana José Simeón Cañas</dc:title>
  <dc:creator>UCA</dc:creator>
  <cp:lastModifiedBy>Daisy Michelle Molina</cp:lastModifiedBy>
  <cp:revision>170</cp:revision>
  <cp:lastPrinted>2025-10-15T20:52:18Z</cp:lastPrinted>
  <dcterms:created xsi:type="dcterms:W3CDTF">2015-01-09T20:37:27Z</dcterms:created>
  <dcterms:modified xsi:type="dcterms:W3CDTF">2026-05-06T20:23:16Z</dcterms:modified>
</cp:coreProperties>
</file>