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1" r:id="rId1"/>
  </p:sldMasterIdLst>
  <p:notesMasterIdLst>
    <p:notesMasterId r:id="rId14"/>
  </p:notesMasterIdLst>
  <p:sldIdLst>
    <p:sldId id="465" r:id="rId2"/>
    <p:sldId id="466" r:id="rId3"/>
    <p:sldId id="467" r:id="rId4"/>
    <p:sldId id="468" r:id="rId5"/>
    <p:sldId id="469" r:id="rId6"/>
    <p:sldId id="470" r:id="rId7"/>
    <p:sldId id="471" r:id="rId8"/>
    <p:sldId id="473" r:id="rId9"/>
    <p:sldId id="474" r:id="rId10"/>
    <p:sldId id="475" r:id="rId11"/>
    <p:sldId id="476" r:id="rId12"/>
    <p:sldId id="47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7E2D42-6221-434F-B484-885E5E63D63C}" v="277" dt="2021-04-14T01:12:24.30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49" autoAdjust="0"/>
    <p:restoredTop sz="94660"/>
  </p:normalViewPr>
  <p:slideViewPr>
    <p:cSldViewPr>
      <p:cViewPr varScale="1">
        <p:scale>
          <a:sx n="78" d="100"/>
          <a:sy n="78" d="100"/>
        </p:scale>
        <p:origin x="1325"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1-04-09T02:18:33.298"/>
    </inkml:context>
    <inkml:brush xml:id="br0">
      <inkml:brushProperty name="width" value="0.05292" units="cm"/>
      <inkml:brushProperty name="height" value="0.05292" units="cm"/>
      <inkml:brushProperty name="color" value="#FF0000"/>
    </inkml:brush>
  </inkml:definitions>
  <inkml:trace contextRef="#ctx0" brushRef="#br0">5935 13814 561 0,'0'0'230'16,"0"0"-110"-16,0 0 1 15,0 0-4-15,0 0-104 16,0 0-13-16,0 0-66 16,0 14-50-16,-2-2-98 15,0-1-123-15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SV"/>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07B469-6375-4B31-9E8D-F0F5D1F96C44}" type="datetimeFigureOut">
              <a:rPr lang="es-SV" smtClean="0"/>
              <a:t>6/5/2026</a:t>
            </a:fld>
            <a:endParaRPr lang="es-SV"/>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SV"/>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SV"/>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SV"/>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CFB16-7B83-48BD-9148-02186C72AF1D}" type="slidenum">
              <a:rPr lang="es-SV" smtClean="0"/>
              <a:t>‹Nº›</a:t>
            </a:fld>
            <a:endParaRPr lang="es-SV"/>
          </a:p>
        </p:txBody>
      </p:sp>
    </p:spTree>
    <p:extLst>
      <p:ext uri="{BB962C8B-B14F-4D97-AF65-F5344CB8AC3E}">
        <p14:creationId xmlns:p14="http://schemas.microsoft.com/office/powerpoint/2010/main" val="1859179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4148223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5838871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7315320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6432658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0031083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861009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5835881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3118112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708232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4B5F6883-5435-47D5-880C-1B4DF04FBDCC}" type="datetimeFigureOut">
              <a:rPr lang="es-SV" smtClean="0"/>
              <a:pPr/>
              <a:t>6/5/2026</a:t>
            </a:fld>
            <a:endParaRPr lang="es-SV"/>
          </a:p>
        </p:txBody>
      </p:sp>
      <p:sp>
        <p:nvSpPr>
          <p:cNvPr id="5" name="Footer Placeholder 4"/>
          <p:cNvSpPr>
            <a:spLocks noGrp="1"/>
          </p:cNvSpPr>
          <p:nvPr>
            <p:ph type="ftr" sz="quarter" idx="11"/>
          </p:nvPr>
        </p:nvSpPr>
        <p:spPr/>
        <p:txBody>
          <a:bodyPr/>
          <a:lstStyle/>
          <a:p>
            <a:endParaRPr lang="es-SV"/>
          </a:p>
        </p:txBody>
      </p:sp>
      <p:sp>
        <p:nvSpPr>
          <p:cNvPr id="6" name="Slide Number Placeholder 5"/>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364653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B5F6883-5435-47D5-880C-1B4DF04FBDCC}" type="datetimeFigureOut">
              <a:rPr lang="es-SV" smtClean="0"/>
              <a:pPr/>
              <a:t>6/5/2026</a:t>
            </a:fld>
            <a:endParaRPr lang="es-SV"/>
          </a:p>
        </p:txBody>
      </p:sp>
      <p:sp>
        <p:nvSpPr>
          <p:cNvPr id="5" name="Footer Placeholder 4"/>
          <p:cNvSpPr>
            <a:spLocks noGrp="1"/>
          </p:cNvSpPr>
          <p:nvPr>
            <p:ph type="ftr" sz="quarter" idx="11"/>
          </p:nvPr>
        </p:nvSpPr>
        <p:spPr/>
        <p:txBody>
          <a:bodyPr/>
          <a:lstStyle/>
          <a:p>
            <a:endParaRPr lang="es-SV"/>
          </a:p>
        </p:txBody>
      </p:sp>
      <p:sp>
        <p:nvSpPr>
          <p:cNvPr id="6" name="Slide Number Placeholder 5"/>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781547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4B5F6883-5435-47D5-880C-1B4DF04FBDCC}" type="datetimeFigureOut">
              <a:rPr lang="es-SV" smtClean="0"/>
              <a:pPr/>
              <a:t>6/5/2026</a:t>
            </a:fld>
            <a:endParaRPr lang="es-SV"/>
          </a:p>
        </p:txBody>
      </p:sp>
      <p:sp>
        <p:nvSpPr>
          <p:cNvPr id="5" name="Footer Placeholder 4"/>
          <p:cNvSpPr>
            <a:spLocks noGrp="1"/>
          </p:cNvSpPr>
          <p:nvPr>
            <p:ph type="ftr" sz="quarter" idx="11"/>
          </p:nvPr>
        </p:nvSpPr>
        <p:spPr/>
        <p:txBody>
          <a:bodyPr/>
          <a:lstStyle/>
          <a:p>
            <a:endParaRPr lang="es-SV"/>
          </a:p>
        </p:txBody>
      </p:sp>
      <p:sp>
        <p:nvSpPr>
          <p:cNvPr id="6" name="Slide Number Placeholder 5"/>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2605346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B5F6883-5435-47D5-880C-1B4DF04FBDCC}" type="datetimeFigureOut">
              <a:rPr lang="es-SV" smtClean="0"/>
              <a:pPr/>
              <a:t>6/5/2026</a:t>
            </a:fld>
            <a:endParaRPr lang="es-SV"/>
          </a:p>
        </p:txBody>
      </p:sp>
      <p:sp>
        <p:nvSpPr>
          <p:cNvPr id="6" name="Footer Placeholder 5"/>
          <p:cNvSpPr>
            <a:spLocks noGrp="1"/>
          </p:cNvSpPr>
          <p:nvPr>
            <p:ph type="ftr" sz="quarter" idx="11"/>
          </p:nvPr>
        </p:nvSpPr>
        <p:spPr/>
        <p:txBody>
          <a:bodyPr/>
          <a:lstStyle/>
          <a:p>
            <a:endParaRPr lang="es-SV"/>
          </a:p>
        </p:txBody>
      </p:sp>
      <p:sp>
        <p:nvSpPr>
          <p:cNvPr id="7" name="Slide Number Placeholder 6"/>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3922542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629842" y="2505075"/>
            <a:ext cx="3868340"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Content Placeholder 5"/>
          <p:cNvSpPr>
            <a:spLocks noGrp="1"/>
          </p:cNvSpPr>
          <p:nvPr>
            <p:ph sz="quarter" idx="4"/>
          </p:nvPr>
        </p:nvSpPr>
        <p:spPr>
          <a:xfrm>
            <a:off x="4629150" y="2505075"/>
            <a:ext cx="3887391"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B5F6883-5435-47D5-880C-1B4DF04FBDCC}" type="datetimeFigureOut">
              <a:rPr lang="es-SV" smtClean="0"/>
              <a:pPr/>
              <a:t>6/5/2026</a:t>
            </a:fld>
            <a:endParaRPr lang="es-SV"/>
          </a:p>
        </p:txBody>
      </p:sp>
      <p:sp>
        <p:nvSpPr>
          <p:cNvPr id="8" name="Footer Placeholder 7"/>
          <p:cNvSpPr>
            <a:spLocks noGrp="1"/>
          </p:cNvSpPr>
          <p:nvPr>
            <p:ph type="ftr" sz="quarter" idx="11"/>
          </p:nvPr>
        </p:nvSpPr>
        <p:spPr/>
        <p:txBody>
          <a:bodyPr/>
          <a:lstStyle/>
          <a:p>
            <a:endParaRPr lang="es-SV"/>
          </a:p>
        </p:txBody>
      </p:sp>
      <p:sp>
        <p:nvSpPr>
          <p:cNvPr id="9" name="Slide Number Placeholder 8"/>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3140867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B5F6883-5435-47D5-880C-1B4DF04FBDCC}" type="datetimeFigureOut">
              <a:rPr lang="es-SV" smtClean="0"/>
              <a:pPr/>
              <a:t>6/5/2026</a:t>
            </a:fld>
            <a:endParaRPr lang="es-SV"/>
          </a:p>
        </p:txBody>
      </p:sp>
      <p:sp>
        <p:nvSpPr>
          <p:cNvPr id="4" name="Footer Placeholder 3"/>
          <p:cNvSpPr>
            <a:spLocks noGrp="1"/>
          </p:cNvSpPr>
          <p:nvPr>
            <p:ph type="ftr" sz="quarter" idx="11"/>
          </p:nvPr>
        </p:nvSpPr>
        <p:spPr/>
        <p:txBody>
          <a:bodyPr/>
          <a:lstStyle/>
          <a:p>
            <a:endParaRPr lang="es-SV"/>
          </a:p>
        </p:txBody>
      </p:sp>
      <p:sp>
        <p:nvSpPr>
          <p:cNvPr id="5" name="Slide Number Placeholder 4"/>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758309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5F6883-5435-47D5-880C-1B4DF04FBDCC}" type="datetimeFigureOut">
              <a:rPr lang="es-SV" smtClean="0"/>
              <a:pPr/>
              <a:t>6/5/2026</a:t>
            </a:fld>
            <a:endParaRPr lang="es-SV"/>
          </a:p>
        </p:txBody>
      </p:sp>
      <p:sp>
        <p:nvSpPr>
          <p:cNvPr id="3" name="Footer Placeholder 2"/>
          <p:cNvSpPr>
            <a:spLocks noGrp="1"/>
          </p:cNvSpPr>
          <p:nvPr>
            <p:ph type="ftr" sz="quarter" idx="11"/>
          </p:nvPr>
        </p:nvSpPr>
        <p:spPr/>
        <p:txBody>
          <a:bodyPr/>
          <a:lstStyle/>
          <a:p>
            <a:endParaRPr lang="es-SV"/>
          </a:p>
        </p:txBody>
      </p:sp>
      <p:sp>
        <p:nvSpPr>
          <p:cNvPr id="4" name="Slide Number Placeholder 3"/>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974058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Date Placeholder 4"/>
          <p:cNvSpPr>
            <a:spLocks noGrp="1"/>
          </p:cNvSpPr>
          <p:nvPr>
            <p:ph type="dt" sz="half" idx="10"/>
          </p:nvPr>
        </p:nvSpPr>
        <p:spPr/>
        <p:txBody>
          <a:bodyPr/>
          <a:lstStyle/>
          <a:p>
            <a:fld id="{4B5F6883-5435-47D5-880C-1B4DF04FBDCC}" type="datetimeFigureOut">
              <a:rPr lang="es-SV" smtClean="0"/>
              <a:pPr/>
              <a:t>6/5/2026</a:t>
            </a:fld>
            <a:endParaRPr lang="es-SV"/>
          </a:p>
        </p:txBody>
      </p:sp>
      <p:sp>
        <p:nvSpPr>
          <p:cNvPr id="6" name="Footer Placeholder 5"/>
          <p:cNvSpPr>
            <a:spLocks noGrp="1"/>
          </p:cNvSpPr>
          <p:nvPr>
            <p:ph type="ftr" sz="quarter" idx="11"/>
          </p:nvPr>
        </p:nvSpPr>
        <p:spPr/>
        <p:txBody>
          <a:bodyPr/>
          <a:lstStyle/>
          <a:p>
            <a:endParaRPr lang="es-SV"/>
          </a:p>
        </p:txBody>
      </p:sp>
      <p:sp>
        <p:nvSpPr>
          <p:cNvPr id="7" name="Slide Number Placeholder 6"/>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3974555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Date Placeholder 4"/>
          <p:cNvSpPr>
            <a:spLocks noGrp="1"/>
          </p:cNvSpPr>
          <p:nvPr>
            <p:ph type="dt" sz="half" idx="10"/>
          </p:nvPr>
        </p:nvSpPr>
        <p:spPr/>
        <p:txBody>
          <a:bodyPr/>
          <a:lstStyle/>
          <a:p>
            <a:fld id="{4B5F6883-5435-47D5-880C-1B4DF04FBDCC}" type="datetimeFigureOut">
              <a:rPr lang="es-SV" smtClean="0"/>
              <a:pPr/>
              <a:t>6/5/2026</a:t>
            </a:fld>
            <a:endParaRPr lang="es-SV"/>
          </a:p>
        </p:txBody>
      </p:sp>
      <p:sp>
        <p:nvSpPr>
          <p:cNvPr id="6" name="Footer Placeholder 5"/>
          <p:cNvSpPr>
            <a:spLocks noGrp="1"/>
          </p:cNvSpPr>
          <p:nvPr>
            <p:ph type="ftr" sz="quarter" idx="11"/>
          </p:nvPr>
        </p:nvSpPr>
        <p:spPr/>
        <p:txBody>
          <a:bodyPr/>
          <a:lstStyle/>
          <a:p>
            <a:endParaRPr lang="es-SV"/>
          </a:p>
        </p:txBody>
      </p:sp>
      <p:sp>
        <p:nvSpPr>
          <p:cNvPr id="7" name="Slide Number Placeholder 6"/>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3601592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B5F6883-5435-47D5-880C-1B4DF04FBDCC}" type="datetimeFigureOut">
              <a:rPr lang="es-SV" smtClean="0"/>
              <a:pPr/>
              <a:t>6/5/2026</a:t>
            </a:fld>
            <a:endParaRPr lang="es-SV"/>
          </a:p>
        </p:txBody>
      </p:sp>
      <p:sp>
        <p:nvSpPr>
          <p:cNvPr id="5" name="Footer Placeholder 4"/>
          <p:cNvSpPr>
            <a:spLocks noGrp="1"/>
          </p:cNvSpPr>
          <p:nvPr>
            <p:ph type="ftr" sz="quarter" idx="11"/>
          </p:nvPr>
        </p:nvSpPr>
        <p:spPr/>
        <p:txBody>
          <a:bodyPr/>
          <a:lstStyle/>
          <a:p>
            <a:endParaRPr lang="es-SV"/>
          </a:p>
        </p:txBody>
      </p:sp>
      <p:sp>
        <p:nvSpPr>
          <p:cNvPr id="6" name="Slide Number Placeholder 5"/>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1123919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B5F6883-5435-47D5-880C-1B4DF04FBDCC}" type="datetimeFigureOut">
              <a:rPr lang="es-SV" smtClean="0"/>
              <a:pPr/>
              <a:t>6/5/2026</a:t>
            </a:fld>
            <a:endParaRPr lang="es-SV"/>
          </a:p>
        </p:txBody>
      </p:sp>
      <p:sp>
        <p:nvSpPr>
          <p:cNvPr id="5" name="Footer Placeholder 4"/>
          <p:cNvSpPr>
            <a:spLocks noGrp="1"/>
          </p:cNvSpPr>
          <p:nvPr>
            <p:ph type="ftr" sz="quarter" idx="11"/>
          </p:nvPr>
        </p:nvSpPr>
        <p:spPr/>
        <p:txBody>
          <a:bodyPr/>
          <a:lstStyle/>
          <a:p>
            <a:endParaRPr lang="es-SV"/>
          </a:p>
        </p:txBody>
      </p:sp>
      <p:sp>
        <p:nvSpPr>
          <p:cNvPr id="6" name="Slide Number Placeholder 5"/>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20019448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ECECF3"/>
          </a:solidFill>
          <a:ln/>
        </p:spPr>
        <p:txBody>
          <a:bodyPr/>
          <a:lstStyle/>
          <a:p>
            <a:endParaRPr lang="es-SV"/>
          </a:p>
        </p:txBody>
      </p:sp>
      <p:sp>
        <p:nvSpPr>
          <p:cNvPr id="3" name="Shape 1"/>
          <p:cNvSpPr/>
          <p:nvPr/>
        </p:nvSpPr>
        <p:spPr>
          <a:xfrm>
            <a:off x="0" y="0"/>
            <a:ext cx="9144000" cy="6858000"/>
          </a:xfrm>
          <a:prstGeom prst="rect">
            <a:avLst/>
          </a:prstGeom>
          <a:solidFill>
            <a:srgbClr val="FFFFFF">
              <a:alpha val="95000"/>
            </a:srgbClr>
          </a:solidFill>
          <a:ln/>
        </p:spPr>
        <p:txBody>
          <a:bodyPr/>
          <a:lstStyle/>
          <a:p>
            <a:endParaRPr lang="es-SV"/>
          </a:p>
        </p:txBody>
      </p:sp>
      <p:pic>
        <p:nvPicPr>
          <p:cNvPr id="4" name="Image 0" descr="preencoded.png">
            <a:hlinkClick r:id="rId2"/>
          </p:cNvPr>
          <p:cNvPicPr>
            <a:picLocks noChangeAspect="1"/>
          </p:cNvPicPr>
          <p:nvPr/>
        </p:nvPicPr>
        <p:blipFill>
          <a:blip r:embed="rId3"/>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42521419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ECECF3"/>
          </a:solidFill>
          <a:ln/>
        </p:spPr>
        <p:txBody>
          <a:bodyPr/>
          <a:lstStyle/>
          <a:p>
            <a:endParaRPr lang="es-SV"/>
          </a:p>
        </p:txBody>
      </p:sp>
      <p:sp>
        <p:nvSpPr>
          <p:cNvPr id="3" name="Shape 1"/>
          <p:cNvSpPr/>
          <p:nvPr/>
        </p:nvSpPr>
        <p:spPr>
          <a:xfrm>
            <a:off x="0" y="0"/>
            <a:ext cx="9144000" cy="6858000"/>
          </a:xfrm>
          <a:prstGeom prst="rect">
            <a:avLst/>
          </a:prstGeom>
          <a:solidFill>
            <a:srgbClr val="FFFFFF">
              <a:alpha val="95000"/>
            </a:srgbClr>
          </a:solidFill>
          <a:ln/>
        </p:spPr>
        <p:txBody>
          <a:bodyPr/>
          <a:lstStyle/>
          <a:p>
            <a:endParaRPr lang="es-SV"/>
          </a:p>
        </p:txBody>
      </p:sp>
      <p:pic>
        <p:nvPicPr>
          <p:cNvPr id="4" name="Image 0" descr="preencoded.png">
            <a:hlinkClick r:id="rId2"/>
          </p:cNvPr>
          <p:cNvPicPr>
            <a:picLocks noChangeAspect="1"/>
          </p:cNvPicPr>
          <p:nvPr/>
        </p:nvPicPr>
        <p:blipFill>
          <a:blip r:embed="rId3"/>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11918845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ECECF3"/>
          </a:solidFill>
          <a:ln/>
        </p:spPr>
        <p:txBody>
          <a:bodyPr/>
          <a:lstStyle/>
          <a:p>
            <a:endParaRPr lang="es-SV"/>
          </a:p>
        </p:txBody>
      </p:sp>
      <p:sp>
        <p:nvSpPr>
          <p:cNvPr id="3" name="Shape 1"/>
          <p:cNvSpPr/>
          <p:nvPr/>
        </p:nvSpPr>
        <p:spPr>
          <a:xfrm>
            <a:off x="0" y="0"/>
            <a:ext cx="9144000" cy="6858000"/>
          </a:xfrm>
          <a:prstGeom prst="rect">
            <a:avLst/>
          </a:prstGeom>
          <a:solidFill>
            <a:srgbClr val="FFFFFF">
              <a:alpha val="95000"/>
            </a:srgbClr>
          </a:solidFill>
          <a:ln/>
        </p:spPr>
        <p:txBody>
          <a:bodyPr/>
          <a:lstStyle/>
          <a:p>
            <a:endParaRPr lang="es-SV"/>
          </a:p>
        </p:txBody>
      </p:sp>
      <p:pic>
        <p:nvPicPr>
          <p:cNvPr id="4" name="Image 0" descr="preencoded.png">
            <a:hlinkClick r:id="rId2"/>
          </p:cNvPr>
          <p:cNvPicPr>
            <a:picLocks noChangeAspect="1"/>
          </p:cNvPicPr>
          <p:nvPr/>
        </p:nvPicPr>
        <p:blipFill>
          <a:blip r:embed="rId3"/>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23270124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18181B"/>
          </a:solidFill>
          <a:ln/>
        </p:spPr>
        <p:txBody>
          <a:bodyPr/>
          <a:lstStyle/>
          <a:p>
            <a:endParaRPr lang="es-SV"/>
          </a:p>
        </p:txBody>
      </p:sp>
      <p:sp>
        <p:nvSpPr>
          <p:cNvPr id="3" name="Shape 1"/>
          <p:cNvSpPr/>
          <p:nvPr/>
        </p:nvSpPr>
        <p:spPr>
          <a:xfrm>
            <a:off x="0" y="0"/>
            <a:ext cx="9144000" cy="6858000"/>
          </a:xfrm>
          <a:prstGeom prst="rect">
            <a:avLst/>
          </a:prstGeom>
          <a:solidFill>
            <a:srgbClr val="0F0F10"/>
          </a:solidFill>
          <a:ln/>
        </p:spPr>
        <p:txBody>
          <a:bodyPr/>
          <a:lstStyle/>
          <a:p>
            <a:endParaRPr lang="es-SV"/>
          </a:p>
        </p:txBody>
      </p:sp>
      <p:pic>
        <p:nvPicPr>
          <p:cNvPr id="4" name="Image 0" descr="preencoded.png">
            <a:hlinkClick r:id="rId2"/>
          </p:cNvPr>
          <p:cNvPicPr>
            <a:picLocks noChangeAspect="1"/>
          </p:cNvPicPr>
          <p:nvPr/>
        </p:nvPicPr>
        <p:blipFill>
          <a:blip r:embed="rId3"/>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27223053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5F5F5"/>
          </a:solidFill>
          <a:ln/>
        </p:spPr>
        <p:txBody>
          <a:bodyPr/>
          <a:lstStyle/>
          <a:p>
            <a:endParaRPr lang="es-SV"/>
          </a:p>
        </p:txBody>
      </p:sp>
      <p:sp>
        <p:nvSpPr>
          <p:cNvPr id="3" name="Shape 1"/>
          <p:cNvSpPr/>
          <p:nvPr/>
        </p:nvSpPr>
        <p:spPr>
          <a:xfrm>
            <a:off x="0" y="0"/>
            <a:ext cx="9144000" cy="6858000"/>
          </a:xfrm>
          <a:prstGeom prst="rect">
            <a:avLst/>
          </a:prstGeom>
          <a:solidFill>
            <a:srgbClr val="FFFFFF"/>
          </a:solidFill>
          <a:ln/>
        </p:spPr>
        <p:txBody>
          <a:bodyPr/>
          <a:lstStyle/>
          <a:p>
            <a:endParaRPr lang="es-SV"/>
          </a:p>
        </p:txBody>
      </p:sp>
      <p:pic>
        <p:nvPicPr>
          <p:cNvPr id="4" name="Image 0" descr="preencoded.png">
            <a:hlinkClick r:id="rId2"/>
          </p:cNvPr>
          <p:cNvPicPr>
            <a:picLocks noChangeAspect="1"/>
          </p:cNvPicPr>
          <p:nvPr/>
        </p:nvPicPr>
        <p:blipFill>
          <a:blip r:embed="rId3"/>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12251016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5F5F5"/>
          </a:solidFill>
          <a:ln/>
        </p:spPr>
        <p:txBody>
          <a:bodyPr/>
          <a:lstStyle/>
          <a:p>
            <a:endParaRPr lang="es-SV"/>
          </a:p>
        </p:txBody>
      </p:sp>
      <p:sp>
        <p:nvSpPr>
          <p:cNvPr id="3" name="Shape 1"/>
          <p:cNvSpPr/>
          <p:nvPr/>
        </p:nvSpPr>
        <p:spPr>
          <a:xfrm>
            <a:off x="0" y="0"/>
            <a:ext cx="9144000" cy="6858000"/>
          </a:xfrm>
          <a:prstGeom prst="rect">
            <a:avLst/>
          </a:prstGeom>
          <a:solidFill>
            <a:srgbClr val="FFFFFF"/>
          </a:solidFill>
          <a:ln/>
        </p:spPr>
        <p:txBody>
          <a:bodyPr/>
          <a:lstStyle/>
          <a:p>
            <a:endParaRPr lang="es-SV"/>
          </a:p>
        </p:txBody>
      </p:sp>
      <p:pic>
        <p:nvPicPr>
          <p:cNvPr id="4" name="Image 0" descr="preencoded.png">
            <a:hlinkClick r:id="rId2"/>
          </p:cNvPr>
          <p:cNvPicPr>
            <a:picLocks noChangeAspect="1"/>
          </p:cNvPicPr>
          <p:nvPr/>
        </p:nvPicPr>
        <p:blipFill>
          <a:blip r:embed="rId3"/>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3145898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5F6883-5435-47D5-880C-1B4DF04FBDCC}" type="datetimeFigureOut">
              <a:rPr lang="es-SV" smtClean="0"/>
              <a:pPr/>
              <a:t>6/5/2026</a:t>
            </a:fld>
            <a:endParaRPr lang="es-SV"/>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SV"/>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022E58-9AF6-4173-9FFF-BFAAE1D0EF7D}" type="slidenum">
              <a:rPr lang="es-SV" smtClean="0"/>
              <a:pPr/>
              <a:t>‹Nº›</a:t>
            </a:fld>
            <a:endParaRPr lang="es-SV"/>
          </a:p>
        </p:txBody>
      </p:sp>
    </p:spTree>
    <p:extLst>
      <p:ext uri="{BB962C8B-B14F-4D97-AF65-F5344CB8AC3E}">
        <p14:creationId xmlns:p14="http://schemas.microsoft.com/office/powerpoint/2010/main" val="2171076675"/>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3890" r:id="rId9"/>
    <p:sldLayoutId id="2147483891" r:id="rId10"/>
    <p:sldLayoutId id="2147483892" r:id="rId11"/>
    <p:sldLayoutId id="2147483893" r:id="rId12"/>
    <p:sldLayoutId id="2147483894" r:id="rId13"/>
    <p:sldLayoutId id="2147483898" r:id="rId14"/>
    <p:sldLayoutId id="2147483901" r:id="rId15"/>
    <p:sldLayoutId id="2147483902" r:id="rId16"/>
    <p:sldLayoutId id="2147483904"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013067" y="0"/>
            <a:ext cx="4139952" cy="6858000"/>
          </a:xfrm>
          <a:prstGeom prst="rect">
            <a:avLst/>
          </a:prstGeom>
        </p:spPr>
      </p:pic>
      <p:sp>
        <p:nvSpPr>
          <p:cNvPr id="3" name="Text 0"/>
          <p:cNvSpPr/>
          <p:nvPr/>
        </p:nvSpPr>
        <p:spPr>
          <a:xfrm>
            <a:off x="194991" y="2335709"/>
            <a:ext cx="4722763" cy="885974"/>
          </a:xfrm>
          <a:prstGeom prst="rect">
            <a:avLst/>
          </a:prstGeom>
          <a:noFill/>
          <a:ln/>
        </p:spPr>
        <p:txBody>
          <a:bodyPr wrap="square" lIns="0" tIns="0" rIns="0" bIns="0" rtlCol="0" anchor="t"/>
          <a:lstStyle/>
          <a:p>
            <a:pPr>
              <a:lnSpc>
                <a:spcPts val="3469"/>
              </a:lnSpc>
            </a:pPr>
            <a:r>
              <a:rPr lang="en-US" sz="2781" dirty="0">
                <a:solidFill>
                  <a:srgbClr val="FBF3FA"/>
                </a:solidFill>
                <a:latin typeface="Fira Mono Medium" pitchFamily="34" charset="0"/>
                <a:ea typeface="Fira Mono Medium" pitchFamily="34" charset="-122"/>
                <a:cs typeface="Fira Mono Medium" pitchFamily="34" charset="-120"/>
              </a:rPr>
              <a:t>Probabilidad Total y sus Aplicaciones</a:t>
            </a:r>
            <a:endParaRPr lang="en-US" sz="2781" dirty="0"/>
          </a:p>
        </p:txBody>
      </p:sp>
      <p:sp>
        <p:nvSpPr>
          <p:cNvPr id="4" name="Text 1"/>
          <p:cNvSpPr/>
          <p:nvPr/>
        </p:nvSpPr>
        <p:spPr>
          <a:xfrm>
            <a:off x="194991" y="3434283"/>
            <a:ext cx="4722763" cy="680443"/>
          </a:xfrm>
          <a:prstGeom prst="rect">
            <a:avLst/>
          </a:prstGeom>
          <a:noFill/>
          <a:ln/>
        </p:spPr>
        <p:txBody>
          <a:bodyPr wrap="square" lIns="0" tIns="0" rIns="0" bIns="0" rtlCol="0" anchor="t"/>
          <a:lstStyle/>
          <a:p>
            <a:pPr algn="just">
              <a:lnSpc>
                <a:spcPts val="1781"/>
              </a:lnSpc>
            </a:pPr>
            <a:r>
              <a:rPr lang="en-US" sz="1094" dirty="0">
                <a:solidFill>
                  <a:srgbClr val="E0D6DE"/>
                </a:solidFill>
                <a:latin typeface="Fira Sans" pitchFamily="34" charset="0"/>
                <a:ea typeface="Fira Sans" pitchFamily="34" charset="-122"/>
                <a:cs typeface="Fira Sans" pitchFamily="34" charset="-120"/>
              </a:rPr>
              <a:t>La probabilidad total nos permite calcular la probabilidad de un evento a partir de la probabilidad de eventos mutuamente excluyentes que lo componen.</a:t>
            </a:r>
            <a:endParaRPr lang="en-US" sz="1094" dirty="0"/>
          </a:p>
        </p:txBody>
      </p:sp>
    </p:spTree>
    <p:extLst>
      <p:ext uri="{BB962C8B-B14F-4D97-AF65-F5344CB8AC3E}">
        <p14:creationId xmlns:p14="http://schemas.microsoft.com/office/powerpoint/2010/main" val="3575338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260648"/>
            <a:ext cx="7441555" cy="442987"/>
          </a:xfrm>
          <a:prstGeom prst="rect">
            <a:avLst/>
          </a:prstGeom>
          <a:noFill/>
          <a:ln/>
        </p:spPr>
        <p:txBody>
          <a:bodyPr wrap="none" lIns="0" tIns="0" rIns="0" bIns="0" rtlCol="0" anchor="t"/>
          <a:lstStyle/>
          <a:p>
            <a:pPr algn="just">
              <a:lnSpc>
                <a:spcPts val="3469"/>
              </a:lnSpc>
            </a:pPr>
            <a:r>
              <a:rPr lang="en-US" sz="2781" b="1" dirty="0">
                <a:latin typeface="Fira Mono Medium" pitchFamily="34" charset="0"/>
                <a:ea typeface="Fira Mono Medium" pitchFamily="34" charset="-122"/>
                <a:cs typeface="Fira Mono Medium" pitchFamily="34" charset="-120"/>
              </a:rPr>
              <a:t>Principios de la Probabilidad Total</a:t>
            </a:r>
            <a:endParaRPr lang="en-US" sz="2781" b="1" dirty="0"/>
          </a:p>
        </p:txBody>
      </p:sp>
      <p:sp>
        <p:nvSpPr>
          <p:cNvPr id="3" name="Text 1"/>
          <p:cNvSpPr/>
          <p:nvPr/>
        </p:nvSpPr>
        <p:spPr>
          <a:xfrm>
            <a:off x="496119" y="1057994"/>
            <a:ext cx="3187973" cy="221456"/>
          </a:xfrm>
          <a:prstGeom prst="rect">
            <a:avLst/>
          </a:prstGeom>
          <a:noFill/>
          <a:ln/>
        </p:spPr>
        <p:txBody>
          <a:bodyPr wrap="none" lIns="0" tIns="0" rIns="0" bIns="0" rtlCol="0" anchor="t"/>
          <a:lstStyle/>
          <a:p>
            <a:pPr algn="just">
              <a:lnSpc>
                <a:spcPts val="1719"/>
              </a:lnSpc>
            </a:pPr>
            <a:r>
              <a:rPr lang="en-US" sz="1600" b="1" dirty="0">
                <a:latin typeface="Fira Mono Medium" pitchFamily="34" charset="0"/>
                <a:ea typeface="Fira Mono Medium" pitchFamily="34" charset="-122"/>
                <a:cs typeface="Fira Mono Medium" pitchFamily="34" charset="-120"/>
              </a:rPr>
              <a:t>Eventos Mutuamente Excluyentes</a:t>
            </a:r>
            <a:endParaRPr lang="en-US" sz="1600" b="1" dirty="0"/>
          </a:p>
        </p:txBody>
      </p:sp>
      <p:sp>
        <p:nvSpPr>
          <p:cNvPr id="4" name="Text 2"/>
          <p:cNvSpPr/>
          <p:nvPr/>
        </p:nvSpPr>
        <p:spPr>
          <a:xfrm>
            <a:off x="496119" y="1421210"/>
            <a:ext cx="3902943" cy="226814"/>
          </a:xfrm>
          <a:prstGeom prst="rect">
            <a:avLst/>
          </a:prstGeom>
          <a:noFill/>
          <a:ln/>
        </p:spPr>
        <p:txBody>
          <a:bodyPr wrap="none" lIns="0" tIns="0" rIns="0" bIns="0" rtlCol="0" anchor="t"/>
          <a:lstStyle/>
          <a:p>
            <a:pPr algn="just">
              <a:lnSpc>
                <a:spcPts val="1781"/>
              </a:lnSpc>
            </a:pPr>
            <a:r>
              <a:rPr lang="en-US" sz="1200" b="1" dirty="0">
                <a:latin typeface="Fira Sans" pitchFamily="34" charset="0"/>
                <a:ea typeface="Fira Sans" pitchFamily="34" charset="-122"/>
                <a:cs typeface="Fira Sans" pitchFamily="34" charset="-120"/>
              </a:rPr>
              <a:t>Eventos que no pueden ocurrir al mismo tiempo.</a:t>
            </a:r>
            <a:endParaRPr lang="en-US" sz="1200" b="1" dirty="0"/>
          </a:p>
        </p:txBody>
      </p:sp>
      <p:sp>
        <p:nvSpPr>
          <p:cNvPr id="5" name="Text 3"/>
          <p:cNvSpPr/>
          <p:nvPr/>
        </p:nvSpPr>
        <p:spPr>
          <a:xfrm>
            <a:off x="496119" y="1775569"/>
            <a:ext cx="3902943" cy="226814"/>
          </a:xfrm>
          <a:prstGeom prst="rect">
            <a:avLst/>
          </a:prstGeom>
          <a:noFill/>
          <a:ln/>
        </p:spPr>
        <p:txBody>
          <a:bodyPr wrap="none" lIns="0" tIns="0" rIns="0" bIns="0" rtlCol="0" anchor="t"/>
          <a:lstStyle/>
          <a:p>
            <a:pPr algn="just">
              <a:lnSpc>
                <a:spcPts val="1781"/>
              </a:lnSpc>
            </a:pPr>
            <a:r>
              <a:rPr lang="en-US" sz="1200" b="1" dirty="0">
                <a:latin typeface="Fira Sans" pitchFamily="34" charset="0"/>
                <a:ea typeface="Fira Sans" pitchFamily="34" charset="-122"/>
                <a:cs typeface="Fira Sans" pitchFamily="34" charset="-120"/>
              </a:rPr>
              <a:t>Ejemplo: lanzar una moneda, obtener cara o cruz.</a:t>
            </a:r>
            <a:endParaRPr lang="en-US" sz="1200" b="1" dirty="0"/>
          </a:p>
        </p:txBody>
      </p:sp>
      <p:sp>
        <p:nvSpPr>
          <p:cNvPr id="6" name="Text 4"/>
          <p:cNvSpPr/>
          <p:nvPr/>
        </p:nvSpPr>
        <p:spPr>
          <a:xfrm>
            <a:off x="2924588" y="2760204"/>
            <a:ext cx="2656656" cy="221456"/>
          </a:xfrm>
          <a:prstGeom prst="rect">
            <a:avLst/>
          </a:prstGeom>
          <a:noFill/>
          <a:ln/>
        </p:spPr>
        <p:txBody>
          <a:bodyPr wrap="none" lIns="0" tIns="0" rIns="0" bIns="0" rtlCol="0" anchor="t"/>
          <a:lstStyle/>
          <a:p>
            <a:pPr algn="just">
              <a:lnSpc>
                <a:spcPts val="1719"/>
              </a:lnSpc>
            </a:pPr>
            <a:r>
              <a:rPr lang="en-US" sz="1600" b="1" dirty="0">
                <a:latin typeface="Fira Mono Medium" pitchFamily="34" charset="0"/>
                <a:ea typeface="Fira Mono Medium" pitchFamily="34" charset="-122"/>
                <a:cs typeface="Fira Mono Medium" pitchFamily="34" charset="-120"/>
              </a:rPr>
              <a:t>Probabilidad Condicionada</a:t>
            </a:r>
            <a:endParaRPr lang="en-US" sz="1600" b="1" dirty="0"/>
          </a:p>
        </p:txBody>
      </p:sp>
      <p:sp>
        <p:nvSpPr>
          <p:cNvPr id="7" name="Text 5"/>
          <p:cNvSpPr/>
          <p:nvPr/>
        </p:nvSpPr>
        <p:spPr>
          <a:xfrm>
            <a:off x="2924588" y="3123420"/>
            <a:ext cx="3902943" cy="226814"/>
          </a:xfrm>
          <a:prstGeom prst="rect">
            <a:avLst/>
          </a:prstGeom>
          <a:noFill/>
          <a:ln/>
        </p:spPr>
        <p:txBody>
          <a:bodyPr wrap="none" lIns="0" tIns="0" rIns="0" bIns="0" rtlCol="0" anchor="t"/>
          <a:lstStyle/>
          <a:p>
            <a:pPr algn="just">
              <a:lnSpc>
                <a:spcPts val="1781"/>
              </a:lnSpc>
            </a:pPr>
            <a:r>
              <a:rPr lang="en-US" sz="1200" b="1" dirty="0">
                <a:latin typeface="Fira Sans" pitchFamily="34" charset="0"/>
                <a:ea typeface="Fira Sans" pitchFamily="34" charset="-122"/>
                <a:cs typeface="Fira Sans" pitchFamily="34" charset="-120"/>
              </a:rPr>
              <a:t>La probabilidad de un evento dado que otro ya ha ocurrido.</a:t>
            </a:r>
            <a:endParaRPr lang="en-US" sz="1200" b="1" dirty="0"/>
          </a:p>
        </p:txBody>
      </p:sp>
      <p:sp>
        <p:nvSpPr>
          <p:cNvPr id="8" name="Text 6"/>
          <p:cNvSpPr/>
          <p:nvPr/>
        </p:nvSpPr>
        <p:spPr>
          <a:xfrm>
            <a:off x="2924588" y="3477779"/>
            <a:ext cx="3902943" cy="453628"/>
          </a:xfrm>
          <a:prstGeom prst="rect">
            <a:avLst/>
          </a:prstGeom>
          <a:noFill/>
          <a:ln/>
        </p:spPr>
        <p:txBody>
          <a:bodyPr wrap="square" lIns="0" tIns="0" rIns="0" bIns="0" rtlCol="0" anchor="t"/>
          <a:lstStyle/>
          <a:p>
            <a:pPr algn="just">
              <a:lnSpc>
                <a:spcPts val="1781"/>
              </a:lnSpc>
            </a:pPr>
            <a:r>
              <a:rPr lang="en-US" sz="1200" b="1" dirty="0">
                <a:latin typeface="Fira Sans" pitchFamily="34" charset="0"/>
                <a:ea typeface="Fira Sans" pitchFamily="34" charset="-122"/>
                <a:cs typeface="Fira Sans" pitchFamily="34" charset="-120"/>
              </a:rPr>
              <a:t>Ejemplo: probabilidad de lluvia, dado que el cielo está nublado.</a:t>
            </a:r>
            <a:endParaRPr lang="en-US" sz="1200" b="1" dirty="0"/>
          </a:p>
        </p:txBody>
      </p:sp>
      <p:pic>
        <p:nvPicPr>
          <p:cNvPr id="9" name="Image 0" descr="preencoded.png"/>
          <p:cNvPicPr>
            <a:picLocks noChangeAspect="1"/>
          </p:cNvPicPr>
          <p:nvPr/>
        </p:nvPicPr>
        <p:blipFill>
          <a:blip r:embed="rId3"/>
          <a:stretch>
            <a:fillRect/>
          </a:stretch>
        </p:blipFill>
        <p:spPr>
          <a:xfrm>
            <a:off x="7164288" y="3984316"/>
            <a:ext cx="1913194" cy="2869791"/>
          </a:xfrm>
          <a:prstGeom prst="rect">
            <a:avLst/>
          </a:prstGeom>
        </p:spPr>
      </p:pic>
    </p:spTree>
    <p:extLst>
      <p:ext uri="{BB962C8B-B14F-4D97-AF65-F5344CB8AC3E}">
        <p14:creationId xmlns:p14="http://schemas.microsoft.com/office/powerpoint/2010/main" val="1329251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
            <a:ext cx="2915880" cy="6857999"/>
          </a:xfrm>
          <a:prstGeom prst="rect">
            <a:avLst/>
          </a:prstGeom>
        </p:spPr>
      </p:pic>
      <p:sp>
        <p:nvSpPr>
          <p:cNvPr id="3" name="Text 0"/>
          <p:cNvSpPr/>
          <p:nvPr/>
        </p:nvSpPr>
        <p:spPr>
          <a:xfrm>
            <a:off x="3208412" y="1337389"/>
            <a:ext cx="5715000" cy="885974"/>
          </a:xfrm>
          <a:prstGeom prst="rect">
            <a:avLst/>
          </a:prstGeom>
          <a:noFill/>
          <a:ln/>
        </p:spPr>
        <p:txBody>
          <a:bodyPr wrap="square" lIns="0" tIns="0" rIns="0" bIns="0" rtlCol="0" anchor="t"/>
          <a:lstStyle/>
          <a:p>
            <a:pPr>
              <a:lnSpc>
                <a:spcPts val="3469"/>
              </a:lnSpc>
            </a:pPr>
            <a:r>
              <a:rPr lang="en-US" sz="2400" b="1" dirty="0">
                <a:latin typeface="Fira Mono Medium" pitchFamily="34" charset="0"/>
                <a:ea typeface="Fira Mono Medium" pitchFamily="34" charset="-122"/>
                <a:cs typeface="Fira Mono Medium" pitchFamily="34" charset="-120"/>
              </a:rPr>
              <a:t>La Fórmula de la Probabilidad Total</a:t>
            </a:r>
            <a:endParaRPr lang="en-US" sz="2400" b="1" dirty="0"/>
          </a:p>
        </p:txBody>
      </p:sp>
      <p:sp>
        <p:nvSpPr>
          <p:cNvPr id="4" name="Shape 1"/>
          <p:cNvSpPr/>
          <p:nvPr/>
        </p:nvSpPr>
        <p:spPr>
          <a:xfrm>
            <a:off x="2915880" y="2712273"/>
            <a:ext cx="6216769" cy="439341"/>
          </a:xfrm>
          <a:prstGeom prst="roundRect">
            <a:avLst>
              <a:gd name="adj" fmla="val 4840"/>
            </a:avLst>
          </a:prstGeom>
          <a:solidFill>
            <a:srgbClr val="4D0038"/>
          </a:solidFill>
          <a:ln/>
        </p:spPr>
        <p:txBody>
          <a:bodyPr/>
          <a:lstStyle/>
          <a:p>
            <a:endParaRPr lang="es-SV"/>
          </a:p>
        </p:txBody>
      </p:sp>
      <p:sp>
        <p:nvSpPr>
          <p:cNvPr id="5" name="Shape 2"/>
          <p:cNvSpPr/>
          <p:nvPr/>
        </p:nvSpPr>
        <p:spPr>
          <a:xfrm>
            <a:off x="2915880" y="6381328"/>
            <a:ext cx="6228120" cy="476672"/>
          </a:xfrm>
          <a:prstGeom prst="roundRect">
            <a:avLst>
              <a:gd name="adj" fmla="val 4840"/>
            </a:avLst>
          </a:prstGeom>
          <a:solidFill>
            <a:srgbClr val="4D0038"/>
          </a:solidFill>
          <a:ln/>
        </p:spPr>
        <p:txBody>
          <a:bodyPr/>
          <a:lstStyle/>
          <a:p>
            <a:endParaRPr lang="es-SV"/>
          </a:p>
        </p:txBody>
      </p:sp>
      <p:sp>
        <p:nvSpPr>
          <p:cNvPr id="6" name="Text 3"/>
          <p:cNvSpPr/>
          <p:nvPr/>
        </p:nvSpPr>
        <p:spPr>
          <a:xfrm>
            <a:off x="2976809" y="2818536"/>
            <a:ext cx="6046558" cy="226814"/>
          </a:xfrm>
          <a:prstGeom prst="rect">
            <a:avLst/>
          </a:prstGeom>
          <a:noFill/>
          <a:ln/>
        </p:spPr>
        <p:txBody>
          <a:bodyPr wrap="none" lIns="0" tIns="0" rIns="0" bIns="0" rtlCol="0" anchor="t"/>
          <a:lstStyle/>
          <a:p>
            <a:pPr>
              <a:lnSpc>
                <a:spcPts val="1781"/>
              </a:lnSpc>
            </a:pPr>
            <a:r>
              <a:rPr lang="en-US" sz="1600" dirty="0">
                <a:solidFill>
                  <a:srgbClr val="E0D6DE"/>
                </a:solidFill>
                <a:highlight>
                  <a:srgbClr val="4D0038"/>
                </a:highlight>
                <a:latin typeface="Consolas" pitchFamily="34" charset="0"/>
                <a:ea typeface="Consolas" pitchFamily="34" charset="-122"/>
                <a:cs typeface="Consolas" pitchFamily="34" charset="-120"/>
              </a:rPr>
              <a:t>P(A) = P(A|B1)P(B1) + P(A|B2)P(B2) + ... + P(A|Bn)P(Bn)</a:t>
            </a:r>
            <a:endParaRPr lang="en-US" sz="1600" dirty="0"/>
          </a:p>
        </p:txBody>
      </p:sp>
      <p:pic>
        <p:nvPicPr>
          <p:cNvPr id="7" name="Imagen 6"/>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79912" y="3429000"/>
            <a:ext cx="4392488" cy="2521371"/>
          </a:xfrm>
          <a:prstGeom prst="rect">
            <a:avLst/>
          </a:prstGeom>
          <a:noFill/>
        </p:spPr>
      </p:pic>
    </p:spTree>
    <p:extLst>
      <p:ext uri="{BB962C8B-B14F-4D97-AF65-F5344CB8AC3E}">
        <p14:creationId xmlns:p14="http://schemas.microsoft.com/office/powerpoint/2010/main" val="15573446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92062" y="0"/>
            <a:ext cx="3651937" cy="6858000"/>
          </a:xfrm>
          <a:prstGeom prst="rect">
            <a:avLst/>
          </a:prstGeom>
        </p:spPr>
      </p:pic>
      <p:sp>
        <p:nvSpPr>
          <p:cNvPr id="3" name="Text 0"/>
          <p:cNvSpPr/>
          <p:nvPr/>
        </p:nvSpPr>
        <p:spPr>
          <a:xfrm>
            <a:off x="370515" y="1297409"/>
            <a:ext cx="4722763" cy="885974"/>
          </a:xfrm>
          <a:prstGeom prst="rect">
            <a:avLst/>
          </a:prstGeom>
          <a:noFill/>
          <a:ln/>
        </p:spPr>
        <p:txBody>
          <a:bodyPr wrap="square" lIns="0" tIns="0" rIns="0" bIns="0" rtlCol="0" anchor="t"/>
          <a:lstStyle/>
          <a:p>
            <a:pPr algn="just">
              <a:lnSpc>
                <a:spcPts val="3469"/>
              </a:lnSpc>
            </a:pPr>
            <a:r>
              <a:rPr lang="en-US" sz="3200" dirty="0">
                <a:latin typeface="Fira Mono Medium" pitchFamily="34" charset="0"/>
                <a:ea typeface="Fira Mono Medium" pitchFamily="34" charset="-122"/>
                <a:cs typeface="Fira Mono Medium" pitchFamily="34" charset="-120"/>
              </a:rPr>
              <a:t>Aplicaciones de la Probabilidad Total</a:t>
            </a:r>
            <a:endParaRPr lang="en-US" sz="3200" dirty="0"/>
          </a:p>
        </p:txBody>
      </p:sp>
      <p:pic>
        <p:nvPicPr>
          <p:cNvPr id="4" name="Image 1" descr="preencoded.png"/>
          <p:cNvPicPr>
            <a:picLocks noChangeAspect="1"/>
          </p:cNvPicPr>
          <p:nvPr/>
        </p:nvPicPr>
        <p:blipFill>
          <a:blip r:embed="rId4"/>
          <a:stretch>
            <a:fillRect/>
          </a:stretch>
        </p:blipFill>
        <p:spPr>
          <a:xfrm>
            <a:off x="370514" y="2395984"/>
            <a:ext cx="354360" cy="354360"/>
          </a:xfrm>
          <a:prstGeom prst="rect">
            <a:avLst/>
          </a:prstGeom>
        </p:spPr>
      </p:pic>
      <p:sp>
        <p:nvSpPr>
          <p:cNvPr id="5" name="Text 1"/>
          <p:cNvSpPr/>
          <p:nvPr/>
        </p:nvSpPr>
        <p:spPr>
          <a:xfrm>
            <a:off x="370514" y="2892103"/>
            <a:ext cx="1912814" cy="221456"/>
          </a:xfrm>
          <a:prstGeom prst="rect">
            <a:avLst/>
          </a:prstGeom>
          <a:noFill/>
          <a:ln/>
        </p:spPr>
        <p:txBody>
          <a:bodyPr wrap="none" lIns="0" tIns="0" rIns="0" bIns="0" rtlCol="0" anchor="t"/>
          <a:lstStyle/>
          <a:p>
            <a:pPr algn="just">
              <a:lnSpc>
                <a:spcPts val="1719"/>
              </a:lnSpc>
            </a:pPr>
            <a:r>
              <a:rPr lang="en-US" sz="1600" dirty="0">
                <a:latin typeface="Fira Mono Medium" pitchFamily="34" charset="0"/>
                <a:ea typeface="Fira Mono Medium" pitchFamily="34" charset="-122"/>
                <a:cs typeface="Fira Mono Medium" pitchFamily="34" charset="-120"/>
              </a:rPr>
              <a:t>Diagnóstico médico</a:t>
            </a:r>
            <a:endParaRPr lang="en-US" sz="1600" dirty="0"/>
          </a:p>
        </p:txBody>
      </p:sp>
      <p:sp>
        <p:nvSpPr>
          <p:cNvPr id="6" name="Text 2"/>
          <p:cNvSpPr/>
          <p:nvPr/>
        </p:nvSpPr>
        <p:spPr>
          <a:xfrm>
            <a:off x="370514" y="3198614"/>
            <a:ext cx="2255044" cy="680443"/>
          </a:xfrm>
          <a:prstGeom prst="rect">
            <a:avLst/>
          </a:prstGeom>
          <a:noFill/>
          <a:ln/>
        </p:spPr>
        <p:txBody>
          <a:bodyPr wrap="square" lIns="0" tIns="0" rIns="0" bIns="0" rtlCol="0" anchor="t"/>
          <a:lstStyle/>
          <a:p>
            <a:pPr algn="just">
              <a:lnSpc>
                <a:spcPts val="1781"/>
              </a:lnSpc>
            </a:pPr>
            <a:r>
              <a:rPr lang="en-US" sz="1200" dirty="0">
                <a:latin typeface="Fira Sans" pitchFamily="34" charset="0"/>
                <a:ea typeface="Fira Sans" pitchFamily="34" charset="-122"/>
                <a:cs typeface="Fira Sans" pitchFamily="34" charset="-120"/>
              </a:rPr>
              <a:t>Estimación de la probabilidad de enfermedad, dado los resultados de las pruebas</a:t>
            </a:r>
            <a:endParaRPr lang="en-US" sz="1200" dirty="0"/>
          </a:p>
        </p:txBody>
      </p:sp>
      <p:pic>
        <p:nvPicPr>
          <p:cNvPr id="7" name="Image 2" descr="preencoded.png"/>
          <p:cNvPicPr>
            <a:picLocks noChangeAspect="1"/>
          </p:cNvPicPr>
          <p:nvPr/>
        </p:nvPicPr>
        <p:blipFill>
          <a:blip r:embed="rId5"/>
          <a:stretch>
            <a:fillRect/>
          </a:stretch>
        </p:blipFill>
        <p:spPr>
          <a:xfrm>
            <a:off x="2838159" y="2395984"/>
            <a:ext cx="354360" cy="354360"/>
          </a:xfrm>
          <a:prstGeom prst="rect">
            <a:avLst/>
          </a:prstGeom>
        </p:spPr>
      </p:pic>
      <p:sp>
        <p:nvSpPr>
          <p:cNvPr id="8" name="Text 3"/>
          <p:cNvSpPr/>
          <p:nvPr/>
        </p:nvSpPr>
        <p:spPr>
          <a:xfrm>
            <a:off x="2838159" y="2892103"/>
            <a:ext cx="1772022" cy="221456"/>
          </a:xfrm>
          <a:prstGeom prst="rect">
            <a:avLst/>
          </a:prstGeom>
          <a:noFill/>
          <a:ln/>
        </p:spPr>
        <p:txBody>
          <a:bodyPr wrap="none" lIns="0" tIns="0" rIns="0" bIns="0" rtlCol="0" anchor="t"/>
          <a:lstStyle/>
          <a:p>
            <a:pPr algn="just">
              <a:lnSpc>
                <a:spcPts val="1719"/>
              </a:lnSpc>
            </a:pPr>
            <a:r>
              <a:rPr lang="en-US" sz="1600" dirty="0">
                <a:latin typeface="Fira Mono Medium" pitchFamily="34" charset="0"/>
                <a:ea typeface="Fira Mono Medium" pitchFamily="34" charset="-122"/>
                <a:cs typeface="Fira Mono Medium" pitchFamily="34" charset="-120"/>
              </a:rPr>
              <a:t>Seguros</a:t>
            </a:r>
            <a:endParaRPr lang="en-US" sz="1600" dirty="0"/>
          </a:p>
        </p:txBody>
      </p:sp>
      <p:sp>
        <p:nvSpPr>
          <p:cNvPr id="9" name="Text 4"/>
          <p:cNvSpPr/>
          <p:nvPr/>
        </p:nvSpPr>
        <p:spPr>
          <a:xfrm>
            <a:off x="2838159" y="3198615"/>
            <a:ext cx="2255118" cy="453628"/>
          </a:xfrm>
          <a:prstGeom prst="rect">
            <a:avLst/>
          </a:prstGeom>
          <a:noFill/>
          <a:ln/>
        </p:spPr>
        <p:txBody>
          <a:bodyPr wrap="square" lIns="0" tIns="0" rIns="0" bIns="0" rtlCol="0" anchor="t"/>
          <a:lstStyle/>
          <a:p>
            <a:pPr algn="just">
              <a:lnSpc>
                <a:spcPts val="1781"/>
              </a:lnSpc>
            </a:pPr>
            <a:r>
              <a:rPr lang="en-US" sz="1200" dirty="0">
                <a:latin typeface="Fira Sans" pitchFamily="34" charset="0"/>
                <a:ea typeface="Fira Sans" pitchFamily="34" charset="-122"/>
                <a:cs typeface="Fira Sans" pitchFamily="34" charset="-120"/>
              </a:rPr>
              <a:t>Cálculo de las primas de seguros, considerando el riesgo de eventos</a:t>
            </a:r>
            <a:endParaRPr lang="en-US" sz="1200" dirty="0"/>
          </a:p>
        </p:txBody>
      </p:sp>
      <p:pic>
        <p:nvPicPr>
          <p:cNvPr id="10" name="Image 3" descr="preencoded.png"/>
          <p:cNvPicPr>
            <a:picLocks noChangeAspect="1"/>
          </p:cNvPicPr>
          <p:nvPr/>
        </p:nvPicPr>
        <p:blipFill>
          <a:blip r:embed="rId6"/>
          <a:stretch>
            <a:fillRect/>
          </a:stretch>
        </p:blipFill>
        <p:spPr>
          <a:xfrm>
            <a:off x="370514" y="4304333"/>
            <a:ext cx="354360" cy="354360"/>
          </a:xfrm>
          <a:prstGeom prst="rect">
            <a:avLst/>
          </a:prstGeom>
        </p:spPr>
      </p:pic>
      <p:sp>
        <p:nvSpPr>
          <p:cNvPr id="11" name="Text 5"/>
          <p:cNvSpPr/>
          <p:nvPr/>
        </p:nvSpPr>
        <p:spPr>
          <a:xfrm>
            <a:off x="370514" y="4800451"/>
            <a:ext cx="1912814" cy="221456"/>
          </a:xfrm>
          <a:prstGeom prst="rect">
            <a:avLst/>
          </a:prstGeom>
          <a:noFill/>
          <a:ln/>
        </p:spPr>
        <p:txBody>
          <a:bodyPr wrap="none" lIns="0" tIns="0" rIns="0" bIns="0" rtlCol="0" anchor="t"/>
          <a:lstStyle/>
          <a:p>
            <a:pPr algn="just">
              <a:lnSpc>
                <a:spcPts val="1719"/>
              </a:lnSpc>
            </a:pPr>
            <a:r>
              <a:rPr lang="en-US" sz="1600" dirty="0">
                <a:latin typeface="Fira Mono Medium" pitchFamily="34" charset="0"/>
                <a:ea typeface="Fira Mono Medium" pitchFamily="34" charset="-122"/>
                <a:cs typeface="Fira Mono Medium" pitchFamily="34" charset="-120"/>
              </a:rPr>
              <a:t>Toma de decisiones</a:t>
            </a:r>
            <a:endParaRPr lang="en-US" sz="1600" dirty="0"/>
          </a:p>
        </p:txBody>
      </p:sp>
      <p:sp>
        <p:nvSpPr>
          <p:cNvPr id="12" name="Text 6"/>
          <p:cNvSpPr/>
          <p:nvPr/>
        </p:nvSpPr>
        <p:spPr>
          <a:xfrm>
            <a:off x="370514" y="5106963"/>
            <a:ext cx="2255044" cy="453628"/>
          </a:xfrm>
          <a:prstGeom prst="rect">
            <a:avLst/>
          </a:prstGeom>
          <a:noFill/>
          <a:ln/>
        </p:spPr>
        <p:txBody>
          <a:bodyPr wrap="square" lIns="0" tIns="0" rIns="0" bIns="0" rtlCol="0" anchor="t"/>
          <a:lstStyle/>
          <a:p>
            <a:pPr algn="just">
              <a:lnSpc>
                <a:spcPts val="1781"/>
              </a:lnSpc>
            </a:pPr>
            <a:r>
              <a:rPr lang="en-US" sz="1200" dirty="0">
                <a:latin typeface="Fira Sans" pitchFamily="34" charset="0"/>
                <a:ea typeface="Fira Sans" pitchFamily="34" charset="-122"/>
                <a:cs typeface="Fira Sans" pitchFamily="34" charset="-120"/>
              </a:rPr>
              <a:t>Evaluación de la probabilidad de éxito en diferentes escenarios</a:t>
            </a:r>
            <a:endParaRPr lang="en-US" sz="1200" dirty="0"/>
          </a:p>
        </p:txBody>
      </p:sp>
    </p:spTree>
    <p:extLst>
      <p:ext uri="{BB962C8B-B14F-4D97-AF65-F5344CB8AC3E}">
        <p14:creationId xmlns:p14="http://schemas.microsoft.com/office/powerpoint/2010/main" val="1403388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95536" y="610725"/>
            <a:ext cx="4032448" cy="442987"/>
          </a:xfrm>
          <a:prstGeom prst="rect">
            <a:avLst/>
          </a:prstGeom>
          <a:noFill/>
          <a:ln/>
        </p:spPr>
        <p:txBody>
          <a:bodyPr wrap="none" lIns="0" tIns="0" rIns="0" bIns="0" rtlCol="0" anchor="t"/>
          <a:lstStyle/>
          <a:p>
            <a:pPr>
              <a:lnSpc>
                <a:spcPts val="3469"/>
              </a:lnSpc>
            </a:pPr>
            <a:r>
              <a:rPr lang="en-US" sz="3600" dirty="0">
                <a:solidFill>
                  <a:srgbClr val="030303"/>
                </a:solidFill>
                <a:latin typeface="DM Sans Semi Bold" pitchFamily="34" charset="0"/>
                <a:ea typeface="DM Sans Semi Bold" pitchFamily="34" charset="-122"/>
                <a:cs typeface="DM Sans Semi Bold" pitchFamily="34" charset="-120"/>
              </a:rPr>
              <a:t>El Teorema de Bayes</a:t>
            </a:r>
            <a:endParaRPr lang="en-US" sz="3600" dirty="0"/>
          </a:p>
        </p:txBody>
      </p:sp>
      <p:sp>
        <p:nvSpPr>
          <p:cNvPr id="3" name="Text 1"/>
          <p:cNvSpPr/>
          <p:nvPr/>
        </p:nvSpPr>
        <p:spPr>
          <a:xfrm>
            <a:off x="441472" y="1548710"/>
            <a:ext cx="2114262" cy="221456"/>
          </a:xfrm>
          <a:prstGeom prst="rect">
            <a:avLst/>
          </a:prstGeom>
          <a:noFill/>
          <a:ln/>
        </p:spPr>
        <p:txBody>
          <a:bodyPr wrap="none" lIns="0" tIns="0" rIns="0" bIns="0" rtlCol="0" anchor="t"/>
          <a:lstStyle/>
          <a:p>
            <a:pPr algn="just">
              <a:lnSpc>
                <a:spcPts val="1719"/>
              </a:lnSpc>
            </a:pPr>
            <a:r>
              <a:rPr lang="en-US" sz="2000" dirty="0">
                <a:solidFill>
                  <a:srgbClr val="030303"/>
                </a:solidFill>
                <a:latin typeface="DM Sans Semi Bold" pitchFamily="34" charset="0"/>
                <a:ea typeface="DM Sans Semi Bold" pitchFamily="34" charset="-122"/>
                <a:cs typeface="DM Sans Semi Bold" pitchFamily="34" charset="-120"/>
              </a:rPr>
              <a:t>Fórmula</a:t>
            </a:r>
            <a:endParaRPr lang="en-US" sz="2000" dirty="0"/>
          </a:p>
        </p:txBody>
      </p:sp>
      <p:sp>
        <p:nvSpPr>
          <p:cNvPr id="4" name="Text 2"/>
          <p:cNvSpPr/>
          <p:nvPr/>
        </p:nvSpPr>
        <p:spPr>
          <a:xfrm>
            <a:off x="323528" y="1911925"/>
            <a:ext cx="4656737" cy="226814"/>
          </a:xfrm>
          <a:prstGeom prst="rect">
            <a:avLst/>
          </a:prstGeom>
          <a:noFill/>
          <a:ln/>
        </p:spPr>
        <p:txBody>
          <a:bodyPr wrap="none" lIns="0" tIns="0" rIns="0" bIns="0" rtlCol="0" anchor="t"/>
          <a:lstStyle/>
          <a:p>
            <a:pPr algn="just">
              <a:lnSpc>
                <a:spcPts val="1781"/>
              </a:lnSpc>
            </a:pPr>
            <a:r>
              <a:rPr lang="en-US" sz="1600" dirty="0">
                <a:solidFill>
                  <a:srgbClr val="464646"/>
                </a:solidFill>
                <a:latin typeface="Inter Medium" pitchFamily="34" charset="0"/>
                <a:ea typeface="Inter Medium" pitchFamily="34" charset="-122"/>
                <a:cs typeface="Inter Medium" pitchFamily="34" charset="-120"/>
              </a:rPr>
              <a:t>P(A|B) = [P(B|A) * P(A)] / P(B)</a:t>
            </a:r>
            <a:endParaRPr lang="en-US" sz="1600" dirty="0"/>
          </a:p>
        </p:txBody>
      </p:sp>
      <p:sp>
        <p:nvSpPr>
          <p:cNvPr id="5" name="Text 3"/>
          <p:cNvSpPr/>
          <p:nvPr/>
        </p:nvSpPr>
        <p:spPr>
          <a:xfrm>
            <a:off x="441472" y="2996952"/>
            <a:ext cx="2114262" cy="221456"/>
          </a:xfrm>
          <a:prstGeom prst="rect">
            <a:avLst/>
          </a:prstGeom>
          <a:noFill/>
          <a:ln/>
        </p:spPr>
        <p:txBody>
          <a:bodyPr wrap="none" lIns="0" tIns="0" rIns="0" bIns="0" rtlCol="0" anchor="t"/>
          <a:lstStyle/>
          <a:p>
            <a:pPr algn="just">
              <a:lnSpc>
                <a:spcPts val="1719"/>
              </a:lnSpc>
            </a:pPr>
            <a:r>
              <a:rPr lang="en-US" sz="2000" dirty="0">
                <a:solidFill>
                  <a:srgbClr val="030303"/>
                </a:solidFill>
                <a:latin typeface="DM Sans Semi Bold" pitchFamily="34" charset="0"/>
                <a:ea typeface="DM Sans Semi Bold" pitchFamily="34" charset="-122"/>
                <a:cs typeface="DM Sans Semi Bold" pitchFamily="34" charset="-120"/>
              </a:rPr>
              <a:t>Explicación</a:t>
            </a:r>
            <a:endParaRPr lang="en-US" sz="2000" dirty="0"/>
          </a:p>
        </p:txBody>
      </p:sp>
      <p:sp>
        <p:nvSpPr>
          <p:cNvPr id="6" name="Text 4"/>
          <p:cNvSpPr/>
          <p:nvPr/>
        </p:nvSpPr>
        <p:spPr>
          <a:xfrm>
            <a:off x="323528" y="3360167"/>
            <a:ext cx="4656737" cy="680443"/>
          </a:xfrm>
          <a:prstGeom prst="rect">
            <a:avLst/>
          </a:prstGeom>
          <a:noFill/>
          <a:ln/>
        </p:spPr>
        <p:txBody>
          <a:bodyPr wrap="square" lIns="0" tIns="0" rIns="0" bIns="0" rtlCol="0" anchor="t"/>
          <a:lstStyle/>
          <a:p>
            <a:pPr algn="just">
              <a:lnSpc>
                <a:spcPts val="1781"/>
              </a:lnSpc>
            </a:pPr>
            <a:r>
              <a:rPr lang="en-US" sz="1600" dirty="0">
                <a:solidFill>
                  <a:srgbClr val="464646"/>
                </a:solidFill>
                <a:latin typeface="Inter Medium" pitchFamily="34" charset="0"/>
                <a:ea typeface="Inter Medium" pitchFamily="34" charset="-122"/>
                <a:cs typeface="Inter Medium" pitchFamily="34" charset="-120"/>
              </a:rPr>
              <a:t>La probabilidad de A dado B es igual a la probabilidad de B dado A multiplicada por la probabilidad de A, dividida por la probabilidad de B.</a:t>
            </a:r>
            <a:endParaRPr lang="en-US" sz="1600" dirty="0"/>
          </a:p>
        </p:txBody>
      </p:sp>
      <p:pic>
        <p:nvPicPr>
          <p:cNvPr id="7" name="Image 0" descr="preencoded.png"/>
          <p:cNvPicPr>
            <a:picLocks noChangeAspect="1"/>
          </p:cNvPicPr>
          <p:nvPr/>
        </p:nvPicPr>
        <p:blipFill>
          <a:blip r:embed="rId3"/>
          <a:stretch>
            <a:fillRect/>
          </a:stretch>
        </p:blipFill>
        <p:spPr>
          <a:xfrm>
            <a:off x="5076056" y="0"/>
            <a:ext cx="4067944" cy="6845869"/>
          </a:xfrm>
          <a:prstGeom prst="rect">
            <a:avLst/>
          </a:prstGeom>
        </p:spPr>
      </p:pic>
      <p:sp>
        <p:nvSpPr>
          <p:cNvPr id="8" name="Text 2"/>
          <p:cNvSpPr/>
          <p:nvPr/>
        </p:nvSpPr>
        <p:spPr>
          <a:xfrm>
            <a:off x="323527" y="2341031"/>
            <a:ext cx="4656737" cy="226814"/>
          </a:xfrm>
          <a:prstGeom prst="rect">
            <a:avLst/>
          </a:prstGeom>
          <a:noFill/>
          <a:ln/>
        </p:spPr>
        <p:txBody>
          <a:bodyPr wrap="none" lIns="0" tIns="0" rIns="0" bIns="0" rtlCol="0" anchor="t"/>
          <a:lstStyle/>
          <a:p>
            <a:pPr algn="just">
              <a:lnSpc>
                <a:spcPts val="1781"/>
              </a:lnSpc>
            </a:pPr>
            <a:r>
              <a:rPr lang="en-US" sz="1600" dirty="0">
                <a:solidFill>
                  <a:srgbClr val="464646"/>
                </a:solidFill>
                <a:latin typeface="Inter Medium" pitchFamily="34" charset="0"/>
                <a:ea typeface="Inter Medium" pitchFamily="34" charset="-122"/>
                <a:cs typeface="Inter Medium" pitchFamily="34" charset="-120"/>
              </a:rPr>
              <a:t>P(A|B) = P(A y B) / P(B)</a:t>
            </a:r>
            <a:endParaRPr lang="en-US" sz="1600" dirty="0"/>
          </a:p>
        </p:txBody>
      </p:sp>
    </p:spTree>
    <p:extLst>
      <p:ext uri="{BB962C8B-B14F-4D97-AF65-F5344CB8AC3E}">
        <p14:creationId xmlns:p14="http://schemas.microsoft.com/office/powerpoint/2010/main" val="18136053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334" y="4509121"/>
            <a:ext cx="9144000" cy="2376264"/>
          </a:xfrm>
          <a:prstGeom prst="rect">
            <a:avLst/>
          </a:prstGeom>
        </p:spPr>
      </p:pic>
      <p:sp>
        <p:nvSpPr>
          <p:cNvPr id="3" name="Text 0"/>
          <p:cNvSpPr/>
          <p:nvPr/>
        </p:nvSpPr>
        <p:spPr>
          <a:xfrm>
            <a:off x="323528" y="260648"/>
            <a:ext cx="3351758" cy="418951"/>
          </a:xfrm>
          <a:prstGeom prst="rect">
            <a:avLst/>
          </a:prstGeom>
          <a:noFill/>
          <a:ln/>
        </p:spPr>
        <p:txBody>
          <a:bodyPr wrap="none" lIns="0" tIns="0" rIns="0" bIns="0" rtlCol="0" anchor="t"/>
          <a:lstStyle/>
          <a:p>
            <a:pPr>
              <a:lnSpc>
                <a:spcPts val="3281"/>
              </a:lnSpc>
            </a:pPr>
            <a:r>
              <a:rPr lang="en-US" sz="3600" dirty="0">
                <a:solidFill>
                  <a:srgbClr val="030303"/>
                </a:solidFill>
                <a:latin typeface="DM Sans Semi Bold" pitchFamily="34" charset="0"/>
                <a:ea typeface="DM Sans Semi Bold" pitchFamily="34" charset="-122"/>
                <a:cs typeface="DM Sans Semi Bold" pitchFamily="34" charset="-120"/>
              </a:rPr>
              <a:t>Términos Clave</a:t>
            </a:r>
            <a:endParaRPr lang="en-US" sz="3600" dirty="0"/>
          </a:p>
        </p:txBody>
      </p:sp>
      <p:sp>
        <p:nvSpPr>
          <p:cNvPr id="4" name="Shape 1"/>
          <p:cNvSpPr/>
          <p:nvPr/>
        </p:nvSpPr>
        <p:spPr>
          <a:xfrm>
            <a:off x="323528" y="880666"/>
            <a:ext cx="4035847" cy="772493"/>
          </a:xfrm>
          <a:prstGeom prst="roundRect">
            <a:avLst>
              <a:gd name="adj" fmla="val 2603"/>
            </a:avLst>
          </a:prstGeom>
          <a:solidFill>
            <a:srgbClr val="F2EEEE"/>
          </a:solidFill>
          <a:ln/>
        </p:spPr>
        <p:txBody>
          <a:bodyPr/>
          <a:lstStyle/>
          <a:p>
            <a:endParaRPr lang="es-SV"/>
          </a:p>
        </p:txBody>
      </p:sp>
      <p:sp>
        <p:nvSpPr>
          <p:cNvPr id="5" name="Text 2"/>
          <p:cNvSpPr/>
          <p:nvPr/>
        </p:nvSpPr>
        <p:spPr>
          <a:xfrm>
            <a:off x="457548" y="1014686"/>
            <a:ext cx="1675879" cy="209476"/>
          </a:xfrm>
          <a:prstGeom prst="rect">
            <a:avLst/>
          </a:prstGeom>
          <a:noFill/>
          <a:ln/>
        </p:spPr>
        <p:txBody>
          <a:bodyPr wrap="none" lIns="0" tIns="0" rIns="0" bIns="0" rtlCol="0" anchor="t"/>
          <a:lstStyle/>
          <a:p>
            <a:pPr>
              <a:lnSpc>
                <a:spcPts val="1625"/>
              </a:lnSpc>
            </a:pPr>
            <a:r>
              <a:rPr lang="en-US" dirty="0">
                <a:solidFill>
                  <a:srgbClr val="464646"/>
                </a:solidFill>
                <a:latin typeface="DM Sans Semi Bold" pitchFamily="34" charset="0"/>
                <a:ea typeface="DM Sans Semi Bold" pitchFamily="34" charset="-122"/>
                <a:cs typeface="DM Sans Semi Bold" pitchFamily="34" charset="-120"/>
              </a:rPr>
              <a:t>Probabilidad a Priori</a:t>
            </a:r>
            <a:endParaRPr lang="en-US" dirty="0"/>
          </a:p>
        </p:txBody>
      </p:sp>
      <p:sp>
        <p:nvSpPr>
          <p:cNvPr id="6" name="Text 3"/>
          <p:cNvSpPr/>
          <p:nvPr/>
        </p:nvSpPr>
        <p:spPr>
          <a:xfrm>
            <a:off x="457547" y="1304603"/>
            <a:ext cx="3767808" cy="214536"/>
          </a:xfrm>
          <a:prstGeom prst="rect">
            <a:avLst/>
          </a:prstGeom>
          <a:noFill/>
          <a:ln/>
        </p:spPr>
        <p:txBody>
          <a:bodyPr wrap="none" lIns="0" tIns="0" rIns="0" bIns="0" rtlCol="0" anchor="t"/>
          <a:lstStyle/>
          <a:p>
            <a:pPr>
              <a:lnSpc>
                <a:spcPts val="1688"/>
              </a:lnSpc>
            </a:pPr>
            <a:r>
              <a:rPr lang="en-US" sz="1200" dirty="0">
                <a:solidFill>
                  <a:srgbClr val="464646"/>
                </a:solidFill>
                <a:latin typeface="Inter Medium" pitchFamily="34" charset="0"/>
                <a:ea typeface="Inter Medium" pitchFamily="34" charset="-122"/>
                <a:cs typeface="Inter Medium" pitchFamily="34" charset="-120"/>
              </a:rPr>
              <a:t>P(A): La probabilidad inicial de A, antes de considerar B.</a:t>
            </a:r>
            <a:endParaRPr lang="en-US" sz="1200" dirty="0"/>
          </a:p>
        </p:txBody>
      </p:sp>
      <p:sp>
        <p:nvSpPr>
          <p:cNvPr id="7" name="Shape 4"/>
          <p:cNvSpPr/>
          <p:nvPr/>
        </p:nvSpPr>
        <p:spPr>
          <a:xfrm>
            <a:off x="4493394" y="880666"/>
            <a:ext cx="4035847" cy="772493"/>
          </a:xfrm>
          <a:prstGeom prst="roundRect">
            <a:avLst>
              <a:gd name="adj" fmla="val 2603"/>
            </a:avLst>
          </a:prstGeom>
          <a:solidFill>
            <a:srgbClr val="F2EEEE"/>
          </a:solidFill>
          <a:ln/>
        </p:spPr>
        <p:txBody>
          <a:bodyPr/>
          <a:lstStyle/>
          <a:p>
            <a:endParaRPr lang="es-SV"/>
          </a:p>
        </p:txBody>
      </p:sp>
      <p:sp>
        <p:nvSpPr>
          <p:cNvPr id="8" name="Text 5"/>
          <p:cNvSpPr/>
          <p:nvPr/>
        </p:nvSpPr>
        <p:spPr>
          <a:xfrm>
            <a:off x="4627414" y="1014686"/>
            <a:ext cx="2027039" cy="209476"/>
          </a:xfrm>
          <a:prstGeom prst="rect">
            <a:avLst/>
          </a:prstGeom>
          <a:noFill/>
          <a:ln/>
        </p:spPr>
        <p:txBody>
          <a:bodyPr wrap="none" lIns="0" tIns="0" rIns="0" bIns="0" rtlCol="0" anchor="t"/>
          <a:lstStyle/>
          <a:p>
            <a:pPr>
              <a:lnSpc>
                <a:spcPts val="1625"/>
              </a:lnSpc>
            </a:pPr>
            <a:r>
              <a:rPr lang="en-US" dirty="0">
                <a:solidFill>
                  <a:srgbClr val="464646"/>
                </a:solidFill>
                <a:latin typeface="DM Sans Semi Bold" pitchFamily="34" charset="0"/>
                <a:ea typeface="DM Sans Semi Bold" pitchFamily="34" charset="-122"/>
                <a:cs typeface="DM Sans Semi Bold" pitchFamily="34" charset="-120"/>
              </a:rPr>
              <a:t>Probabilidad Condicional</a:t>
            </a:r>
            <a:endParaRPr lang="en-US" dirty="0"/>
          </a:p>
        </p:txBody>
      </p:sp>
      <p:sp>
        <p:nvSpPr>
          <p:cNvPr id="9" name="Text 6"/>
          <p:cNvSpPr/>
          <p:nvPr/>
        </p:nvSpPr>
        <p:spPr>
          <a:xfrm>
            <a:off x="4627414" y="1304603"/>
            <a:ext cx="3767808" cy="214536"/>
          </a:xfrm>
          <a:prstGeom prst="rect">
            <a:avLst/>
          </a:prstGeom>
          <a:noFill/>
          <a:ln/>
        </p:spPr>
        <p:txBody>
          <a:bodyPr wrap="none" lIns="0" tIns="0" rIns="0" bIns="0" rtlCol="0" anchor="t"/>
          <a:lstStyle/>
          <a:p>
            <a:pPr>
              <a:lnSpc>
                <a:spcPts val="1688"/>
              </a:lnSpc>
            </a:pPr>
            <a:r>
              <a:rPr lang="en-US" sz="1200" dirty="0">
                <a:solidFill>
                  <a:srgbClr val="464646"/>
                </a:solidFill>
                <a:latin typeface="Inter Medium" pitchFamily="34" charset="0"/>
                <a:ea typeface="Inter Medium" pitchFamily="34" charset="-122"/>
                <a:cs typeface="Inter Medium" pitchFamily="34" charset="-120"/>
              </a:rPr>
              <a:t>P(B|A): Probabilidad de B dado A.</a:t>
            </a:r>
            <a:endParaRPr lang="en-US" sz="1200" dirty="0"/>
          </a:p>
        </p:txBody>
      </p:sp>
      <p:sp>
        <p:nvSpPr>
          <p:cNvPr id="10" name="Shape 7"/>
          <p:cNvSpPr/>
          <p:nvPr/>
        </p:nvSpPr>
        <p:spPr>
          <a:xfrm>
            <a:off x="323528" y="1787179"/>
            <a:ext cx="4035847" cy="987028"/>
          </a:xfrm>
          <a:prstGeom prst="roundRect">
            <a:avLst>
              <a:gd name="adj" fmla="val 2037"/>
            </a:avLst>
          </a:prstGeom>
          <a:solidFill>
            <a:srgbClr val="F2EEEE"/>
          </a:solidFill>
          <a:ln/>
        </p:spPr>
        <p:txBody>
          <a:bodyPr/>
          <a:lstStyle/>
          <a:p>
            <a:endParaRPr lang="es-SV"/>
          </a:p>
        </p:txBody>
      </p:sp>
      <p:sp>
        <p:nvSpPr>
          <p:cNvPr id="11" name="Text 8"/>
          <p:cNvSpPr/>
          <p:nvPr/>
        </p:nvSpPr>
        <p:spPr>
          <a:xfrm>
            <a:off x="457548" y="1921198"/>
            <a:ext cx="1974428" cy="209476"/>
          </a:xfrm>
          <a:prstGeom prst="rect">
            <a:avLst/>
          </a:prstGeom>
          <a:noFill/>
          <a:ln/>
        </p:spPr>
        <p:txBody>
          <a:bodyPr wrap="none" lIns="0" tIns="0" rIns="0" bIns="0" rtlCol="0" anchor="t"/>
          <a:lstStyle/>
          <a:p>
            <a:pPr>
              <a:lnSpc>
                <a:spcPts val="1625"/>
              </a:lnSpc>
            </a:pPr>
            <a:r>
              <a:rPr lang="en-US" dirty="0">
                <a:solidFill>
                  <a:srgbClr val="464646"/>
                </a:solidFill>
                <a:latin typeface="DM Sans Semi Bold" pitchFamily="34" charset="0"/>
                <a:ea typeface="DM Sans Semi Bold" pitchFamily="34" charset="-122"/>
                <a:cs typeface="DM Sans Semi Bold" pitchFamily="34" charset="-120"/>
              </a:rPr>
              <a:t>Probabilidad a Posteriori</a:t>
            </a:r>
            <a:endParaRPr lang="en-US" dirty="0"/>
          </a:p>
        </p:txBody>
      </p:sp>
      <p:sp>
        <p:nvSpPr>
          <p:cNvPr id="12" name="Text 9"/>
          <p:cNvSpPr/>
          <p:nvPr/>
        </p:nvSpPr>
        <p:spPr>
          <a:xfrm>
            <a:off x="457547" y="2211115"/>
            <a:ext cx="3767808" cy="429071"/>
          </a:xfrm>
          <a:prstGeom prst="rect">
            <a:avLst/>
          </a:prstGeom>
          <a:noFill/>
          <a:ln/>
        </p:spPr>
        <p:txBody>
          <a:bodyPr wrap="square" lIns="0" tIns="0" rIns="0" bIns="0" rtlCol="0" anchor="t"/>
          <a:lstStyle/>
          <a:p>
            <a:pPr>
              <a:lnSpc>
                <a:spcPts val="1688"/>
              </a:lnSpc>
            </a:pPr>
            <a:r>
              <a:rPr lang="en-US" sz="1200" dirty="0">
                <a:solidFill>
                  <a:srgbClr val="464646"/>
                </a:solidFill>
                <a:latin typeface="Inter Medium" pitchFamily="34" charset="0"/>
                <a:ea typeface="Inter Medium" pitchFamily="34" charset="-122"/>
                <a:cs typeface="Inter Medium" pitchFamily="34" charset="-120"/>
              </a:rPr>
              <a:t>P(A|B): Probabilidad de A dado B, después de considerar B.</a:t>
            </a:r>
            <a:endParaRPr lang="en-US" sz="1200" dirty="0"/>
          </a:p>
        </p:txBody>
      </p:sp>
      <p:sp>
        <p:nvSpPr>
          <p:cNvPr id="13" name="Shape 10"/>
          <p:cNvSpPr/>
          <p:nvPr/>
        </p:nvSpPr>
        <p:spPr>
          <a:xfrm>
            <a:off x="4493394" y="1787179"/>
            <a:ext cx="4035847" cy="987028"/>
          </a:xfrm>
          <a:prstGeom prst="roundRect">
            <a:avLst>
              <a:gd name="adj" fmla="val 2037"/>
            </a:avLst>
          </a:prstGeom>
          <a:solidFill>
            <a:srgbClr val="F2EEEE"/>
          </a:solidFill>
          <a:ln/>
        </p:spPr>
        <p:txBody>
          <a:bodyPr/>
          <a:lstStyle/>
          <a:p>
            <a:endParaRPr lang="es-SV"/>
          </a:p>
        </p:txBody>
      </p:sp>
      <p:sp>
        <p:nvSpPr>
          <p:cNvPr id="14" name="Text 11"/>
          <p:cNvSpPr/>
          <p:nvPr/>
        </p:nvSpPr>
        <p:spPr>
          <a:xfrm>
            <a:off x="4627414" y="1921198"/>
            <a:ext cx="1753195" cy="209476"/>
          </a:xfrm>
          <a:prstGeom prst="rect">
            <a:avLst/>
          </a:prstGeom>
          <a:noFill/>
          <a:ln/>
        </p:spPr>
        <p:txBody>
          <a:bodyPr wrap="none" lIns="0" tIns="0" rIns="0" bIns="0" rtlCol="0" anchor="t"/>
          <a:lstStyle/>
          <a:p>
            <a:pPr>
              <a:lnSpc>
                <a:spcPts val="1625"/>
              </a:lnSpc>
            </a:pPr>
            <a:r>
              <a:rPr lang="en-US" dirty="0">
                <a:solidFill>
                  <a:srgbClr val="464646"/>
                </a:solidFill>
                <a:latin typeface="DM Sans Semi Bold" pitchFamily="34" charset="0"/>
                <a:ea typeface="DM Sans Semi Bold" pitchFamily="34" charset="-122"/>
                <a:cs typeface="DM Sans Semi Bold" pitchFamily="34" charset="-120"/>
              </a:rPr>
              <a:t>Probabilidad Marginal</a:t>
            </a:r>
            <a:endParaRPr lang="en-US" dirty="0"/>
          </a:p>
        </p:txBody>
      </p:sp>
      <p:sp>
        <p:nvSpPr>
          <p:cNvPr id="15" name="Text 12"/>
          <p:cNvSpPr/>
          <p:nvPr/>
        </p:nvSpPr>
        <p:spPr>
          <a:xfrm>
            <a:off x="4627414" y="2211115"/>
            <a:ext cx="3767808" cy="214536"/>
          </a:xfrm>
          <a:prstGeom prst="rect">
            <a:avLst/>
          </a:prstGeom>
          <a:noFill/>
          <a:ln/>
        </p:spPr>
        <p:txBody>
          <a:bodyPr wrap="none" lIns="0" tIns="0" rIns="0" bIns="0" rtlCol="0" anchor="t"/>
          <a:lstStyle/>
          <a:p>
            <a:pPr>
              <a:lnSpc>
                <a:spcPts val="1688"/>
              </a:lnSpc>
            </a:pPr>
            <a:r>
              <a:rPr lang="en-US" sz="1200" dirty="0">
                <a:solidFill>
                  <a:srgbClr val="464646"/>
                </a:solidFill>
                <a:latin typeface="Inter Medium" pitchFamily="34" charset="0"/>
                <a:ea typeface="Inter Medium" pitchFamily="34" charset="-122"/>
                <a:cs typeface="Inter Medium" pitchFamily="34" charset="-120"/>
              </a:rPr>
              <a:t>P(B): Probabilidad de B, independiente de A.</a:t>
            </a:r>
            <a:endParaRPr lang="en-US" sz="1200" dirty="0"/>
          </a:p>
        </p:txBody>
      </p:sp>
    </p:spTree>
    <p:extLst>
      <p:ext uri="{BB962C8B-B14F-4D97-AF65-F5344CB8AC3E}">
        <p14:creationId xmlns:p14="http://schemas.microsoft.com/office/powerpoint/2010/main" val="3752558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27458" y="1714500"/>
            <a:ext cx="3429000" cy="5143500"/>
          </a:xfrm>
          <a:prstGeom prst="rect">
            <a:avLst/>
          </a:prstGeom>
        </p:spPr>
      </p:pic>
      <p:sp>
        <p:nvSpPr>
          <p:cNvPr id="3" name="Text 0"/>
          <p:cNvSpPr/>
          <p:nvPr/>
        </p:nvSpPr>
        <p:spPr>
          <a:xfrm>
            <a:off x="395536" y="332656"/>
            <a:ext cx="4295924" cy="442987"/>
          </a:xfrm>
          <a:prstGeom prst="rect">
            <a:avLst/>
          </a:prstGeom>
          <a:noFill/>
          <a:ln/>
        </p:spPr>
        <p:txBody>
          <a:bodyPr wrap="none" lIns="0" tIns="0" rIns="0" bIns="0" rtlCol="0" anchor="t"/>
          <a:lstStyle/>
          <a:p>
            <a:pPr algn="just">
              <a:lnSpc>
                <a:spcPts val="3469"/>
              </a:lnSpc>
            </a:pPr>
            <a:r>
              <a:rPr lang="en-US" sz="3600" dirty="0">
                <a:solidFill>
                  <a:srgbClr val="030303"/>
                </a:solidFill>
                <a:latin typeface="DM Sans Semi Bold" pitchFamily="34" charset="0"/>
                <a:ea typeface="DM Sans Semi Bold" pitchFamily="34" charset="-122"/>
                <a:cs typeface="DM Sans Semi Bold" pitchFamily="34" charset="-120"/>
              </a:rPr>
              <a:t>Aplicación en Estadística</a:t>
            </a:r>
            <a:endParaRPr lang="en-US" sz="3600" dirty="0"/>
          </a:p>
        </p:txBody>
      </p:sp>
      <p:pic>
        <p:nvPicPr>
          <p:cNvPr id="4" name="Image 1" descr="preencoded.png"/>
          <p:cNvPicPr>
            <a:picLocks noChangeAspect="1"/>
          </p:cNvPicPr>
          <p:nvPr/>
        </p:nvPicPr>
        <p:blipFill>
          <a:blip r:embed="rId4"/>
          <a:stretch>
            <a:fillRect/>
          </a:stretch>
        </p:blipFill>
        <p:spPr>
          <a:xfrm>
            <a:off x="395536" y="988243"/>
            <a:ext cx="354360" cy="354360"/>
          </a:xfrm>
          <a:prstGeom prst="rect">
            <a:avLst/>
          </a:prstGeom>
        </p:spPr>
      </p:pic>
      <p:sp>
        <p:nvSpPr>
          <p:cNvPr id="5" name="Text 1"/>
          <p:cNvSpPr/>
          <p:nvPr/>
        </p:nvSpPr>
        <p:spPr>
          <a:xfrm>
            <a:off x="395536" y="1484362"/>
            <a:ext cx="1772022" cy="221456"/>
          </a:xfrm>
          <a:prstGeom prst="rect">
            <a:avLst/>
          </a:prstGeom>
          <a:noFill/>
          <a:ln/>
        </p:spPr>
        <p:txBody>
          <a:bodyPr wrap="none" lIns="0" tIns="0" rIns="0" bIns="0" rtlCol="0" anchor="t"/>
          <a:lstStyle/>
          <a:p>
            <a:pPr algn="just">
              <a:lnSpc>
                <a:spcPts val="1719"/>
              </a:lnSpc>
            </a:pPr>
            <a:r>
              <a:rPr lang="en-US" dirty="0">
                <a:solidFill>
                  <a:srgbClr val="464646"/>
                </a:solidFill>
                <a:latin typeface="DM Sans Semi Bold" pitchFamily="34" charset="0"/>
                <a:ea typeface="DM Sans Semi Bold" pitchFamily="34" charset="-122"/>
                <a:cs typeface="DM Sans Semi Bold" pitchFamily="34" charset="-120"/>
              </a:rPr>
              <a:t>Análisis de Datos</a:t>
            </a:r>
            <a:endParaRPr lang="en-US" dirty="0"/>
          </a:p>
        </p:txBody>
      </p:sp>
      <p:sp>
        <p:nvSpPr>
          <p:cNvPr id="6" name="Text 2"/>
          <p:cNvSpPr/>
          <p:nvPr/>
        </p:nvSpPr>
        <p:spPr>
          <a:xfrm>
            <a:off x="395536" y="1790874"/>
            <a:ext cx="2255044" cy="453628"/>
          </a:xfrm>
          <a:prstGeom prst="rect">
            <a:avLst/>
          </a:prstGeom>
          <a:noFill/>
          <a:ln/>
        </p:spPr>
        <p:txBody>
          <a:bodyPr wrap="square" lIns="0" tIns="0" rIns="0" bIns="0" rtlCol="0" anchor="t"/>
          <a:lstStyle/>
          <a:p>
            <a:pPr algn="just">
              <a:lnSpc>
                <a:spcPts val="1781"/>
              </a:lnSpc>
            </a:pPr>
            <a:r>
              <a:rPr lang="en-US" sz="1400" dirty="0">
                <a:solidFill>
                  <a:srgbClr val="464646"/>
                </a:solidFill>
                <a:latin typeface="Inter Medium" pitchFamily="34" charset="0"/>
                <a:ea typeface="Inter Medium" pitchFamily="34" charset="-122"/>
                <a:cs typeface="Inter Medium" pitchFamily="34" charset="-120"/>
              </a:rPr>
              <a:t>Ayudar a identificar patrones y tendencias en datos complejos.</a:t>
            </a:r>
            <a:endParaRPr lang="en-US" sz="1400" dirty="0"/>
          </a:p>
        </p:txBody>
      </p:sp>
      <p:pic>
        <p:nvPicPr>
          <p:cNvPr id="7" name="Image 2" descr="preencoded.png"/>
          <p:cNvPicPr>
            <a:picLocks noChangeAspect="1"/>
          </p:cNvPicPr>
          <p:nvPr/>
        </p:nvPicPr>
        <p:blipFill>
          <a:blip r:embed="rId5"/>
          <a:stretch>
            <a:fillRect/>
          </a:stretch>
        </p:blipFill>
        <p:spPr>
          <a:xfrm>
            <a:off x="2863180" y="988243"/>
            <a:ext cx="354360" cy="354360"/>
          </a:xfrm>
          <a:prstGeom prst="rect">
            <a:avLst/>
          </a:prstGeom>
        </p:spPr>
      </p:pic>
      <p:sp>
        <p:nvSpPr>
          <p:cNvPr id="8" name="Text 3"/>
          <p:cNvSpPr/>
          <p:nvPr/>
        </p:nvSpPr>
        <p:spPr>
          <a:xfrm>
            <a:off x="2863180" y="1484362"/>
            <a:ext cx="1772022" cy="221456"/>
          </a:xfrm>
          <a:prstGeom prst="rect">
            <a:avLst/>
          </a:prstGeom>
          <a:noFill/>
          <a:ln/>
        </p:spPr>
        <p:txBody>
          <a:bodyPr wrap="none" lIns="0" tIns="0" rIns="0" bIns="0" rtlCol="0" anchor="t"/>
          <a:lstStyle/>
          <a:p>
            <a:pPr algn="just">
              <a:lnSpc>
                <a:spcPts val="1719"/>
              </a:lnSpc>
            </a:pPr>
            <a:r>
              <a:rPr lang="en-US" dirty="0">
                <a:solidFill>
                  <a:srgbClr val="464646"/>
                </a:solidFill>
                <a:latin typeface="DM Sans Semi Bold" pitchFamily="34" charset="0"/>
                <a:ea typeface="DM Sans Semi Bold" pitchFamily="34" charset="-122"/>
                <a:cs typeface="DM Sans Semi Bold" pitchFamily="34" charset="-120"/>
              </a:rPr>
              <a:t>Modelado Predictivo</a:t>
            </a:r>
            <a:endParaRPr lang="en-US" dirty="0"/>
          </a:p>
        </p:txBody>
      </p:sp>
      <p:sp>
        <p:nvSpPr>
          <p:cNvPr id="9" name="Text 4"/>
          <p:cNvSpPr/>
          <p:nvPr/>
        </p:nvSpPr>
        <p:spPr>
          <a:xfrm>
            <a:off x="2863181" y="1790873"/>
            <a:ext cx="2255118" cy="680443"/>
          </a:xfrm>
          <a:prstGeom prst="rect">
            <a:avLst/>
          </a:prstGeom>
          <a:noFill/>
          <a:ln/>
        </p:spPr>
        <p:txBody>
          <a:bodyPr wrap="square" lIns="0" tIns="0" rIns="0" bIns="0" rtlCol="0" anchor="t"/>
          <a:lstStyle/>
          <a:p>
            <a:pPr algn="just">
              <a:lnSpc>
                <a:spcPts val="1781"/>
              </a:lnSpc>
            </a:pPr>
            <a:r>
              <a:rPr lang="en-US" sz="1400" dirty="0">
                <a:solidFill>
                  <a:srgbClr val="464646"/>
                </a:solidFill>
                <a:latin typeface="Inter Medium" pitchFamily="34" charset="0"/>
                <a:ea typeface="Inter Medium" pitchFamily="34" charset="-122"/>
                <a:cs typeface="Inter Medium" pitchFamily="34" charset="-120"/>
              </a:rPr>
              <a:t>Crear modelos que predicen eventos futuros con mayor precisión.</a:t>
            </a:r>
            <a:endParaRPr lang="en-US" sz="1400" dirty="0"/>
          </a:p>
        </p:txBody>
      </p:sp>
      <p:pic>
        <p:nvPicPr>
          <p:cNvPr id="10" name="Image 3" descr="preencoded.png"/>
          <p:cNvPicPr>
            <a:picLocks noChangeAspect="1"/>
          </p:cNvPicPr>
          <p:nvPr/>
        </p:nvPicPr>
        <p:blipFill>
          <a:blip r:embed="rId6"/>
          <a:stretch>
            <a:fillRect/>
          </a:stretch>
        </p:blipFill>
        <p:spPr>
          <a:xfrm>
            <a:off x="395536" y="2896592"/>
            <a:ext cx="354360" cy="354360"/>
          </a:xfrm>
          <a:prstGeom prst="rect">
            <a:avLst/>
          </a:prstGeom>
        </p:spPr>
      </p:pic>
      <p:sp>
        <p:nvSpPr>
          <p:cNvPr id="11" name="Text 5"/>
          <p:cNvSpPr/>
          <p:nvPr/>
        </p:nvSpPr>
        <p:spPr>
          <a:xfrm>
            <a:off x="395536" y="3392710"/>
            <a:ext cx="2067074" cy="221456"/>
          </a:xfrm>
          <a:prstGeom prst="rect">
            <a:avLst/>
          </a:prstGeom>
          <a:noFill/>
          <a:ln/>
        </p:spPr>
        <p:txBody>
          <a:bodyPr wrap="none" lIns="0" tIns="0" rIns="0" bIns="0" rtlCol="0" anchor="t"/>
          <a:lstStyle/>
          <a:p>
            <a:pPr algn="just">
              <a:lnSpc>
                <a:spcPts val="1719"/>
              </a:lnSpc>
            </a:pPr>
            <a:r>
              <a:rPr lang="en-US" dirty="0">
                <a:solidFill>
                  <a:srgbClr val="464646"/>
                </a:solidFill>
                <a:latin typeface="DM Sans Semi Bold" pitchFamily="34" charset="0"/>
                <a:ea typeface="DM Sans Semi Bold" pitchFamily="34" charset="-122"/>
                <a:cs typeface="DM Sans Semi Bold" pitchFamily="34" charset="-120"/>
              </a:rPr>
              <a:t>Aprendizaje Automático</a:t>
            </a:r>
            <a:endParaRPr lang="en-US" dirty="0"/>
          </a:p>
        </p:txBody>
      </p:sp>
      <p:sp>
        <p:nvSpPr>
          <p:cNvPr id="12" name="Text 6"/>
          <p:cNvSpPr/>
          <p:nvPr/>
        </p:nvSpPr>
        <p:spPr>
          <a:xfrm>
            <a:off x="395536" y="3699222"/>
            <a:ext cx="2255044" cy="907256"/>
          </a:xfrm>
          <a:prstGeom prst="rect">
            <a:avLst/>
          </a:prstGeom>
          <a:noFill/>
          <a:ln/>
        </p:spPr>
        <p:txBody>
          <a:bodyPr wrap="square" lIns="0" tIns="0" rIns="0" bIns="0" rtlCol="0" anchor="t"/>
          <a:lstStyle/>
          <a:p>
            <a:pPr algn="just">
              <a:lnSpc>
                <a:spcPts val="1781"/>
              </a:lnSpc>
            </a:pPr>
            <a:r>
              <a:rPr lang="en-US" sz="1400" dirty="0">
                <a:solidFill>
                  <a:srgbClr val="464646"/>
                </a:solidFill>
                <a:latin typeface="Inter Medium" pitchFamily="34" charset="0"/>
                <a:ea typeface="Inter Medium" pitchFamily="34" charset="-122"/>
                <a:cs typeface="Inter Medium" pitchFamily="34" charset="-120"/>
              </a:rPr>
              <a:t>Permitir que los sistemas de aprendizaje automático aprendan y mejoren a partir de los datos.</a:t>
            </a:r>
            <a:endParaRPr lang="en-US" sz="1400" dirty="0"/>
          </a:p>
        </p:txBody>
      </p:sp>
    </p:spTree>
    <p:extLst>
      <p:ext uri="{BB962C8B-B14F-4D97-AF65-F5344CB8AC3E}">
        <p14:creationId xmlns:p14="http://schemas.microsoft.com/office/powerpoint/2010/main" val="90241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815216" y="0"/>
            <a:ext cx="3337023" cy="6858000"/>
          </a:xfrm>
          <a:prstGeom prst="rect">
            <a:avLst/>
          </a:prstGeom>
        </p:spPr>
      </p:pic>
      <p:sp>
        <p:nvSpPr>
          <p:cNvPr id="3" name="Text 0"/>
          <p:cNvSpPr/>
          <p:nvPr/>
        </p:nvSpPr>
        <p:spPr>
          <a:xfrm>
            <a:off x="737386" y="656212"/>
            <a:ext cx="3447901" cy="381521"/>
          </a:xfrm>
          <a:prstGeom prst="rect">
            <a:avLst/>
          </a:prstGeom>
          <a:noFill/>
          <a:ln/>
        </p:spPr>
        <p:txBody>
          <a:bodyPr wrap="none" lIns="0" tIns="0" rIns="0" bIns="0" rtlCol="0" anchor="t"/>
          <a:lstStyle/>
          <a:p>
            <a:pPr>
              <a:lnSpc>
                <a:spcPts val="3000"/>
              </a:lnSpc>
            </a:pPr>
            <a:r>
              <a:rPr lang="en-US" sz="2375" dirty="0">
                <a:solidFill>
                  <a:srgbClr val="030303"/>
                </a:solidFill>
                <a:latin typeface="DM Sans Semi Bold" pitchFamily="34" charset="0"/>
                <a:ea typeface="DM Sans Semi Bold" pitchFamily="34" charset="-122"/>
                <a:cs typeface="DM Sans Semi Bold" pitchFamily="34" charset="-120"/>
              </a:rPr>
              <a:t>Ejemplo: Filtro de Spam</a:t>
            </a:r>
            <a:endParaRPr lang="en-US" sz="2375" dirty="0"/>
          </a:p>
        </p:txBody>
      </p:sp>
      <p:pic>
        <p:nvPicPr>
          <p:cNvPr id="4" name="Image 1" descr="preencoded.png"/>
          <p:cNvPicPr>
            <a:picLocks noChangeAspect="1"/>
          </p:cNvPicPr>
          <p:nvPr/>
        </p:nvPicPr>
        <p:blipFill>
          <a:blip r:embed="rId4"/>
          <a:stretch>
            <a:fillRect/>
          </a:stretch>
        </p:blipFill>
        <p:spPr>
          <a:xfrm>
            <a:off x="427286" y="1757809"/>
            <a:ext cx="610419" cy="976759"/>
          </a:xfrm>
          <a:prstGeom prst="rect">
            <a:avLst/>
          </a:prstGeom>
        </p:spPr>
      </p:pic>
      <p:sp>
        <p:nvSpPr>
          <p:cNvPr id="5" name="Text 1"/>
          <p:cNvSpPr/>
          <p:nvPr/>
        </p:nvSpPr>
        <p:spPr>
          <a:xfrm>
            <a:off x="1220837" y="1879848"/>
            <a:ext cx="4066878" cy="195337"/>
          </a:xfrm>
          <a:prstGeom prst="rect">
            <a:avLst/>
          </a:prstGeom>
          <a:noFill/>
          <a:ln/>
        </p:spPr>
        <p:txBody>
          <a:bodyPr wrap="none" lIns="0" tIns="0" rIns="0" bIns="0" rtlCol="0" anchor="t"/>
          <a:lstStyle/>
          <a:p>
            <a:pPr>
              <a:lnSpc>
                <a:spcPts val="1531"/>
              </a:lnSpc>
            </a:pPr>
            <a:r>
              <a:rPr lang="en-US" sz="1200" dirty="0">
                <a:solidFill>
                  <a:srgbClr val="464646"/>
                </a:solidFill>
                <a:latin typeface="Inter Medium" pitchFamily="34" charset="0"/>
                <a:ea typeface="Inter Medium" pitchFamily="34" charset="-122"/>
                <a:cs typeface="Inter Medium" pitchFamily="34" charset="-120"/>
              </a:rPr>
              <a:t>Un correo electrónico (B) contiene palabras sospechosas de spam.</a:t>
            </a:r>
            <a:endParaRPr lang="en-US" sz="1200" dirty="0"/>
          </a:p>
        </p:txBody>
      </p:sp>
      <p:pic>
        <p:nvPicPr>
          <p:cNvPr id="6" name="Image 2" descr="preencoded.png"/>
          <p:cNvPicPr>
            <a:picLocks noChangeAspect="1"/>
          </p:cNvPicPr>
          <p:nvPr/>
        </p:nvPicPr>
        <p:blipFill>
          <a:blip r:embed="rId5"/>
          <a:stretch>
            <a:fillRect/>
          </a:stretch>
        </p:blipFill>
        <p:spPr>
          <a:xfrm>
            <a:off x="427286" y="2734568"/>
            <a:ext cx="610419" cy="976759"/>
          </a:xfrm>
          <a:prstGeom prst="rect">
            <a:avLst/>
          </a:prstGeom>
        </p:spPr>
      </p:pic>
      <p:sp>
        <p:nvSpPr>
          <p:cNvPr id="7" name="Text 2"/>
          <p:cNvSpPr/>
          <p:nvPr/>
        </p:nvSpPr>
        <p:spPr>
          <a:xfrm>
            <a:off x="1220837" y="2856607"/>
            <a:ext cx="4066878" cy="195337"/>
          </a:xfrm>
          <a:prstGeom prst="rect">
            <a:avLst/>
          </a:prstGeom>
          <a:noFill/>
          <a:ln/>
        </p:spPr>
        <p:txBody>
          <a:bodyPr wrap="none" lIns="0" tIns="0" rIns="0" bIns="0" rtlCol="0" anchor="t"/>
          <a:lstStyle/>
          <a:p>
            <a:pPr>
              <a:lnSpc>
                <a:spcPts val="1531"/>
              </a:lnSpc>
            </a:pPr>
            <a:r>
              <a:rPr lang="en-US" sz="1200" dirty="0">
                <a:solidFill>
                  <a:srgbClr val="464646"/>
                </a:solidFill>
                <a:latin typeface="Inter Medium" pitchFamily="34" charset="0"/>
                <a:ea typeface="Inter Medium" pitchFamily="34" charset="-122"/>
                <a:cs typeface="Inter Medium" pitchFamily="34" charset="-120"/>
              </a:rPr>
              <a:t>La probabilidad de que sea spam (A) es alta.</a:t>
            </a:r>
            <a:endParaRPr lang="en-US" sz="1200" dirty="0"/>
          </a:p>
        </p:txBody>
      </p:sp>
      <p:pic>
        <p:nvPicPr>
          <p:cNvPr id="8" name="Image 3" descr="preencoded.png"/>
          <p:cNvPicPr>
            <a:picLocks noChangeAspect="1"/>
          </p:cNvPicPr>
          <p:nvPr/>
        </p:nvPicPr>
        <p:blipFill>
          <a:blip r:embed="rId6"/>
          <a:stretch>
            <a:fillRect/>
          </a:stretch>
        </p:blipFill>
        <p:spPr>
          <a:xfrm>
            <a:off x="427286" y="3711327"/>
            <a:ext cx="610419" cy="976759"/>
          </a:xfrm>
          <a:prstGeom prst="rect">
            <a:avLst/>
          </a:prstGeom>
        </p:spPr>
      </p:pic>
      <p:sp>
        <p:nvSpPr>
          <p:cNvPr id="9" name="Text 3"/>
          <p:cNvSpPr/>
          <p:nvPr/>
        </p:nvSpPr>
        <p:spPr>
          <a:xfrm>
            <a:off x="1220837" y="3833366"/>
            <a:ext cx="4066878" cy="390674"/>
          </a:xfrm>
          <a:prstGeom prst="rect">
            <a:avLst/>
          </a:prstGeom>
          <a:noFill/>
          <a:ln/>
        </p:spPr>
        <p:txBody>
          <a:bodyPr wrap="square" lIns="0" tIns="0" rIns="0" bIns="0" rtlCol="0" anchor="t"/>
          <a:lstStyle/>
          <a:p>
            <a:pPr>
              <a:lnSpc>
                <a:spcPts val="1531"/>
              </a:lnSpc>
            </a:pPr>
            <a:r>
              <a:rPr lang="en-US" sz="1200" dirty="0">
                <a:solidFill>
                  <a:srgbClr val="464646"/>
                </a:solidFill>
                <a:latin typeface="Inter Medium" pitchFamily="34" charset="0"/>
                <a:ea typeface="Inter Medium" pitchFamily="34" charset="-122"/>
                <a:cs typeface="Inter Medium" pitchFamily="34" charset="-120"/>
              </a:rPr>
              <a:t>El filtro de spam utiliza Bayes para clasificar el correo electrónico como spam (B dado A).</a:t>
            </a:r>
            <a:endParaRPr lang="en-US" sz="1200" dirty="0"/>
          </a:p>
        </p:txBody>
      </p:sp>
      <p:pic>
        <p:nvPicPr>
          <p:cNvPr id="10" name="Image 4" descr="preencoded.png"/>
          <p:cNvPicPr>
            <a:picLocks noChangeAspect="1"/>
          </p:cNvPicPr>
          <p:nvPr/>
        </p:nvPicPr>
        <p:blipFill>
          <a:blip r:embed="rId7"/>
          <a:stretch>
            <a:fillRect/>
          </a:stretch>
        </p:blipFill>
        <p:spPr>
          <a:xfrm>
            <a:off x="427286" y="4688086"/>
            <a:ext cx="610419" cy="976759"/>
          </a:xfrm>
          <a:prstGeom prst="rect">
            <a:avLst/>
          </a:prstGeom>
        </p:spPr>
      </p:pic>
      <p:sp>
        <p:nvSpPr>
          <p:cNvPr id="11" name="Text 4"/>
          <p:cNvSpPr/>
          <p:nvPr/>
        </p:nvSpPr>
        <p:spPr>
          <a:xfrm>
            <a:off x="1220837" y="4810125"/>
            <a:ext cx="4066878" cy="195337"/>
          </a:xfrm>
          <a:prstGeom prst="rect">
            <a:avLst/>
          </a:prstGeom>
          <a:noFill/>
          <a:ln/>
        </p:spPr>
        <p:txBody>
          <a:bodyPr wrap="none" lIns="0" tIns="0" rIns="0" bIns="0" rtlCol="0" anchor="t"/>
          <a:lstStyle/>
          <a:p>
            <a:pPr>
              <a:lnSpc>
                <a:spcPts val="1531"/>
              </a:lnSpc>
            </a:pPr>
            <a:r>
              <a:rPr lang="en-US" sz="1200" dirty="0">
                <a:solidFill>
                  <a:srgbClr val="464646"/>
                </a:solidFill>
                <a:latin typeface="Inter Medium" pitchFamily="34" charset="0"/>
                <a:ea typeface="Inter Medium" pitchFamily="34" charset="-122"/>
                <a:cs typeface="Inter Medium" pitchFamily="34" charset="-120"/>
              </a:rPr>
              <a:t>El correo electrónico es enviado a la carpeta de spam (A dado B).</a:t>
            </a:r>
            <a:endParaRPr lang="en-US" sz="1200" dirty="0"/>
          </a:p>
        </p:txBody>
      </p:sp>
    </p:spTree>
    <p:extLst>
      <p:ext uri="{BB962C8B-B14F-4D97-AF65-F5344CB8AC3E}">
        <p14:creationId xmlns:p14="http://schemas.microsoft.com/office/powerpoint/2010/main" val="838587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620688"/>
            <a:ext cx="6855842" cy="442987"/>
          </a:xfrm>
          <a:prstGeom prst="rect">
            <a:avLst/>
          </a:prstGeom>
          <a:noFill/>
          <a:ln/>
        </p:spPr>
        <p:txBody>
          <a:bodyPr wrap="none" lIns="0" tIns="0" rIns="0" bIns="0" rtlCol="0" anchor="t"/>
          <a:lstStyle/>
          <a:p>
            <a:pPr>
              <a:lnSpc>
                <a:spcPts val="3469"/>
              </a:lnSpc>
            </a:pPr>
            <a:r>
              <a:rPr lang="en-US" sz="2781" dirty="0">
                <a:solidFill>
                  <a:srgbClr val="030303"/>
                </a:solidFill>
                <a:latin typeface="DM Sans Semi Bold" pitchFamily="34" charset="0"/>
                <a:ea typeface="DM Sans Semi Bold" pitchFamily="34" charset="-122"/>
                <a:cs typeface="DM Sans Semi Bold" pitchFamily="34" charset="-120"/>
              </a:rPr>
              <a:t>Importancia de la Probabilidad de Bayes</a:t>
            </a:r>
            <a:endParaRPr lang="en-US" sz="2781" dirty="0"/>
          </a:p>
        </p:txBody>
      </p:sp>
      <p:sp>
        <p:nvSpPr>
          <p:cNvPr id="5" name="Text 2"/>
          <p:cNvSpPr/>
          <p:nvPr/>
        </p:nvSpPr>
        <p:spPr>
          <a:xfrm>
            <a:off x="2341092" y="1628800"/>
            <a:ext cx="2318370" cy="221456"/>
          </a:xfrm>
          <a:prstGeom prst="rect">
            <a:avLst/>
          </a:prstGeom>
          <a:noFill/>
          <a:ln/>
        </p:spPr>
        <p:txBody>
          <a:bodyPr wrap="none" lIns="0" tIns="0" rIns="0" bIns="0" rtlCol="0" anchor="t"/>
          <a:lstStyle/>
          <a:p>
            <a:pPr>
              <a:lnSpc>
                <a:spcPts val="1719"/>
              </a:lnSpc>
            </a:pPr>
            <a:r>
              <a:rPr lang="en-US" sz="2000" dirty="0">
                <a:solidFill>
                  <a:srgbClr val="464646"/>
                </a:solidFill>
                <a:latin typeface="DM Sans Semi Bold" pitchFamily="34" charset="0"/>
                <a:ea typeface="DM Sans Semi Bold" pitchFamily="34" charset="-122"/>
                <a:cs typeface="DM Sans Semi Bold" pitchFamily="34" charset="-120"/>
              </a:rPr>
              <a:t>Actualización de Creencias</a:t>
            </a:r>
            <a:endParaRPr lang="en-US" sz="2000" dirty="0"/>
          </a:p>
        </p:txBody>
      </p:sp>
      <p:sp>
        <p:nvSpPr>
          <p:cNvPr id="6" name="Shape 3"/>
          <p:cNvSpPr/>
          <p:nvPr/>
        </p:nvSpPr>
        <p:spPr>
          <a:xfrm>
            <a:off x="2234754" y="2000200"/>
            <a:ext cx="5370538" cy="9525"/>
          </a:xfrm>
          <a:prstGeom prst="roundRect">
            <a:avLst>
              <a:gd name="adj" fmla="val 223256"/>
            </a:avLst>
          </a:prstGeom>
          <a:solidFill>
            <a:srgbClr val="D8D4D4"/>
          </a:solidFill>
          <a:ln/>
        </p:spPr>
        <p:txBody>
          <a:bodyPr/>
          <a:lstStyle/>
          <a:p>
            <a:endParaRPr lang="es-SV"/>
          </a:p>
        </p:txBody>
      </p:sp>
      <p:sp>
        <p:nvSpPr>
          <p:cNvPr id="9" name="Text 5"/>
          <p:cNvSpPr/>
          <p:nvPr/>
        </p:nvSpPr>
        <p:spPr>
          <a:xfrm>
            <a:off x="3013646" y="2169195"/>
            <a:ext cx="1698799" cy="221456"/>
          </a:xfrm>
          <a:prstGeom prst="rect">
            <a:avLst/>
          </a:prstGeom>
          <a:noFill/>
          <a:ln/>
        </p:spPr>
        <p:txBody>
          <a:bodyPr wrap="none" lIns="0" tIns="0" rIns="0" bIns="0" rtlCol="0" anchor="t"/>
          <a:lstStyle/>
          <a:p>
            <a:pPr>
              <a:lnSpc>
                <a:spcPts val="1719"/>
              </a:lnSpc>
            </a:pPr>
            <a:r>
              <a:rPr lang="en-US" sz="2000" dirty="0">
                <a:solidFill>
                  <a:srgbClr val="464646"/>
                </a:solidFill>
                <a:latin typeface="DM Sans Semi Bold" pitchFamily="34" charset="0"/>
                <a:ea typeface="DM Sans Semi Bold" pitchFamily="34" charset="-122"/>
                <a:cs typeface="DM Sans Semi Bold" pitchFamily="34" charset="-120"/>
              </a:rPr>
              <a:t>Toma de Decisiones</a:t>
            </a:r>
            <a:endParaRPr lang="en-US" sz="2000" dirty="0"/>
          </a:p>
        </p:txBody>
      </p:sp>
      <p:sp>
        <p:nvSpPr>
          <p:cNvPr id="10" name="Shape 6"/>
          <p:cNvSpPr/>
          <p:nvPr/>
        </p:nvSpPr>
        <p:spPr>
          <a:xfrm>
            <a:off x="2907309" y="2540595"/>
            <a:ext cx="4697983" cy="9525"/>
          </a:xfrm>
          <a:prstGeom prst="roundRect">
            <a:avLst>
              <a:gd name="adj" fmla="val 223256"/>
            </a:avLst>
          </a:prstGeom>
          <a:solidFill>
            <a:srgbClr val="D8D4D4"/>
          </a:solidFill>
          <a:ln/>
        </p:spPr>
        <p:txBody>
          <a:bodyPr/>
          <a:lstStyle/>
          <a:p>
            <a:endParaRPr lang="es-SV"/>
          </a:p>
        </p:txBody>
      </p:sp>
      <p:sp>
        <p:nvSpPr>
          <p:cNvPr id="13" name="Text 8"/>
          <p:cNvSpPr/>
          <p:nvPr/>
        </p:nvSpPr>
        <p:spPr>
          <a:xfrm>
            <a:off x="3686126" y="2709590"/>
            <a:ext cx="1566714" cy="221456"/>
          </a:xfrm>
          <a:prstGeom prst="rect">
            <a:avLst/>
          </a:prstGeom>
          <a:noFill/>
          <a:ln/>
        </p:spPr>
        <p:txBody>
          <a:bodyPr wrap="none" lIns="0" tIns="0" rIns="0" bIns="0" rtlCol="0" anchor="t"/>
          <a:lstStyle/>
          <a:p>
            <a:pPr>
              <a:lnSpc>
                <a:spcPts val="1719"/>
              </a:lnSpc>
            </a:pPr>
            <a:r>
              <a:rPr lang="en-US" sz="2000" dirty="0">
                <a:solidFill>
                  <a:srgbClr val="464646"/>
                </a:solidFill>
                <a:latin typeface="DM Sans Semi Bold" pitchFamily="34" charset="0"/>
                <a:ea typeface="DM Sans Semi Bold" pitchFamily="34" charset="-122"/>
                <a:cs typeface="DM Sans Semi Bold" pitchFamily="34" charset="-120"/>
              </a:rPr>
              <a:t>Análisis Predictivo</a:t>
            </a:r>
            <a:endParaRPr lang="en-US" sz="2000" dirty="0"/>
          </a:p>
        </p:txBody>
      </p:sp>
      <p:sp>
        <p:nvSpPr>
          <p:cNvPr id="14" name="Text 9"/>
          <p:cNvSpPr/>
          <p:nvPr/>
        </p:nvSpPr>
        <p:spPr>
          <a:xfrm>
            <a:off x="393601" y="3645024"/>
            <a:ext cx="8151763" cy="453628"/>
          </a:xfrm>
          <a:prstGeom prst="rect">
            <a:avLst/>
          </a:prstGeom>
          <a:noFill/>
          <a:ln/>
        </p:spPr>
        <p:txBody>
          <a:bodyPr wrap="square" lIns="0" tIns="0" rIns="0" bIns="0" rtlCol="0" anchor="t"/>
          <a:lstStyle/>
          <a:p>
            <a:pPr algn="just">
              <a:lnSpc>
                <a:spcPts val="1781"/>
              </a:lnSpc>
            </a:pPr>
            <a:r>
              <a:rPr lang="en-US" sz="2000" dirty="0">
                <a:solidFill>
                  <a:srgbClr val="464646"/>
                </a:solidFill>
                <a:latin typeface="Inter Medium" pitchFamily="34" charset="0"/>
                <a:ea typeface="Inter Medium" pitchFamily="34" charset="-122"/>
                <a:cs typeface="Inter Medium" pitchFamily="34" charset="-120"/>
              </a:rPr>
              <a:t>La Teoría de la Probabilidad de Bayes nos permite actualizar nuestras creencias en base a nuevas evidencias, lo que lleva a mejores decisiones y análisis predictivos.</a:t>
            </a:r>
            <a:endParaRPr lang="en-US" sz="2000" dirty="0"/>
          </a:p>
        </p:txBody>
      </p:sp>
      <p:pic>
        <p:nvPicPr>
          <p:cNvPr id="15" name="Image 0" descr="preencoded.png"/>
          <p:cNvPicPr>
            <a:picLocks noChangeAspect="1"/>
          </p:cNvPicPr>
          <p:nvPr/>
        </p:nvPicPr>
        <p:blipFill>
          <a:blip r:embed="rId3"/>
          <a:stretch>
            <a:fillRect/>
          </a:stretch>
        </p:blipFill>
        <p:spPr>
          <a:xfrm>
            <a:off x="7524328" y="4437112"/>
            <a:ext cx="1611330" cy="2416995"/>
          </a:xfrm>
          <a:prstGeom prst="rect">
            <a:avLst/>
          </a:prstGeom>
        </p:spPr>
      </p:pic>
    </p:spTree>
    <p:extLst>
      <p:ext uri="{BB962C8B-B14F-4D97-AF65-F5344CB8AC3E}">
        <p14:creationId xmlns:p14="http://schemas.microsoft.com/office/powerpoint/2010/main" val="2835180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01154" y="982272"/>
            <a:ext cx="2541314" cy="4560970"/>
          </a:xfrm>
        </p:spPr>
        <p:txBody>
          <a:bodyPr>
            <a:normAutofit/>
          </a:bodyPr>
          <a:lstStyle/>
          <a:p>
            <a:r>
              <a:rPr lang="es-SV" sz="3000" dirty="0"/>
              <a:t>Problema: </a:t>
            </a:r>
          </a:p>
        </p:txBody>
      </p:sp>
      <p:sp>
        <p:nvSpPr>
          <p:cNvPr id="3" name="Marcador de contenido 2"/>
          <p:cNvSpPr>
            <a:spLocks noGrp="1"/>
          </p:cNvSpPr>
          <p:nvPr>
            <p:ph idx="1"/>
          </p:nvPr>
        </p:nvSpPr>
        <p:spPr>
          <a:xfrm>
            <a:off x="3265842" y="908720"/>
            <a:ext cx="5122582" cy="5040560"/>
          </a:xfrm>
        </p:spPr>
        <p:txBody>
          <a:bodyPr anchor="ctr">
            <a:normAutofit/>
          </a:bodyPr>
          <a:lstStyle/>
          <a:p>
            <a:pPr marL="0" indent="0" algn="just">
              <a:buNone/>
            </a:pPr>
            <a:r>
              <a:rPr lang="es-SV" sz="2000" dirty="0"/>
              <a:t>El ministerio de hacienda, preocupado por las declaraciones de impuestos fraudulentas, cree que la probabilidad de hallar una declaración de impuestos fraudulenta, dado que la declaración contiene deducciones que exceden el estándar, es 0.20. Dado que las deducciones no exceden el estándar, la probabilidad de una declaración fraudulenta disminuye a 0.02. Si 8% de las declaraciones exceden el estándar de deducciones, </a:t>
            </a:r>
          </a:p>
          <a:p>
            <a:pPr marL="514350" indent="-514350" algn="just">
              <a:buFont typeface="+mj-lt"/>
              <a:buAutoNum type="arabicPeriod"/>
            </a:pPr>
            <a:r>
              <a:rPr lang="es-SV" sz="2000" dirty="0"/>
              <a:t>¿Cuál es la mejor estimación del porcentaje de declaraciones fraudulentas? </a:t>
            </a:r>
            <a:r>
              <a:rPr lang="es-SV" sz="2000" dirty="0">
                <a:solidFill>
                  <a:srgbClr val="FF0000"/>
                </a:solidFill>
              </a:rPr>
              <a:t>R/ </a:t>
            </a:r>
            <a:r>
              <a:rPr lang="en-US" sz="2000" dirty="0">
                <a:solidFill>
                  <a:srgbClr val="FF0000"/>
                </a:solidFill>
              </a:rPr>
              <a:t>3.44%</a:t>
            </a:r>
            <a:endParaRPr lang="es-SV" sz="2000" dirty="0">
              <a:solidFill>
                <a:srgbClr val="FF0000"/>
              </a:solidFill>
            </a:endParaRPr>
          </a:p>
          <a:p>
            <a:pPr marL="514350" indent="-514350" algn="just">
              <a:buFont typeface="+mj-lt"/>
              <a:buAutoNum type="arabicPeriod"/>
            </a:pPr>
            <a:r>
              <a:rPr lang="es-SV" sz="2000" dirty="0"/>
              <a:t>Al seleccionar una declaración vemos que es fraudulenta, ¿Cuál es la probabilidad que en dicha declaración se ha excedido el estándar? </a:t>
            </a:r>
            <a:r>
              <a:rPr lang="es-SV" sz="2000" dirty="0">
                <a:solidFill>
                  <a:srgbClr val="FF0000"/>
                </a:solidFill>
              </a:rPr>
              <a:t>R/0.47</a:t>
            </a:r>
          </a:p>
          <a:p>
            <a:pPr marL="0" indent="0">
              <a:buNone/>
            </a:pPr>
            <a:endParaRPr lang="es-SV" sz="1600" dirty="0"/>
          </a:p>
        </p:txBody>
      </p:sp>
      <mc:AlternateContent xmlns:mc="http://schemas.openxmlformats.org/markup-compatibility/2006" xmlns:p14="http://schemas.microsoft.com/office/powerpoint/2010/main">
        <mc:Choice Requires="p14">
          <p:contentPart p14:bwMode="auto" r:id="rId2">
            <p14:nvContentPartPr>
              <p14:cNvPr id="4" name="Entrada de lápiz 3">
                <a:extLst>
                  <a:ext uri="{FF2B5EF4-FFF2-40B4-BE49-F238E27FC236}">
                    <a16:creationId xmlns:a16="http://schemas.microsoft.com/office/drawing/2014/main" id="{E2E45EB8-7087-4264-9D50-996C09173B1E}"/>
                  </a:ext>
                </a:extLst>
              </p14:cNvPr>
              <p14:cNvContentPartPr/>
              <p14:nvPr/>
            </p14:nvContentPartPr>
            <p14:xfrm>
              <a:off x="2135160" y="4973040"/>
              <a:ext cx="1800" cy="13680"/>
            </p14:xfrm>
          </p:contentPart>
        </mc:Choice>
        <mc:Fallback xmlns="">
          <p:pic>
            <p:nvPicPr>
              <p:cNvPr id="4" name="Entrada de lápiz 3">
                <a:extLst>
                  <a:ext uri="{FF2B5EF4-FFF2-40B4-BE49-F238E27FC236}">
                    <a16:creationId xmlns:a16="http://schemas.microsoft.com/office/drawing/2014/main" id="{E2E45EB8-7087-4264-9D50-996C09173B1E}"/>
                  </a:ext>
                </a:extLst>
              </p:cNvPr>
              <p:cNvPicPr/>
              <p:nvPr/>
            </p:nvPicPr>
            <p:blipFill>
              <a:blip r:embed="rId3"/>
              <a:stretch>
                <a:fillRect/>
              </a:stretch>
            </p:blipFill>
            <p:spPr>
              <a:xfrm>
                <a:off x="2130120" y="4966560"/>
                <a:ext cx="13320" cy="24120"/>
              </a:xfrm>
              <a:prstGeom prst="rect">
                <a:avLst/>
              </a:prstGeom>
            </p:spPr>
          </p:pic>
        </mc:Fallback>
      </mc:AlternateContent>
    </p:spTree>
    <p:extLst>
      <p:ext uri="{BB962C8B-B14F-4D97-AF65-F5344CB8AC3E}">
        <p14:creationId xmlns:p14="http://schemas.microsoft.com/office/powerpoint/2010/main" val="2096735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SV" dirty="0"/>
              <a:t>Problema:</a:t>
            </a:r>
          </a:p>
        </p:txBody>
      </p:sp>
      <p:sp>
        <p:nvSpPr>
          <p:cNvPr id="3" name="Marcador de contenido 2"/>
          <p:cNvSpPr>
            <a:spLocks noGrp="1"/>
          </p:cNvSpPr>
          <p:nvPr>
            <p:ph idx="1"/>
          </p:nvPr>
        </p:nvSpPr>
        <p:spPr/>
        <p:txBody>
          <a:bodyPr>
            <a:normAutofit/>
          </a:bodyPr>
          <a:lstStyle/>
          <a:p>
            <a:pPr marL="0" lvl="0" indent="0" algn="just">
              <a:buNone/>
            </a:pPr>
            <a:r>
              <a:rPr lang="es-ES" dirty="0"/>
              <a:t>Se analiza a los dos vendedores que tiene a su cargo un supervisor de una aseguradora: César y Diana; César vende 75% de las pólizas y Diana 25%. César tiene quejas en 15% de las pólizas que vende, y Diana en 20%. Si se elige un cliente al azar:</a:t>
            </a:r>
            <a:endParaRPr lang="es-SV" dirty="0"/>
          </a:p>
          <a:p>
            <a:pPr marL="0" lvl="0" indent="0" algn="just">
              <a:buNone/>
            </a:pPr>
            <a:r>
              <a:rPr lang="es-ES" dirty="0"/>
              <a:t>¿Cuál es la probabilidad de que un cliente presente una queja? </a:t>
            </a:r>
            <a:endParaRPr lang="es-SV" dirty="0"/>
          </a:p>
          <a:p>
            <a:pPr algn="just"/>
            <a:endParaRPr lang="es-SV" dirty="0"/>
          </a:p>
          <a:p>
            <a:pPr marL="0" lvl="0" indent="0" algn="just">
              <a:buNone/>
            </a:pPr>
            <a:r>
              <a:rPr lang="es-ES" dirty="0"/>
              <a:t>Si un cliente presenta una queja, ¿Cuál es la probabilidad que César vendiera la póliza? </a:t>
            </a:r>
            <a:endParaRPr lang="es-SV" dirty="0"/>
          </a:p>
          <a:p>
            <a:pPr marL="0" indent="0" algn="just">
              <a:buNone/>
            </a:pPr>
            <a:endParaRPr lang="es-SV" dirty="0"/>
          </a:p>
          <a:p>
            <a:pPr marL="0" indent="0" algn="just">
              <a:buNone/>
            </a:pPr>
            <a:endParaRPr lang="es-SV" dirty="0"/>
          </a:p>
        </p:txBody>
      </p:sp>
    </p:spTree>
    <p:extLst>
      <p:ext uri="{BB962C8B-B14F-4D97-AF65-F5344CB8AC3E}">
        <p14:creationId xmlns:p14="http://schemas.microsoft.com/office/powerpoint/2010/main" val="10427956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SV" dirty="0"/>
              <a:t>Problema:</a:t>
            </a:r>
          </a:p>
        </p:txBody>
      </p:sp>
      <p:sp>
        <p:nvSpPr>
          <p:cNvPr id="3" name="Marcador de contenido 2"/>
          <p:cNvSpPr>
            <a:spLocks noGrp="1"/>
          </p:cNvSpPr>
          <p:nvPr>
            <p:ph idx="1"/>
          </p:nvPr>
        </p:nvSpPr>
        <p:spPr/>
        <p:txBody>
          <a:bodyPr>
            <a:normAutofit fontScale="85000" lnSpcReduction="20000"/>
          </a:bodyPr>
          <a:lstStyle/>
          <a:p>
            <a:pPr marL="0" indent="0" algn="just">
              <a:buNone/>
            </a:pPr>
            <a:r>
              <a:rPr lang="es-SV" dirty="0"/>
              <a:t>Un almacén importante considera cambiar su política de otorgamiento de crédito para reducir el número de clientes (deudores) que finalmente no pagan sus cuentas. El gerente de crédito sugiere que, a futuro, el crédito se le cancele a cualquier cliente que se demore una semana o más en sus pagos en dos ocasiones distintas. La sugerencia del gerente de crédito se base en el hecho de que, en el pasado, 90% de los clientes que finalmente no pagaron sus cuentas se demoraron en sus pagos por lo menos dos ocasiones. Suponga que de una investigación independiente se encuentra que el 2% de todos los deudores finalmente no pagan sus cuentas y que de aquellas que, si las pagan, 45% se demoró en por lo menos dos ocasiones. Encuentre la probabilidad de que un cliente que ya se demoró por lo menos en dos ocasiones finalmente no pague su cuenta y con la información obtenida analice la política que sugirió el gerente de ventas. </a:t>
            </a:r>
            <a:r>
              <a:rPr lang="es-SV" dirty="0">
                <a:solidFill>
                  <a:srgbClr val="FF0000"/>
                </a:solidFill>
              </a:rPr>
              <a:t>R/ </a:t>
            </a:r>
            <a:r>
              <a:rPr lang="en-US" dirty="0">
                <a:solidFill>
                  <a:srgbClr val="FF0000"/>
                </a:solidFill>
              </a:rPr>
              <a:t>0.0392</a:t>
            </a:r>
            <a:endParaRPr lang="es-SV" dirty="0">
              <a:solidFill>
                <a:srgbClr val="FF0000"/>
              </a:solidFill>
            </a:endParaRPr>
          </a:p>
          <a:p>
            <a:pPr marL="0" indent="0" algn="just">
              <a:buNone/>
            </a:pPr>
            <a:endParaRPr lang="es-SV" dirty="0"/>
          </a:p>
        </p:txBody>
      </p:sp>
    </p:spTree>
    <p:extLst>
      <p:ext uri="{BB962C8B-B14F-4D97-AF65-F5344CB8AC3E}">
        <p14:creationId xmlns:p14="http://schemas.microsoft.com/office/powerpoint/2010/main" val="536766668"/>
      </p:ext>
    </p:extLst>
  </p:cSld>
  <p:clrMapOvr>
    <a:masterClrMapping/>
  </p:clrMapOvr>
</p:sld>
</file>

<file path=ppt/theme/theme1.xml><?xml version="1.0" encoding="utf-8"?>
<a:theme xmlns:a="http://schemas.openxmlformats.org/drawingml/2006/main" name="Office Them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5182</TotalTime>
  <Words>867</Words>
  <Application>Microsoft Office PowerPoint</Application>
  <PresentationFormat>Presentación en pantalla (4:3)</PresentationFormat>
  <Paragraphs>70</Paragraphs>
  <Slides>12</Slides>
  <Notes>9</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12</vt:i4>
      </vt:variant>
    </vt:vector>
  </HeadingPairs>
  <TitlesOfParts>
    <vt:vector size="21" baseType="lpstr">
      <vt:lpstr>Arial</vt:lpstr>
      <vt:lpstr>Calibri</vt:lpstr>
      <vt:lpstr>Calibri Light</vt:lpstr>
      <vt:lpstr>Consolas</vt:lpstr>
      <vt:lpstr>DM Sans Semi Bold</vt:lpstr>
      <vt:lpstr>Fira Mono Medium</vt:lpstr>
      <vt:lpstr>Fira Sans</vt:lpstr>
      <vt:lpstr>Inter Medium</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Problema: </vt:lpstr>
      <vt:lpstr>Problema:</vt:lpstr>
      <vt:lpstr>Problema: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Universidad centroamericana José Simeón Cañas</dc:title>
  <dc:creator>UCA</dc:creator>
  <cp:lastModifiedBy>Daisy Michelle Molina</cp:lastModifiedBy>
  <cp:revision>182</cp:revision>
  <dcterms:created xsi:type="dcterms:W3CDTF">2015-01-09T20:37:27Z</dcterms:created>
  <dcterms:modified xsi:type="dcterms:W3CDTF">2026-05-06T20:24:20Z</dcterms:modified>
</cp:coreProperties>
</file>