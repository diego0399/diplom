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ink/ink2.xml" ContentType="application/inkml+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1"/>
  </p:sldMasterIdLst>
  <p:notesMasterIdLst>
    <p:notesMasterId r:id="rId26"/>
  </p:notesMasterIdLst>
  <p:sldIdLst>
    <p:sldId id="256" r:id="rId2"/>
    <p:sldId id="278" r:id="rId3"/>
    <p:sldId id="383" r:id="rId4"/>
    <p:sldId id="401" r:id="rId5"/>
    <p:sldId id="404" r:id="rId6"/>
    <p:sldId id="420" r:id="rId7"/>
    <p:sldId id="417" r:id="rId8"/>
    <p:sldId id="418" r:id="rId9"/>
    <p:sldId id="421" r:id="rId10"/>
    <p:sldId id="405" r:id="rId11"/>
    <p:sldId id="406" r:id="rId12"/>
    <p:sldId id="407" r:id="rId13"/>
    <p:sldId id="408" r:id="rId14"/>
    <p:sldId id="409" r:id="rId15"/>
    <p:sldId id="416" r:id="rId16"/>
    <p:sldId id="411" r:id="rId17"/>
    <p:sldId id="377" r:id="rId18"/>
    <p:sldId id="419" r:id="rId19"/>
    <p:sldId id="412" r:id="rId20"/>
    <p:sldId id="413" r:id="rId21"/>
    <p:sldId id="414" r:id="rId22"/>
    <p:sldId id="415" r:id="rId23"/>
    <p:sldId id="422" r:id="rId24"/>
    <p:sldId id="423" r:id="rId25"/>
  </p:sldIdLst>
  <p:sldSz cx="9144000" cy="6858000" type="screen4x3"/>
  <p:notesSz cx="6858000" cy="9144000"/>
  <p:defaultTextStyle>
    <a:defPPr>
      <a:defRPr lang="es-S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E4F3E0-D329-4AAC-9242-5CB18F6C3226}" v="262" dt="2021-04-21T01:16:30.90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1C64B3-8BF7-4918-B181-3E3A31135DCF}"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473267A9-92EF-4D96-B700-AE9D7A4D7A65}">
      <dgm:prSet/>
      <dgm:spPr/>
      <dgm:t>
        <a:bodyPr/>
        <a:lstStyle/>
        <a:p>
          <a:r>
            <a:rPr lang="es-SV"/>
            <a:t>DISTRIBUCIONES DE PROBABILIDAD CONTINUA</a:t>
          </a:r>
          <a:endParaRPr lang="en-US"/>
        </a:p>
      </dgm:t>
    </dgm:pt>
    <dgm:pt modelId="{4CD577E1-E155-4882-B189-E30F384FE1E7}" type="parTrans" cxnId="{35771360-9C7F-4357-A919-516D3F610886}">
      <dgm:prSet/>
      <dgm:spPr/>
      <dgm:t>
        <a:bodyPr/>
        <a:lstStyle/>
        <a:p>
          <a:endParaRPr lang="en-US"/>
        </a:p>
      </dgm:t>
    </dgm:pt>
    <dgm:pt modelId="{94AE4D06-8967-4432-BCC7-E72D6AED49D6}" type="sibTrans" cxnId="{35771360-9C7F-4357-A919-516D3F610886}">
      <dgm:prSet/>
      <dgm:spPr/>
      <dgm:t>
        <a:bodyPr/>
        <a:lstStyle/>
        <a:p>
          <a:endParaRPr lang="en-US"/>
        </a:p>
      </dgm:t>
    </dgm:pt>
    <dgm:pt modelId="{799D3C5D-FE2D-4DEA-9248-B03BC1273F1F}">
      <dgm:prSet/>
      <dgm:spPr/>
      <dgm:t>
        <a:bodyPr/>
        <a:lstStyle/>
        <a:p>
          <a:r>
            <a:rPr lang="es-MX"/>
            <a:t>Variables aleatorias continuas.</a:t>
          </a:r>
          <a:endParaRPr lang="en-US"/>
        </a:p>
      </dgm:t>
    </dgm:pt>
    <dgm:pt modelId="{DB3BFFE6-12DF-4CA3-9114-F82BA0F00468}" type="parTrans" cxnId="{B5B374B9-8ABB-4FAE-89C8-5A46BDC37684}">
      <dgm:prSet/>
      <dgm:spPr/>
      <dgm:t>
        <a:bodyPr/>
        <a:lstStyle/>
        <a:p>
          <a:endParaRPr lang="en-US"/>
        </a:p>
      </dgm:t>
    </dgm:pt>
    <dgm:pt modelId="{AC62CE9D-A613-4C8E-9F39-45157A094613}" type="sibTrans" cxnId="{B5B374B9-8ABB-4FAE-89C8-5A46BDC37684}">
      <dgm:prSet/>
      <dgm:spPr/>
      <dgm:t>
        <a:bodyPr/>
        <a:lstStyle/>
        <a:p>
          <a:endParaRPr lang="en-US"/>
        </a:p>
      </dgm:t>
    </dgm:pt>
    <dgm:pt modelId="{E3ACD9F1-4770-4B4B-B74F-13AD5158DC7A}">
      <dgm:prSet/>
      <dgm:spPr/>
      <dgm:t>
        <a:bodyPr/>
        <a:lstStyle/>
        <a:p>
          <a:r>
            <a:rPr lang="es-MX"/>
            <a:t>Distribución exponencial.</a:t>
          </a:r>
          <a:endParaRPr lang="en-US"/>
        </a:p>
      </dgm:t>
    </dgm:pt>
    <dgm:pt modelId="{6A111B8D-E4BD-4781-A8B0-E3275BDE0E97}" type="parTrans" cxnId="{61A317F8-E91A-4088-AEE0-D9E07FFF0515}">
      <dgm:prSet/>
      <dgm:spPr/>
      <dgm:t>
        <a:bodyPr/>
        <a:lstStyle/>
        <a:p>
          <a:endParaRPr lang="en-US"/>
        </a:p>
      </dgm:t>
    </dgm:pt>
    <dgm:pt modelId="{408B5025-02C1-4406-B4B9-3E44F4A7057D}" type="sibTrans" cxnId="{61A317F8-E91A-4088-AEE0-D9E07FFF0515}">
      <dgm:prSet/>
      <dgm:spPr/>
      <dgm:t>
        <a:bodyPr/>
        <a:lstStyle/>
        <a:p>
          <a:endParaRPr lang="en-US"/>
        </a:p>
      </dgm:t>
    </dgm:pt>
    <dgm:pt modelId="{B0CF6047-C873-4ED9-BB67-18D3F822B099}">
      <dgm:prSet/>
      <dgm:spPr/>
      <dgm:t>
        <a:bodyPr/>
        <a:lstStyle/>
        <a:p>
          <a:r>
            <a:rPr lang="es-MX"/>
            <a:t>Distribución Normal.</a:t>
          </a:r>
          <a:endParaRPr lang="en-US"/>
        </a:p>
      </dgm:t>
    </dgm:pt>
    <dgm:pt modelId="{44E94FFB-BE21-4B21-8EFF-E99FDD12D835}" type="parTrans" cxnId="{54DE03F2-990B-47E3-A28F-F2218E5BA546}">
      <dgm:prSet/>
      <dgm:spPr/>
      <dgm:t>
        <a:bodyPr/>
        <a:lstStyle/>
        <a:p>
          <a:endParaRPr lang="en-US"/>
        </a:p>
      </dgm:t>
    </dgm:pt>
    <dgm:pt modelId="{31FB396F-B207-4FEF-8478-764E1997F78C}" type="sibTrans" cxnId="{54DE03F2-990B-47E3-A28F-F2218E5BA546}">
      <dgm:prSet/>
      <dgm:spPr/>
      <dgm:t>
        <a:bodyPr/>
        <a:lstStyle/>
        <a:p>
          <a:endParaRPr lang="en-US"/>
        </a:p>
      </dgm:t>
    </dgm:pt>
    <dgm:pt modelId="{3F1C90D8-D5DE-45C0-B528-6BA7DF1F311C}">
      <dgm:prSet/>
      <dgm:spPr/>
      <dgm:t>
        <a:bodyPr/>
        <a:lstStyle/>
        <a:p>
          <a:r>
            <a:rPr lang="es-MX"/>
            <a:t>Áreas bajo la curva Normal.</a:t>
          </a:r>
          <a:endParaRPr lang="en-US"/>
        </a:p>
      </dgm:t>
    </dgm:pt>
    <dgm:pt modelId="{5AA2FC0D-3CB6-4A08-A72D-5D63C2D65A57}" type="parTrans" cxnId="{B89BDBFF-D81C-4F0A-AEBF-03AEA107288F}">
      <dgm:prSet/>
      <dgm:spPr/>
      <dgm:t>
        <a:bodyPr/>
        <a:lstStyle/>
        <a:p>
          <a:endParaRPr lang="en-US"/>
        </a:p>
      </dgm:t>
    </dgm:pt>
    <dgm:pt modelId="{67AD6FE1-B95A-4698-95B9-4D48BA10F5C8}" type="sibTrans" cxnId="{B89BDBFF-D81C-4F0A-AEBF-03AEA107288F}">
      <dgm:prSet/>
      <dgm:spPr/>
      <dgm:t>
        <a:bodyPr/>
        <a:lstStyle/>
        <a:p>
          <a:endParaRPr lang="en-US"/>
        </a:p>
      </dgm:t>
    </dgm:pt>
    <dgm:pt modelId="{C097DD41-3D64-45A7-A509-5F8782B3E4FE}">
      <dgm:prSet/>
      <dgm:spPr/>
      <dgm:t>
        <a:bodyPr/>
        <a:lstStyle/>
        <a:p>
          <a:r>
            <a:rPr lang="es-MX"/>
            <a:t>Problemas de aplicación.</a:t>
          </a:r>
          <a:endParaRPr lang="en-US"/>
        </a:p>
      </dgm:t>
    </dgm:pt>
    <dgm:pt modelId="{0F0FDAD0-15C2-4F14-A404-05EED7F559C2}" type="parTrans" cxnId="{5B59C80A-30A3-4B94-A046-07B8C9F12D45}">
      <dgm:prSet/>
      <dgm:spPr/>
      <dgm:t>
        <a:bodyPr/>
        <a:lstStyle/>
        <a:p>
          <a:endParaRPr lang="en-US"/>
        </a:p>
      </dgm:t>
    </dgm:pt>
    <dgm:pt modelId="{4A7FC69B-1B48-4D76-88E9-C14361C6C098}" type="sibTrans" cxnId="{5B59C80A-30A3-4B94-A046-07B8C9F12D45}">
      <dgm:prSet/>
      <dgm:spPr/>
      <dgm:t>
        <a:bodyPr/>
        <a:lstStyle/>
        <a:p>
          <a:endParaRPr lang="en-US"/>
        </a:p>
      </dgm:t>
    </dgm:pt>
    <dgm:pt modelId="{8C46CF00-5A11-4666-A37E-8F187BA43F36}" type="pres">
      <dgm:prSet presAssocID="{981C64B3-8BF7-4918-B181-3E3A31135DCF}" presName="vert0" presStyleCnt="0">
        <dgm:presLayoutVars>
          <dgm:dir/>
          <dgm:animOne val="branch"/>
          <dgm:animLvl val="lvl"/>
        </dgm:presLayoutVars>
      </dgm:prSet>
      <dgm:spPr/>
    </dgm:pt>
    <dgm:pt modelId="{8067DEEE-49D8-41AD-8F8C-6BA45890EA80}" type="pres">
      <dgm:prSet presAssocID="{473267A9-92EF-4D96-B700-AE9D7A4D7A65}" presName="thickLine" presStyleLbl="alignNode1" presStyleIdx="0" presStyleCnt="6"/>
      <dgm:spPr/>
    </dgm:pt>
    <dgm:pt modelId="{69E28A6C-3375-4679-850B-3CBC458F431C}" type="pres">
      <dgm:prSet presAssocID="{473267A9-92EF-4D96-B700-AE9D7A4D7A65}" presName="horz1" presStyleCnt="0"/>
      <dgm:spPr/>
    </dgm:pt>
    <dgm:pt modelId="{EB6A31CF-49F3-4FEA-AC10-53D3B82EB661}" type="pres">
      <dgm:prSet presAssocID="{473267A9-92EF-4D96-B700-AE9D7A4D7A65}" presName="tx1" presStyleLbl="revTx" presStyleIdx="0" presStyleCnt="6"/>
      <dgm:spPr/>
    </dgm:pt>
    <dgm:pt modelId="{F2A4E49F-DC01-4AD4-8BA3-FF202D648F42}" type="pres">
      <dgm:prSet presAssocID="{473267A9-92EF-4D96-B700-AE9D7A4D7A65}" presName="vert1" presStyleCnt="0"/>
      <dgm:spPr/>
    </dgm:pt>
    <dgm:pt modelId="{96C6F149-2171-479B-BF87-EDA840DF16B5}" type="pres">
      <dgm:prSet presAssocID="{799D3C5D-FE2D-4DEA-9248-B03BC1273F1F}" presName="thickLine" presStyleLbl="alignNode1" presStyleIdx="1" presStyleCnt="6"/>
      <dgm:spPr/>
    </dgm:pt>
    <dgm:pt modelId="{2CD77B64-59F4-492E-8AB8-B9705E950AE4}" type="pres">
      <dgm:prSet presAssocID="{799D3C5D-FE2D-4DEA-9248-B03BC1273F1F}" presName="horz1" presStyleCnt="0"/>
      <dgm:spPr/>
    </dgm:pt>
    <dgm:pt modelId="{E873ED38-7F98-469A-8171-EEEF54FAF297}" type="pres">
      <dgm:prSet presAssocID="{799D3C5D-FE2D-4DEA-9248-B03BC1273F1F}" presName="tx1" presStyleLbl="revTx" presStyleIdx="1" presStyleCnt="6"/>
      <dgm:spPr/>
    </dgm:pt>
    <dgm:pt modelId="{B760EA1F-A1C9-425F-95BF-33113ED69846}" type="pres">
      <dgm:prSet presAssocID="{799D3C5D-FE2D-4DEA-9248-B03BC1273F1F}" presName="vert1" presStyleCnt="0"/>
      <dgm:spPr/>
    </dgm:pt>
    <dgm:pt modelId="{3ABF440F-29C1-4A9F-BEBA-F71058AA55A1}" type="pres">
      <dgm:prSet presAssocID="{E3ACD9F1-4770-4B4B-B74F-13AD5158DC7A}" presName="thickLine" presStyleLbl="alignNode1" presStyleIdx="2" presStyleCnt="6"/>
      <dgm:spPr/>
    </dgm:pt>
    <dgm:pt modelId="{1E18A162-2C0A-47B9-AD2F-81170BFDFCDD}" type="pres">
      <dgm:prSet presAssocID="{E3ACD9F1-4770-4B4B-B74F-13AD5158DC7A}" presName="horz1" presStyleCnt="0"/>
      <dgm:spPr/>
    </dgm:pt>
    <dgm:pt modelId="{A99A2610-A72E-40F8-9A5F-8929FF0E7B2C}" type="pres">
      <dgm:prSet presAssocID="{E3ACD9F1-4770-4B4B-B74F-13AD5158DC7A}" presName="tx1" presStyleLbl="revTx" presStyleIdx="2" presStyleCnt="6"/>
      <dgm:spPr/>
    </dgm:pt>
    <dgm:pt modelId="{700E22BF-BDEC-47FE-84BE-08F73765F9C4}" type="pres">
      <dgm:prSet presAssocID="{E3ACD9F1-4770-4B4B-B74F-13AD5158DC7A}" presName="vert1" presStyleCnt="0"/>
      <dgm:spPr/>
    </dgm:pt>
    <dgm:pt modelId="{F632C8A3-9844-42AC-B193-BFB9E2655F0A}" type="pres">
      <dgm:prSet presAssocID="{B0CF6047-C873-4ED9-BB67-18D3F822B099}" presName="thickLine" presStyleLbl="alignNode1" presStyleIdx="3" presStyleCnt="6"/>
      <dgm:spPr/>
    </dgm:pt>
    <dgm:pt modelId="{1D5123BF-24A6-4C9E-8A85-271FB74829AE}" type="pres">
      <dgm:prSet presAssocID="{B0CF6047-C873-4ED9-BB67-18D3F822B099}" presName="horz1" presStyleCnt="0"/>
      <dgm:spPr/>
    </dgm:pt>
    <dgm:pt modelId="{E4D84F7E-5858-4C33-9010-D50A52C0F198}" type="pres">
      <dgm:prSet presAssocID="{B0CF6047-C873-4ED9-BB67-18D3F822B099}" presName="tx1" presStyleLbl="revTx" presStyleIdx="3" presStyleCnt="6"/>
      <dgm:spPr/>
    </dgm:pt>
    <dgm:pt modelId="{DFEEAF8A-12B8-4158-88C6-DE267461C886}" type="pres">
      <dgm:prSet presAssocID="{B0CF6047-C873-4ED9-BB67-18D3F822B099}" presName="vert1" presStyleCnt="0"/>
      <dgm:spPr/>
    </dgm:pt>
    <dgm:pt modelId="{9C458089-ECA4-433C-9D50-2E096F10E830}" type="pres">
      <dgm:prSet presAssocID="{3F1C90D8-D5DE-45C0-B528-6BA7DF1F311C}" presName="thickLine" presStyleLbl="alignNode1" presStyleIdx="4" presStyleCnt="6"/>
      <dgm:spPr/>
    </dgm:pt>
    <dgm:pt modelId="{B117350F-881F-4995-869B-492E78ECD314}" type="pres">
      <dgm:prSet presAssocID="{3F1C90D8-D5DE-45C0-B528-6BA7DF1F311C}" presName="horz1" presStyleCnt="0"/>
      <dgm:spPr/>
    </dgm:pt>
    <dgm:pt modelId="{FE3A4831-2980-43DA-BC7D-91346BBC5228}" type="pres">
      <dgm:prSet presAssocID="{3F1C90D8-D5DE-45C0-B528-6BA7DF1F311C}" presName="tx1" presStyleLbl="revTx" presStyleIdx="4" presStyleCnt="6"/>
      <dgm:spPr/>
    </dgm:pt>
    <dgm:pt modelId="{F525FAEB-6EB6-4969-B9D3-DD8709BB1A85}" type="pres">
      <dgm:prSet presAssocID="{3F1C90D8-D5DE-45C0-B528-6BA7DF1F311C}" presName="vert1" presStyleCnt="0"/>
      <dgm:spPr/>
    </dgm:pt>
    <dgm:pt modelId="{267F0D69-0020-491E-9C2B-22ACF7244A70}" type="pres">
      <dgm:prSet presAssocID="{C097DD41-3D64-45A7-A509-5F8782B3E4FE}" presName="thickLine" presStyleLbl="alignNode1" presStyleIdx="5" presStyleCnt="6"/>
      <dgm:spPr/>
    </dgm:pt>
    <dgm:pt modelId="{393223AD-6FB3-4879-BCFA-2BC5C420AC6C}" type="pres">
      <dgm:prSet presAssocID="{C097DD41-3D64-45A7-A509-5F8782B3E4FE}" presName="horz1" presStyleCnt="0"/>
      <dgm:spPr/>
    </dgm:pt>
    <dgm:pt modelId="{FDA9AAD1-105C-4DB2-9DA7-337570F892B6}" type="pres">
      <dgm:prSet presAssocID="{C097DD41-3D64-45A7-A509-5F8782B3E4FE}" presName="tx1" presStyleLbl="revTx" presStyleIdx="5" presStyleCnt="6"/>
      <dgm:spPr/>
    </dgm:pt>
    <dgm:pt modelId="{3AF0AEE3-3518-49F9-A4A2-119A6850D060}" type="pres">
      <dgm:prSet presAssocID="{C097DD41-3D64-45A7-A509-5F8782B3E4FE}" presName="vert1" presStyleCnt="0"/>
      <dgm:spPr/>
    </dgm:pt>
  </dgm:ptLst>
  <dgm:cxnLst>
    <dgm:cxn modelId="{5B59C80A-30A3-4B94-A046-07B8C9F12D45}" srcId="{981C64B3-8BF7-4918-B181-3E3A31135DCF}" destId="{C097DD41-3D64-45A7-A509-5F8782B3E4FE}" srcOrd="5" destOrd="0" parTransId="{0F0FDAD0-15C2-4F14-A404-05EED7F559C2}" sibTransId="{4A7FC69B-1B48-4D76-88E9-C14361C6C098}"/>
    <dgm:cxn modelId="{EBE5851E-66A0-4D57-8C95-82DFF2F821E2}" type="presOf" srcId="{981C64B3-8BF7-4918-B181-3E3A31135DCF}" destId="{8C46CF00-5A11-4666-A37E-8F187BA43F36}" srcOrd="0" destOrd="0" presId="urn:microsoft.com/office/officeart/2008/layout/LinedList"/>
    <dgm:cxn modelId="{5458AF25-26D2-4BA2-90E1-0A5C4CFA866F}" type="presOf" srcId="{C097DD41-3D64-45A7-A509-5F8782B3E4FE}" destId="{FDA9AAD1-105C-4DB2-9DA7-337570F892B6}" srcOrd="0" destOrd="0" presId="urn:microsoft.com/office/officeart/2008/layout/LinedList"/>
    <dgm:cxn modelId="{26613E33-F73A-4409-B7E3-D09AEAB7A4AD}" type="presOf" srcId="{473267A9-92EF-4D96-B700-AE9D7A4D7A65}" destId="{EB6A31CF-49F3-4FEA-AC10-53D3B82EB661}" srcOrd="0" destOrd="0" presId="urn:microsoft.com/office/officeart/2008/layout/LinedList"/>
    <dgm:cxn modelId="{35771360-9C7F-4357-A919-516D3F610886}" srcId="{981C64B3-8BF7-4918-B181-3E3A31135DCF}" destId="{473267A9-92EF-4D96-B700-AE9D7A4D7A65}" srcOrd="0" destOrd="0" parTransId="{4CD577E1-E155-4882-B189-E30F384FE1E7}" sibTransId="{94AE4D06-8967-4432-BCC7-E72D6AED49D6}"/>
    <dgm:cxn modelId="{F795C995-11CA-4B38-8C40-86C210DBAEE8}" type="presOf" srcId="{3F1C90D8-D5DE-45C0-B528-6BA7DF1F311C}" destId="{FE3A4831-2980-43DA-BC7D-91346BBC5228}" srcOrd="0" destOrd="0" presId="urn:microsoft.com/office/officeart/2008/layout/LinedList"/>
    <dgm:cxn modelId="{DF939D9C-23F7-468F-A4F9-E99A711FEA85}" type="presOf" srcId="{B0CF6047-C873-4ED9-BB67-18D3F822B099}" destId="{E4D84F7E-5858-4C33-9010-D50A52C0F198}" srcOrd="0" destOrd="0" presId="urn:microsoft.com/office/officeart/2008/layout/LinedList"/>
    <dgm:cxn modelId="{B5B374B9-8ABB-4FAE-89C8-5A46BDC37684}" srcId="{981C64B3-8BF7-4918-B181-3E3A31135DCF}" destId="{799D3C5D-FE2D-4DEA-9248-B03BC1273F1F}" srcOrd="1" destOrd="0" parTransId="{DB3BFFE6-12DF-4CA3-9114-F82BA0F00468}" sibTransId="{AC62CE9D-A613-4C8E-9F39-45157A094613}"/>
    <dgm:cxn modelId="{82CA7CBB-F405-40F9-8A72-F768BD1498D3}" type="presOf" srcId="{E3ACD9F1-4770-4B4B-B74F-13AD5158DC7A}" destId="{A99A2610-A72E-40F8-9A5F-8929FF0E7B2C}" srcOrd="0" destOrd="0" presId="urn:microsoft.com/office/officeart/2008/layout/LinedList"/>
    <dgm:cxn modelId="{AB709CBB-5A0F-47CC-BAB0-766EBEC7F5D1}" type="presOf" srcId="{799D3C5D-FE2D-4DEA-9248-B03BC1273F1F}" destId="{E873ED38-7F98-469A-8171-EEEF54FAF297}" srcOrd="0" destOrd="0" presId="urn:microsoft.com/office/officeart/2008/layout/LinedList"/>
    <dgm:cxn modelId="{54DE03F2-990B-47E3-A28F-F2218E5BA546}" srcId="{981C64B3-8BF7-4918-B181-3E3A31135DCF}" destId="{B0CF6047-C873-4ED9-BB67-18D3F822B099}" srcOrd="3" destOrd="0" parTransId="{44E94FFB-BE21-4B21-8EFF-E99FDD12D835}" sibTransId="{31FB396F-B207-4FEF-8478-764E1997F78C}"/>
    <dgm:cxn modelId="{61A317F8-E91A-4088-AEE0-D9E07FFF0515}" srcId="{981C64B3-8BF7-4918-B181-3E3A31135DCF}" destId="{E3ACD9F1-4770-4B4B-B74F-13AD5158DC7A}" srcOrd="2" destOrd="0" parTransId="{6A111B8D-E4BD-4781-A8B0-E3275BDE0E97}" sibTransId="{408B5025-02C1-4406-B4B9-3E44F4A7057D}"/>
    <dgm:cxn modelId="{B89BDBFF-D81C-4F0A-AEBF-03AEA107288F}" srcId="{981C64B3-8BF7-4918-B181-3E3A31135DCF}" destId="{3F1C90D8-D5DE-45C0-B528-6BA7DF1F311C}" srcOrd="4" destOrd="0" parTransId="{5AA2FC0D-3CB6-4A08-A72D-5D63C2D65A57}" sibTransId="{67AD6FE1-B95A-4698-95B9-4D48BA10F5C8}"/>
    <dgm:cxn modelId="{8BD03236-A411-460E-AC37-F5C5EBC4ED8E}" type="presParOf" srcId="{8C46CF00-5A11-4666-A37E-8F187BA43F36}" destId="{8067DEEE-49D8-41AD-8F8C-6BA45890EA80}" srcOrd="0" destOrd="0" presId="urn:microsoft.com/office/officeart/2008/layout/LinedList"/>
    <dgm:cxn modelId="{DF8ACCFC-5332-4839-BACE-D9C6E18581F2}" type="presParOf" srcId="{8C46CF00-5A11-4666-A37E-8F187BA43F36}" destId="{69E28A6C-3375-4679-850B-3CBC458F431C}" srcOrd="1" destOrd="0" presId="urn:microsoft.com/office/officeart/2008/layout/LinedList"/>
    <dgm:cxn modelId="{3E677AA0-37B0-4985-9A16-AEAD397C055F}" type="presParOf" srcId="{69E28A6C-3375-4679-850B-3CBC458F431C}" destId="{EB6A31CF-49F3-4FEA-AC10-53D3B82EB661}" srcOrd="0" destOrd="0" presId="urn:microsoft.com/office/officeart/2008/layout/LinedList"/>
    <dgm:cxn modelId="{948A351C-9DE6-4718-BDF5-11F6AD1D37A3}" type="presParOf" srcId="{69E28A6C-3375-4679-850B-3CBC458F431C}" destId="{F2A4E49F-DC01-4AD4-8BA3-FF202D648F42}" srcOrd="1" destOrd="0" presId="urn:microsoft.com/office/officeart/2008/layout/LinedList"/>
    <dgm:cxn modelId="{D1E4592A-90B8-4CA9-8318-69B943E14179}" type="presParOf" srcId="{8C46CF00-5A11-4666-A37E-8F187BA43F36}" destId="{96C6F149-2171-479B-BF87-EDA840DF16B5}" srcOrd="2" destOrd="0" presId="urn:microsoft.com/office/officeart/2008/layout/LinedList"/>
    <dgm:cxn modelId="{44741E50-BFE0-4AD1-901C-73273C094E69}" type="presParOf" srcId="{8C46CF00-5A11-4666-A37E-8F187BA43F36}" destId="{2CD77B64-59F4-492E-8AB8-B9705E950AE4}" srcOrd="3" destOrd="0" presId="urn:microsoft.com/office/officeart/2008/layout/LinedList"/>
    <dgm:cxn modelId="{39C9357F-DBD3-4E49-ABF6-4B81C2566E84}" type="presParOf" srcId="{2CD77B64-59F4-492E-8AB8-B9705E950AE4}" destId="{E873ED38-7F98-469A-8171-EEEF54FAF297}" srcOrd="0" destOrd="0" presId="urn:microsoft.com/office/officeart/2008/layout/LinedList"/>
    <dgm:cxn modelId="{F1859E78-41DE-4DBE-B5EA-EE7322E20C16}" type="presParOf" srcId="{2CD77B64-59F4-492E-8AB8-B9705E950AE4}" destId="{B760EA1F-A1C9-425F-95BF-33113ED69846}" srcOrd="1" destOrd="0" presId="urn:microsoft.com/office/officeart/2008/layout/LinedList"/>
    <dgm:cxn modelId="{2EC0B51B-9781-468D-BACC-97A987106040}" type="presParOf" srcId="{8C46CF00-5A11-4666-A37E-8F187BA43F36}" destId="{3ABF440F-29C1-4A9F-BEBA-F71058AA55A1}" srcOrd="4" destOrd="0" presId="urn:microsoft.com/office/officeart/2008/layout/LinedList"/>
    <dgm:cxn modelId="{BA9C86A6-9BC1-4D43-B79D-16D4C44FE5D0}" type="presParOf" srcId="{8C46CF00-5A11-4666-A37E-8F187BA43F36}" destId="{1E18A162-2C0A-47B9-AD2F-81170BFDFCDD}" srcOrd="5" destOrd="0" presId="urn:microsoft.com/office/officeart/2008/layout/LinedList"/>
    <dgm:cxn modelId="{13DEEA67-AE66-4F74-B157-19BBAE0BEAD0}" type="presParOf" srcId="{1E18A162-2C0A-47B9-AD2F-81170BFDFCDD}" destId="{A99A2610-A72E-40F8-9A5F-8929FF0E7B2C}" srcOrd="0" destOrd="0" presId="urn:microsoft.com/office/officeart/2008/layout/LinedList"/>
    <dgm:cxn modelId="{71B48D1F-EE4F-4C8D-BF90-D51D33036217}" type="presParOf" srcId="{1E18A162-2C0A-47B9-AD2F-81170BFDFCDD}" destId="{700E22BF-BDEC-47FE-84BE-08F73765F9C4}" srcOrd="1" destOrd="0" presId="urn:microsoft.com/office/officeart/2008/layout/LinedList"/>
    <dgm:cxn modelId="{2A46AA15-86DE-426B-B750-16719443281E}" type="presParOf" srcId="{8C46CF00-5A11-4666-A37E-8F187BA43F36}" destId="{F632C8A3-9844-42AC-B193-BFB9E2655F0A}" srcOrd="6" destOrd="0" presId="urn:microsoft.com/office/officeart/2008/layout/LinedList"/>
    <dgm:cxn modelId="{DED0227F-19C8-40D6-A7EB-FBF94B9AAB14}" type="presParOf" srcId="{8C46CF00-5A11-4666-A37E-8F187BA43F36}" destId="{1D5123BF-24A6-4C9E-8A85-271FB74829AE}" srcOrd="7" destOrd="0" presId="urn:microsoft.com/office/officeart/2008/layout/LinedList"/>
    <dgm:cxn modelId="{C2E2CD9E-9318-452A-A8BF-F0BEB4334E64}" type="presParOf" srcId="{1D5123BF-24A6-4C9E-8A85-271FB74829AE}" destId="{E4D84F7E-5858-4C33-9010-D50A52C0F198}" srcOrd="0" destOrd="0" presId="urn:microsoft.com/office/officeart/2008/layout/LinedList"/>
    <dgm:cxn modelId="{D1802C14-9E2B-42C3-AE35-0C4645E0A8B8}" type="presParOf" srcId="{1D5123BF-24A6-4C9E-8A85-271FB74829AE}" destId="{DFEEAF8A-12B8-4158-88C6-DE267461C886}" srcOrd="1" destOrd="0" presId="urn:microsoft.com/office/officeart/2008/layout/LinedList"/>
    <dgm:cxn modelId="{29490D3F-761C-4672-99F7-020A33930E78}" type="presParOf" srcId="{8C46CF00-5A11-4666-A37E-8F187BA43F36}" destId="{9C458089-ECA4-433C-9D50-2E096F10E830}" srcOrd="8" destOrd="0" presId="urn:microsoft.com/office/officeart/2008/layout/LinedList"/>
    <dgm:cxn modelId="{7B8F1DE8-7252-41C9-A292-7D0EAFDE794D}" type="presParOf" srcId="{8C46CF00-5A11-4666-A37E-8F187BA43F36}" destId="{B117350F-881F-4995-869B-492E78ECD314}" srcOrd="9" destOrd="0" presId="urn:microsoft.com/office/officeart/2008/layout/LinedList"/>
    <dgm:cxn modelId="{5A85BCF6-13C9-470B-8E78-5038EE64C0D8}" type="presParOf" srcId="{B117350F-881F-4995-869B-492E78ECD314}" destId="{FE3A4831-2980-43DA-BC7D-91346BBC5228}" srcOrd="0" destOrd="0" presId="urn:microsoft.com/office/officeart/2008/layout/LinedList"/>
    <dgm:cxn modelId="{E2407DA3-9D45-4CA2-A4DE-1A2B8606DE9E}" type="presParOf" srcId="{B117350F-881F-4995-869B-492E78ECD314}" destId="{F525FAEB-6EB6-4969-B9D3-DD8709BB1A85}" srcOrd="1" destOrd="0" presId="urn:microsoft.com/office/officeart/2008/layout/LinedList"/>
    <dgm:cxn modelId="{F4702615-9717-4B50-9518-17C8E1D20A41}" type="presParOf" srcId="{8C46CF00-5A11-4666-A37E-8F187BA43F36}" destId="{267F0D69-0020-491E-9C2B-22ACF7244A70}" srcOrd="10" destOrd="0" presId="urn:microsoft.com/office/officeart/2008/layout/LinedList"/>
    <dgm:cxn modelId="{15DEE839-95B6-488D-8DC3-F86280CB1EBC}" type="presParOf" srcId="{8C46CF00-5A11-4666-A37E-8F187BA43F36}" destId="{393223AD-6FB3-4879-BCFA-2BC5C420AC6C}" srcOrd="11" destOrd="0" presId="urn:microsoft.com/office/officeart/2008/layout/LinedList"/>
    <dgm:cxn modelId="{57F55884-01EE-42AA-9909-8C7636E40DDB}" type="presParOf" srcId="{393223AD-6FB3-4879-BCFA-2BC5C420AC6C}" destId="{FDA9AAD1-105C-4DB2-9DA7-337570F892B6}" srcOrd="0" destOrd="0" presId="urn:microsoft.com/office/officeart/2008/layout/LinedList"/>
    <dgm:cxn modelId="{07B69903-9503-4CB2-9D2B-8570ECDE648C}" type="presParOf" srcId="{393223AD-6FB3-4879-BCFA-2BC5C420AC6C}" destId="{3AF0AEE3-3518-49F9-A4A2-119A6850D06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67DEEE-49D8-41AD-8F8C-6BA45890EA80}">
      <dsp:nvSpPr>
        <dsp:cNvPr id="0" name=""/>
        <dsp:cNvSpPr/>
      </dsp:nvSpPr>
      <dsp:spPr>
        <a:xfrm>
          <a:off x="0" y="2703"/>
          <a:ext cx="51753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6A31CF-49F3-4FEA-AC10-53D3B82EB661}">
      <dsp:nvSpPr>
        <dsp:cNvPr id="0" name=""/>
        <dsp:cNvSpPr/>
      </dsp:nvSpPr>
      <dsp:spPr>
        <a:xfrm>
          <a:off x="0" y="2703"/>
          <a:ext cx="5175384"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s-SV" sz="2500" kern="1200"/>
            <a:t>DISTRIBUCIONES DE PROBABILIDAD CONTINUA</a:t>
          </a:r>
          <a:endParaRPr lang="en-US" sz="2500" kern="1200"/>
        </a:p>
      </dsp:txBody>
      <dsp:txXfrm>
        <a:off x="0" y="2703"/>
        <a:ext cx="5175384" cy="921789"/>
      </dsp:txXfrm>
    </dsp:sp>
    <dsp:sp modelId="{96C6F149-2171-479B-BF87-EDA840DF16B5}">
      <dsp:nvSpPr>
        <dsp:cNvPr id="0" name=""/>
        <dsp:cNvSpPr/>
      </dsp:nvSpPr>
      <dsp:spPr>
        <a:xfrm>
          <a:off x="0" y="924492"/>
          <a:ext cx="5175384"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73ED38-7F98-469A-8171-EEEF54FAF297}">
      <dsp:nvSpPr>
        <dsp:cNvPr id="0" name=""/>
        <dsp:cNvSpPr/>
      </dsp:nvSpPr>
      <dsp:spPr>
        <a:xfrm>
          <a:off x="0" y="924492"/>
          <a:ext cx="5175384"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s-MX" sz="2500" kern="1200"/>
            <a:t>Variables aleatorias continuas.</a:t>
          </a:r>
          <a:endParaRPr lang="en-US" sz="2500" kern="1200"/>
        </a:p>
      </dsp:txBody>
      <dsp:txXfrm>
        <a:off x="0" y="924492"/>
        <a:ext cx="5175384" cy="921789"/>
      </dsp:txXfrm>
    </dsp:sp>
    <dsp:sp modelId="{3ABF440F-29C1-4A9F-BEBA-F71058AA55A1}">
      <dsp:nvSpPr>
        <dsp:cNvPr id="0" name=""/>
        <dsp:cNvSpPr/>
      </dsp:nvSpPr>
      <dsp:spPr>
        <a:xfrm>
          <a:off x="0" y="1846281"/>
          <a:ext cx="5175384"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9A2610-A72E-40F8-9A5F-8929FF0E7B2C}">
      <dsp:nvSpPr>
        <dsp:cNvPr id="0" name=""/>
        <dsp:cNvSpPr/>
      </dsp:nvSpPr>
      <dsp:spPr>
        <a:xfrm>
          <a:off x="0" y="1846281"/>
          <a:ext cx="5175384"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s-MX" sz="2500" kern="1200"/>
            <a:t>Distribución exponencial.</a:t>
          </a:r>
          <a:endParaRPr lang="en-US" sz="2500" kern="1200"/>
        </a:p>
      </dsp:txBody>
      <dsp:txXfrm>
        <a:off x="0" y="1846281"/>
        <a:ext cx="5175384" cy="921789"/>
      </dsp:txXfrm>
    </dsp:sp>
    <dsp:sp modelId="{F632C8A3-9844-42AC-B193-BFB9E2655F0A}">
      <dsp:nvSpPr>
        <dsp:cNvPr id="0" name=""/>
        <dsp:cNvSpPr/>
      </dsp:nvSpPr>
      <dsp:spPr>
        <a:xfrm>
          <a:off x="0" y="2768070"/>
          <a:ext cx="5175384"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D84F7E-5858-4C33-9010-D50A52C0F198}">
      <dsp:nvSpPr>
        <dsp:cNvPr id="0" name=""/>
        <dsp:cNvSpPr/>
      </dsp:nvSpPr>
      <dsp:spPr>
        <a:xfrm>
          <a:off x="0" y="2768070"/>
          <a:ext cx="5175384"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s-MX" sz="2500" kern="1200"/>
            <a:t>Distribución Normal.</a:t>
          </a:r>
          <a:endParaRPr lang="en-US" sz="2500" kern="1200"/>
        </a:p>
      </dsp:txBody>
      <dsp:txXfrm>
        <a:off x="0" y="2768070"/>
        <a:ext cx="5175384" cy="921789"/>
      </dsp:txXfrm>
    </dsp:sp>
    <dsp:sp modelId="{9C458089-ECA4-433C-9D50-2E096F10E830}">
      <dsp:nvSpPr>
        <dsp:cNvPr id="0" name=""/>
        <dsp:cNvSpPr/>
      </dsp:nvSpPr>
      <dsp:spPr>
        <a:xfrm>
          <a:off x="0" y="3689859"/>
          <a:ext cx="5175384"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3A4831-2980-43DA-BC7D-91346BBC5228}">
      <dsp:nvSpPr>
        <dsp:cNvPr id="0" name=""/>
        <dsp:cNvSpPr/>
      </dsp:nvSpPr>
      <dsp:spPr>
        <a:xfrm>
          <a:off x="0" y="3689859"/>
          <a:ext cx="5175384"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s-MX" sz="2500" kern="1200"/>
            <a:t>Áreas bajo la curva Normal.</a:t>
          </a:r>
          <a:endParaRPr lang="en-US" sz="2500" kern="1200"/>
        </a:p>
      </dsp:txBody>
      <dsp:txXfrm>
        <a:off x="0" y="3689859"/>
        <a:ext cx="5175384" cy="921789"/>
      </dsp:txXfrm>
    </dsp:sp>
    <dsp:sp modelId="{267F0D69-0020-491E-9C2B-22ACF7244A70}">
      <dsp:nvSpPr>
        <dsp:cNvPr id="0" name=""/>
        <dsp:cNvSpPr/>
      </dsp:nvSpPr>
      <dsp:spPr>
        <a:xfrm>
          <a:off x="0" y="4611648"/>
          <a:ext cx="5175384"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A9AAD1-105C-4DB2-9DA7-337570F892B6}">
      <dsp:nvSpPr>
        <dsp:cNvPr id="0" name=""/>
        <dsp:cNvSpPr/>
      </dsp:nvSpPr>
      <dsp:spPr>
        <a:xfrm>
          <a:off x="0" y="4611648"/>
          <a:ext cx="5175384" cy="921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s-MX" sz="2500" kern="1200"/>
            <a:t>Problemas de aplicación.</a:t>
          </a:r>
          <a:endParaRPr lang="en-US" sz="2500" kern="1200"/>
        </a:p>
      </dsp:txBody>
      <dsp:txXfrm>
        <a:off x="0" y="4611648"/>
        <a:ext cx="5175384" cy="92178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1-04-21T00:39:51.084"/>
    </inkml:context>
    <inkml:brush xml:id="br0">
      <inkml:brushProperty name="width" value="0.05292" units="cm"/>
      <inkml:brushProperty name="height" value="0.05292" units="cm"/>
      <inkml:brushProperty name="color" value="#FF0000"/>
    </inkml:brush>
  </inkml:definitions>
  <inkml:trace contextRef="#ctx0" brushRef="#br0">16963 16258 542 0,'31'-6'111'0,"12"6"-74"0,5 0-21 0,10 0-3 0,3 0-3 0,-1 14-5 0,-2 1-5 0,18 2-1 0,-15 1-16 0,-13-5-37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5-02-04T00:44:33.684"/>
    </inkml:context>
    <inkml:brush xml:id="br0">
      <inkml:brushProperty name="width" value="0.05292" units="cm"/>
      <inkml:brushProperty name="height" value="0.05292" units="cm"/>
      <inkml:brushProperty name="color" value="#FF0000"/>
    </inkml:brush>
  </inkml:definitions>
  <inkml:trace contextRef="#ctx0" brushRef="#br0">19581 14343 362 0,'0'0'109'0,"0"0"-42"15,151 78-31-15,-86-44 13 0,-3 5 1 16,-1 1-16-16,-6 4-34 16,-4 4-94-16,-6-2 94 15,-9-4 128-15,-5-2-87 16,-9-4-24-16,3 3-17 16,-10-13-97-16,3-11-272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SV"/>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07B469-6375-4B31-9E8D-F0F5D1F96C44}" type="datetimeFigureOut">
              <a:rPr lang="es-SV" smtClean="0"/>
              <a:t>13/5/2026</a:t>
            </a:fld>
            <a:endParaRPr lang="es-SV"/>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SV"/>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SV"/>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CFB16-7B83-48BD-9148-02186C72AF1D}" type="slidenum">
              <a:rPr lang="es-SV" smtClean="0"/>
              <a:t>‹Nº›</a:t>
            </a:fld>
            <a:endParaRPr lang="es-SV"/>
          </a:p>
        </p:txBody>
      </p:sp>
    </p:spTree>
    <p:extLst>
      <p:ext uri="{BB962C8B-B14F-4D97-AF65-F5344CB8AC3E}">
        <p14:creationId xmlns:p14="http://schemas.microsoft.com/office/powerpoint/2010/main" val="1859179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SV" dirty="0"/>
          </a:p>
        </p:txBody>
      </p:sp>
      <p:sp>
        <p:nvSpPr>
          <p:cNvPr id="4" name="Marcador de número de diapositiva 3"/>
          <p:cNvSpPr>
            <a:spLocks noGrp="1"/>
          </p:cNvSpPr>
          <p:nvPr>
            <p:ph type="sldNum" sz="quarter" idx="10"/>
          </p:nvPr>
        </p:nvSpPr>
        <p:spPr/>
        <p:txBody>
          <a:bodyPr/>
          <a:lstStyle/>
          <a:p>
            <a:fld id="{079CFB16-7B83-48BD-9148-02186C72AF1D}" type="slidenum">
              <a:rPr lang="es-SV" smtClean="0"/>
              <a:t>17</a:t>
            </a:fld>
            <a:endParaRPr lang="es-SV"/>
          </a:p>
        </p:txBody>
      </p:sp>
    </p:spTree>
    <p:extLst>
      <p:ext uri="{BB962C8B-B14F-4D97-AF65-F5344CB8AC3E}">
        <p14:creationId xmlns:p14="http://schemas.microsoft.com/office/powerpoint/2010/main" val="140435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F23D7-8A16-416B-9CB4-EDBF6EC076C6}"/>
              </a:ext>
            </a:extLst>
          </p:cNvPr>
          <p:cNvSpPr>
            <a:spLocks noGrp="1"/>
          </p:cNvSpPr>
          <p:nvPr>
            <p:ph type="ctrTitle"/>
          </p:nvPr>
        </p:nvSpPr>
        <p:spPr>
          <a:xfrm>
            <a:off x="1143000" y="1122363"/>
            <a:ext cx="6858000" cy="2387600"/>
          </a:xfrm>
        </p:spPr>
        <p:txBody>
          <a:bodyPr anchor="b"/>
          <a:lstStyle>
            <a:lvl1pPr algn="ctr">
              <a:defRPr sz="4500"/>
            </a:lvl1pPr>
          </a:lstStyle>
          <a:p>
            <a:r>
              <a:rPr lang="es-ES"/>
              <a:t>Haga clic para modificar el estilo de título del patrón</a:t>
            </a:r>
            <a:endParaRPr lang="es-SV"/>
          </a:p>
        </p:txBody>
      </p:sp>
      <p:sp>
        <p:nvSpPr>
          <p:cNvPr id="3" name="Subtítulo 2">
            <a:extLst>
              <a:ext uri="{FF2B5EF4-FFF2-40B4-BE49-F238E27FC236}">
                <a16:creationId xmlns:a16="http://schemas.microsoft.com/office/drawing/2014/main" id="{10EE7EFC-1484-4540-96C7-D3D78AFBB66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s-SV"/>
          </a:p>
        </p:txBody>
      </p:sp>
      <p:sp>
        <p:nvSpPr>
          <p:cNvPr id="4" name="Marcador de fecha 3">
            <a:extLst>
              <a:ext uri="{FF2B5EF4-FFF2-40B4-BE49-F238E27FC236}">
                <a16:creationId xmlns:a16="http://schemas.microsoft.com/office/drawing/2014/main" id="{26DF9097-06F3-4339-B793-EE4DD56DA476}"/>
              </a:ext>
            </a:extLst>
          </p:cNvPr>
          <p:cNvSpPr>
            <a:spLocks noGrp="1"/>
          </p:cNvSpPr>
          <p:nvPr>
            <p:ph type="dt" sz="half" idx="10"/>
          </p:nvPr>
        </p:nvSpPr>
        <p:spPr/>
        <p:txBody>
          <a:bodyPr/>
          <a:lstStyle/>
          <a:p>
            <a:fld id="{4B5F6883-5435-47D5-880C-1B4DF04FBDCC}" type="datetimeFigureOut">
              <a:rPr lang="es-SV" smtClean="0"/>
              <a:pPr/>
              <a:t>13/5/2026</a:t>
            </a:fld>
            <a:endParaRPr lang="es-SV"/>
          </a:p>
        </p:txBody>
      </p:sp>
      <p:sp>
        <p:nvSpPr>
          <p:cNvPr id="5" name="Marcador de pie de página 4">
            <a:extLst>
              <a:ext uri="{FF2B5EF4-FFF2-40B4-BE49-F238E27FC236}">
                <a16:creationId xmlns:a16="http://schemas.microsoft.com/office/drawing/2014/main" id="{4A80BAA7-1648-4B4C-A012-AE7ECC29D930}"/>
              </a:ext>
            </a:extLst>
          </p:cNvPr>
          <p:cNvSpPr>
            <a:spLocks noGrp="1"/>
          </p:cNvSpPr>
          <p:nvPr>
            <p:ph type="ftr" sz="quarter" idx="11"/>
          </p:nvPr>
        </p:nvSpPr>
        <p:spPr/>
        <p:txBody>
          <a:bodyPr/>
          <a:lstStyle/>
          <a:p>
            <a:endParaRPr lang="es-SV"/>
          </a:p>
        </p:txBody>
      </p:sp>
      <p:sp>
        <p:nvSpPr>
          <p:cNvPr id="6" name="Marcador de número de diapositiva 5">
            <a:extLst>
              <a:ext uri="{FF2B5EF4-FFF2-40B4-BE49-F238E27FC236}">
                <a16:creationId xmlns:a16="http://schemas.microsoft.com/office/drawing/2014/main" id="{277313E8-BF3E-4477-BC5F-1D13A105FE41}"/>
              </a:ext>
            </a:extLst>
          </p:cNvPr>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3725473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5704D4-0C61-4C1B-B46A-EFBEE7A336B4}"/>
              </a:ext>
            </a:extLst>
          </p:cNvPr>
          <p:cNvSpPr>
            <a:spLocks noGrp="1"/>
          </p:cNvSpPr>
          <p:nvPr>
            <p:ph type="title"/>
          </p:nvPr>
        </p:nvSpPr>
        <p:spPr/>
        <p:txBody>
          <a:bodyPr/>
          <a:lstStyle/>
          <a:p>
            <a:r>
              <a:rPr lang="es-ES"/>
              <a:t>Haga clic para modificar el estilo de título del patrón</a:t>
            </a:r>
            <a:endParaRPr lang="es-SV"/>
          </a:p>
        </p:txBody>
      </p:sp>
      <p:sp>
        <p:nvSpPr>
          <p:cNvPr id="3" name="Marcador de contenido 2">
            <a:extLst>
              <a:ext uri="{FF2B5EF4-FFF2-40B4-BE49-F238E27FC236}">
                <a16:creationId xmlns:a16="http://schemas.microsoft.com/office/drawing/2014/main" id="{110F7F32-DEB1-4001-9B3C-EE38B77D5F3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4" name="Marcador de fecha 3">
            <a:extLst>
              <a:ext uri="{FF2B5EF4-FFF2-40B4-BE49-F238E27FC236}">
                <a16:creationId xmlns:a16="http://schemas.microsoft.com/office/drawing/2014/main" id="{EF1E89B8-7E99-442A-AF42-A221C67D47BD}"/>
              </a:ext>
            </a:extLst>
          </p:cNvPr>
          <p:cNvSpPr>
            <a:spLocks noGrp="1"/>
          </p:cNvSpPr>
          <p:nvPr>
            <p:ph type="dt" sz="half" idx="10"/>
          </p:nvPr>
        </p:nvSpPr>
        <p:spPr/>
        <p:txBody>
          <a:bodyPr/>
          <a:lstStyle/>
          <a:p>
            <a:fld id="{4B5F6883-5435-47D5-880C-1B4DF04FBDCC}" type="datetimeFigureOut">
              <a:rPr lang="es-SV" smtClean="0"/>
              <a:pPr/>
              <a:t>13/5/2026</a:t>
            </a:fld>
            <a:endParaRPr lang="es-SV"/>
          </a:p>
        </p:txBody>
      </p:sp>
      <p:sp>
        <p:nvSpPr>
          <p:cNvPr id="5" name="Marcador de pie de página 4">
            <a:extLst>
              <a:ext uri="{FF2B5EF4-FFF2-40B4-BE49-F238E27FC236}">
                <a16:creationId xmlns:a16="http://schemas.microsoft.com/office/drawing/2014/main" id="{16BFADDD-BBDC-4FAC-83C0-D985E4F58F95}"/>
              </a:ext>
            </a:extLst>
          </p:cNvPr>
          <p:cNvSpPr>
            <a:spLocks noGrp="1"/>
          </p:cNvSpPr>
          <p:nvPr>
            <p:ph type="ftr" sz="quarter" idx="11"/>
          </p:nvPr>
        </p:nvSpPr>
        <p:spPr/>
        <p:txBody>
          <a:bodyPr/>
          <a:lstStyle/>
          <a:p>
            <a:endParaRPr lang="es-SV"/>
          </a:p>
        </p:txBody>
      </p:sp>
      <p:sp>
        <p:nvSpPr>
          <p:cNvPr id="6" name="Marcador de número de diapositiva 5">
            <a:extLst>
              <a:ext uri="{FF2B5EF4-FFF2-40B4-BE49-F238E27FC236}">
                <a16:creationId xmlns:a16="http://schemas.microsoft.com/office/drawing/2014/main" id="{13C5A88E-C9BF-4BB2-B36F-AE8315EEBFB2}"/>
              </a:ext>
            </a:extLst>
          </p:cNvPr>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1092582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9F2925-2422-4CF4-A79E-EE91DC2226B0}"/>
              </a:ext>
            </a:extLst>
          </p:cNvPr>
          <p:cNvSpPr>
            <a:spLocks noGrp="1"/>
          </p:cNvSpPr>
          <p:nvPr>
            <p:ph type="title"/>
          </p:nvPr>
        </p:nvSpPr>
        <p:spPr>
          <a:xfrm>
            <a:off x="623888" y="1709739"/>
            <a:ext cx="7886700" cy="2852737"/>
          </a:xfrm>
        </p:spPr>
        <p:txBody>
          <a:bodyPr anchor="b"/>
          <a:lstStyle>
            <a:lvl1pPr>
              <a:defRPr sz="4500"/>
            </a:lvl1pPr>
          </a:lstStyle>
          <a:p>
            <a:r>
              <a:rPr lang="es-ES"/>
              <a:t>Haga clic para modificar el estilo de título del patrón</a:t>
            </a:r>
            <a:endParaRPr lang="es-SV"/>
          </a:p>
        </p:txBody>
      </p:sp>
      <p:sp>
        <p:nvSpPr>
          <p:cNvPr id="3" name="Marcador de texto 2">
            <a:extLst>
              <a:ext uri="{FF2B5EF4-FFF2-40B4-BE49-F238E27FC236}">
                <a16:creationId xmlns:a16="http://schemas.microsoft.com/office/drawing/2014/main" id="{E045214A-1530-4AD3-900F-F31D2AB67AB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A78EE27-0EC6-4BFC-A8C6-2AEEE2C91A15}"/>
              </a:ext>
            </a:extLst>
          </p:cNvPr>
          <p:cNvSpPr>
            <a:spLocks noGrp="1"/>
          </p:cNvSpPr>
          <p:nvPr>
            <p:ph type="dt" sz="half" idx="10"/>
          </p:nvPr>
        </p:nvSpPr>
        <p:spPr/>
        <p:txBody>
          <a:bodyPr/>
          <a:lstStyle/>
          <a:p>
            <a:fld id="{4B5F6883-5435-47D5-880C-1B4DF04FBDCC}" type="datetimeFigureOut">
              <a:rPr lang="es-SV" smtClean="0"/>
              <a:pPr/>
              <a:t>13/5/2026</a:t>
            </a:fld>
            <a:endParaRPr lang="es-SV"/>
          </a:p>
        </p:txBody>
      </p:sp>
      <p:sp>
        <p:nvSpPr>
          <p:cNvPr id="5" name="Marcador de pie de página 4">
            <a:extLst>
              <a:ext uri="{FF2B5EF4-FFF2-40B4-BE49-F238E27FC236}">
                <a16:creationId xmlns:a16="http://schemas.microsoft.com/office/drawing/2014/main" id="{EFF72A55-5153-41DF-A645-9EA2D2B4986F}"/>
              </a:ext>
            </a:extLst>
          </p:cNvPr>
          <p:cNvSpPr>
            <a:spLocks noGrp="1"/>
          </p:cNvSpPr>
          <p:nvPr>
            <p:ph type="ftr" sz="quarter" idx="11"/>
          </p:nvPr>
        </p:nvSpPr>
        <p:spPr/>
        <p:txBody>
          <a:bodyPr/>
          <a:lstStyle/>
          <a:p>
            <a:endParaRPr lang="es-SV"/>
          </a:p>
        </p:txBody>
      </p:sp>
      <p:sp>
        <p:nvSpPr>
          <p:cNvPr id="6" name="Marcador de número de diapositiva 5">
            <a:extLst>
              <a:ext uri="{FF2B5EF4-FFF2-40B4-BE49-F238E27FC236}">
                <a16:creationId xmlns:a16="http://schemas.microsoft.com/office/drawing/2014/main" id="{EA2CA9AB-F15A-4AFF-A321-AA48E2BD8766}"/>
              </a:ext>
            </a:extLst>
          </p:cNvPr>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22581789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D550AD-DD6F-4D8C-83E3-BDF2270699B6}"/>
              </a:ext>
            </a:extLst>
          </p:cNvPr>
          <p:cNvSpPr>
            <a:spLocks noGrp="1"/>
          </p:cNvSpPr>
          <p:nvPr>
            <p:ph type="title"/>
          </p:nvPr>
        </p:nvSpPr>
        <p:spPr/>
        <p:txBody>
          <a:bodyPr/>
          <a:lstStyle/>
          <a:p>
            <a:r>
              <a:rPr lang="es-ES"/>
              <a:t>Haga clic para modificar el estilo de título del patrón</a:t>
            </a:r>
            <a:endParaRPr lang="es-SV"/>
          </a:p>
        </p:txBody>
      </p:sp>
      <p:sp>
        <p:nvSpPr>
          <p:cNvPr id="3" name="Marcador de contenido 2">
            <a:extLst>
              <a:ext uri="{FF2B5EF4-FFF2-40B4-BE49-F238E27FC236}">
                <a16:creationId xmlns:a16="http://schemas.microsoft.com/office/drawing/2014/main" id="{01F10950-6AA1-4987-BE72-239BC9223288}"/>
              </a:ext>
            </a:extLst>
          </p:cNvPr>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4" name="Marcador de contenido 3">
            <a:extLst>
              <a:ext uri="{FF2B5EF4-FFF2-40B4-BE49-F238E27FC236}">
                <a16:creationId xmlns:a16="http://schemas.microsoft.com/office/drawing/2014/main" id="{AB927662-2181-47BF-B7B7-F1B9FFB082E2}"/>
              </a:ext>
            </a:extLst>
          </p:cNvPr>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5" name="Marcador de fecha 4">
            <a:extLst>
              <a:ext uri="{FF2B5EF4-FFF2-40B4-BE49-F238E27FC236}">
                <a16:creationId xmlns:a16="http://schemas.microsoft.com/office/drawing/2014/main" id="{5AD8ACFB-680B-48D3-93F4-0B1631697B83}"/>
              </a:ext>
            </a:extLst>
          </p:cNvPr>
          <p:cNvSpPr>
            <a:spLocks noGrp="1"/>
          </p:cNvSpPr>
          <p:nvPr>
            <p:ph type="dt" sz="half" idx="10"/>
          </p:nvPr>
        </p:nvSpPr>
        <p:spPr/>
        <p:txBody>
          <a:bodyPr/>
          <a:lstStyle/>
          <a:p>
            <a:fld id="{4B5F6883-5435-47D5-880C-1B4DF04FBDCC}" type="datetimeFigureOut">
              <a:rPr lang="es-SV" smtClean="0"/>
              <a:pPr/>
              <a:t>13/5/2026</a:t>
            </a:fld>
            <a:endParaRPr lang="es-SV"/>
          </a:p>
        </p:txBody>
      </p:sp>
      <p:sp>
        <p:nvSpPr>
          <p:cNvPr id="6" name="Marcador de pie de página 5">
            <a:extLst>
              <a:ext uri="{FF2B5EF4-FFF2-40B4-BE49-F238E27FC236}">
                <a16:creationId xmlns:a16="http://schemas.microsoft.com/office/drawing/2014/main" id="{93DA70E7-D614-47FE-8203-D9577419584E}"/>
              </a:ext>
            </a:extLst>
          </p:cNvPr>
          <p:cNvSpPr>
            <a:spLocks noGrp="1"/>
          </p:cNvSpPr>
          <p:nvPr>
            <p:ph type="ftr" sz="quarter" idx="11"/>
          </p:nvPr>
        </p:nvSpPr>
        <p:spPr/>
        <p:txBody>
          <a:bodyPr/>
          <a:lstStyle/>
          <a:p>
            <a:endParaRPr lang="es-SV"/>
          </a:p>
        </p:txBody>
      </p:sp>
      <p:sp>
        <p:nvSpPr>
          <p:cNvPr id="7" name="Marcador de número de diapositiva 6">
            <a:extLst>
              <a:ext uri="{FF2B5EF4-FFF2-40B4-BE49-F238E27FC236}">
                <a16:creationId xmlns:a16="http://schemas.microsoft.com/office/drawing/2014/main" id="{EB2EF16F-2CDB-4CE7-88C2-D12F3028450D}"/>
              </a:ext>
            </a:extLst>
          </p:cNvPr>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2102645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DA10DC-60F1-47D3-8374-EB32789834C5}"/>
              </a:ext>
            </a:extLst>
          </p:cNvPr>
          <p:cNvSpPr>
            <a:spLocks noGrp="1"/>
          </p:cNvSpPr>
          <p:nvPr>
            <p:ph type="title"/>
          </p:nvPr>
        </p:nvSpPr>
        <p:spPr>
          <a:xfrm>
            <a:off x="629841" y="365126"/>
            <a:ext cx="7886700" cy="1325563"/>
          </a:xfrm>
        </p:spPr>
        <p:txBody>
          <a:bodyPr/>
          <a:lstStyle/>
          <a:p>
            <a:r>
              <a:rPr lang="es-ES"/>
              <a:t>Haga clic para modificar el estilo de título del patrón</a:t>
            </a:r>
            <a:endParaRPr lang="es-SV"/>
          </a:p>
        </p:txBody>
      </p:sp>
      <p:sp>
        <p:nvSpPr>
          <p:cNvPr id="3" name="Marcador de texto 2">
            <a:extLst>
              <a:ext uri="{FF2B5EF4-FFF2-40B4-BE49-F238E27FC236}">
                <a16:creationId xmlns:a16="http://schemas.microsoft.com/office/drawing/2014/main" id="{AB0BB5AA-1B6C-4C15-ABF8-D7F0F55CEC1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B19FF56-D48F-477D-9091-7274D60FA8D7}"/>
              </a:ext>
            </a:extLst>
          </p:cNvPr>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5" name="Marcador de texto 4">
            <a:extLst>
              <a:ext uri="{FF2B5EF4-FFF2-40B4-BE49-F238E27FC236}">
                <a16:creationId xmlns:a16="http://schemas.microsoft.com/office/drawing/2014/main" id="{6ECDC077-7FD3-41B4-8C0B-15694C718586}"/>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0777789-D8A5-42F9-A498-E657B29AFDA7}"/>
              </a:ext>
            </a:extLst>
          </p:cNvPr>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7" name="Marcador de fecha 6">
            <a:extLst>
              <a:ext uri="{FF2B5EF4-FFF2-40B4-BE49-F238E27FC236}">
                <a16:creationId xmlns:a16="http://schemas.microsoft.com/office/drawing/2014/main" id="{E78EE9F4-3F63-4F7B-8C20-96E915BB3BFE}"/>
              </a:ext>
            </a:extLst>
          </p:cNvPr>
          <p:cNvSpPr>
            <a:spLocks noGrp="1"/>
          </p:cNvSpPr>
          <p:nvPr>
            <p:ph type="dt" sz="half" idx="10"/>
          </p:nvPr>
        </p:nvSpPr>
        <p:spPr/>
        <p:txBody>
          <a:bodyPr/>
          <a:lstStyle/>
          <a:p>
            <a:fld id="{4B5F6883-5435-47D5-880C-1B4DF04FBDCC}" type="datetimeFigureOut">
              <a:rPr lang="es-SV" smtClean="0"/>
              <a:pPr/>
              <a:t>13/5/2026</a:t>
            </a:fld>
            <a:endParaRPr lang="es-SV"/>
          </a:p>
        </p:txBody>
      </p:sp>
      <p:sp>
        <p:nvSpPr>
          <p:cNvPr id="8" name="Marcador de pie de página 7">
            <a:extLst>
              <a:ext uri="{FF2B5EF4-FFF2-40B4-BE49-F238E27FC236}">
                <a16:creationId xmlns:a16="http://schemas.microsoft.com/office/drawing/2014/main" id="{4F67018F-4983-4A68-8A79-8D542851570F}"/>
              </a:ext>
            </a:extLst>
          </p:cNvPr>
          <p:cNvSpPr>
            <a:spLocks noGrp="1"/>
          </p:cNvSpPr>
          <p:nvPr>
            <p:ph type="ftr" sz="quarter" idx="11"/>
          </p:nvPr>
        </p:nvSpPr>
        <p:spPr/>
        <p:txBody>
          <a:bodyPr/>
          <a:lstStyle/>
          <a:p>
            <a:endParaRPr lang="es-SV"/>
          </a:p>
        </p:txBody>
      </p:sp>
      <p:sp>
        <p:nvSpPr>
          <p:cNvPr id="9" name="Marcador de número de diapositiva 8">
            <a:extLst>
              <a:ext uri="{FF2B5EF4-FFF2-40B4-BE49-F238E27FC236}">
                <a16:creationId xmlns:a16="http://schemas.microsoft.com/office/drawing/2014/main" id="{7B4B5155-244E-4FFD-A8A0-69F7CDD184E1}"/>
              </a:ext>
            </a:extLst>
          </p:cNvPr>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210975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DD43D0-E827-4251-887B-45659E6A36AF}"/>
              </a:ext>
            </a:extLst>
          </p:cNvPr>
          <p:cNvSpPr>
            <a:spLocks noGrp="1"/>
          </p:cNvSpPr>
          <p:nvPr>
            <p:ph type="title"/>
          </p:nvPr>
        </p:nvSpPr>
        <p:spPr/>
        <p:txBody>
          <a:bodyPr/>
          <a:lstStyle/>
          <a:p>
            <a:r>
              <a:rPr lang="es-ES"/>
              <a:t>Haga clic para modificar el estilo de título del patrón</a:t>
            </a:r>
            <a:endParaRPr lang="es-SV"/>
          </a:p>
        </p:txBody>
      </p:sp>
      <p:sp>
        <p:nvSpPr>
          <p:cNvPr id="3" name="Marcador de fecha 2">
            <a:extLst>
              <a:ext uri="{FF2B5EF4-FFF2-40B4-BE49-F238E27FC236}">
                <a16:creationId xmlns:a16="http://schemas.microsoft.com/office/drawing/2014/main" id="{9C00D8C5-D4D6-4876-B020-6884E1CF2E45}"/>
              </a:ext>
            </a:extLst>
          </p:cNvPr>
          <p:cNvSpPr>
            <a:spLocks noGrp="1"/>
          </p:cNvSpPr>
          <p:nvPr>
            <p:ph type="dt" sz="half" idx="10"/>
          </p:nvPr>
        </p:nvSpPr>
        <p:spPr/>
        <p:txBody>
          <a:bodyPr/>
          <a:lstStyle/>
          <a:p>
            <a:fld id="{4B5F6883-5435-47D5-880C-1B4DF04FBDCC}" type="datetimeFigureOut">
              <a:rPr lang="es-SV" smtClean="0"/>
              <a:pPr/>
              <a:t>13/5/2026</a:t>
            </a:fld>
            <a:endParaRPr lang="es-SV"/>
          </a:p>
        </p:txBody>
      </p:sp>
      <p:sp>
        <p:nvSpPr>
          <p:cNvPr id="4" name="Marcador de pie de página 3">
            <a:extLst>
              <a:ext uri="{FF2B5EF4-FFF2-40B4-BE49-F238E27FC236}">
                <a16:creationId xmlns:a16="http://schemas.microsoft.com/office/drawing/2014/main" id="{4675D8B3-34A0-4F1C-9408-3B4237879935}"/>
              </a:ext>
            </a:extLst>
          </p:cNvPr>
          <p:cNvSpPr>
            <a:spLocks noGrp="1"/>
          </p:cNvSpPr>
          <p:nvPr>
            <p:ph type="ftr" sz="quarter" idx="11"/>
          </p:nvPr>
        </p:nvSpPr>
        <p:spPr/>
        <p:txBody>
          <a:bodyPr/>
          <a:lstStyle/>
          <a:p>
            <a:endParaRPr lang="es-SV"/>
          </a:p>
        </p:txBody>
      </p:sp>
      <p:sp>
        <p:nvSpPr>
          <p:cNvPr id="5" name="Marcador de número de diapositiva 4">
            <a:extLst>
              <a:ext uri="{FF2B5EF4-FFF2-40B4-BE49-F238E27FC236}">
                <a16:creationId xmlns:a16="http://schemas.microsoft.com/office/drawing/2014/main" id="{254E75EF-CA48-4A94-BA61-020254975B98}"/>
              </a:ext>
            </a:extLst>
          </p:cNvPr>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700414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1F2D709-B9CA-4FA9-A3AC-DFDA5C904E0F}"/>
              </a:ext>
            </a:extLst>
          </p:cNvPr>
          <p:cNvSpPr>
            <a:spLocks noGrp="1"/>
          </p:cNvSpPr>
          <p:nvPr>
            <p:ph type="dt" sz="half" idx="10"/>
          </p:nvPr>
        </p:nvSpPr>
        <p:spPr/>
        <p:txBody>
          <a:bodyPr/>
          <a:lstStyle/>
          <a:p>
            <a:fld id="{4B5F6883-5435-47D5-880C-1B4DF04FBDCC}" type="datetimeFigureOut">
              <a:rPr lang="es-SV" smtClean="0"/>
              <a:pPr/>
              <a:t>13/5/2026</a:t>
            </a:fld>
            <a:endParaRPr lang="es-SV"/>
          </a:p>
        </p:txBody>
      </p:sp>
      <p:sp>
        <p:nvSpPr>
          <p:cNvPr id="3" name="Marcador de pie de página 2">
            <a:extLst>
              <a:ext uri="{FF2B5EF4-FFF2-40B4-BE49-F238E27FC236}">
                <a16:creationId xmlns:a16="http://schemas.microsoft.com/office/drawing/2014/main" id="{E311A19F-9F95-4829-86E3-CA1838720CB6}"/>
              </a:ext>
            </a:extLst>
          </p:cNvPr>
          <p:cNvSpPr>
            <a:spLocks noGrp="1"/>
          </p:cNvSpPr>
          <p:nvPr>
            <p:ph type="ftr" sz="quarter" idx="11"/>
          </p:nvPr>
        </p:nvSpPr>
        <p:spPr/>
        <p:txBody>
          <a:bodyPr/>
          <a:lstStyle/>
          <a:p>
            <a:endParaRPr lang="es-SV"/>
          </a:p>
        </p:txBody>
      </p:sp>
      <p:sp>
        <p:nvSpPr>
          <p:cNvPr id="4" name="Marcador de número de diapositiva 3">
            <a:extLst>
              <a:ext uri="{FF2B5EF4-FFF2-40B4-BE49-F238E27FC236}">
                <a16:creationId xmlns:a16="http://schemas.microsoft.com/office/drawing/2014/main" id="{9A818AD3-D5FB-4AFD-9102-9D5138B4EADD}"/>
              </a:ext>
            </a:extLst>
          </p:cNvPr>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706341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CEA7FB-539C-4E31-AC5A-5672E79388CA}"/>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s-SV"/>
          </a:p>
        </p:txBody>
      </p:sp>
      <p:sp>
        <p:nvSpPr>
          <p:cNvPr id="3" name="Marcador de contenido 2">
            <a:extLst>
              <a:ext uri="{FF2B5EF4-FFF2-40B4-BE49-F238E27FC236}">
                <a16:creationId xmlns:a16="http://schemas.microsoft.com/office/drawing/2014/main" id="{2D5F89FD-7B5E-4516-8A4F-787C2F09722B}"/>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4" name="Marcador de texto 3">
            <a:extLst>
              <a:ext uri="{FF2B5EF4-FFF2-40B4-BE49-F238E27FC236}">
                <a16:creationId xmlns:a16="http://schemas.microsoft.com/office/drawing/2014/main" id="{64259474-3DE4-4452-92AA-7C8F2AF12DF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1EE62A7-A4CA-40D8-BF0E-56F860248C5D}"/>
              </a:ext>
            </a:extLst>
          </p:cNvPr>
          <p:cNvSpPr>
            <a:spLocks noGrp="1"/>
          </p:cNvSpPr>
          <p:nvPr>
            <p:ph type="dt" sz="half" idx="10"/>
          </p:nvPr>
        </p:nvSpPr>
        <p:spPr/>
        <p:txBody>
          <a:bodyPr/>
          <a:lstStyle/>
          <a:p>
            <a:fld id="{4B5F6883-5435-47D5-880C-1B4DF04FBDCC}" type="datetimeFigureOut">
              <a:rPr lang="es-SV" smtClean="0"/>
              <a:pPr/>
              <a:t>13/5/2026</a:t>
            </a:fld>
            <a:endParaRPr lang="es-SV"/>
          </a:p>
        </p:txBody>
      </p:sp>
      <p:sp>
        <p:nvSpPr>
          <p:cNvPr id="6" name="Marcador de pie de página 5">
            <a:extLst>
              <a:ext uri="{FF2B5EF4-FFF2-40B4-BE49-F238E27FC236}">
                <a16:creationId xmlns:a16="http://schemas.microsoft.com/office/drawing/2014/main" id="{0D8ABBB5-35AB-4F71-87D7-7C6B0DBA4DD0}"/>
              </a:ext>
            </a:extLst>
          </p:cNvPr>
          <p:cNvSpPr>
            <a:spLocks noGrp="1"/>
          </p:cNvSpPr>
          <p:nvPr>
            <p:ph type="ftr" sz="quarter" idx="11"/>
          </p:nvPr>
        </p:nvSpPr>
        <p:spPr/>
        <p:txBody>
          <a:bodyPr/>
          <a:lstStyle/>
          <a:p>
            <a:endParaRPr lang="es-SV"/>
          </a:p>
        </p:txBody>
      </p:sp>
      <p:sp>
        <p:nvSpPr>
          <p:cNvPr id="7" name="Marcador de número de diapositiva 6">
            <a:extLst>
              <a:ext uri="{FF2B5EF4-FFF2-40B4-BE49-F238E27FC236}">
                <a16:creationId xmlns:a16="http://schemas.microsoft.com/office/drawing/2014/main" id="{5FC9AF64-06E8-40DE-ACD7-63755C91ADF8}"/>
              </a:ext>
            </a:extLst>
          </p:cNvPr>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96087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1C055D-A23F-4FC9-A29E-0A99DD276A8B}"/>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s-SV"/>
          </a:p>
        </p:txBody>
      </p:sp>
      <p:sp>
        <p:nvSpPr>
          <p:cNvPr id="3" name="Marcador de posición de imagen 2">
            <a:extLst>
              <a:ext uri="{FF2B5EF4-FFF2-40B4-BE49-F238E27FC236}">
                <a16:creationId xmlns:a16="http://schemas.microsoft.com/office/drawing/2014/main" id="{14770FA1-4138-4ED7-BF13-AA1F2561CB96}"/>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s-SV"/>
          </a:p>
        </p:txBody>
      </p:sp>
      <p:sp>
        <p:nvSpPr>
          <p:cNvPr id="4" name="Marcador de texto 3">
            <a:extLst>
              <a:ext uri="{FF2B5EF4-FFF2-40B4-BE49-F238E27FC236}">
                <a16:creationId xmlns:a16="http://schemas.microsoft.com/office/drawing/2014/main" id="{E81BE2A0-F0F6-4561-8F8B-FA4AFB7E118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2FCB676-E54D-44BE-BB89-69FBC40765AD}"/>
              </a:ext>
            </a:extLst>
          </p:cNvPr>
          <p:cNvSpPr>
            <a:spLocks noGrp="1"/>
          </p:cNvSpPr>
          <p:nvPr>
            <p:ph type="dt" sz="half" idx="10"/>
          </p:nvPr>
        </p:nvSpPr>
        <p:spPr/>
        <p:txBody>
          <a:bodyPr/>
          <a:lstStyle/>
          <a:p>
            <a:fld id="{4B5F6883-5435-47D5-880C-1B4DF04FBDCC}" type="datetimeFigureOut">
              <a:rPr lang="es-SV" smtClean="0"/>
              <a:pPr/>
              <a:t>13/5/2026</a:t>
            </a:fld>
            <a:endParaRPr lang="es-SV"/>
          </a:p>
        </p:txBody>
      </p:sp>
      <p:sp>
        <p:nvSpPr>
          <p:cNvPr id="6" name="Marcador de pie de página 5">
            <a:extLst>
              <a:ext uri="{FF2B5EF4-FFF2-40B4-BE49-F238E27FC236}">
                <a16:creationId xmlns:a16="http://schemas.microsoft.com/office/drawing/2014/main" id="{B8E92DA9-8C81-4A30-BE72-D8C1BDC7D5FD}"/>
              </a:ext>
            </a:extLst>
          </p:cNvPr>
          <p:cNvSpPr>
            <a:spLocks noGrp="1"/>
          </p:cNvSpPr>
          <p:nvPr>
            <p:ph type="ftr" sz="quarter" idx="11"/>
          </p:nvPr>
        </p:nvSpPr>
        <p:spPr/>
        <p:txBody>
          <a:bodyPr/>
          <a:lstStyle/>
          <a:p>
            <a:endParaRPr lang="es-SV"/>
          </a:p>
        </p:txBody>
      </p:sp>
      <p:sp>
        <p:nvSpPr>
          <p:cNvPr id="7" name="Marcador de número de diapositiva 6">
            <a:extLst>
              <a:ext uri="{FF2B5EF4-FFF2-40B4-BE49-F238E27FC236}">
                <a16:creationId xmlns:a16="http://schemas.microsoft.com/office/drawing/2014/main" id="{EEF24DC1-2DBA-4BFC-8CB5-7EFE041BC9B6}"/>
              </a:ext>
            </a:extLst>
          </p:cNvPr>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3841119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6F0E86-0D6A-4A5D-9D6D-EDA9EBC88840}"/>
              </a:ext>
            </a:extLst>
          </p:cNvPr>
          <p:cNvSpPr>
            <a:spLocks noGrp="1"/>
          </p:cNvSpPr>
          <p:nvPr>
            <p:ph type="title"/>
          </p:nvPr>
        </p:nvSpPr>
        <p:spPr/>
        <p:txBody>
          <a:bodyPr/>
          <a:lstStyle/>
          <a:p>
            <a:r>
              <a:rPr lang="es-ES"/>
              <a:t>Haga clic para modificar el estilo de título del patrón</a:t>
            </a:r>
            <a:endParaRPr lang="es-SV"/>
          </a:p>
        </p:txBody>
      </p:sp>
      <p:sp>
        <p:nvSpPr>
          <p:cNvPr id="3" name="Marcador de texto vertical 2">
            <a:extLst>
              <a:ext uri="{FF2B5EF4-FFF2-40B4-BE49-F238E27FC236}">
                <a16:creationId xmlns:a16="http://schemas.microsoft.com/office/drawing/2014/main" id="{A9E37240-95E7-4213-843D-8275B70AF09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4" name="Marcador de fecha 3">
            <a:extLst>
              <a:ext uri="{FF2B5EF4-FFF2-40B4-BE49-F238E27FC236}">
                <a16:creationId xmlns:a16="http://schemas.microsoft.com/office/drawing/2014/main" id="{B6EF9F99-32A3-4765-9357-5E4A17ECDFEB}"/>
              </a:ext>
            </a:extLst>
          </p:cNvPr>
          <p:cNvSpPr>
            <a:spLocks noGrp="1"/>
          </p:cNvSpPr>
          <p:nvPr>
            <p:ph type="dt" sz="half" idx="10"/>
          </p:nvPr>
        </p:nvSpPr>
        <p:spPr/>
        <p:txBody>
          <a:bodyPr/>
          <a:lstStyle/>
          <a:p>
            <a:fld id="{4B5F6883-5435-47D5-880C-1B4DF04FBDCC}" type="datetimeFigureOut">
              <a:rPr lang="es-SV" smtClean="0"/>
              <a:pPr/>
              <a:t>13/5/2026</a:t>
            </a:fld>
            <a:endParaRPr lang="es-SV"/>
          </a:p>
        </p:txBody>
      </p:sp>
      <p:sp>
        <p:nvSpPr>
          <p:cNvPr id="5" name="Marcador de pie de página 4">
            <a:extLst>
              <a:ext uri="{FF2B5EF4-FFF2-40B4-BE49-F238E27FC236}">
                <a16:creationId xmlns:a16="http://schemas.microsoft.com/office/drawing/2014/main" id="{6A3B2729-0CD3-403B-9761-DC193BE24DE9}"/>
              </a:ext>
            </a:extLst>
          </p:cNvPr>
          <p:cNvSpPr>
            <a:spLocks noGrp="1"/>
          </p:cNvSpPr>
          <p:nvPr>
            <p:ph type="ftr" sz="quarter" idx="11"/>
          </p:nvPr>
        </p:nvSpPr>
        <p:spPr/>
        <p:txBody>
          <a:bodyPr/>
          <a:lstStyle/>
          <a:p>
            <a:endParaRPr lang="es-SV"/>
          </a:p>
        </p:txBody>
      </p:sp>
      <p:sp>
        <p:nvSpPr>
          <p:cNvPr id="6" name="Marcador de número de diapositiva 5">
            <a:extLst>
              <a:ext uri="{FF2B5EF4-FFF2-40B4-BE49-F238E27FC236}">
                <a16:creationId xmlns:a16="http://schemas.microsoft.com/office/drawing/2014/main" id="{CC60B0F5-250E-44CE-B082-E654591FDF2D}"/>
              </a:ext>
            </a:extLst>
          </p:cNvPr>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2770593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8A9EBAF-DB20-4BC3-8281-01652C0426FB}"/>
              </a:ext>
            </a:extLst>
          </p:cNvPr>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s-SV"/>
          </a:p>
        </p:txBody>
      </p:sp>
      <p:sp>
        <p:nvSpPr>
          <p:cNvPr id="3" name="Marcador de texto vertical 2">
            <a:extLst>
              <a:ext uri="{FF2B5EF4-FFF2-40B4-BE49-F238E27FC236}">
                <a16:creationId xmlns:a16="http://schemas.microsoft.com/office/drawing/2014/main" id="{F80B54C4-8AA3-4ABC-887B-D628724F08B5}"/>
              </a:ext>
            </a:extLst>
          </p:cNvPr>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4" name="Marcador de fecha 3">
            <a:extLst>
              <a:ext uri="{FF2B5EF4-FFF2-40B4-BE49-F238E27FC236}">
                <a16:creationId xmlns:a16="http://schemas.microsoft.com/office/drawing/2014/main" id="{5486A0FE-9C0A-445E-B248-62A6C5E138D8}"/>
              </a:ext>
            </a:extLst>
          </p:cNvPr>
          <p:cNvSpPr>
            <a:spLocks noGrp="1"/>
          </p:cNvSpPr>
          <p:nvPr>
            <p:ph type="dt" sz="half" idx="10"/>
          </p:nvPr>
        </p:nvSpPr>
        <p:spPr/>
        <p:txBody>
          <a:bodyPr/>
          <a:lstStyle/>
          <a:p>
            <a:fld id="{4B5F6883-5435-47D5-880C-1B4DF04FBDCC}" type="datetimeFigureOut">
              <a:rPr lang="es-SV" smtClean="0"/>
              <a:pPr/>
              <a:t>13/5/2026</a:t>
            </a:fld>
            <a:endParaRPr lang="es-SV"/>
          </a:p>
        </p:txBody>
      </p:sp>
      <p:sp>
        <p:nvSpPr>
          <p:cNvPr id="5" name="Marcador de pie de página 4">
            <a:extLst>
              <a:ext uri="{FF2B5EF4-FFF2-40B4-BE49-F238E27FC236}">
                <a16:creationId xmlns:a16="http://schemas.microsoft.com/office/drawing/2014/main" id="{A4EC380F-4981-48B8-AA84-21F12BC439CB}"/>
              </a:ext>
            </a:extLst>
          </p:cNvPr>
          <p:cNvSpPr>
            <a:spLocks noGrp="1"/>
          </p:cNvSpPr>
          <p:nvPr>
            <p:ph type="ftr" sz="quarter" idx="11"/>
          </p:nvPr>
        </p:nvSpPr>
        <p:spPr/>
        <p:txBody>
          <a:bodyPr/>
          <a:lstStyle/>
          <a:p>
            <a:endParaRPr lang="es-SV"/>
          </a:p>
        </p:txBody>
      </p:sp>
      <p:sp>
        <p:nvSpPr>
          <p:cNvPr id="6" name="Marcador de número de diapositiva 5">
            <a:extLst>
              <a:ext uri="{FF2B5EF4-FFF2-40B4-BE49-F238E27FC236}">
                <a16:creationId xmlns:a16="http://schemas.microsoft.com/office/drawing/2014/main" id="{D8D86E3B-C627-41BE-9989-561767F209CA}"/>
              </a:ext>
            </a:extLst>
          </p:cNvPr>
          <p:cNvSpPr>
            <a:spLocks noGrp="1"/>
          </p:cNvSpPr>
          <p:nvPr>
            <p:ph type="sldNum" sz="quarter" idx="12"/>
          </p:nvPr>
        </p:nvSpPr>
        <p:spPr/>
        <p:txBody>
          <a:bodyPr/>
          <a:lstStyle/>
          <a:p>
            <a:fld id="{2D022E58-9AF6-4173-9FFF-BFAAE1D0EF7D}" type="slidenum">
              <a:rPr lang="es-SV" smtClean="0"/>
              <a:pPr/>
              <a:t>‹Nº›</a:t>
            </a:fld>
            <a:endParaRPr lang="es-SV"/>
          </a:p>
        </p:txBody>
      </p:sp>
    </p:spTree>
    <p:extLst>
      <p:ext uri="{BB962C8B-B14F-4D97-AF65-F5344CB8AC3E}">
        <p14:creationId xmlns:p14="http://schemas.microsoft.com/office/powerpoint/2010/main" val="1632113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9C3CC57-C7A7-4420-BA4B-2A9C4F18D47A}"/>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s-SV"/>
          </a:p>
        </p:txBody>
      </p:sp>
      <p:sp>
        <p:nvSpPr>
          <p:cNvPr id="3" name="Marcador de texto 2">
            <a:extLst>
              <a:ext uri="{FF2B5EF4-FFF2-40B4-BE49-F238E27FC236}">
                <a16:creationId xmlns:a16="http://schemas.microsoft.com/office/drawing/2014/main" id="{86C5E76B-A305-4663-B40B-766FE7F6D5E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SV"/>
          </a:p>
        </p:txBody>
      </p:sp>
      <p:sp>
        <p:nvSpPr>
          <p:cNvPr id="4" name="Marcador de fecha 3">
            <a:extLst>
              <a:ext uri="{FF2B5EF4-FFF2-40B4-BE49-F238E27FC236}">
                <a16:creationId xmlns:a16="http://schemas.microsoft.com/office/drawing/2014/main" id="{5366C72B-7307-429F-9955-32D2390B10F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B5F6883-5435-47D5-880C-1B4DF04FBDCC}" type="datetimeFigureOut">
              <a:rPr lang="es-SV" smtClean="0"/>
              <a:pPr/>
              <a:t>13/5/2026</a:t>
            </a:fld>
            <a:endParaRPr lang="es-SV"/>
          </a:p>
        </p:txBody>
      </p:sp>
      <p:sp>
        <p:nvSpPr>
          <p:cNvPr id="5" name="Marcador de pie de página 4">
            <a:extLst>
              <a:ext uri="{FF2B5EF4-FFF2-40B4-BE49-F238E27FC236}">
                <a16:creationId xmlns:a16="http://schemas.microsoft.com/office/drawing/2014/main" id="{A5C4EA2A-2A17-40EE-853F-1E0F2120C041}"/>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SV"/>
          </a:p>
        </p:txBody>
      </p:sp>
      <p:sp>
        <p:nvSpPr>
          <p:cNvPr id="6" name="Marcador de número de diapositiva 5">
            <a:extLst>
              <a:ext uri="{FF2B5EF4-FFF2-40B4-BE49-F238E27FC236}">
                <a16:creationId xmlns:a16="http://schemas.microsoft.com/office/drawing/2014/main" id="{B3B62542-0109-424E-B6E2-C28C1D215DC1}"/>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D022E58-9AF6-4173-9FFF-BFAAE1D0EF7D}" type="slidenum">
              <a:rPr lang="es-SV" smtClean="0"/>
              <a:pPr/>
              <a:t>‹Nº›</a:t>
            </a:fld>
            <a:endParaRPr lang="es-SV"/>
          </a:p>
        </p:txBody>
      </p:sp>
    </p:spTree>
    <p:extLst>
      <p:ext uri="{BB962C8B-B14F-4D97-AF65-F5344CB8AC3E}">
        <p14:creationId xmlns:p14="http://schemas.microsoft.com/office/powerpoint/2010/main" val="2197197530"/>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SV"/>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10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10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10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11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gif"/><Relationship Id="rId7" Type="http://schemas.openxmlformats.org/officeDocument/2006/relationships/image" Target="../media/image11.emf"/><Relationship Id="rId2" Type="http://schemas.openxmlformats.org/officeDocument/2006/relationships/image" Target="../media/image1510.png"/><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965.png"/><Relationship Id="rId4" Type="http://schemas.openxmlformats.org/officeDocument/2006/relationships/customXml" Target="../ink/ink1.xml"/></Relationships>
</file>

<file path=ppt/slides/_rels/slide14.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14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9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9" name="Rectangle 72">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Meiryo"/>
            </a:endParaRPr>
          </a:p>
        </p:txBody>
      </p:sp>
      <p:sp>
        <p:nvSpPr>
          <p:cNvPr id="1040" name="Freeform: Shape 74">
            <a:extLst>
              <a:ext uri="{FF2B5EF4-FFF2-40B4-BE49-F238E27FC236}">
                <a16:creationId xmlns:a16="http://schemas.microsoft.com/office/drawing/2014/main" id="{F2F014E7-B612-4079-894D-4697468C5B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4750" y="493190"/>
            <a:ext cx="2714498" cy="3180914"/>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3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41" name="Freeform: Shape 76">
            <a:extLst>
              <a:ext uri="{FF2B5EF4-FFF2-40B4-BE49-F238E27FC236}">
                <a16:creationId xmlns:a16="http://schemas.microsoft.com/office/drawing/2014/main" id="{5BEB0D00-4F7A-41D8-B15E-B42145EA93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8838" y="397566"/>
            <a:ext cx="2886324" cy="3446612"/>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1 Título"/>
          <p:cNvSpPr>
            <a:spLocks noGrp="1"/>
          </p:cNvSpPr>
          <p:nvPr>
            <p:ph type="ctrTitle"/>
          </p:nvPr>
        </p:nvSpPr>
        <p:spPr>
          <a:xfrm>
            <a:off x="1135048" y="3739768"/>
            <a:ext cx="6873903" cy="1424473"/>
          </a:xfrm>
        </p:spPr>
        <p:txBody>
          <a:bodyPr anchor="b">
            <a:normAutofit/>
          </a:bodyPr>
          <a:lstStyle/>
          <a:p>
            <a:r>
              <a:rPr lang="es-MX" sz="4200"/>
              <a:t>Universidad centroamericana </a:t>
            </a:r>
            <a:br>
              <a:rPr lang="es-MX" sz="4200"/>
            </a:br>
            <a:r>
              <a:rPr lang="es-MX" sz="4200"/>
              <a:t>“José Simeón Cañas” </a:t>
            </a:r>
            <a:endParaRPr lang="es-SV" sz="4200"/>
          </a:p>
        </p:txBody>
      </p:sp>
      <p:sp>
        <p:nvSpPr>
          <p:cNvPr id="3" name="2 Subtítulo"/>
          <p:cNvSpPr>
            <a:spLocks noGrp="1"/>
          </p:cNvSpPr>
          <p:nvPr>
            <p:ph type="subTitle" idx="1"/>
          </p:nvPr>
        </p:nvSpPr>
        <p:spPr>
          <a:xfrm>
            <a:off x="1964532" y="5295570"/>
            <a:ext cx="5214937" cy="744270"/>
          </a:xfrm>
        </p:spPr>
        <p:txBody>
          <a:bodyPr anchor="t">
            <a:normAutofit/>
          </a:bodyPr>
          <a:lstStyle/>
          <a:p>
            <a:r>
              <a:rPr lang="es-SV" sz="1000" i="1" dirty="0"/>
              <a:t>“El ángel de Jehová acampa alrededor de los que le temen, Y los defiende”. </a:t>
            </a:r>
            <a:r>
              <a:rPr lang="es-SV" sz="1000" dirty="0"/>
              <a:t>Salmos 34:7</a:t>
            </a:r>
          </a:p>
        </p:txBody>
      </p:sp>
      <p:pic>
        <p:nvPicPr>
          <p:cNvPr id="1028" name="Picture 4" descr="Resultado de imagen para uca mafi"/>
          <p:cNvPicPr>
            <a:picLocks noChangeAspect="1" noChangeArrowheads="1"/>
          </p:cNvPicPr>
          <p:nvPr/>
        </p:nvPicPr>
        <p:blipFill rotWithShape="1">
          <a:blip r:embed="rId2">
            <a:extLst>
              <a:ext uri="{28A0092B-C50C-407E-A947-70E740481C1C}">
                <a14:useLocalDpi xmlns:a14="http://schemas.microsoft.com/office/drawing/2010/main" val="0"/>
              </a:ext>
            </a:extLst>
          </a:blip>
          <a:srcRect r="71886"/>
          <a:stretch/>
        </p:blipFill>
        <p:spPr bwMode="auto">
          <a:xfrm>
            <a:off x="3853395" y="1196594"/>
            <a:ext cx="1505361" cy="1746030"/>
          </a:xfrm>
          <a:prstGeom prst="rect">
            <a:avLst/>
          </a:prstGeom>
          <a:noFill/>
          <a:extLst>
            <a:ext uri="{909E8E84-426E-40DD-AFC4-6F175D3DCCD1}">
              <a14:hiddenFill xmlns:a14="http://schemas.microsoft.com/office/drawing/2010/main">
                <a:solidFill>
                  <a:srgbClr val="FFFFFF"/>
                </a:solidFill>
              </a14:hiddenFill>
            </a:ext>
          </a:extLst>
        </p:spPr>
      </p:pic>
      <p:sp>
        <p:nvSpPr>
          <p:cNvPr id="4" name="2 Subtítulo"/>
          <p:cNvSpPr txBox="1">
            <a:spLocks/>
          </p:cNvSpPr>
          <p:nvPr/>
        </p:nvSpPr>
        <p:spPr>
          <a:xfrm>
            <a:off x="2699792" y="5301208"/>
            <a:ext cx="4104456" cy="576064"/>
          </a:xfrm>
          <a:prstGeom prst="rect">
            <a:avLst/>
          </a:prstGeom>
        </p:spPr>
        <p:txBody>
          <a:bodyPr vert="horz">
            <a:noAutofit/>
          </a:bodyPr>
          <a:lstStyle/>
          <a:p>
            <a:pPr marL="0" marR="0" lvl="0" indent="0" algn="r" defTabSz="914400" rtl="0" eaLnBrk="1" fontAlgn="auto" latinLnBrk="0" hangingPunct="1">
              <a:lnSpc>
                <a:spcPct val="100000"/>
              </a:lnSpc>
              <a:spcBef>
                <a:spcPts val="600"/>
              </a:spcBef>
              <a:spcAft>
                <a:spcPts val="0"/>
              </a:spcAft>
              <a:buClr>
                <a:schemeClr val="accent1"/>
              </a:buClr>
              <a:buSzPct val="76000"/>
              <a:buFont typeface="Wingdings 3"/>
              <a:buNone/>
              <a:tabLst/>
              <a:defRPr/>
            </a:pPr>
            <a:endParaRPr kumimoji="0" lang="es-SV" sz="4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1 Título"/>
          <p:cNvSpPr>
            <a:spLocks noGrp="1"/>
          </p:cNvSpPr>
          <p:nvPr>
            <p:ph type="title"/>
          </p:nvPr>
        </p:nvSpPr>
        <p:spPr>
          <a:xfrm>
            <a:off x="476250" y="640823"/>
            <a:ext cx="2563994" cy="5583148"/>
          </a:xfrm>
        </p:spPr>
        <p:txBody>
          <a:bodyPr anchor="ctr">
            <a:normAutofit/>
          </a:bodyPr>
          <a:lstStyle/>
          <a:p>
            <a:r>
              <a:rPr lang="es-MX" sz="4300"/>
              <a:t>Conceptos básicos</a:t>
            </a:r>
            <a:endParaRPr lang="es-SV" sz="4300"/>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 name="csX0" fmla="*/ 0 w 5410200"/>
              <a:gd name="csY0" fmla="*/ 0 h 13716"/>
              <a:gd name="csX1" fmla="*/ 622173 w 5410200"/>
              <a:gd name="csY1" fmla="*/ 0 h 13716"/>
              <a:gd name="csX2" fmla="*/ 1136142 w 5410200"/>
              <a:gd name="csY2" fmla="*/ 0 h 13716"/>
              <a:gd name="csX3" fmla="*/ 1920621 w 5410200"/>
              <a:gd name="csY3" fmla="*/ 0 h 13716"/>
              <a:gd name="csX4" fmla="*/ 2542794 w 5410200"/>
              <a:gd name="csY4" fmla="*/ 0 h 13716"/>
              <a:gd name="csX5" fmla="*/ 3164967 w 5410200"/>
              <a:gd name="csY5" fmla="*/ 0 h 13716"/>
              <a:gd name="csX6" fmla="*/ 3949446 w 5410200"/>
              <a:gd name="csY6" fmla="*/ 0 h 13716"/>
              <a:gd name="csX7" fmla="*/ 4517517 w 5410200"/>
              <a:gd name="csY7" fmla="*/ 0 h 13716"/>
              <a:gd name="csX8" fmla="*/ 5410200 w 5410200"/>
              <a:gd name="csY8" fmla="*/ 0 h 13716"/>
              <a:gd name="csX9" fmla="*/ 5410200 w 5410200"/>
              <a:gd name="csY9" fmla="*/ 13716 h 13716"/>
              <a:gd name="csX10" fmla="*/ 4842129 w 5410200"/>
              <a:gd name="csY10" fmla="*/ 13716 h 13716"/>
              <a:gd name="csX11" fmla="*/ 4165854 w 5410200"/>
              <a:gd name="csY11" fmla="*/ 13716 h 13716"/>
              <a:gd name="csX12" fmla="*/ 3543681 w 5410200"/>
              <a:gd name="csY12" fmla="*/ 13716 h 13716"/>
              <a:gd name="csX13" fmla="*/ 2759202 w 5410200"/>
              <a:gd name="csY13" fmla="*/ 13716 h 13716"/>
              <a:gd name="csX14" fmla="*/ 1974723 w 5410200"/>
              <a:gd name="csY14" fmla="*/ 13716 h 13716"/>
              <a:gd name="csX15" fmla="*/ 1406652 w 5410200"/>
              <a:gd name="csY15" fmla="*/ 13716 h 13716"/>
              <a:gd name="csX16" fmla="*/ 730377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76940" y="8795"/>
                  <a:pt x="295530" y="-3818"/>
                  <a:pt x="568071" y="0"/>
                </a:cubicBezTo>
                <a:cubicBezTo>
                  <a:pt x="821049" y="-7814"/>
                  <a:pt x="977778" y="-9274"/>
                  <a:pt x="1298448" y="0"/>
                </a:cubicBezTo>
                <a:cubicBezTo>
                  <a:pt x="1590381" y="13044"/>
                  <a:pt x="1630605" y="-28"/>
                  <a:pt x="1920621" y="0"/>
                </a:cubicBezTo>
                <a:cubicBezTo>
                  <a:pt x="2206035" y="10386"/>
                  <a:pt x="2357755" y="-28028"/>
                  <a:pt x="2488692" y="0"/>
                </a:cubicBezTo>
                <a:cubicBezTo>
                  <a:pt x="2633521" y="25625"/>
                  <a:pt x="3022777" y="-45440"/>
                  <a:pt x="3219069" y="0"/>
                </a:cubicBezTo>
                <a:cubicBezTo>
                  <a:pt x="3460337" y="63290"/>
                  <a:pt x="3645640" y="26494"/>
                  <a:pt x="3895344" y="0"/>
                </a:cubicBezTo>
                <a:cubicBezTo>
                  <a:pt x="4126339" y="-535"/>
                  <a:pt x="4382665" y="-55222"/>
                  <a:pt x="4571619" y="0"/>
                </a:cubicBezTo>
                <a:cubicBezTo>
                  <a:pt x="4776405" y="-816"/>
                  <a:pt x="5201098" y="-43036"/>
                  <a:pt x="5410200" y="0"/>
                </a:cubicBezTo>
                <a:cubicBezTo>
                  <a:pt x="5409052" y="2649"/>
                  <a:pt x="5410186" y="9063"/>
                  <a:pt x="5410200" y="13716"/>
                </a:cubicBezTo>
                <a:cubicBezTo>
                  <a:pt x="5133704" y="5182"/>
                  <a:pt x="5123444" y="31477"/>
                  <a:pt x="4842129" y="13716"/>
                </a:cubicBezTo>
                <a:cubicBezTo>
                  <a:pt x="4568650" y="-219"/>
                  <a:pt x="4447390" y="8221"/>
                  <a:pt x="4328160" y="13716"/>
                </a:cubicBezTo>
                <a:cubicBezTo>
                  <a:pt x="4227436" y="28078"/>
                  <a:pt x="3754725" y="-2253"/>
                  <a:pt x="3597783" y="13716"/>
                </a:cubicBezTo>
                <a:cubicBezTo>
                  <a:pt x="3459353" y="10223"/>
                  <a:pt x="3317740" y="47315"/>
                  <a:pt x="3029712" y="13716"/>
                </a:cubicBezTo>
                <a:cubicBezTo>
                  <a:pt x="2766446" y="5245"/>
                  <a:pt x="2645518" y="35922"/>
                  <a:pt x="2299335" y="13716"/>
                </a:cubicBezTo>
                <a:cubicBezTo>
                  <a:pt x="1977844" y="23735"/>
                  <a:pt x="1781583" y="-1801"/>
                  <a:pt x="1514856" y="13716"/>
                </a:cubicBezTo>
                <a:cubicBezTo>
                  <a:pt x="1212648" y="18781"/>
                  <a:pt x="1087880" y="-4407"/>
                  <a:pt x="892683" y="13716"/>
                </a:cubicBezTo>
                <a:cubicBezTo>
                  <a:pt x="745769" y="11772"/>
                  <a:pt x="183254" y="-32062"/>
                  <a:pt x="0" y="13716"/>
                </a:cubicBezTo>
                <a:cubicBezTo>
                  <a:pt x="-907" y="9799"/>
                  <a:pt x="-75" y="7151"/>
                  <a:pt x="0" y="0"/>
                </a:cubicBezTo>
                <a:close/>
              </a:path>
              <a:path w="5410200" h="13716" stroke="0" extrusionOk="0">
                <a:moveTo>
                  <a:pt x="0" y="0"/>
                </a:moveTo>
                <a:cubicBezTo>
                  <a:pt x="269468" y="-22806"/>
                  <a:pt x="392563" y="4840"/>
                  <a:pt x="622173" y="0"/>
                </a:cubicBezTo>
                <a:cubicBezTo>
                  <a:pt x="884216" y="-2196"/>
                  <a:pt x="1034637" y="7784"/>
                  <a:pt x="1136142" y="0"/>
                </a:cubicBezTo>
                <a:cubicBezTo>
                  <a:pt x="1204956" y="5920"/>
                  <a:pt x="1559779" y="-61408"/>
                  <a:pt x="1920621" y="0"/>
                </a:cubicBezTo>
                <a:cubicBezTo>
                  <a:pt x="2280250" y="-18581"/>
                  <a:pt x="2372470" y="4128"/>
                  <a:pt x="2542794" y="0"/>
                </a:cubicBezTo>
                <a:cubicBezTo>
                  <a:pt x="2688150" y="-17189"/>
                  <a:pt x="2885478" y="-51412"/>
                  <a:pt x="3164967" y="0"/>
                </a:cubicBezTo>
                <a:cubicBezTo>
                  <a:pt x="3470933" y="16143"/>
                  <a:pt x="3588003" y="-4313"/>
                  <a:pt x="3949446" y="0"/>
                </a:cubicBezTo>
                <a:cubicBezTo>
                  <a:pt x="4331172" y="1470"/>
                  <a:pt x="4289286" y="5331"/>
                  <a:pt x="4517517" y="0"/>
                </a:cubicBezTo>
                <a:cubicBezTo>
                  <a:pt x="4736577" y="41911"/>
                  <a:pt x="5141868" y="443"/>
                  <a:pt x="5410200" y="0"/>
                </a:cubicBezTo>
                <a:cubicBezTo>
                  <a:pt x="5410845" y="2936"/>
                  <a:pt x="5409877" y="9829"/>
                  <a:pt x="5410200" y="13716"/>
                </a:cubicBezTo>
                <a:cubicBezTo>
                  <a:pt x="5130880" y="48304"/>
                  <a:pt x="5008082" y="-27188"/>
                  <a:pt x="4842129" y="13716"/>
                </a:cubicBezTo>
                <a:cubicBezTo>
                  <a:pt x="4629232" y="38478"/>
                  <a:pt x="4430159" y="43872"/>
                  <a:pt x="4165854" y="13716"/>
                </a:cubicBezTo>
                <a:cubicBezTo>
                  <a:pt x="3880517" y="17026"/>
                  <a:pt x="3820863" y="-12209"/>
                  <a:pt x="3543681" y="13716"/>
                </a:cubicBezTo>
                <a:cubicBezTo>
                  <a:pt x="3267577" y="39687"/>
                  <a:pt x="3047131" y="-8774"/>
                  <a:pt x="2759202" y="13716"/>
                </a:cubicBezTo>
                <a:cubicBezTo>
                  <a:pt x="2418778" y="17929"/>
                  <a:pt x="2206820" y="-35095"/>
                  <a:pt x="1974723" y="13716"/>
                </a:cubicBezTo>
                <a:cubicBezTo>
                  <a:pt x="1740429" y="35710"/>
                  <a:pt x="1599301" y="34493"/>
                  <a:pt x="1406652" y="13716"/>
                </a:cubicBezTo>
                <a:cubicBezTo>
                  <a:pt x="1196601" y="3966"/>
                  <a:pt x="938578" y="38717"/>
                  <a:pt x="730377" y="13716"/>
                </a:cubicBezTo>
                <a:cubicBezTo>
                  <a:pt x="524173" y="26651"/>
                  <a:pt x="336004" y="-17469"/>
                  <a:pt x="0" y="13716"/>
                </a:cubicBezTo>
                <a:cubicBezTo>
                  <a:pt x="-377" y="9245"/>
                  <a:pt x="1157" y="3819"/>
                  <a:pt x="0" y="0"/>
                </a:cubicBezTo>
                <a:close/>
              </a:path>
              <a:path w="5410200" h="13716" fill="none" stroke="0" extrusionOk="0">
                <a:moveTo>
                  <a:pt x="0" y="0"/>
                </a:moveTo>
                <a:cubicBezTo>
                  <a:pt x="148438" y="-27720"/>
                  <a:pt x="315263" y="-14841"/>
                  <a:pt x="568071" y="0"/>
                </a:cubicBezTo>
                <a:cubicBezTo>
                  <a:pt x="840209" y="21288"/>
                  <a:pt x="982180" y="-6281"/>
                  <a:pt x="1298448" y="0"/>
                </a:cubicBezTo>
                <a:cubicBezTo>
                  <a:pt x="1577021" y="13763"/>
                  <a:pt x="1630910" y="1060"/>
                  <a:pt x="1920621" y="0"/>
                </a:cubicBezTo>
                <a:cubicBezTo>
                  <a:pt x="2200928" y="-1340"/>
                  <a:pt x="2382869" y="-10369"/>
                  <a:pt x="2488692" y="0"/>
                </a:cubicBezTo>
                <a:cubicBezTo>
                  <a:pt x="2620356" y="20061"/>
                  <a:pt x="3042766" y="-74691"/>
                  <a:pt x="3219069" y="0"/>
                </a:cubicBezTo>
                <a:cubicBezTo>
                  <a:pt x="3395755" y="31704"/>
                  <a:pt x="3646717" y="33546"/>
                  <a:pt x="3895344" y="0"/>
                </a:cubicBezTo>
                <a:cubicBezTo>
                  <a:pt x="4131847" y="-43416"/>
                  <a:pt x="4371681" y="11418"/>
                  <a:pt x="4571619" y="0"/>
                </a:cubicBezTo>
                <a:cubicBezTo>
                  <a:pt x="4799447" y="47677"/>
                  <a:pt x="5212547" y="1562"/>
                  <a:pt x="5410200" y="0"/>
                </a:cubicBezTo>
                <a:cubicBezTo>
                  <a:pt x="5408905" y="2744"/>
                  <a:pt x="5410401" y="9950"/>
                  <a:pt x="5410200" y="13716"/>
                </a:cubicBezTo>
                <a:cubicBezTo>
                  <a:pt x="5139576" y="2947"/>
                  <a:pt x="5122299" y="33775"/>
                  <a:pt x="4842129" y="13716"/>
                </a:cubicBezTo>
                <a:cubicBezTo>
                  <a:pt x="4566356" y="6655"/>
                  <a:pt x="4456854" y="15426"/>
                  <a:pt x="4328160" y="13716"/>
                </a:cubicBezTo>
                <a:cubicBezTo>
                  <a:pt x="4234703" y="-822"/>
                  <a:pt x="3768176" y="-16062"/>
                  <a:pt x="3597783" y="13716"/>
                </a:cubicBezTo>
                <a:cubicBezTo>
                  <a:pt x="3430303" y="10148"/>
                  <a:pt x="3287506" y="20215"/>
                  <a:pt x="3029712" y="13716"/>
                </a:cubicBezTo>
                <a:cubicBezTo>
                  <a:pt x="2742636" y="-2421"/>
                  <a:pt x="2637847" y="18109"/>
                  <a:pt x="2299335" y="13716"/>
                </a:cubicBezTo>
                <a:cubicBezTo>
                  <a:pt x="1959433" y="-7861"/>
                  <a:pt x="1779456" y="37101"/>
                  <a:pt x="1514856" y="13716"/>
                </a:cubicBezTo>
                <a:cubicBezTo>
                  <a:pt x="1212431" y="31797"/>
                  <a:pt x="1086601" y="7282"/>
                  <a:pt x="892683" y="13716"/>
                </a:cubicBezTo>
                <a:cubicBezTo>
                  <a:pt x="721500" y="45800"/>
                  <a:pt x="194249" y="-29802"/>
                  <a:pt x="0" y="13716"/>
                </a:cubicBezTo>
                <a:cubicBezTo>
                  <a:pt x="-508" y="9800"/>
                  <a:pt x="-280" y="682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2 Marcador de contenido">
            <a:extLst>
              <a:ext uri="{FF2B5EF4-FFF2-40B4-BE49-F238E27FC236}">
                <a16:creationId xmlns:a16="http://schemas.microsoft.com/office/drawing/2014/main" id="{9E79A1A3-37E3-467C-A633-1127DBB170A3}"/>
              </a:ext>
            </a:extLst>
          </p:cNvPr>
          <p:cNvGraphicFramePr>
            <a:graphicFrameLocks noGrp="1"/>
          </p:cNvGraphicFramePr>
          <p:nvPr>
            <p:ph idx="1"/>
            <p:extLst>
              <p:ext uri="{D42A27DB-BD31-4B8C-83A1-F6EECF244321}">
                <p14:modId xmlns:p14="http://schemas.microsoft.com/office/powerpoint/2010/main" val="201284964"/>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3019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EBFA723-5A7B-472D-ABD7-1526B8D3A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33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6B27065-399A-4CF7-BF70-CF79B9848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33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CF22986C-DDF7-4109-9D6A-006800D6B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975" y="52996"/>
            <a:ext cx="4570023" cy="6805005"/>
            <a:chOff x="6095999" y="52996"/>
            <a:chExt cx="6093363" cy="6805005"/>
          </a:xfrm>
          <a:solidFill>
            <a:schemeClr val="accent5">
              <a:alpha val="10000"/>
            </a:schemeClr>
          </a:solidFill>
        </p:grpSpPr>
        <p:sp>
          <p:nvSpPr>
            <p:cNvPr id="16" name="Freeform: Shape 15">
              <a:extLst>
                <a:ext uri="{FF2B5EF4-FFF2-40B4-BE49-F238E27FC236}">
                  <a16:creationId xmlns:a16="http://schemas.microsoft.com/office/drawing/2014/main" id="{4C025298-F835-4B83-A3A3-6555157E0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7106C81-A3F0-4DA0-9368-6BBCDB9648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4B3B35E8-1AF4-4D76-93A5-B0B088408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ítulo 1"/>
          <p:cNvSpPr>
            <a:spLocks noGrp="1"/>
          </p:cNvSpPr>
          <p:nvPr>
            <p:ph type="title"/>
          </p:nvPr>
        </p:nvSpPr>
        <p:spPr>
          <a:xfrm>
            <a:off x="603504" y="3121701"/>
            <a:ext cx="2743539" cy="1786515"/>
          </a:xfrm>
        </p:spPr>
        <p:txBody>
          <a:bodyPr vert="horz" lIns="91440" tIns="45720" rIns="91440" bIns="45720" rtlCol="0" anchor="t">
            <a:normAutofit/>
          </a:bodyPr>
          <a:lstStyle/>
          <a:p>
            <a:pPr defTabSz="914400"/>
            <a:r>
              <a:rPr lang="en-US" sz="3500" kern="1200">
                <a:solidFill>
                  <a:schemeClr val="tx2"/>
                </a:solidFill>
                <a:latin typeface="+mj-lt"/>
                <a:ea typeface="+mj-ea"/>
                <a:cs typeface="+mj-cs"/>
              </a:rPr>
              <a:t>Variables aleatorias continuas</a:t>
            </a:r>
          </a:p>
        </p:txBody>
      </p:sp>
      <p:sp>
        <p:nvSpPr>
          <p:cNvPr id="3" name="Marcador de contenido 2"/>
          <p:cNvSpPr>
            <a:spLocks noGrp="1"/>
          </p:cNvSpPr>
          <p:nvPr>
            <p:ph idx="1"/>
          </p:nvPr>
        </p:nvSpPr>
        <p:spPr>
          <a:xfrm>
            <a:off x="603504" y="2032347"/>
            <a:ext cx="2743539" cy="955111"/>
          </a:xfrm>
        </p:spPr>
        <p:txBody>
          <a:bodyPr vert="horz" lIns="91440" tIns="45720" rIns="91440" bIns="45720" rtlCol="0" anchor="b">
            <a:normAutofit/>
          </a:bodyPr>
          <a:lstStyle/>
          <a:p>
            <a:pPr marL="0" indent="0" defTabSz="914400">
              <a:spcBef>
                <a:spcPts val="1000"/>
              </a:spcBef>
              <a:buNone/>
            </a:pPr>
            <a:r>
              <a:rPr lang="en-US" sz="1400" kern="1200">
                <a:solidFill>
                  <a:schemeClr val="tx2"/>
                </a:solidFill>
                <a:latin typeface="+mn-lt"/>
                <a:ea typeface="+mn-ea"/>
                <a:cs typeface="+mn-cs"/>
              </a:rPr>
              <a:t>Una variable aleatoria continua x es la que su recorrido es un intervalo o unión de intervalos.</a:t>
            </a:r>
          </a:p>
        </p:txBody>
      </p:sp>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4505" y="1914591"/>
            <a:ext cx="3771900" cy="3021053"/>
          </a:xfrm>
          <a:prstGeom prst="rect">
            <a:avLst/>
          </a:prstGeom>
          <a:ln w="9525">
            <a:noFill/>
          </a:ln>
        </p:spPr>
      </p:pic>
    </p:spTree>
    <p:extLst>
      <p:ext uri="{BB962C8B-B14F-4D97-AF65-F5344CB8AC3E}">
        <p14:creationId xmlns:p14="http://schemas.microsoft.com/office/powerpoint/2010/main" val="1847739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89C5E17-24D0-4696-A3C5-A2261FB455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929B58F-2358-44CC-ACE5-EF1BD3C6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ítulo 1"/>
          <p:cNvSpPr>
            <a:spLocks noGrp="1"/>
          </p:cNvSpPr>
          <p:nvPr>
            <p:ph type="title"/>
          </p:nvPr>
        </p:nvSpPr>
        <p:spPr>
          <a:xfrm>
            <a:off x="603504" y="1243013"/>
            <a:ext cx="2891790" cy="4371974"/>
          </a:xfrm>
        </p:spPr>
        <p:txBody>
          <a:bodyPr>
            <a:normAutofit/>
          </a:bodyPr>
          <a:lstStyle/>
          <a:p>
            <a:r>
              <a:rPr lang="es-SV" sz="3100">
                <a:solidFill>
                  <a:schemeClr val="tx2"/>
                </a:solidFill>
              </a:rPr>
              <a:t>Propiedades </a:t>
            </a:r>
          </a:p>
        </p:txBody>
      </p:sp>
      <p:grpSp>
        <p:nvGrpSpPr>
          <p:cNvPr id="12" name="Group 11">
            <a:extLst>
              <a:ext uri="{FF2B5EF4-FFF2-40B4-BE49-F238E27FC236}">
                <a16:creationId xmlns:a16="http://schemas.microsoft.com/office/drawing/2014/main" id="{09DA5303-A1AF-4830-806C-51FCD9618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673011" y="5285"/>
            <a:ext cx="5470989" cy="6858000"/>
            <a:chOff x="4897348" y="-5799"/>
            <a:chExt cx="7294653" cy="6858000"/>
          </a:xfrm>
        </p:grpSpPr>
        <p:sp>
          <p:nvSpPr>
            <p:cNvPr id="13" name="Freeform: Shape 12">
              <a:extLst>
                <a:ext uri="{FF2B5EF4-FFF2-40B4-BE49-F238E27FC236}">
                  <a16:creationId xmlns:a16="http://schemas.microsoft.com/office/drawing/2014/main" id="{4FAAA8C8-4EB7-45F1-BF24-3EF0F4DC4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7348" y="-5798"/>
              <a:ext cx="7294652" cy="6857999"/>
            </a:xfrm>
            <a:custGeom>
              <a:avLst/>
              <a:gdLst>
                <a:gd name="connsiteX0" fmla="*/ 7294652 w 7294652"/>
                <a:gd name="connsiteY0" fmla="*/ 6063030 h 6857999"/>
                <a:gd name="connsiteX1" fmla="*/ 7294652 w 7294652"/>
                <a:gd name="connsiteY1" fmla="*/ 6857999 h 6857999"/>
                <a:gd name="connsiteX2" fmla="*/ 6248575 w 7294652"/>
                <a:gd name="connsiteY2" fmla="*/ 6857999 h 6857999"/>
                <a:gd name="connsiteX3" fmla="*/ 6477898 w 7294652"/>
                <a:gd name="connsiteY3" fmla="*/ 6700973 h 6857999"/>
                <a:gd name="connsiteX4" fmla="*/ 6647884 w 7294652"/>
                <a:gd name="connsiteY4" fmla="*/ 6572752 h 6857999"/>
                <a:gd name="connsiteX5" fmla="*/ 6817698 w 7294652"/>
                <a:gd name="connsiteY5" fmla="*/ 6440235 h 6857999"/>
                <a:gd name="connsiteX6" fmla="*/ 7161451 w 7294652"/>
                <a:gd name="connsiteY6" fmla="*/ 6165232 h 6857999"/>
                <a:gd name="connsiteX7" fmla="*/ 1673436 w 7294652"/>
                <a:gd name="connsiteY7" fmla="*/ 0 h 6857999"/>
                <a:gd name="connsiteX8" fmla="*/ 2394951 w 7294652"/>
                <a:gd name="connsiteY8" fmla="*/ 0 h 6857999"/>
                <a:gd name="connsiteX9" fmla="*/ 2244659 w 7294652"/>
                <a:gd name="connsiteY9" fmla="*/ 100763 h 6857999"/>
                <a:gd name="connsiteX10" fmla="*/ 1743903 w 7294652"/>
                <a:gd name="connsiteY10" fmla="*/ 498975 h 6857999"/>
                <a:gd name="connsiteX11" fmla="*/ 1163821 w 7294652"/>
                <a:gd name="connsiteY11" fmla="*/ 1121514 h 6857999"/>
                <a:gd name="connsiteX12" fmla="*/ 704911 w 7294652"/>
                <a:gd name="connsiteY12" fmla="*/ 1837036 h 6857999"/>
                <a:gd name="connsiteX13" fmla="*/ 393472 w 7294652"/>
                <a:gd name="connsiteY13" fmla="*/ 2627669 h 6857999"/>
                <a:gd name="connsiteX14" fmla="*/ 280032 w 7294652"/>
                <a:gd name="connsiteY14" fmla="*/ 3472097 h 6857999"/>
                <a:gd name="connsiteX15" fmla="*/ 327813 w 7294652"/>
                <a:gd name="connsiteY15" fmla="*/ 3884602 h 6857999"/>
                <a:gd name="connsiteX16" fmla="*/ 469096 w 7294652"/>
                <a:gd name="connsiteY16" fmla="*/ 4270809 h 6857999"/>
                <a:gd name="connsiteX17" fmla="*/ 567581 w 7294652"/>
                <a:gd name="connsiteY17" fmla="*/ 4452482 h 6857999"/>
                <a:gd name="connsiteX18" fmla="*/ 680677 w 7294652"/>
                <a:gd name="connsiteY18" fmla="*/ 4628484 h 6857999"/>
                <a:gd name="connsiteX19" fmla="*/ 941928 w 7294652"/>
                <a:gd name="connsiteY19" fmla="*/ 4968628 h 6857999"/>
                <a:gd name="connsiteX20" fmla="*/ 1224665 w 7294652"/>
                <a:gd name="connsiteY20" fmla="*/ 5311349 h 6857999"/>
                <a:gd name="connsiteX21" fmla="*/ 1365259 w 7294652"/>
                <a:gd name="connsiteY21" fmla="*/ 5490273 h 6857999"/>
                <a:gd name="connsiteX22" fmla="*/ 1432808 w 7294652"/>
                <a:gd name="connsiteY22" fmla="*/ 5577931 h 6857999"/>
                <a:gd name="connsiteX23" fmla="*/ 1498980 w 7294652"/>
                <a:gd name="connsiteY23" fmla="*/ 5662148 h 6857999"/>
                <a:gd name="connsiteX24" fmla="*/ 2067548 w 7294652"/>
                <a:gd name="connsiteY24" fmla="*/ 6283312 h 6857999"/>
                <a:gd name="connsiteX25" fmla="*/ 2369879 w 7294652"/>
                <a:gd name="connsiteY25" fmla="*/ 6562782 h 6857999"/>
                <a:gd name="connsiteX26" fmla="*/ 2686645 w 7294652"/>
                <a:gd name="connsiteY26" fmla="*/ 6820598 h 6857999"/>
                <a:gd name="connsiteX27" fmla="*/ 2738907 w 7294652"/>
                <a:gd name="connsiteY27" fmla="*/ 6857999 h 6857999"/>
                <a:gd name="connsiteX28" fmla="*/ 1731787 w 7294652"/>
                <a:gd name="connsiteY28" fmla="*/ 6857999 h 6857999"/>
                <a:gd name="connsiteX29" fmla="*/ 1607949 w 7294652"/>
                <a:gd name="connsiteY29" fmla="*/ 6732770 h 6857999"/>
                <a:gd name="connsiteX30" fmla="*/ 1309057 w 7294652"/>
                <a:gd name="connsiteY30" fmla="*/ 6370109 h 6857999"/>
                <a:gd name="connsiteX31" fmla="*/ 1048147 w 7294652"/>
                <a:gd name="connsiteY31" fmla="*/ 5986138 h 6857999"/>
                <a:gd name="connsiteX32" fmla="*/ 987131 w 7294652"/>
                <a:gd name="connsiteY32" fmla="*/ 5888512 h 6857999"/>
                <a:gd name="connsiteX33" fmla="*/ 928866 w 7294652"/>
                <a:gd name="connsiteY33" fmla="*/ 5793463 h 6857999"/>
                <a:gd name="connsiteX34" fmla="*/ 813708 w 7294652"/>
                <a:gd name="connsiteY34" fmla="*/ 5609556 h 6857999"/>
                <a:gd name="connsiteX35" fmla="*/ 574972 w 7294652"/>
                <a:gd name="connsiteY35" fmla="*/ 5231598 h 6857999"/>
                <a:gd name="connsiteX36" fmla="*/ 342424 w 7294652"/>
                <a:gd name="connsiteY36" fmla="*/ 4834048 h 6857999"/>
                <a:gd name="connsiteX37" fmla="*/ 237579 w 7294652"/>
                <a:gd name="connsiteY37" fmla="*/ 4623500 h 6857999"/>
                <a:gd name="connsiteX38" fmla="*/ 148373 w 7294652"/>
                <a:gd name="connsiteY38" fmla="*/ 4404356 h 6857999"/>
                <a:gd name="connsiteX39" fmla="*/ 79623 w 7294652"/>
                <a:gd name="connsiteY39" fmla="*/ 4175762 h 6857999"/>
                <a:gd name="connsiteX40" fmla="*/ 54185 w 7294652"/>
                <a:gd name="connsiteY40" fmla="*/ 4059229 h 6857999"/>
                <a:gd name="connsiteX41" fmla="*/ 43013 w 7294652"/>
                <a:gd name="connsiteY41" fmla="*/ 4000790 h 6857999"/>
                <a:gd name="connsiteX42" fmla="*/ 33734 w 7294652"/>
                <a:gd name="connsiteY42" fmla="*/ 3942180 h 6857999"/>
                <a:gd name="connsiteX43" fmla="*/ 45 w 7294652"/>
                <a:gd name="connsiteY43" fmla="*/ 3472097 h 6857999"/>
                <a:gd name="connsiteX44" fmla="*/ 95436 w 7294652"/>
                <a:gd name="connsiteY44" fmla="*/ 2557372 h 6857999"/>
                <a:gd name="connsiteX45" fmla="*/ 382126 w 7294652"/>
                <a:gd name="connsiteY45" fmla="*/ 1680799 h 6857999"/>
                <a:gd name="connsiteX46" fmla="*/ 1457043 w 7294652"/>
                <a:gd name="connsiteY46" fmla="*/ 1921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77FC097-E4F2-4A45-82E8-3808FA553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0650" y="-5799"/>
              <a:ext cx="7291350" cy="6858000"/>
            </a:xfrm>
            <a:custGeom>
              <a:avLst/>
              <a:gdLst>
                <a:gd name="connsiteX0" fmla="*/ 7291350 w 7291350"/>
                <a:gd name="connsiteY0" fmla="*/ 5718699 h 6858000"/>
                <a:gd name="connsiteX1" fmla="*/ 7291350 w 7291350"/>
                <a:gd name="connsiteY1" fmla="*/ 6806115 h 6858000"/>
                <a:gd name="connsiteX2" fmla="*/ 7224124 w 7291350"/>
                <a:gd name="connsiteY2" fmla="*/ 6858000 h 6858000"/>
                <a:gd name="connsiteX3" fmla="*/ 5607142 w 7291350"/>
                <a:gd name="connsiteY3" fmla="*/ 6858000 h 6858000"/>
                <a:gd name="connsiteX4" fmla="*/ 5736072 w 7291350"/>
                <a:gd name="connsiteY4" fmla="*/ 6801170 h 6858000"/>
                <a:gd name="connsiteX5" fmla="*/ 6949826 w 7291350"/>
                <a:gd name="connsiteY5" fmla="*/ 5983707 h 6858000"/>
                <a:gd name="connsiteX6" fmla="*/ 7220703 w 7291350"/>
                <a:gd name="connsiteY6" fmla="*/ 5773675 h 6858000"/>
                <a:gd name="connsiteX7" fmla="*/ 7218419 w 7291350"/>
                <a:gd name="connsiteY7" fmla="*/ 0 h 6858000"/>
                <a:gd name="connsiteX8" fmla="*/ 7291350 w 7291350"/>
                <a:gd name="connsiteY8" fmla="*/ 0 h 6858000"/>
                <a:gd name="connsiteX9" fmla="*/ 7291350 w 7291350"/>
                <a:gd name="connsiteY9" fmla="*/ 50138 h 6858000"/>
                <a:gd name="connsiteX10" fmla="*/ 1797607 w 7291350"/>
                <a:gd name="connsiteY10" fmla="*/ 0 h 6858000"/>
                <a:gd name="connsiteX11" fmla="*/ 3385676 w 7291350"/>
                <a:gd name="connsiteY11" fmla="*/ 0 h 6858000"/>
                <a:gd name="connsiteX12" fmla="*/ 3360567 w 7291350"/>
                <a:gd name="connsiteY12" fmla="*/ 11552 h 6858000"/>
                <a:gd name="connsiteX13" fmla="*/ 2267395 w 7291350"/>
                <a:gd name="connsiteY13" fmla="*/ 725831 h 6858000"/>
                <a:gd name="connsiteX14" fmla="*/ 1234074 w 7291350"/>
                <a:gd name="connsiteY14" fmla="*/ 2007171 h 6858000"/>
                <a:gd name="connsiteX15" fmla="*/ 859383 w 7291350"/>
                <a:gd name="connsiteY15" fmla="*/ 3498372 h 6858000"/>
                <a:gd name="connsiteX16" fmla="*/ 1479513 w 7291350"/>
                <a:gd name="connsiteY16" fmla="*/ 4883182 h 6858000"/>
                <a:gd name="connsiteX17" fmla="*/ 1791985 w 7291350"/>
                <a:gd name="connsiteY17" fmla="*/ 5322671 h 6858000"/>
                <a:gd name="connsiteX18" fmla="*/ 3397295 w 7291350"/>
                <a:gd name="connsiteY18" fmla="*/ 6784567 h 6858000"/>
                <a:gd name="connsiteX19" fmla="*/ 3590446 w 7291350"/>
                <a:gd name="connsiteY19" fmla="*/ 6858000 h 6858000"/>
                <a:gd name="connsiteX20" fmla="*/ 1970757 w 7291350"/>
                <a:gd name="connsiteY20" fmla="*/ 6858000 h 6858000"/>
                <a:gd name="connsiteX21" fmla="*/ 1735872 w 7291350"/>
                <a:gd name="connsiteY21" fmla="*/ 6627685 h 6858000"/>
                <a:gd name="connsiteX22" fmla="*/ 1080932 w 7291350"/>
                <a:gd name="connsiteY22" fmla="*/ 5805127 h 6858000"/>
                <a:gd name="connsiteX23" fmla="*/ 0 w 7291350"/>
                <a:gd name="connsiteY23" fmla="*/ 3498372 h 6858000"/>
                <a:gd name="connsiteX24" fmla="*/ 1708174 w 7291350"/>
                <a:gd name="connsiteY24"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0DF88B0-FA8A-47F5-8EAC-1880B1A51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2894" y="-5799"/>
              <a:ext cx="7269107" cy="6858000"/>
            </a:xfrm>
            <a:custGeom>
              <a:avLst/>
              <a:gdLst>
                <a:gd name="connsiteX0" fmla="*/ 7269107 w 7269107"/>
                <a:gd name="connsiteY0" fmla="*/ 5518449 h 6858000"/>
                <a:gd name="connsiteX1" fmla="*/ 7269107 w 7269107"/>
                <a:gd name="connsiteY1" fmla="*/ 6823281 h 6858000"/>
                <a:gd name="connsiteX2" fmla="*/ 7224122 w 7269107"/>
                <a:gd name="connsiteY2" fmla="*/ 6858000 h 6858000"/>
                <a:gd name="connsiteX3" fmla="*/ 4927054 w 7269107"/>
                <a:gd name="connsiteY3" fmla="*/ 6858000 h 6858000"/>
                <a:gd name="connsiteX4" fmla="*/ 4982167 w 7269107"/>
                <a:gd name="connsiteY4" fmla="*/ 6852876 h 6858000"/>
                <a:gd name="connsiteX5" fmla="*/ 5743768 w 7269107"/>
                <a:gd name="connsiteY5" fmla="*/ 6606245 h 6858000"/>
                <a:gd name="connsiteX6" fmla="*/ 6843778 w 7269107"/>
                <a:gd name="connsiteY6" fmla="*/ 5848440 h 6858000"/>
                <a:gd name="connsiteX7" fmla="*/ 7115515 w 7269107"/>
                <a:gd name="connsiteY7" fmla="*/ 5637891 h 6858000"/>
                <a:gd name="connsiteX8" fmla="*/ 6870111 w 7269107"/>
                <a:gd name="connsiteY8" fmla="*/ 0 h 6858000"/>
                <a:gd name="connsiteX9" fmla="*/ 7269107 w 7269107"/>
                <a:gd name="connsiteY9" fmla="*/ 0 h 6858000"/>
                <a:gd name="connsiteX10" fmla="*/ 7269107 w 7269107"/>
                <a:gd name="connsiteY10" fmla="*/ 243137 h 6858000"/>
                <a:gd name="connsiteX11" fmla="*/ 7089989 w 7269107"/>
                <a:gd name="connsiteY11" fmla="*/ 119955 h 6858000"/>
                <a:gd name="connsiteX12" fmla="*/ 6952948 w 7269107"/>
                <a:gd name="connsiteY12" fmla="*/ 41521 h 6858000"/>
                <a:gd name="connsiteX13" fmla="*/ 1797606 w 7269107"/>
                <a:gd name="connsiteY13" fmla="*/ 0 h 6858000"/>
                <a:gd name="connsiteX14" fmla="*/ 3815328 w 7269107"/>
                <a:gd name="connsiteY14" fmla="*/ 0 h 6858000"/>
                <a:gd name="connsiteX15" fmla="*/ 3627371 w 7269107"/>
                <a:gd name="connsiteY15" fmla="*/ 77142 h 6858000"/>
                <a:gd name="connsiteX16" fmla="*/ 2379115 w 7269107"/>
                <a:gd name="connsiteY16" fmla="*/ 856285 h 6858000"/>
                <a:gd name="connsiteX17" fmla="*/ 1386699 w 7269107"/>
                <a:gd name="connsiteY17" fmla="*/ 2086062 h 6858000"/>
                <a:gd name="connsiteX18" fmla="*/ 1031258 w 7269107"/>
                <a:gd name="connsiteY18" fmla="*/ 3498372 h 6858000"/>
                <a:gd name="connsiteX19" fmla="*/ 1618904 w 7269107"/>
                <a:gd name="connsiteY19" fmla="*/ 4781604 h 6858000"/>
                <a:gd name="connsiteX20" fmla="*/ 1934812 w 7269107"/>
                <a:gd name="connsiteY20" fmla="*/ 5225904 h 6858000"/>
                <a:gd name="connsiteX21" fmla="*/ 3140010 w 7269107"/>
                <a:gd name="connsiteY21" fmla="*/ 6456196 h 6858000"/>
                <a:gd name="connsiteX22" fmla="*/ 4281662 w 7269107"/>
                <a:gd name="connsiteY22" fmla="*/ 6843305 h 6858000"/>
                <a:gd name="connsiteX23" fmla="*/ 4449058 w 7269107"/>
                <a:gd name="connsiteY23" fmla="*/ 6858000 h 6858000"/>
                <a:gd name="connsiteX24" fmla="*/ 1970756 w 7269107"/>
                <a:gd name="connsiteY24" fmla="*/ 6858000 h 6858000"/>
                <a:gd name="connsiteX25" fmla="*/ 1735871 w 7269107"/>
                <a:gd name="connsiteY25" fmla="*/ 6627685 h 6858000"/>
                <a:gd name="connsiteX26" fmla="*/ 1080930 w 7269107"/>
                <a:gd name="connsiteY26" fmla="*/ 5805127 h 6858000"/>
                <a:gd name="connsiteX27" fmla="*/ 0 w 7269107"/>
                <a:gd name="connsiteY27" fmla="*/ 3498372 h 6858000"/>
                <a:gd name="connsiteX28" fmla="*/ 1708172 w 7269107"/>
                <a:gd name="connsiteY28" fmla="*/ 733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a:gsLst>
                <a:gs pos="2000">
                  <a:schemeClr val="bg1">
                    <a:alpha val="10000"/>
                  </a:schemeClr>
                </a:gs>
                <a:gs pos="5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4974609" y="1032987"/>
                <a:ext cx="3689331" cy="4792027"/>
              </a:xfrm>
            </p:spPr>
            <p:txBody>
              <a:bodyPr anchor="ctr">
                <a:normAutofit/>
              </a:bodyPr>
              <a:lstStyle/>
              <a:p>
                <a:pPr marL="0" indent="0">
                  <a:buNone/>
                </a:pPr>
                <a:r>
                  <a:rPr lang="es-SV" sz="1700">
                    <a:solidFill>
                      <a:schemeClr val="tx2"/>
                    </a:solidFill>
                  </a:rPr>
                  <a:t>Asociada a una variable continúa x, esta su “función de densidad de probabilidad”, f(x), la cual tiene las siguientes propiedades:</a:t>
                </a:r>
              </a:p>
              <a:p>
                <a:pPr marL="0" indent="0">
                  <a:buNone/>
                </a:pPr>
                <a:endParaRPr lang="es-SV" sz="1700">
                  <a:solidFill>
                    <a:schemeClr val="tx2"/>
                  </a:solidFill>
                </a:endParaRPr>
              </a:p>
              <a:p>
                <a14:m>
                  <m:oMath xmlns:m="http://schemas.openxmlformats.org/officeDocument/2006/math">
                    <m:r>
                      <a:rPr lang="es-SV" sz="1700" i="1">
                        <a:solidFill>
                          <a:schemeClr val="tx2"/>
                        </a:solidFill>
                        <a:latin typeface="Cambria Math" panose="02040503050406030204" pitchFamily="18" charset="0"/>
                      </a:rPr>
                      <m:t> </m:t>
                    </m:r>
                    <m:r>
                      <a:rPr lang="es-SV" sz="1700" i="1">
                        <a:solidFill>
                          <a:schemeClr val="tx2"/>
                        </a:solidFill>
                        <a:latin typeface="Cambria Math" panose="02040503050406030204" pitchFamily="18" charset="0"/>
                      </a:rPr>
                      <m:t>𝑓</m:t>
                    </m:r>
                    <m:d>
                      <m:dPr>
                        <m:ctrlPr>
                          <a:rPr lang="es-SV" sz="1700" i="1">
                            <a:solidFill>
                              <a:schemeClr val="tx2"/>
                            </a:solidFill>
                            <a:latin typeface="Cambria Math" panose="02040503050406030204" pitchFamily="18" charset="0"/>
                          </a:rPr>
                        </m:ctrlPr>
                      </m:dPr>
                      <m:e>
                        <m:r>
                          <a:rPr lang="es-SV" sz="1700" i="1">
                            <a:solidFill>
                              <a:schemeClr val="tx2"/>
                            </a:solidFill>
                            <a:latin typeface="Cambria Math" panose="02040503050406030204" pitchFamily="18" charset="0"/>
                          </a:rPr>
                          <m:t>𝑥</m:t>
                        </m:r>
                      </m:e>
                    </m:d>
                    <m:r>
                      <a:rPr lang="es-SV" sz="1700" i="1">
                        <a:solidFill>
                          <a:schemeClr val="tx2"/>
                        </a:solidFill>
                        <a:latin typeface="Cambria Math" panose="02040503050406030204" pitchFamily="18" charset="0"/>
                      </a:rPr>
                      <m:t>≥0  ;  </m:t>
                    </m:r>
                    <m:r>
                      <a:rPr lang="es-SV" sz="1700" i="1">
                        <a:solidFill>
                          <a:schemeClr val="tx2"/>
                        </a:solidFill>
                        <a:latin typeface="Cambria Math" panose="02040503050406030204" pitchFamily="18" charset="0"/>
                      </a:rPr>
                      <m:t>𝑥</m:t>
                    </m:r>
                    <m:r>
                      <a:rPr lang="es-SV" sz="1700" i="1">
                        <a:solidFill>
                          <a:schemeClr val="tx2"/>
                        </a:solidFill>
                        <a:latin typeface="Cambria Math" panose="02040503050406030204" pitchFamily="18" charset="0"/>
                      </a:rPr>
                      <m:t>∈ </m:t>
                    </m:r>
                    <m:sSub>
                      <m:sSubPr>
                        <m:ctrlPr>
                          <a:rPr lang="es-SV" sz="1700" i="1">
                            <a:solidFill>
                              <a:schemeClr val="tx2"/>
                            </a:solidFill>
                            <a:latin typeface="Cambria Math" panose="02040503050406030204" pitchFamily="18" charset="0"/>
                          </a:rPr>
                        </m:ctrlPr>
                      </m:sSubPr>
                      <m:e>
                        <m:r>
                          <a:rPr lang="es-SV" sz="1700" i="1">
                            <a:solidFill>
                              <a:schemeClr val="tx2"/>
                            </a:solidFill>
                            <a:latin typeface="Cambria Math" panose="02040503050406030204" pitchFamily="18" charset="0"/>
                          </a:rPr>
                          <m:t>𝑅</m:t>
                        </m:r>
                      </m:e>
                      <m:sub>
                        <m:r>
                          <a:rPr lang="es-SV" sz="1700" i="1">
                            <a:solidFill>
                              <a:schemeClr val="tx2"/>
                            </a:solidFill>
                            <a:latin typeface="Cambria Math" panose="02040503050406030204" pitchFamily="18" charset="0"/>
                          </a:rPr>
                          <m:t>𝑥</m:t>
                        </m:r>
                      </m:sub>
                    </m:sSub>
                  </m:oMath>
                </a14:m>
                <a:endParaRPr lang="es-SV" sz="1700">
                  <a:solidFill>
                    <a:schemeClr val="tx2"/>
                  </a:solidFill>
                </a:endParaRPr>
              </a:p>
              <a:p>
                <a14:m>
                  <m:oMath xmlns:m="http://schemas.openxmlformats.org/officeDocument/2006/math">
                    <m:r>
                      <a:rPr lang="es-SV" sz="1700" i="1">
                        <a:solidFill>
                          <a:schemeClr val="tx2"/>
                        </a:solidFill>
                        <a:latin typeface="Cambria Math" panose="02040503050406030204" pitchFamily="18" charset="0"/>
                      </a:rPr>
                      <m:t> </m:t>
                    </m:r>
                    <m:nary>
                      <m:naryPr>
                        <m:limLoc m:val="subSup"/>
                        <m:ctrlPr>
                          <a:rPr lang="es-SV" sz="1700" i="1">
                            <a:solidFill>
                              <a:schemeClr val="tx2"/>
                            </a:solidFill>
                            <a:latin typeface="Cambria Math" panose="02040503050406030204" pitchFamily="18" charset="0"/>
                          </a:rPr>
                        </m:ctrlPr>
                      </m:naryPr>
                      <m:sub>
                        <m:sSub>
                          <m:sSubPr>
                            <m:ctrlPr>
                              <a:rPr lang="es-SV" sz="1700" i="1">
                                <a:solidFill>
                                  <a:schemeClr val="tx2"/>
                                </a:solidFill>
                                <a:latin typeface="Cambria Math" panose="02040503050406030204" pitchFamily="18" charset="0"/>
                              </a:rPr>
                            </m:ctrlPr>
                          </m:sSubPr>
                          <m:e>
                            <m:r>
                              <a:rPr lang="es-SV" sz="1700" i="1">
                                <a:solidFill>
                                  <a:schemeClr val="tx2"/>
                                </a:solidFill>
                                <a:latin typeface="Cambria Math" panose="02040503050406030204" pitchFamily="18" charset="0"/>
                              </a:rPr>
                              <m:t>𝑅</m:t>
                            </m:r>
                          </m:e>
                          <m:sub>
                            <m:r>
                              <a:rPr lang="es-SV" sz="1700" i="1">
                                <a:solidFill>
                                  <a:schemeClr val="tx2"/>
                                </a:solidFill>
                                <a:latin typeface="Cambria Math" panose="02040503050406030204" pitchFamily="18" charset="0"/>
                              </a:rPr>
                              <m:t>𝑥</m:t>
                            </m:r>
                          </m:sub>
                        </m:sSub>
                      </m:sub>
                      <m:sup/>
                      <m:e>
                        <m:r>
                          <a:rPr lang="es-SV" sz="1700" i="1">
                            <a:solidFill>
                              <a:schemeClr val="tx2"/>
                            </a:solidFill>
                            <a:latin typeface="Cambria Math" panose="02040503050406030204" pitchFamily="18" charset="0"/>
                          </a:rPr>
                          <m:t>𝑓</m:t>
                        </m:r>
                        <m:d>
                          <m:dPr>
                            <m:ctrlPr>
                              <a:rPr lang="es-SV" sz="1700" i="1">
                                <a:solidFill>
                                  <a:schemeClr val="tx2"/>
                                </a:solidFill>
                                <a:latin typeface="Cambria Math" panose="02040503050406030204" pitchFamily="18" charset="0"/>
                              </a:rPr>
                            </m:ctrlPr>
                          </m:dPr>
                          <m:e>
                            <m:r>
                              <a:rPr lang="es-SV" sz="1700" i="1">
                                <a:solidFill>
                                  <a:schemeClr val="tx2"/>
                                </a:solidFill>
                                <a:latin typeface="Cambria Math" panose="02040503050406030204" pitchFamily="18" charset="0"/>
                              </a:rPr>
                              <m:t>𝑥</m:t>
                            </m:r>
                          </m:e>
                        </m:d>
                        <m:r>
                          <a:rPr lang="es-SV" sz="1700" i="1">
                            <a:solidFill>
                              <a:schemeClr val="tx2"/>
                            </a:solidFill>
                            <a:latin typeface="Cambria Math" panose="02040503050406030204" pitchFamily="18" charset="0"/>
                          </a:rPr>
                          <m:t>𝑑𝑥</m:t>
                        </m:r>
                      </m:e>
                    </m:nary>
                    <m:r>
                      <a:rPr lang="es-SV" sz="1700" i="1">
                        <a:solidFill>
                          <a:schemeClr val="tx2"/>
                        </a:solidFill>
                        <a:latin typeface="Cambria Math" panose="02040503050406030204" pitchFamily="18" charset="0"/>
                      </a:rPr>
                      <m:t>=1</m:t>
                    </m:r>
                  </m:oMath>
                </a14:m>
                <a:endParaRPr lang="es-SV" sz="1700">
                  <a:solidFill>
                    <a:schemeClr val="tx2"/>
                  </a:solidFill>
                </a:endParaRPr>
              </a:p>
              <a:p>
                <a14:m>
                  <m:oMath xmlns:m="http://schemas.openxmlformats.org/officeDocument/2006/math">
                    <m:r>
                      <a:rPr lang="es-SV" sz="1700" i="1">
                        <a:solidFill>
                          <a:schemeClr val="tx2"/>
                        </a:solidFill>
                        <a:latin typeface="Cambria Math" panose="02040503050406030204" pitchFamily="18" charset="0"/>
                      </a:rPr>
                      <m:t>𝑃</m:t>
                    </m:r>
                    <m:d>
                      <m:dPr>
                        <m:ctrlPr>
                          <a:rPr lang="es-SV" sz="1700" i="1">
                            <a:solidFill>
                              <a:schemeClr val="tx2"/>
                            </a:solidFill>
                            <a:latin typeface="Cambria Math" panose="02040503050406030204" pitchFamily="18" charset="0"/>
                          </a:rPr>
                        </m:ctrlPr>
                      </m:dPr>
                      <m:e>
                        <m:r>
                          <a:rPr lang="es-SV" sz="1700" i="1">
                            <a:solidFill>
                              <a:schemeClr val="tx2"/>
                            </a:solidFill>
                            <a:latin typeface="Cambria Math" panose="02040503050406030204" pitchFamily="18" charset="0"/>
                          </a:rPr>
                          <m:t>𝑎</m:t>
                        </m:r>
                        <m:r>
                          <a:rPr lang="es-SV" sz="1700" i="1">
                            <a:solidFill>
                              <a:schemeClr val="tx2"/>
                            </a:solidFill>
                            <a:latin typeface="Cambria Math" panose="02040503050406030204" pitchFamily="18" charset="0"/>
                          </a:rPr>
                          <m:t>≤</m:t>
                        </m:r>
                        <m:r>
                          <a:rPr lang="es-SV" sz="1700" i="1">
                            <a:solidFill>
                              <a:schemeClr val="tx2"/>
                            </a:solidFill>
                            <a:latin typeface="Cambria Math" panose="02040503050406030204" pitchFamily="18" charset="0"/>
                          </a:rPr>
                          <m:t>𝑥</m:t>
                        </m:r>
                        <m:r>
                          <a:rPr lang="es-SV" sz="1700" i="1">
                            <a:solidFill>
                              <a:schemeClr val="tx2"/>
                            </a:solidFill>
                            <a:latin typeface="Cambria Math" panose="02040503050406030204" pitchFamily="18" charset="0"/>
                          </a:rPr>
                          <m:t>≤</m:t>
                        </m:r>
                        <m:r>
                          <a:rPr lang="es-SV" sz="1700" i="1">
                            <a:solidFill>
                              <a:schemeClr val="tx2"/>
                            </a:solidFill>
                            <a:latin typeface="Cambria Math" panose="02040503050406030204" pitchFamily="18" charset="0"/>
                          </a:rPr>
                          <m:t>𝑏</m:t>
                        </m:r>
                      </m:e>
                    </m:d>
                    <m:r>
                      <a:rPr lang="es-SV" sz="1700" i="1">
                        <a:solidFill>
                          <a:schemeClr val="tx2"/>
                        </a:solidFill>
                        <a:latin typeface="Cambria Math" panose="02040503050406030204" pitchFamily="18" charset="0"/>
                      </a:rPr>
                      <m:t>=</m:t>
                    </m:r>
                    <m:nary>
                      <m:naryPr>
                        <m:limLoc m:val="subSup"/>
                        <m:ctrlPr>
                          <a:rPr lang="es-SV" sz="1700" i="1">
                            <a:solidFill>
                              <a:schemeClr val="tx2"/>
                            </a:solidFill>
                            <a:latin typeface="Cambria Math" panose="02040503050406030204" pitchFamily="18" charset="0"/>
                          </a:rPr>
                        </m:ctrlPr>
                      </m:naryPr>
                      <m:sub>
                        <m:r>
                          <a:rPr lang="es-SV" sz="1700" i="1">
                            <a:solidFill>
                              <a:schemeClr val="tx2"/>
                            </a:solidFill>
                            <a:latin typeface="Cambria Math" panose="02040503050406030204" pitchFamily="18" charset="0"/>
                          </a:rPr>
                          <m:t>𝑎</m:t>
                        </m:r>
                      </m:sub>
                      <m:sup>
                        <m:r>
                          <a:rPr lang="es-SV" sz="1700" i="1">
                            <a:solidFill>
                              <a:schemeClr val="tx2"/>
                            </a:solidFill>
                            <a:latin typeface="Cambria Math" panose="02040503050406030204" pitchFamily="18" charset="0"/>
                          </a:rPr>
                          <m:t>𝑏</m:t>
                        </m:r>
                      </m:sup>
                      <m:e>
                        <m:r>
                          <a:rPr lang="es-SV" sz="1700" i="1">
                            <a:solidFill>
                              <a:schemeClr val="tx2"/>
                            </a:solidFill>
                            <a:latin typeface="Cambria Math" panose="02040503050406030204" pitchFamily="18" charset="0"/>
                          </a:rPr>
                          <m:t>𝑓</m:t>
                        </m:r>
                        <m:d>
                          <m:dPr>
                            <m:ctrlPr>
                              <a:rPr lang="es-SV" sz="1700" i="1">
                                <a:solidFill>
                                  <a:schemeClr val="tx2"/>
                                </a:solidFill>
                                <a:latin typeface="Cambria Math" panose="02040503050406030204" pitchFamily="18" charset="0"/>
                              </a:rPr>
                            </m:ctrlPr>
                          </m:dPr>
                          <m:e>
                            <m:r>
                              <a:rPr lang="es-SV" sz="1700" i="1">
                                <a:solidFill>
                                  <a:schemeClr val="tx2"/>
                                </a:solidFill>
                                <a:latin typeface="Cambria Math" panose="02040503050406030204" pitchFamily="18" charset="0"/>
                              </a:rPr>
                              <m:t>𝑥</m:t>
                            </m:r>
                          </m:e>
                        </m:d>
                        <m:r>
                          <a:rPr lang="es-SV" sz="1700" i="1">
                            <a:solidFill>
                              <a:schemeClr val="tx2"/>
                            </a:solidFill>
                            <a:latin typeface="Cambria Math" panose="02040503050406030204" pitchFamily="18" charset="0"/>
                          </a:rPr>
                          <m:t>𝑑𝑥</m:t>
                        </m:r>
                      </m:e>
                    </m:nary>
                  </m:oMath>
                </a14:m>
                <a:endParaRPr lang="es-SV" sz="1700">
                  <a:solidFill>
                    <a:schemeClr val="tx2"/>
                  </a:solidFill>
                </a:endParaRPr>
              </a:p>
              <a:p>
                <a:pPr marL="0" indent="0">
                  <a:buNone/>
                </a:pPr>
                <a:endParaRPr lang="es-SV" sz="1700">
                  <a:solidFill>
                    <a:schemeClr val="tx2"/>
                  </a:solidFill>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4974609" y="1032987"/>
                <a:ext cx="3689331" cy="4792027"/>
              </a:xfrm>
              <a:blipFill>
                <a:blip r:embed="rId2"/>
                <a:stretch>
                  <a:fillRect l="-4132" r="-1818"/>
                </a:stretch>
              </a:blipFill>
            </p:spPr>
            <p:txBody>
              <a:bodyPr/>
              <a:lstStyle/>
              <a:p>
                <a:r>
                  <a:rPr lang="es-SV">
                    <a:noFill/>
                  </a:rPr>
                  <a:t> </a:t>
                </a:r>
              </a:p>
            </p:txBody>
          </p:sp>
        </mc:Fallback>
      </mc:AlternateContent>
    </p:spTree>
    <p:extLst>
      <p:ext uri="{BB962C8B-B14F-4D97-AF65-F5344CB8AC3E}">
        <p14:creationId xmlns:p14="http://schemas.microsoft.com/office/powerpoint/2010/main" val="687502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561AEE4-4E38-4BAC-976D-E0DE523FC5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F0BC676B-D19A-44DB-910A-0C0E6D4339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8323" y="3985"/>
            <a:ext cx="7329573" cy="6858000"/>
            <a:chOff x="1303402" y="3985"/>
            <a:chExt cx="9772765" cy="6858000"/>
          </a:xfrm>
        </p:grpSpPr>
        <p:sp>
          <p:nvSpPr>
            <p:cNvPr id="14" name="Freeform: Shape 13">
              <a:extLst>
                <a:ext uri="{FF2B5EF4-FFF2-40B4-BE49-F238E27FC236}">
                  <a16:creationId xmlns:a16="http://schemas.microsoft.com/office/drawing/2014/main" id="{999AA485-A13F-4455-814E-C116AD7E0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C90D55F-0AFB-45E5-8815-A4701774CE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476B6C1-4A41-48E6-8540-FC48FCD769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3347F445-D2CA-4FEB-AB8E-7A47AB57C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12F1B3D8-301E-4A54-9284-EB14E9056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9" name="Freeform: Shape 18">
              <a:extLst>
                <a:ext uri="{FF2B5EF4-FFF2-40B4-BE49-F238E27FC236}">
                  <a16:creationId xmlns:a16="http://schemas.microsoft.com/office/drawing/2014/main" id="{CE4B9C67-860A-4569-AC84-3ADE433D1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1175B763-A6E6-4AD1-9138-9B1164A7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ítulo 1"/>
          <p:cNvSpPr>
            <a:spLocks noGrp="1"/>
          </p:cNvSpPr>
          <p:nvPr>
            <p:ph type="title"/>
          </p:nvPr>
        </p:nvSpPr>
        <p:spPr>
          <a:xfrm>
            <a:off x="2275099" y="991261"/>
            <a:ext cx="4316022" cy="1837349"/>
          </a:xfrm>
        </p:spPr>
        <p:txBody>
          <a:bodyPr anchor="ctr">
            <a:normAutofit/>
          </a:bodyPr>
          <a:lstStyle/>
          <a:p>
            <a:pPr algn="ctr"/>
            <a:r>
              <a:rPr lang="es-SV" sz="3100">
                <a:solidFill>
                  <a:schemeClr val="tx2"/>
                </a:solidFill>
              </a:rPr>
              <a:t>Media y varianza de una variable continua </a:t>
            </a:r>
          </a:p>
        </p:txBody>
      </p:sp>
      <mc:AlternateContent xmlns:mc="http://schemas.openxmlformats.org/markup-compatibility/2006" xmlns:a14="http://schemas.microsoft.com/office/drawing/2010/main">
        <mc:Choice Requires="a14">
          <p:sp>
            <p:nvSpPr>
              <p:cNvPr id="4" name="Marcador de contenido 3"/>
              <p:cNvSpPr>
                <a:spLocks noGrp="1"/>
              </p:cNvSpPr>
              <p:nvPr>
                <p:ph idx="1"/>
              </p:nvPr>
            </p:nvSpPr>
            <p:spPr>
              <a:xfrm>
                <a:off x="611560" y="2508415"/>
                <a:ext cx="7752843" cy="3041952"/>
              </a:xfrm>
              <a:prstGeom prst="rect">
                <a:avLst/>
              </a:prstGeom>
            </p:spPr>
            <p:style>
              <a:lnRef idx="2">
                <a:schemeClr val="dk1"/>
              </a:lnRef>
              <a:fillRef idx="1">
                <a:schemeClr val="lt1"/>
              </a:fillRef>
              <a:effectRef idx="0">
                <a:schemeClr val="dk1"/>
              </a:effectRef>
              <a:fontRef idx="minor">
                <a:schemeClr val="dk1"/>
              </a:fontRef>
            </p:style>
            <p:txBody>
              <a:bodyPr rot="0" spcFirstLastPara="0" vert="horz" lIns="91440" tIns="45720" rIns="91440" bIns="45720" numCol="1" spcCol="0" rtlCol="0" fromWordArt="0" anchor="t" anchorCtr="0" forceAA="0" compatLnSpc="1">
                <a:prstTxWarp prst="textNoShape">
                  <a:avLst/>
                </a:prstTxWarp>
                <a:normAutofit/>
              </a:bodyPr>
              <a:lstStyle/>
              <a:p>
                <a:pPr>
                  <a:spcAft>
                    <a:spcPts val="800"/>
                  </a:spcAft>
                </a:pPr>
                <a:r>
                  <a:rPr lang="es-SV" sz="2800" dirty="0">
                    <a:solidFill>
                      <a:schemeClr val="tx2"/>
                    </a:solidFill>
                    <a:effectLst/>
                    <a:ea typeface="Calibri" panose="020F0502020204030204" pitchFamily="34" charset="0"/>
                    <a:cs typeface="Times New Roman" panose="02020603050405020304" pitchFamily="18" charset="0"/>
                  </a:rPr>
                  <a:t> </a:t>
                </a:r>
                <a14:m>
                  <m:oMath xmlns:m="http://schemas.openxmlformats.org/officeDocument/2006/math">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𝜇</m:t>
                    </m:r>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m:t>
                    </m:r>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𝐸</m:t>
                    </m:r>
                    <m:d>
                      <m:dPr>
                        <m:ctrlP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𝑥</m:t>
                        </m:r>
                      </m:e>
                    </m:d>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m:t>
                    </m:r>
                    <m:nary>
                      <m:naryPr>
                        <m:limLoc m:val="subSup"/>
                        <m:ctrlP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ctrlPr>
                      </m:naryPr>
                      <m:sub>
                        <m:sSub>
                          <m:sSubPr>
                            <m:ctrlP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𝑥</m:t>
                            </m:r>
                          </m:sub>
                        </m:sSub>
                      </m:sub>
                      <m:sup/>
                      <m:e>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𝑥𝑓</m:t>
                        </m:r>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m:t>
                        </m:r>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𝑥</m:t>
                        </m:r>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m:t>
                        </m:r>
                      </m:e>
                    </m:nary>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𝑑𝑥</m:t>
                    </m:r>
                  </m:oMath>
                </a14:m>
                <a:endParaRPr lang="es-SV" sz="2800" dirty="0">
                  <a:solidFill>
                    <a:schemeClr val="tx2"/>
                  </a:solidFill>
                  <a:effectLst/>
                  <a:ea typeface="Calibri" panose="020F0502020204030204" pitchFamily="34" charset="0"/>
                  <a:cs typeface="Times New Roman" panose="02020603050405020304" pitchFamily="18" charset="0"/>
                </a:endParaRPr>
              </a:p>
              <a:p>
                <a:pPr>
                  <a:spcAft>
                    <a:spcPts val="800"/>
                  </a:spcAft>
                </a:pPr>
                <a14:m>
                  <m:oMath xmlns:m="http://schemas.openxmlformats.org/officeDocument/2006/math">
                    <m:sSup>
                      <m:sSupPr>
                        <m:ctrlP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𝜎</m:t>
                        </m:r>
                      </m:e>
                      <m:sup>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m:t>
                    </m:r>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𝑉</m:t>
                    </m:r>
                    <m:d>
                      <m:dPr>
                        <m:ctrlP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𝑥</m:t>
                        </m:r>
                      </m:e>
                    </m:d>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m:t>
                    </m:r>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𝐸</m:t>
                    </m:r>
                    <m:sSup>
                      <m:sSupPr>
                        <m:ctrlP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m:t>
                        </m:r>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𝑥</m:t>
                        </m:r>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m:t>
                        </m:r>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𝜇</m:t>
                        </m:r>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m:t>
                    </m:r>
                    <m:nary>
                      <m:naryPr>
                        <m:limLoc m:val="undOvr"/>
                        <m:subHide m:val="on"/>
                        <m:supHide m:val="on"/>
                        <m:ctrlP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ctrlPr>
                      </m:naryPr>
                      <m:sub/>
                      <m:sup/>
                      <m:e>
                        <m:sSup>
                          <m:sSupPr>
                            <m:ctrlP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𝑥</m:t>
                                </m:r>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m:t>
                                </m:r>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𝜇</m:t>
                                </m:r>
                              </m:e>
                            </m:d>
                          </m:e>
                          <m:sup>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𝑓</m:t>
                        </m:r>
                        <m:d>
                          <m:dPr>
                            <m:ctrlP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𝑥</m:t>
                            </m:r>
                          </m:e>
                        </m:d>
                        <m:r>
                          <a:rPr lang="es-SV" sz="28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𝑑𝑥</m:t>
                        </m:r>
                      </m:e>
                    </m:nary>
                  </m:oMath>
                </a14:m>
                <a:endParaRPr lang="es-SV" sz="2800" dirty="0">
                  <a:solidFill>
                    <a:schemeClr val="tx2"/>
                  </a:solidFill>
                  <a:effectLst/>
                  <a:ea typeface="Calibri" panose="020F0502020204030204" pitchFamily="34" charset="0"/>
                  <a:cs typeface="Times New Roman" panose="02020603050405020304" pitchFamily="18" charset="0"/>
                </a:endParaRPr>
              </a:p>
              <a:p>
                <a:pPr>
                  <a:spcAft>
                    <a:spcPts val="800"/>
                  </a:spcAft>
                </a:pPr>
                <a:r>
                  <a:rPr lang="es-SV" sz="2800" dirty="0">
                    <a:solidFill>
                      <a:schemeClr val="tx2"/>
                    </a:solidFill>
                    <a:effectLst/>
                    <a:ea typeface="Times New Roman" panose="02020603050405020304" pitchFamily="18" charset="0"/>
                    <a:cs typeface="Times New Roman" panose="02020603050405020304" pitchFamily="18" charset="0"/>
                  </a:rPr>
                  <a:t>También </a:t>
                </a:r>
                <a14:m>
                  <m:oMath xmlns:m="http://schemas.openxmlformats.org/officeDocument/2006/math">
                    <m: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t>𝑉</m:t>
                    </m:r>
                    <m:d>
                      <m:dPr>
                        <m:ctrlP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t>𝑥</m:t>
                        </m:r>
                      </m:e>
                    </m:d>
                    <m: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t>=</m:t>
                    </m:r>
                    <m:nary>
                      <m:naryPr>
                        <m:limLoc m:val="subSup"/>
                        <m:ctrlP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sSub>
                          <m:sSubPr>
                            <m:ctrlP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t>𝑥</m:t>
                            </m:r>
                          </m:sub>
                        </m:sSub>
                      </m:sub>
                      <m:sup/>
                      <m:e>
                        <m:sSup>
                          <m:sSupPr>
                            <m:ctrlP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s-SV" sz="2800" b="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e>
                    </m:nary>
                    <m: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t>𝑥</m:t>
                        </m:r>
                      </m:e>
                    </m:d>
                    <m: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t>𝑑𝑥</m:t>
                    </m:r>
                    <m: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t>𝜇</m:t>
                        </m:r>
                      </m:e>
                      <m:sup>
                        <m: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endParaRPr lang="es-SV" sz="2800" dirty="0">
                  <a:solidFill>
                    <a:schemeClr val="tx2"/>
                  </a:solidFill>
                  <a:effectLst/>
                  <a:ea typeface="Calibri" panose="020F0502020204030204" pitchFamily="34" charset="0"/>
                  <a:cs typeface="Times New Roman" panose="02020603050405020304" pitchFamily="18" charset="0"/>
                </a:endParaRPr>
              </a:p>
              <a:p>
                <a:pPr>
                  <a:spcAft>
                    <a:spcPts val="800"/>
                  </a:spcAft>
                </a:pPr>
                <a14:m>
                  <m:oMath xmlns:m="http://schemas.openxmlformats.org/officeDocument/2006/math">
                    <m: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t>𝜎</m:t>
                    </m:r>
                    <m: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t>=</m:t>
                    </m:r>
                    <m:rad>
                      <m:radPr>
                        <m:degHide m:val="on"/>
                        <m:ctrlP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ctrlPr>
                      </m:radPr>
                      <m:deg/>
                      <m:e>
                        <m: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t>𝑉</m:t>
                        </m:r>
                        <m: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t>𝑥</m:t>
                        </m:r>
                        <m:r>
                          <a:rPr lang="es-SV" sz="2800" i="1">
                            <a:solidFill>
                              <a:schemeClr val="tx2"/>
                            </a:solidFill>
                            <a:effectLst/>
                            <a:latin typeface="Cambria Math" panose="02040503050406030204" pitchFamily="18" charset="0"/>
                            <a:ea typeface="Times New Roman" panose="02020603050405020304" pitchFamily="18" charset="0"/>
                            <a:cs typeface="Times New Roman" panose="02020603050405020304" pitchFamily="18" charset="0"/>
                          </a:rPr>
                          <m:t>)</m:t>
                        </m:r>
                      </m:e>
                    </m:rad>
                  </m:oMath>
                </a14:m>
                <a:endParaRPr lang="es-SV" sz="2800" dirty="0">
                  <a:solidFill>
                    <a:schemeClr val="tx2"/>
                  </a:solidFill>
                  <a:effectLst/>
                  <a:ea typeface="Calibri" panose="020F0502020204030204" pitchFamily="34" charset="0"/>
                  <a:cs typeface="Times New Roman" panose="02020603050405020304" pitchFamily="18" charset="0"/>
                </a:endParaRPr>
              </a:p>
            </p:txBody>
          </p:sp>
        </mc:Choice>
        <mc:Fallback xmlns="">
          <p:sp>
            <p:nvSpPr>
              <p:cNvPr id="4" name="Marcador de contenido 3"/>
              <p:cNvSpPr>
                <a:spLocks noGrp="1" noRot="1" noChangeAspect="1" noMove="1" noResize="1" noEditPoints="1" noAdjustHandles="1" noChangeArrowheads="1" noChangeShapeType="1" noTextEdit="1"/>
              </p:cNvSpPr>
              <p:nvPr>
                <p:ph idx="1"/>
              </p:nvPr>
            </p:nvSpPr>
            <p:spPr>
              <a:xfrm>
                <a:off x="611560" y="2508415"/>
                <a:ext cx="7752843" cy="3041952"/>
              </a:xfrm>
              <a:prstGeom prst="rect">
                <a:avLst/>
              </a:prstGeom>
              <a:blipFill>
                <a:blip r:embed="rId2"/>
                <a:stretch>
                  <a:fillRect l="-1334"/>
                </a:stretch>
              </a:blipFill>
            </p:spPr>
            <p:txBody>
              <a:bodyPr/>
              <a:lstStyle/>
              <a:p>
                <a:r>
                  <a:rPr lang="es-SV">
                    <a:noFill/>
                  </a:rPr>
                  <a:t> </a:t>
                </a:r>
              </a:p>
            </p:txBody>
          </p:sp>
        </mc:Fallback>
      </mc:AlternateContent>
    </p:spTree>
    <p:extLst>
      <p:ext uri="{BB962C8B-B14F-4D97-AF65-F5344CB8AC3E}">
        <p14:creationId xmlns:p14="http://schemas.microsoft.com/office/powerpoint/2010/main" val="4089627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2270943" y="991261"/>
            <a:ext cx="4316022" cy="1837349"/>
          </a:xfrm>
        </p:spPr>
        <p:txBody>
          <a:bodyPr>
            <a:normAutofit/>
          </a:bodyPr>
          <a:lstStyle/>
          <a:p>
            <a:pPr algn="ctr"/>
            <a:r>
              <a:rPr lang="es-SV" sz="3100">
                <a:solidFill>
                  <a:schemeClr val="tx2"/>
                </a:solidFill>
              </a:rPr>
              <a:t>Desarrollo de problema </a:t>
            </a:r>
          </a:p>
        </p:txBody>
      </p:sp>
      <p:grpSp>
        <p:nvGrpSpPr>
          <p:cNvPr id="47" name="Group 46">
            <a:extLst>
              <a:ext uri="{FF2B5EF4-FFF2-40B4-BE49-F238E27FC236}">
                <a16:creationId xmlns:a16="http://schemas.microsoft.com/office/drawing/2014/main" id="{05545017-2445-4AB3-95A6-48F17C80261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900351" y="0"/>
            <a:ext cx="3243649" cy="2641149"/>
            <a:chOff x="6867015" y="-1"/>
            <a:chExt cx="5324985" cy="3251912"/>
          </a:xfrm>
          <a:solidFill>
            <a:schemeClr val="accent5">
              <a:alpha val="10000"/>
            </a:schemeClr>
          </a:solidFill>
        </p:grpSpPr>
        <p:sp>
          <p:nvSpPr>
            <p:cNvPr id="48" name="Freeform: Shape 47">
              <a:extLst>
                <a:ext uri="{FF2B5EF4-FFF2-40B4-BE49-F238E27FC236}">
                  <a16:creationId xmlns:a16="http://schemas.microsoft.com/office/drawing/2014/main" id="{F3B5D580-007D-4215-A10B-C8CF12EE02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24228C19-035F-4E8E-BAFD-56EC684B6F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C10D7C81-A1BE-4720-A66D-AEF9A11A5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1BF18FEE-BE44-4F4A-AA4E-EC795CB0B9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547664" y="2412440"/>
                <a:ext cx="6624735" cy="3032783"/>
              </a:xfrm>
            </p:spPr>
            <p:txBody>
              <a:bodyPr anchor="t">
                <a:normAutofit lnSpcReduction="10000"/>
              </a:bodyPr>
              <a:lstStyle/>
              <a:p>
                <a:pPr marL="0" indent="0">
                  <a:buNone/>
                </a:pPr>
                <a:r>
                  <a:rPr lang="es-SV" sz="2800" dirty="0">
                    <a:solidFill>
                      <a:schemeClr val="tx2"/>
                    </a:solidFill>
                  </a:rPr>
                  <a:t>X es una variable aleatoria con función de probabilidad.</a:t>
                </a:r>
              </a:p>
              <a:p>
                <a:pPr marL="0" indent="0">
                  <a:buNone/>
                </a:pPr>
                <a14:m>
                  <m:oMathPara xmlns:m="http://schemas.openxmlformats.org/officeDocument/2006/math">
                    <m:oMathParaPr>
                      <m:jc m:val="centerGroup"/>
                    </m:oMathParaPr>
                    <m:oMath xmlns:m="http://schemas.openxmlformats.org/officeDocument/2006/math">
                      <m:r>
                        <a:rPr lang="es-SV" sz="2800" i="1">
                          <a:solidFill>
                            <a:schemeClr val="tx2"/>
                          </a:solidFill>
                          <a:latin typeface="Cambria Math" panose="02040503050406030204" pitchFamily="18" charset="0"/>
                        </a:rPr>
                        <m:t>𝑓</m:t>
                      </m:r>
                      <m:d>
                        <m:dPr>
                          <m:ctrlPr>
                            <a:rPr lang="es-SV" sz="2800" i="1">
                              <a:solidFill>
                                <a:schemeClr val="tx2"/>
                              </a:solidFill>
                              <a:latin typeface="Cambria Math" panose="02040503050406030204" pitchFamily="18" charset="0"/>
                            </a:rPr>
                          </m:ctrlPr>
                        </m:dPr>
                        <m:e>
                          <m:r>
                            <a:rPr lang="es-SV" sz="2800" i="1">
                              <a:solidFill>
                                <a:schemeClr val="tx2"/>
                              </a:solidFill>
                              <a:latin typeface="Cambria Math" panose="02040503050406030204" pitchFamily="18" charset="0"/>
                            </a:rPr>
                            <m:t>𝑥</m:t>
                          </m:r>
                        </m:e>
                      </m:d>
                      <m:r>
                        <a:rPr lang="es-SV" sz="2800" i="1">
                          <a:solidFill>
                            <a:schemeClr val="tx2"/>
                          </a:solidFill>
                          <a:latin typeface="Cambria Math" panose="02040503050406030204" pitchFamily="18" charset="0"/>
                        </a:rPr>
                        <m:t>=</m:t>
                      </m:r>
                      <m:r>
                        <a:rPr lang="es-SV" sz="2800" i="1">
                          <a:solidFill>
                            <a:schemeClr val="tx2"/>
                          </a:solidFill>
                          <a:latin typeface="Cambria Math" panose="02040503050406030204" pitchFamily="18" charset="0"/>
                        </a:rPr>
                        <m:t>𝐶𝑥</m:t>
                      </m:r>
                      <m:d>
                        <m:dPr>
                          <m:ctrlPr>
                            <a:rPr lang="es-SV" sz="2800" i="1">
                              <a:solidFill>
                                <a:schemeClr val="tx2"/>
                              </a:solidFill>
                              <a:latin typeface="Cambria Math" panose="02040503050406030204" pitchFamily="18" charset="0"/>
                            </a:rPr>
                          </m:ctrlPr>
                        </m:dPr>
                        <m:e>
                          <m:r>
                            <a:rPr lang="es-SV" sz="2800" i="1">
                              <a:solidFill>
                                <a:schemeClr val="tx2"/>
                              </a:solidFill>
                              <a:latin typeface="Cambria Math" panose="02040503050406030204" pitchFamily="18" charset="0"/>
                            </a:rPr>
                            <m:t>2−</m:t>
                          </m:r>
                          <m:r>
                            <a:rPr lang="es-SV" sz="2800" i="1">
                              <a:solidFill>
                                <a:schemeClr val="tx2"/>
                              </a:solidFill>
                              <a:latin typeface="Cambria Math" panose="02040503050406030204" pitchFamily="18" charset="0"/>
                            </a:rPr>
                            <m:t>𝑥</m:t>
                          </m:r>
                        </m:e>
                      </m:d>
                      <m:r>
                        <a:rPr lang="es-SV" sz="2800" i="1">
                          <a:solidFill>
                            <a:schemeClr val="tx2"/>
                          </a:solidFill>
                          <a:latin typeface="Cambria Math" panose="02040503050406030204" pitchFamily="18" charset="0"/>
                        </a:rPr>
                        <m:t> ; 0≤</m:t>
                      </m:r>
                      <m:r>
                        <a:rPr lang="es-SV" sz="2800" i="1">
                          <a:solidFill>
                            <a:schemeClr val="tx2"/>
                          </a:solidFill>
                          <a:latin typeface="Cambria Math" panose="02040503050406030204" pitchFamily="18" charset="0"/>
                        </a:rPr>
                        <m:t>𝑥</m:t>
                      </m:r>
                      <m:r>
                        <a:rPr lang="es-SV" sz="2800" i="1">
                          <a:solidFill>
                            <a:schemeClr val="tx2"/>
                          </a:solidFill>
                          <a:latin typeface="Cambria Math" panose="02040503050406030204" pitchFamily="18" charset="0"/>
                        </a:rPr>
                        <m:t>&lt;2</m:t>
                      </m:r>
                    </m:oMath>
                  </m:oMathPara>
                </a14:m>
                <a:endParaRPr lang="es-SV" sz="2800" dirty="0">
                  <a:solidFill>
                    <a:schemeClr val="tx2"/>
                  </a:solidFill>
                </a:endParaRPr>
              </a:p>
              <a:p>
                <a:pPr lvl="0"/>
                <a:r>
                  <a:rPr lang="es-SV" sz="2800" dirty="0">
                    <a:solidFill>
                      <a:schemeClr val="tx2"/>
                    </a:solidFill>
                  </a:rPr>
                  <a:t>Determine el valor de la constante c. </a:t>
                </a:r>
              </a:p>
              <a:p>
                <a:pPr lvl="0"/>
                <a:r>
                  <a:rPr lang="es-SV" sz="2800" dirty="0">
                    <a:solidFill>
                      <a:schemeClr val="tx2"/>
                    </a:solidFill>
                  </a:rPr>
                  <a:t>Calcular </a:t>
                </a:r>
                <a14:m>
                  <m:oMath xmlns:m="http://schemas.openxmlformats.org/officeDocument/2006/math">
                    <m:r>
                      <a:rPr lang="es-SV" sz="2800" i="1">
                        <a:solidFill>
                          <a:schemeClr val="tx2"/>
                        </a:solidFill>
                        <a:latin typeface="Cambria Math" panose="02040503050406030204" pitchFamily="18" charset="0"/>
                      </a:rPr>
                      <m:t>𝑃</m:t>
                    </m:r>
                    <m:r>
                      <a:rPr lang="es-SV" sz="2800" i="1">
                        <a:solidFill>
                          <a:schemeClr val="tx2"/>
                        </a:solidFill>
                        <a:latin typeface="Cambria Math" panose="02040503050406030204" pitchFamily="18" charset="0"/>
                      </a:rPr>
                      <m:t>(0.9≤</m:t>
                    </m:r>
                    <m:r>
                      <a:rPr lang="es-SV" sz="2800" i="1">
                        <a:solidFill>
                          <a:schemeClr val="tx2"/>
                        </a:solidFill>
                        <a:latin typeface="Cambria Math" panose="02040503050406030204" pitchFamily="18" charset="0"/>
                      </a:rPr>
                      <m:t>𝑥</m:t>
                    </m:r>
                    <m:r>
                      <a:rPr lang="es-SV" sz="2800" i="1">
                        <a:solidFill>
                          <a:schemeClr val="tx2"/>
                        </a:solidFill>
                        <a:latin typeface="Cambria Math" panose="02040503050406030204" pitchFamily="18" charset="0"/>
                      </a:rPr>
                      <m:t>≤1.5)</m:t>
                    </m:r>
                  </m:oMath>
                </a14:m>
                <a:r>
                  <a:rPr lang="es-SV" sz="2800" dirty="0">
                    <a:solidFill>
                      <a:schemeClr val="tx2"/>
                    </a:solidFill>
                  </a:rPr>
                  <a:t> </a:t>
                </a:r>
              </a:p>
              <a:p>
                <a:pPr lvl="0"/>
                <a:r>
                  <a:rPr lang="es-SV" sz="2800" dirty="0">
                    <a:solidFill>
                      <a:schemeClr val="tx2"/>
                    </a:solidFill>
                  </a:rPr>
                  <a:t>Calcular la media </a:t>
                </a:r>
                <a14:m>
                  <m:oMath xmlns:m="http://schemas.openxmlformats.org/officeDocument/2006/math">
                    <m:r>
                      <a:rPr lang="es-SV" sz="2800" i="1">
                        <a:solidFill>
                          <a:schemeClr val="tx2"/>
                        </a:solidFill>
                        <a:latin typeface="Cambria Math" panose="02040503050406030204" pitchFamily="18" charset="0"/>
                      </a:rPr>
                      <m:t>𝜇</m:t>
                    </m:r>
                  </m:oMath>
                </a14:m>
                <a:r>
                  <a:rPr lang="es-SV" sz="2800" dirty="0">
                    <a:solidFill>
                      <a:schemeClr val="tx2"/>
                    </a:solidFill>
                  </a:rPr>
                  <a:t>, varianza </a:t>
                </a:r>
                <a14:m>
                  <m:oMath xmlns:m="http://schemas.openxmlformats.org/officeDocument/2006/math">
                    <m:sSup>
                      <m:sSupPr>
                        <m:ctrlPr>
                          <a:rPr lang="es-SV" sz="2800" i="1">
                            <a:solidFill>
                              <a:schemeClr val="tx2"/>
                            </a:solidFill>
                            <a:latin typeface="Cambria Math" panose="02040503050406030204" pitchFamily="18" charset="0"/>
                          </a:rPr>
                        </m:ctrlPr>
                      </m:sSupPr>
                      <m:e>
                        <m:r>
                          <a:rPr lang="es-SV" sz="2800" i="1">
                            <a:solidFill>
                              <a:schemeClr val="tx2"/>
                            </a:solidFill>
                            <a:latin typeface="Cambria Math" panose="02040503050406030204" pitchFamily="18" charset="0"/>
                          </a:rPr>
                          <m:t>𝜎</m:t>
                        </m:r>
                      </m:e>
                      <m:sup>
                        <m:r>
                          <a:rPr lang="es-SV" sz="2800" i="1">
                            <a:solidFill>
                              <a:schemeClr val="tx2"/>
                            </a:solidFill>
                            <a:latin typeface="Cambria Math" panose="02040503050406030204" pitchFamily="18" charset="0"/>
                          </a:rPr>
                          <m:t>2</m:t>
                        </m:r>
                      </m:sup>
                    </m:sSup>
                  </m:oMath>
                </a14:m>
                <a:r>
                  <a:rPr lang="es-SV" sz="2800" dirty="0">
                    <a:solidFill>
                      <a:schemeClr val="tx2"/>
                    </a:solidFill>
                  </a:rPr>
                  <a:t> y desviación estándar </a:t>
                </a:r>
                <a14:m>
                  <m:oMath xmlns:m="http://schemas.openxmlformats.org/officeDocument/2006/math">
                    <m:r>
                      <a:rPr lang="es-SV" sz="2800" i="1">
                        <a:solidFill>
                          <a:schemeClr val="tx2"/>
                        </a:solidFill>
                        <a:latin typeface="Cambria Math" panose="02040503050406030204" pitchFamily="18" charset="0"/>
                      </a:rPr>
                      <m:t>𝜎</m:t>
                    </m:r>
                  </m:oMath>
                </a14:m>
                <a:r>
                  <a:rPr lang="es-SV" sz="2800" dirty="0">
                    <a:solidFill>
                      <a:schemeClr val="tx2"/>
                    </a:solidFill>
                  </a:rPr>
                  <a:t> de la distribución </a:t>
                </a:r>
                <a14:m>
                  <m:oMath xmlns:m="http://schemas.openxmlformats.org/officeDocument/2006/math">
                    <m:sSub>
                      <m:sSubPr>
                        <m:ctrlPr>
                          <a:rPr lang="es-SV" sz="2800" i="1">
                            <a:solidFill>
                              <a:schemeClr val="tx2"/>
                            </a:solidFill>
                            <a:latin typeface="Cambria Math" panose="02040503050406030204" pitchFamily="18" charset="0"/>
                          </a:rPr>
                        </m:ctrlPr>
                      </m:sSubPr>
                      <m:e>
                        <m:r>
                          <a:rPr lang="es-SV" sz="2800" i="1">
                            <a:solidFill>
                              <a:schemeClr val="tx2"/>
                            </a:solidFill>
                            <a:latin typeface="Cambria Math" panose="02040503050406030204" pitchFamily="18" charset="0"/>
                          </a:rPr>
                          <m:t>𝑥</m:t>
                        </m:r>
                      </m:e>
                      <m:sub/>
                    </m:sSub>
                  </m:oMath>
                </a14:m>
                <a:endParaRPr lang="es-SV" sz="2800" dirty="0">
                  <a:solidFill>
                    <a:schemeClr val="tx2"/>
                  </a:solidFill>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547664" y="2412440"/>
                <a:ext cx="6624735" cy="3032783"/>
              </a:xfrm>
              <a:blipFill>
                <a:blip r:embed="rId2"/>
                <a:stretch>
                  <a:fillRect l="-1932" t="-4628"/>
                </a:stretch>
              </a:blipFill>
            </p:spPr>
            <p:txBody>
              <a:bodyPr/>
              <a:lstStyle/>
              <a:p>
                <a:r>
                  <a:rPr lang="es-SV">
                    <a:noFill/>
                  </a:rPr>
                  <a:t> </a:t>
                </a:r>
              </a:p>
            </p:txBody>
          </p:sp>
        </mc:Fallback>
      </mc:AlternateContent>
      <p:grpSp>
        <p:nvGrpSpPr>
          <p:cNvPr id="53" name="Group 52">
            <a:extLst>
              <a:ext uri="{FF2B5EF4-FFF2-40B4-BE49-F238E27FC236}">
                <a16:creationId xmlns:a16="http://schemas.microsoft.com/office/drawing/2014/main" id="{06B7259D-F2AD-42FE-B984-6D1D74321C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799164" y="4001437"/>
            <a:ext cx="3655725" cy="2057400"/>
            <a:chOff x="-305" y="-1"/>
            <a:chExt cx="3832880" cy="2876136"/>
          </a:xfrm>
        </p:grpSpPr>
        <p:sp>
          <p:nvSpPr>
            <p:cNvPr id="54" name="Freeform: Shape 53">
              <a:extLst>
                <a:ext uri="{FF2B5EF4-FFF2-40B4-BE49-F238E27FC236}">
                  <a16:creationId xmlns:a16="http://schemas.microsoft.com/office/drawing/2014/main" id="{9E5C38C6-2516-45D1-ADFC-3F59F8E34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Shape 54">
              <a:extLst>
                <a:ext uri="{FF2B5EF4-FFF2-40B4-BE49-F238E27FC236}">
                  <a16:creationId xmlns:a16="http://schemas.microsoft.com/office/drawing/2014/main" id="{6C274C95-E7A7-401D-A8F5-FFF5EB9291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Shape 55">
              <a:extLst>
                <a:ext uri="{FF2B5EF4-FFF2-40B4-BE49-F238E27FC236}">
                  <a16:creationId xmlns:a16="http://schemas.microsoft.com/office/drawing/2014/main" id="{61D598C3-55D0-44FB-8766-A89B34B317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Shape 56">
              <a:extLst>
                <a:ext uri="{FF2B5EF4-FFF2-40B4-BE49-F238E27FC236}">
                  <a16:creationId xmlns:a16="http://schemas.microsoft.com/office/drawing/2014/main" id="{39EBC5C7-E54F-42F3-93F0-75AAC99FF9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74778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3529E97A-97C3-40EA-8A04-5C02398D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p:cNvSpPr>
            <a:spLocks noGrp="1"/>
          </p:cNvSpPr>
          <p:nvPr>
            <p:ph type="title"/>
          </p:nvPr>
        </p:nvSpPr>
        <p:spPr>
          <a:xfrm>
            <a:off x="473202" y="630936"/>
            <a:ext cx="2699766" cy="1463040"/>
          </a:xfrm>
        </p:spPr>
        <p:txBody>
          <a:bodyPr anchor="ctr">
            <a:normAutofit/>
          </a:bodyPr>
          <a:lstStyle/>
          <a:p>
            <a:r>
              <a:rPr lang="es-SV" sz="2900">
                <a:solidFill>
                  <a:srgbClr val="FFFFFF"/>
                </a:solidFill>
              </a:rPr>
              <a:t>Distribución de probabilidad exponencial</a:t>
            </a:r>
          </a:p>
        </p:txBody>
      </p:sp>
      <p:sp>
        <p:nvSpPr>
          <p:cNvPr id="13" name="sketch line">
            <a:extLst>
              <a:ext uri="{FF2B5EF4-FFF2-40B4-BE49-F238E27FC236}">
                <a16:creationId xmlns:a16="http://schemas.microsoft.com/office/drawing/2014/main" id="{59FA8C2E-A5A7-4490-927A-7CD58343ED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480309" y="1355598"/>
            <a:ext cx="1554480" cy="13716"/>
          </a:xfrm>
          <a:custGeom>
            <a:avLst/>
            <a:gdLst>
              <a:gd name="csX0" fmla="*/ 0 w 1554480"/>
              <a:gd name="csY0" fmla="*/ 0 h 13716"/>
              <a:gd name="csX1" fmla="*/ 549250 w 1554480"/>
              <a:gd name="csY1" fmla="*/ 0 h 13716"/>
              <a:gd name="csX2" fmla="*/ 1082954 w 1554480"/>
              <a:gd name="csY2" fmla="*/ 0 h 13716"/>
              <a:gd name="csX3" fmla="*/ 1554480 w 1554480"/>
              <a:gd name="csY3" fmla="*/ 0 h 13716"/>
              <a:gd name="csX4" fmla="*/ 1554480 w 1554480"/>
              <a:gd name="csY4" fmla="*/ 13716 h 13716"/>
              <a:gd name="csX5" fmla="*/ 1067410 w 1554480"/>
              <a:gd name="csY5" fmla="*/ 13716 h 13716"/>
              <a:gd name="csX6" fmla="*/ 549250 w 1554480"/>
              <a:gd name="csY6" fmla="*/ 13716 h 13716"/>
              <a:gd name="csX7" fmla="*/ 0 w 1554480"/>
              <a:gd name="csY7" fmla="*/ 13716 h 13716"/>
              <a:gd name="csX8" fmla="*/ 0 w 1554480"/>
              <a:gd name="csY8" fmla="*/ 0 h 13716"/>
              <a:gd name="csX0" fmla="*/ 0 w 1554480"/>
              <a:gd name="csY0" fmla="*/ 0 h 13716"/>
              <a:gd name="csX1" fmla="*/ 502615 w 1554480"/>
              <a:gd name="csY1" fmla="*/ 0 h 13716"/>
              <a:gd name="csX2" fmla="*/ 974141 w 1554480"/>
              <a:gd name="csY2" fmla="*/ 0 h 13716"/>
              <a:gd name="csX3" fmla="*/ 1554480 w 1554480"/>
              <a:gd name="csY3" fmla="*/ 0 h 13716"/>
              <a:gd name="csX4" fmla="*/ 1554480 w 1554480"/>
              <a:gd name="csY4" fmla="*/ 13716 h 13716"/>
              <a:gd name="csX5" fmla="*/ 1067410 w 1554480"/>
              <a:gd name="csY5" fmla="*/ 13716 h 13716"/>
              <a:gd name="csX6" fmla="*/ 518160 w 1554480"/>
              <a:gd name="csY6" fmla="*/ 13716 h 13716"/>
              <a:gd name="csX7" fmla="*/ 0 w 1554480"/>
              <a:gd name="csY7" fmla="*/ 13716 h 13716"/>
              <a:gd name="csX8" fmla="*/ 0 w 1554480"/>
              <a:gd name="csY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3716" fill="none" extrusionOk="0">
                <a:moveTo>
                  <a:pt x="0" y="0"/>
                </a:moveTo>
                <a:cubicBezTo>
                  <a:pt x="69558" y="-27075"/>
                  <a:pt x="365297" y="14897"/>
                  <a:pt x="549250" y="0"/>
                </a:cubicBezTo>
                <a:cubicBezTo>
                  <a:pt x="762323" y="14872"/>
                  <a:pt x="864871" y="21041"/>
                  <a:pt x="1082954" y="0"/>
                </a:cubicBezTo>
                <a:cubicBezTo>
                  <a:pt x="1306037" y="9403"/>
                  <a:pt x="1371926" y="14821"/>
                  <a:pt x="1554480" y="0"/>
                </a:cubicBezTo>
                <a:cubicBezTo>
                  <a:pt x="1554010" y="4793"/>
                  <a:pt x="1554680" y="10394"/>
                  <a:pt x="1554480" y="13716"/>
                </a:cubicBezTo>
                <a:cubicBezTo>
                  <a:pt x="1328957" y="3179"/>
                  <a:pt x="1207025" y="27731"/>
                  <a:pt x="1067410" y="13716"/>
                </a:cubicBezTo>
                <a:cubicBezTo>
                  <a:pt x="897316" y="-7440"/>
                  <a:pt x="788951" y="-24962"/>
                  <a:pt x="549250" y="13716"/>
                </a:cubicBezTo>
                <a:cubicBezTo>
                  <a:pt x="300394" y="-2982"/>
                  <a:pt x="129576" y="35301"/>
                  <a:pt x="0" y="13716"/>
                </a:cubicBezTo>
                <a:cubicBezTo>
                  <a:pt x="354" y="8869"/>
                  <a:pt x="649" y="6738"/>
                  <a:pt x="0" y="0"/>
                </a:cubicBezTo>
                <a:close/>
              </a:path>
              <a:path w="1554480" h="13716" stroke="0" extrusionOk="0">
                <a:moveTo>
                  <a:pt x="0" y="0"/>
                </a:moveTo>
                <a:cubicBezTo>
                  <a:pt x="249513" y="10124"/>
                  <a:pt x="389298" y="10419"/>
                  <a:pt x="502615" y="0"/>
                </a:cubicBezTo>
                <a:cubicBezTo>
                  <a:pt x="616735" y="10147"/>
                  <a:pt x="791037" y="-19212"/>
                  <a:pt x="974141" y="0"/>
                </a:cubicBezTo>
                <a:cubicBezTo>
                  <a:pt x="1141919" y="34853"/>
                  <a:pt x="1248514" y="16971"/>
                  <a:pt x="1554480" y="0"/>
                </a:cubicBezTo>
                <a:cubicBezTo>
                  <a:pt x="1554288" y="3835"/>
                  <a:pt x="1554171" y="7531"/>
                  <a:pt x="1554480" y="13716"/>
                </a:cubicBezTo>
                <a:cubicBezTo>
                  <a:pt x="1337806" y="9080"/>
                  <a:pt x="1308467" y="19887"/>
                  <a:pt x="1067410" y="13716"/>
                </a:cubicBezTo>
                <a:cubicBezTo>
                  <a:pt x="824349" y="13143"/>
                  <a:pt x="783437" y="24151"/>
                  <a:pt x="518160" y="13716"/>
                </a:cubicBezTo>
                <a:cubicBezTo>
                  <a:pt x="271530" y="4598"/>
                  <a:pt x="132568" y="-7659"/>
                  <a:pt x="0" y="13716"/>
                </a:cubicBezTo>
                <a:cubicBezTo>
                  <a:pt x="768" y="9617"/>
                  <a:pt x="-274" y="4847"/>
                  <a:pt x="0" y="0"/>
                </a:cubicBezTo>
                <a:close/>
              </a:path>
              <a:path w="1554480" h="13716" fill="none" stroke="0" extrusionOk="0">
                <a:moveTo>
                  <a:pt x="0" y="0"/>
                </a:moveTo>
                <a:cubicBezTo>
                  <a:pt x="95687" y="-31247"/>
                  <a:pt x="331569" y="3404"/>
                  <a:pt x="549250" y="0"/>
                </a:cubicBezTo>
                <a:cubicBezTo>
                  <a:pt x="776590" y="6530"/>
                  <a:pt x="844530" y="-5109"/>
                  <a:pt x="1082954" y="0"/>
                </a:cubicBezTo>
                <a:cubicBezTo>
                  <a:pt x="1293569" y="15486"/>
                  <a:pt x="1361850" y="13824"/>
                  <a:pt x="1554480" y="0"/>
                </a:cubicBezTo>
                <a:cubicBezTo>
                  <a:pt x="1553504" y="4786"/>
                  <a:pt x="1554832" y="10912"/>
                  <a:pt x="1554480" y="13716"/>
                </a:cubicBezTo>
                <a:cubicBezTo>
                  <a:pt x="1366718" y="4861"/>
                  <a:pt x="1218290" y="26644"/>
                  <a:pt x="1067410" y="13716"/>
                </a:cubicBezTo>
                <a:cubicBezTo>
                  <a:pt x="900327" y="-8822"/>
                  <a:pt x="792178" y="6310"/>
                  <a:pt x="549250" y="13716"/>
                </a:cubicBezTo>
                <a:cubicBezTo>
                  <a:pt x="295300" y="2843"/>
                  <a:pt x="142619" y="40779"/>
                  <a:pt x="0" y="13716"/>
                </a:cubicBezTo>
                <a:cubicBezTo>
                  <a:pt x="813" y="8812"/>
                  <a:pt x="948" y="672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custGeom>
                    <a:avLst/>
                    <a:gdLst>
                      <a:gd name="connsiteX0" fmla="*/ 0 w 1554480"/>
                      <a:gd name="connsiteY0" fmla="*/ 0 h 13716"/>
                      <a:gd name="connsiteX1" fmla="*/ 549250 w 1554480"/>
                      <a:gd name="connsiteY1" fmla="*/ 0 h 13716"/>
                      <a:gd name="connsiteX2" fmla="*/ 1082954 w 1554480"/>
                      <a:gd name="connsiteY2" fmla="*/ 0 h 13716"/>
                      <a:gd name="connsiteX3" fmla="*/ 1554480 w 1554480"/>
                      <a:gd name="connsiteY3" fmla="*/ 0 h 13716"/>
                      <a:gd name="connsiteX4" fmla="*/ 1554480 w 1554480"/>
                      <a:gd name="connsiteY4" fmla="*/ 13716 h 13716"/>
                      <a:gd name="connsiteX5" fmla="*/ 1067410 w 1554480"/>
                      <a:gd name="connsiteY5" fmla="*/ 13716 h 13716"/>
                      <a:gd name="connsiteX6" fmla="*/ 549250 w 1554480"/>
                      <a:gd name="connsiteY6" fmla="*/ 13716 h 13716"/>
                      <a:gd name="connsiteX7" fmla="*/ 0 w 1554480"/>
                      <a:gd name="connsiteY7" fmla="*/ 13716 h 13716"/>
                      <a:gd name="connsiteX8" fmla="*/ 0 w 1554480"/>
                      <a:gd name="connsiteY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3716"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3820" y="4959"/>
                          <a:pt x="1554594" y="10798"/>
                          <a:pt x="1554480" y="13716"/>
                        </a:cubicBezTo>
                        <a:cubicBezTo>
                          <a:pt x="1338847" y="1555"/>
                          <a:pt x="1215066" y="33279"/>
                          <a:pt x="1067410" y="13716"/>
                        </a:cubicBezTo>
                        <a:cubicBezTo>
                          <a:pt x="919754" y="-5847"/>
                          <a:pt x="800465" y="-1492"/>
                          <a:pt x="549250" y="13716"/>
                        </a:cubicBezTo>
                        <a:cubicBezTo>
                          <a:pt x="298035" y="28924"/>
                          <a:pt x="158868" y="18197"/>
                          <a:pt x="0" y="13716"/>
                        </a:cubicBezTo>
                        <a:cubicBezTo>
                          <a:pt x="488" y="8630"/>
                          <a:pt x="480" y="6612"/>
                          <a:pt x="0" y="0"/>
                        </a:cubicBezTo>
                        <a:close/>
                      </a:path>
                      <a:path w="1554480" h="13716"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232" y="4157"/>
                          <a:pt x="1554673" y="7559"/>
                          <a:pt x="1554480" y="13716"/>
                        </a:cubicBezTo>
                        <a:cubicBezTo>
                          <a:pt x="1336087" y="7600"/>
                          <a:pt x="1310024" y="15187"/>
                          <a:pt x="1067410" y="13716"/>
                        </a:cubicBezTo>
                        <a:cubicBezTo>
                          <a:pt x="824796" y="12246"/>
                          <a:pt x="787902" y="30075"/>
                          <a:pt x="518160" y="13716"/>
                        </a:cubicBezTo>
                        <a:cubicBezTo>
                          <a:pt x="248418" y="-2643"/>
                          <a:pt x="133160" y="4633"/>
                          <a:pt x="0" y="13716"/>
                        </a:cubicBezTo>
                        <a:cubicBezTo>
                          <a:pt x="43" y="9160"/>
                          <a:pt x="-111" y="4811"/>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p:cNvSpPr>
            <a:spLocks noGrp="1"/>
          </p:cNvSpPr>
          <p:nvPr>
            <p:ph idx="1"/>
          </p:nvPr>
        </p:nvSpPr>
        <p:spPr>
          <a:xfrm>
            <a:off x="3355846" y="630936"/>
            <a:ext cx="5305807" cy="1463040"/>
          </a:xfrm>
        </p:spPr>
        <p:txBody>
          <a:bodyPr anchor="ctr">
            <a:normAutofit/>
          </a:bodyPr>
          <a:lstStyle/>
          <a:p>
            <a:pPr marL="0" indent="0">
              <a:buNone/>
            </a:pPr>
            <a:r>
              <a:rPr lang="es-SV" sz="1500">
                <a:solidFill>
                  <a:srgbClr val="FFFFFF"/>
                </a:solidFill>
              </a:rPr>
              <a:t>La </a:t>
            </a:r>
            <a:r>
              <a:rPr lang="es-SV" sz="1500" b="1">
                <a:solidFill>
                  <a:srgbClr val="FFFFFF"/>
                </a:solidFill>
              </a:rPr>
              <a:t>distribución de probabilidad exponencial </a:t>
            </a:r>
            <a:r>
              <a:rPr lang="es-SV" sz="1500">
                <a:solidFill>
                  <a:srgbClr val="FFFFFF"/>
                </a:solidFill>
              </a:rPr>
              <a:t>se aplica a variables como las llegadas de automóviles a un lavado de coches, los tiempos requeridos para cargar un camión, las distancias entre dos averías en una carretera, etc. </a:t>
            </a:r>
          </a:p>
          <a:p>
            <a:pPr marL="0" indent="0">
              <a:buNone/>
            </a:pPr>
            <a:r>
              <a:rPr lang="es-SV" sz="1500">
                <a:solidFill>
                  <a:srgbClr val="FFFFFF"/>
                </a:solidFill>
              </a:rPr>
              <a:t>A continuación se da la función de densidad de probabilidad exponencial.</a:t>
            </a:r>
          </a:p>
        </p:txBody>
      </p:sp>
      <p:pic>
        <p:nvPicPr>
          <p:cNvPr id="4" name="Imagen 3"/>
          <p:cNvPicPr>
            <a:picLocks noChangeAspect="1"/>
          </p:cNvPicPr>
          <p:nvPr/>
        </p:nvPicPr>
        <p:blipFill>
          <a:blip r:embed="rId2"/>
          <a:stretch>
            <a:fillRect/>
          </a:stretch>
        </p:blipFill>
        <p:spPr>
          <a:xfrm>
            <a:off x="473202" y="3446563"/>
            <a:ext cx="8188452" cy="2328962"/>
          </a:xfrm>
          <a:prstGeom prst="rect">
            <a:avLst/>
          </a:prstGeom>
        </p:spPr>
      </p:pic>
    </p:spTree>
    <p:extLst>
      <p:ext uri="{BB962C8B-B14F-4D97-AF65-F5344CB8AC3E}">
        <p14:creationId xmlns:p14="http://schemas.microsoft.com/office/powerpoint/2010/main" val="2962633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57200" y="1124744"/>
            <a:ext cx="8229600" cy="5328592"/>
          </a:xfrm>
        </p:spPr>
        <p:txBody>
          <a:bodyPr/>
          <a:lstStyle/>
          <a:p>
            <a:pPr marL="0" indent="0" algn="just">
              <a:buNone/>
            </a:pPr>
            <a:r>
              <a:rPr lang="es-SV" sz="2000" dirty="0"/>
              <a:t>Como ocurre con cualquier distribución de probabilidad continua, el área bajo la curva correspondiendo a un intervalo da la probabilidad de que la variable aleatoria tome algún valor en ese intervalo.</a:t>
            </a:r>
          </a:p>
          <a:p>
            <a:pPr marL="0" indent="0" algn="just">
              <a:buNone/>
            </a:pPr>
            <a:r>
              <a:rPr lang="es-SV" sz="2000" dirty="0"/>
              <a:t>Para calcular probabilidades exponenciales como las que se acaban de describir, se usa la fórmula siguiente. Esta fórmula aporta la probabilidad acumulada de obtener un valor de la variable aleatoria exponencial que sea menor o igual que algún valor específico denotado por </a:t>
            </a:r>
            <a:r>
              <a:rPr lang="es-SV" sz="2000" i="1" dirty="0"/>
              <a:t>X</a:t>
            </a:r>
            <a:r>
              <a:rPr lang="es-SV" sz="900" i="1" dirty="0"/>
              <a:t>0</a:t>
            </a:r>
            <a:r>
              <a:rPr lang="es-SV" sz="2000" dirty="0"/>
              <a:t>.</a:t>
            </a:r>
          </a:p>
          <a:p>
            <a:pPr marL="0" indent="0" algn="just">
              <a:buNone/>
            </a:pPr>
            <a:endParaRPr lang="es-SV" sz="2000" dirty="0"/>
          </a:p>
          <a:p>
            <a:pPr marL="0" indent="0" algn="just">
              <a:buNone/>
            </a:pPr>
            <a:endParaRPr lang="es-SV" sz="2000" dirty="0"/>
          </a:p>
          <a:p>
            <a:pPr marL="0" indent="0" algn="just">
              <a:buNone/>
            </a:pPr>
            <a:endParaRPr lang="es-SV" sz="2000" dirty="0"/>
          </a:p>
          <a:p>
            <a:pPr marL="0" indent="0" algn="just">
              <a:buNone/>
            </a:pPr>
            <a:endParaRPr lang="es-SV" sz="2000" dirty="0"/>
          </a:p>
          <a:p>
            <a:pPr marL="0" indent="0" algn="just">
              <a:buNone/>
            </a:pPr>
            <a:r>
              <a:rPr lang="es-SV" sz="2000" i="1" dirty="0"/>
              <a:t>Nota: La distribución exponencial tiene la propiedad de que la media y la desviación estándar son iguales.</a:t>
            </a:r>
            <a:endParaRPr lang="es-SV" sz="2000" dirty="0"/>
          </a:p>
          <a:p>
            <a:pPr marL="0" indent="0" algn="just">
              <a:buNone/>
            </a:pPr>
            <a:endParaRPr lang="es-SV" sz="2000" dirty="0"/>
          </a:p>
          <a:p>
            <a:pPr marL="0" indent="0" algn="just">
              <a:buNone/>
            </a:pPr>
            <a:endParaRPr lang="es-SV" dirty="0"/>
          </a:p>
        </p:txBody>
      </p:sp>
      <p:pic>
        <p:nvPicPr>
          <p:cNvPr id="4" name="Imagen 3"/>
          <p:cNvPicPr>
            <a:picLocks noChangeAspect="1"/>
          </p:cNvPicPr>
          <p:nvPr/>
        </p:nvPicPr>
        <p:blipFill>
          <a:blip r:embed="rId2"/>
          <a:stretch>
            <a:fillRect/>
          </a:stretch>
        </p:blipFill>
        <p:spPr>
          <a:xfrm>
            <a:off x="1259632" y="3755814"/>
            <a:ext cx="6383161" cy="900480"/>
          </a:xfrm>
          <a:prstGeom prst="rect">
            <a:avLst/>
          </a:prstGeom>
        </p:spPr>
      </p:pic>
    </p:spTree>
    <p:extLst>
      <p:ext uri="{BB962C8B-B14F-4D97-AF65-F5344CB8AC3E}">
        <p14:creationId xmlns:p14="http://schemas.microsoft.com/office/powerpoint/2010/main" val="2371267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ítulo 1"/>
          <p:cNvSpPr>
            <a:spLocks noGrp="1"/>
          </p:cNvSpPr>
          <p:nvPr>
            <p:ph type="title"/>
          </p:nvPr>
        </p:nvSpPr>
        <p:spPr>
          <a:xfrm>
            <a:off x="683568" y="476672"/>
            <a:ext cx="7375161" cy="735754"/>
          </a:xfrm>
        </p:spPr>
        <p:txBody>
          <a:bodyPr anchor="b">
            <a:normAutofit/>
          </a:bodyPr>
          <a:lstStyle/>
          <a:p>
            <a:pPr algn="ctr"/>
            <a:r>
              <a:rPr lang="es-SV" sz="3100">
                <a:solidFill>
                  <a:schemeClr val="tx2"/>
                </a:solidFill>
              </a:rPr>
              <a:t>Desarrollo de problema</a:t>
            </a:r>
            <a:endParaRPr lang="es-SV" sz="3100" dirty="0">
              <a:solidFill>
                <a:schemeClr val="tx2"/>
              </a:solidFill>
            </a:endParaRPr>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7417" y="0"/>
            <a:ext cx="2926583"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Marcador de contenido 2"/>
          <p:cNvSpPr>
            <a:spLocks noGrp="1"/>
          </p:cNvSpPr>
          <p:nvPr>
            <p:ph idx="1"/>
          </p:nvPr>
        </p:nvSpPr>
        <p:spPr>
          <a:xfrm>
            <a:off x="395536" y="1212426"/>
            <a:ext cx="8424935" cy="5312918"/>
          </a:xfrm>
        </p:spPr>
        <p:txBody>
          <a:bodyPr>
            <a:normAutofit fontScale="92500" lnSpcReduction="10000"/>
          </a:bodyPr>
          <a:lstStyle/>
          <a:p>
            <a:pPr marL="0" indent="0">
              <a:buNone/>
            </a:pPr>
            <a:r>
              <a:rPr lang="es-SV" sz="2400" dirty="0">
                <a:solidFill>
                  <a:schemeClr val="tx2"/>
                </a:solidFill>
              </a:rPr>
              <a:t>El tiempo requerido para pasar por la inspección en los aeropuertos puede ser molesto para los pasajeros. El tiempo medio de espera en los periodos pico en el </a:t>
            </a:r>
            <a:r>
              <a:rPr lang="es-SV" sz="2400" dirty="0" err="1">
                <a:solidFill>
                  <a:schemeClr val="tx2"/>
                </a:solidFill>
              </a:rPr>
              <a:t>Cincinnnati</a:t>
            </a:r>
            <a:r>
              <a:rPr lang="es-SV" sz="2400" dirty="0">
                <a:solidFill>
                  <a:schemeClr val="tx2"/>
                </a:solidFill>
              </a:rPr>
              <a:t>/</a:t>
            </a:r>
            <a:r>
              <a:rPr lang="es-SV" sz="2400" dirty="0" err="1">
                <a:solidFill>
                  <a:schemeClr val="tx2"/>
                </a:solidFill>
              </a:rPr>
              <a:t>Northern</a:t>
            </a:r>
            <a:r>
              <a:rPr lang="es-SV" sz="2400" dirty="0">
                <a:solidFill>
                  <a:schemeClr val="tx2"/>
                </a:solidFill>
              </a:rPr>
              <a:t> Kentucky Internacional </a:t>
            </a:r>
            <a:r>
              <a:rPr lang="es-SV" sz="2400" dirty="0" err="1">
                <a:solidFill>
                  <a:schemeClr val="tx2"/>
                </a:solidFill>
              </a:rPr>
              <a:t>Airport</a:t>
            </a:r>
            <a:r>
              <a:rPr lang="es-SV" sz="2400" dirty="0">
                <a:solidFill>
                  <a:schemeClr val="tx2"/>
                </a:solidFill>
              </a:rPr>
              <a:t> es de 12.1 minutos (</a:t>
            </a:r>
            <a:r>
              <a:rPr lang="es-SV" sz="2400" i="1" dirty="0" err="1">
                <a:solidFill>
                  <a:schemeClr val="tx2"/>
                </a:solidFill>
              </a:rPr>
              <a:t>The</a:t>
            </a:r>
            <a:r>
              <a:rPr lang="es-SV" sz="2400" i="1" dirty="0">
                <a:solidFill>
                  <a:schemeClr val="tx2"/>
                </a:solidFill>
              </a:rPr>
              <a:t> Cincinnati </a:t>
            </a:r>
            <a:r>
              <a:rPr lang="es-SV" sz="2400" i="1" dirty="0" err="1">
                <a:solidFill>
                  <a:schemeClr val="tx2"/>
                </a:solidFill>
              </a:rPr>
              <a:t>Enquirer</a:t>
            </a:r>
            <a:r>
              <a:rPr lang="es-SV" sz="2400" dirty="0">
                <a:solidFill>
                  <a:schemeClr val="tx2"/>
                </a:solidFill>
              </a:rPr>
              <a:t>, 2 de febrero de 2006). Suponga que los tiempos para pasar por la inspección de seguridad tienen una distribución exponencial.</a:t>
            </a:r>
          </a:p>
          <a:p>
            <a:r>
              <a:rPr lang="es-SV" sz="2400" dirty="0">
                <a:solidFill>
                  <a:schemeClr val="tx2"/>
                </a:solidFill>
              </a:rPr>
              <a:t>¿Cuál es la probabilidad de que durante los periodos pico se requieran 10 minutos para pasar la inspección de seguridad?</a:t>
            </a:r>
          </a:p>
          <a:p>
            <a:r>
              <a:rPr lang="es-SV" sz="2400" dirty="0">
                <a:solidFill>
                  <a:schemeClr val="tx2"/>
                </a:solidFill>
              </a:rPr>
              <a:t>¿De que durante los periodos pico se requieran más de 20 minutos para pasar la inspección de seguridad?</a:t>
            </a:r>
          </a:p>
          <a:p>
            <a:r>
              <a:rPr lang="es-SV" sz="2400" dirty="0">
                <a:solidFill>
                  <a:schemeClr val="tx2"/>
                </a:solidFill>
              </a:rPr>
              <a:t>¿De que durante los periodos pico se requieran entre 10 y 20 minutos para pasar la inspección de seguridad?</a:t>
            </a:r>
          </a:p>
          <a:p>
            <a:r>
              <a:rPr lang="es-SV" sz="2400" dirty="0">
                <a:solidFill>
                  <a:schemeClr val="tx2"/>
                </a:solidFill>
              </a:rPr>
              <a:t>Son las 8 de la mañana (periodo pico) y usted se acaba de formar en la fila para la inspección de seguridad. Para alcanzar su avión, tiene que estar en la puerta de arribo en no más de 30 minutos. Si necesitara 12 minutos una vez pasada la inspección de seguridad para llegar a la puerta de arribo, ¿cuál es la probabilidad de que pierda el avión?</a:t>
            </a: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174211"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44666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SV" dirty="0"/>
              <a:t>Distribución Normal (μ, σ)</a:t>
            </a:r>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p:txBody>
              <a:bodyPr/>
              <a:lstStyle/>
              <a:p>
                <a:pPr marL="0" indent="0">
                  <a:buNone/>
                </a:pPr>
                <a:r>
                  <a:rPr lang="es-SV" dirty="0"/>
                  <a:t>Una V.A X tiene distribución normal con media μ y varianza </a:t>
                </a:r>
                <a14:m>
                  <m:oMath xmlns:m="http://schemas.openxmlformats.org/officeDocument/2006/math">
                    <m:sSup>
                      <m:sSupPr>
                        <m:ctrlPr>
                          <a:rPr lang="es-SV" i="1">
                            <a:latin typeface="Cambria Math" panose="02040503050406030204" pitchFamily="18" charset="0"/>
                          </a:rPr>
                        </m:ctrlPr>
                      </m:sSupPr>
                      <m:e>
                        <m:r>
                          <a:rPr lang="es-SV" i="1">
                            <a:latin typeface="Cambria Math" panose="02040503050406030204" pitchFamily="18" charset="0"/>
                          </a:rPr>
                          <m:t>𝜎</m:t>
                        </m:r>
                      </m:e>
                      <m:sup>
                        <m:r>
                          <a:rPr lang="es-SV" i="1">
                            <a:latin typeface="Cambria Math" panose="02040503050406030204" pitchFamily="18" charset="0"/>
                          </a:rPr>
                          <m:t>2</m:t>
                        </m:r>
                      </m:sup>
                    </m:sSup>
                  </m:oMath>
                </a14:m>
                <a:r>
                  <a:rPr lang="es-SV" dirty="0"/>
                  <a:t>si su </a:t>
                </a:r>
                <a:r>
                  <a:rPr lang="es-SV" dirty="0" err="1"/>
                  <a:t>f.d.p</a:t>
                </a:r>
                <a:r>
                  <a:rPr lang="es-SV" dirty="0"/>
                  <a:t> es la siguiente:</a:t>
                </a:r>
              </a:p>
              <a:p>
                <a:pPr marL="0" indent="0">
                  <a:buNone/>
                </a:pPr>
                <a:endParaRPr lang="es-SV" dirty="0"/>
              </a:p>
              <a:p>
                <a:pPr marL="0" indent="0">
                  <a:buNone/>
                </a:pPr>
                <a14:m>
                  <m:oMathPara xmlns:m="http://schemas.openxmlformats.org/officeDocument/2006/math">
                    <m:oMathParaPr>
                      <m:jc m:val="centerGroup"/>
                    </m:oMathParaPr>
                    <m:oMath xmlns:m="http://schemas.openxmlformats.org/officeDocument/2006/math">
                      <m:r>
                        <a:rPr lang="es-SV" i="1">
                          <a:latin typeface="Cambria Math" panose="02040503050406030204" pitchFamily="18" charset="0"/>
                        </a:rPr>
                        <m:t>𝑓</m:t>
                      </m:r>
                      <m:d>
                        <m:dPr>
                          <m:ctrlPr>
                            <a:rPr lang="es-SV" i="1">
                              <a:latin typeface="Cambria Math" panose="02040503050406030204" pitchFamily="18" charset="0"/>
                            </a:rPr>
                          </m:ctrlPr>
                        </m:dPr>
                        <m:e>
                          <m:r>
                            <a:rPr lang="es-SV" i="1">
                              <a:latin typeface="Cambria Math" panose="02040503050406030204" pitchFamily="18" charset="0"/>
                            </a:rPr>
                            <m:t>𝑥</m:t>
                          </m:r>
                        </m:e>
                      </m:d>
                      <m:r>
                        <a:rPr lang="es-SV" i="1">
                          <a:latin typeface="Cambria Math" panose="02040503050406030204" pitchFamily="18" charset="0"/>
                        </a:rPr>
                        <m:t>=</m:t>
                      </m:r>
                      <m:f>
                        <m:fPr>
                          <m:ctrlPr>
                            <a:rPr lang="es-SV" i="1">
                              <a:latin typeface="Cambria Math" panose="02040503050406030204" pitchFamily="18" charset="0"/>
                            </a:rPr>
                          </m:ctrlPr>
                        </m:fPr>
                        <m:num>
                          <m:r>
                            <a:rPr lang="es-SV" i="1">
                              <a:latin typeface="Cambria Math" panose="02040503050406030204" pitchFamily="18" charset="0"/>
                            </a:rPr>
                            <m:t>1</m:t>
                          </m:r>
                        </m:num>
                        <m:den>
                          <m:rad>
                            <m:radPr>
                              <m:degHide m:val="on"/>
                              <m:ctrlPr>
                                <a:rPr lang="es-SV" i="1">
                                  <a:latin typeface="Cambria Math" panose="02040503050406030204" pitchFamily="18" charset="0"/>
                                </a:rPr>
                              </m:ctrlPr>
                            </m:radPr>
                            <m:deg/>
                            <m:e>
                              <m:r>
                                <a:rPr lang="es-SV" i="1">
                                  <a:latin typeface="Cambria Math" panose="02040503050406030204" pitchFamily="18" charset="0"/>
                                </a:rPr>
                                <m:t>2</m:t>
                              </m:r>
                              <m:r>
                                <a:rPr lang="es-SV" i="1">
                                  <a:latin typeface="Cambria Math" panose="02040503050406030204" pitchFamily="18" charset="0"/>
                                </a:rPr>
                                <m:t>𝜋</m:t>
                              </m:r>
                            </m:e>
                          </m:rad>
                          <m:r>
                            <a:rPr lang="es-SV" b="0" i="1" smtClean="0">
                              <a:latin typeface="Cambria Math" panose="02040503050406030204" pitchFamily="18" charset="0"/>
                            </a:rPr>
                            <m:t>.</m:t>
                          </m:r>
                          <m:r>
                            <a:rPr lang="es-SV" i="1">
                              <a:latin typeface="Cambria Math" panose="02040503050406030204" pitchFamily="18" charset="0"/>
                            </a:rPr>
                            <m:t>𝜎</m:t>
                          </m:r>
                        </m:den>
                      </m:f>
                      <m:r>
                        <a:rPr lang="es-SV" i="1">
                          <a:latin typeface="Cambria Math" panose="02040503050406030204" pitchFamily="18" charset="0"/>
                        </a:rPr>
                        <m:t>×</m:t>
                      </m:r>
                      <m:sSup>
                        <m:sSupPr>
                          <m:ctrlPr>
                            <a:rPr lang="es-SV" i="1">
                              <a:latin typeface="Cambria Math" panose="02040503050406030204" pitchFamily="18" charset="0"/>
                            </a:rPr>
                          </m:ctrlPr>
                        </m:sSupPr>
                        <m:e>
                          <m:r>
                            <a:rPr lang="es-SV" i="1">
                              <a:latin typeface="Cambria Math" panose="02040503050406030204" pitchFamily="18" charset="0"/>
                            </a:rPr>
                            <m:t>𝑒</m:t>
                          </m:r>
                        </m:e>
                        <m:sup>
                          <m:r>
                            <a:rPr lang="es-SV" i="1">
                              <a:latin typeface="Cambria Math" panose="02040503050406030204" pitchFamily="18" charset="0"/>
                            </a:rPr>
                            <m:t>−1/2</m:t>
                          </m:r>
                          <m:sSup>
                            <m:sSupPr>
                              <m:ctrlPr>
                                <a:rPr lang="es-SV" i="1">
                                  <a:latin typeface="Cambria Math" panose="02040503050406030204" pitchFamily="18" charset="0"/>
                                </a:rPr>
                              </m:ctrlPr>
                            </m:sSupPr>
                            <m:e>
                              <m:d>
                                <m:dPr>
                                  <m:ctrlPr>
                                    <a:rPr lang="es-SV" i="1">
                                      <a:latin typeface="Cambria Math" panose="02040503050406030204" pitchFamily="18" charset="0"/>
                                    </a:rPr>
                                  </m:ctrlPr>
                                </m:dPr>
                                <m:e>
                                  <m:f>
                                    <m:fPr>
                                      <m:ctrlPr>
                                        <a:rPr lang="es-SV" i="1">
                                          <a:latin typeface="Cambria Math" panose="02040503050406030204" pitchFamily="18" charset="0"/>
                                        </a:rPr>
                                      </m:ctrlPr>
                                    </m:fPr>
                                    <m:num>
                                      <m:r>
                                        <a:rPr lang="es-SV" i="1">
                                          <a:latin typeface="Cambria Math" panose="02040503050406030204" pitchFamily="18" charset="0"/>
                                        </a:rPr>
                                        <m:t>𝑥</m:t>
                                      </m:r>
                                      <m:r>
                                        <a:rPr lang="es-SV" i="1">
                                          <a:latin typeface="Cambria Math" panose="02040503050406030204" pitchFamily="18" charset="0"/>
                                        </a:rPr>
                                        <m:t>−</m:t>
                                      </m:r>
                                      <m:r>
                                        <a:rPr lang="es-SV" i="1">
                                          <a:latin typeface="Cambria Math" panose="02040503050406030204" pitchFamily="18" charset="0"/>
                                        </a:rPr>
                                        <m:t>𝜇</m:t>
                                      </m:r>
                                    </m:num>
                                    <m:den>
                                      <m:r>
                                        <a:rPr lang="es-SV" i="1">
                                          <a:latin typeface="Cambria Math" panose="02040503050406030204" pitchFamily="18" charset="0"/>
                                        </a:rPr>
                                        <m:t>𝜎</m:t>
                                      </m:r>
                                    </m:den>
                                  </m:f>
                                </m:e>
                              </m:d>
                            </m:e>
                            <m:sup>
                              <m:r>
                                <a:rPr lang="es-SV" i="1">
                                  <a:latin typeface="Cambria Math" panose="02040503050406030204" pitchFamily="18" charset="0"/>
                                </a:rPr>
                                <m:t>2</m:t>
                              </m:r>
                            </m:sup>
                          </m:sSup>
                        </m:sup>
                      </m:sSup>
                      <m:r>
                        <a:rPr lang="es-SV" i="1">
                          <a:latin typeface="Cambria Math" panose="02040503050406030204" pitchFamily="18" charset="0"/>
                        </a:rPr>
                        <m:t>  ;  </m:t>
                      </m:r>
                      <m:r>
                        <a:rPr lang="es-SV" i="1">
                          <a:latin typeface="Cambria Math" panose="02040503050406030204" pitchFamily="18" charset="0"/>
                        </a:rPr>
                        <m:t>𝑥</m:t>
                      </m:r>
                      <m:r>
                        <a:rPr lang="es-SV" i="1">
                          <a:latin typeface="Cambria Math" panose="02040503050406030204" pitchFamily="18" charset="0"/>
                        </a:rPr>
                        <m:t> </m:t>
                      </m:r>
                      <m:r>
                        <a:rPr lang="es-SV" i="1">
                          <a:latin typeface="Cambria Math" panose="02040503050406030204" pitchFamily="18" charset="0"/>
                        </a:rPr>
                        <m:t>𝜖</m:t>
                      </m:r>
                      <m:r>
                        <a:rPr lang="es-SV" i="1">
                          <a:latin typeface="Cambria Math" panose="02040503050406030204" pitchFamily="18" charset="0"/>
                        </a:rPr>
                        <m:t> </m:t>
                      </m:r>
                      <m:r>
                        <a:rPr lang="es-SV" i="1">
                          <a:latin typeface="Cambria Math" panose="02040503050406030204" pitchFamily="18" charset="0"/>
                        </a:rPr>
                        <m:t>𝑅</m:t>
                      </m:r>
                    </m:oMath>
                  </m:oMathPara>
                </a14:m>
                <a:endParaRPr lang="es-SV" dirty="0"/>
              </a:p>
              <a:p>
                <a:pPr marL="0" indent="0">
                  <a:buNone/>
                </a:pPr>
                <a:endParaRPr lang="es-SV" dirty="0"/>
              </a:p>
              <a:p>
                <a:endParaRPr lang="es-SV" dirty="0"/>
              </a:p>
            </p:txBody>
          </p:sp>
        </mc:Choice>
        <mc:Fallback xmlns="">
          <p:sp>
            <p:nvSpPr>
              <p:cNvPr id="3" name="Marcador de contenido 2"/>
              <p:cNvSpPr>
                <a:spLocks noGrp="1" noRot="1" noChangeAspect="1" noMove="1" noResize="1" noEditPoints="1" noAdjustHandles="1" noChangeArrowheads="1" noChangeShapeType="1" noTextEdit="1"/>
              </p:cNvSpPr>
              <p:nvPr>
                <p:ph sz="quarter" idx="1"/>
              </p:nvPr>
            </p:nvSpPr>
            <p:spPr>
              <a:blipFill>
                <a:blip r:embed="rId2"/>
                <a:stretch>
                  <a:fillRect l="-1333" t="-1235" r="-1556"/>
                </a:stretch>
              </a:blipFill>
            </p:spPr>
            <p:txBody>
              <a:bodyPr/>
              <a:lstStyle/>
              <a:p>
                <a:r>
                  <a:rPr lang="es-SV">
                    <a:noFill/>
                  </a:rPr>
                  <a:t> </a:t>
                </a:r>
              </a:p>
            </p:txBody>
          </p:sp>
        </mc:Fallback>
      </mc:AlternateContent>
      <p:pic>
        <p:nvPicPr>
          <p:cNvPr id="4" name="Imagen 3" descr="http://carleos.epv.uniovi.es/~carleos/docencia/teloydisren/descriptiva+probabilidad/l_edyp/lib_edyp_html/img787.png"/>
          <p:cNvPicPr/>
          <p:nvPr/>
        </p:nvPicPr>
        <p:blipFill>
          <a:blip r:embed="rId3">
            <a:extLst>
              <a:ext uri="{28A0092B-C50C-407E-A947-70E740481C1C}">
                <a14:useLocalDpi xmlns:a14="http://schemas.microsoft.com/office/drawing/2010/main" val="0"/>
              </a:ext>
            </a:extLst>
          </a:blip>
          <a:srcRect/>
          <a:stretch>
            <a:fillRect/>
          </a:stretch>
        </p:blipFill>
        <p:spPr bwMode="auto">
          <a:xfrm>
            <a:off x="2339752" y="3573016"/>
            <a:ext cx="4464496" cy="2520280"/>
          </a:xfrm>
          <a:prstGeom prst="rect">
            <a:avLst/>
          </a:prstGeom>
          <a:noFill/>
          <a:ln>
            <a:noFill/>
          </a:ln>
        </p:spPr>
      </p:pic>
    </p:spTree>
    <p:extLst>
      <p:ext uri="{BB962C8B-B14F-4D97-AF65-F5344CB8AC3E}">
        <p14:creationId xmlns:p14="http://schemas.microsoft.com/office/powerpoint/2010/main" val="3561387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628650" y="365125"/>
            <a:ext cx="7886700" cy="1325563"/>
          </a:xfrm>
        </p:spPr>
        <p:txBody>
          <a:bodyPr>
            <a:normAutofit/>
          </a:bodyPr>
          <a:lstStyle/>
          <a:p>
            <a:r>
              <a:rPr lang="es-SV" sz="4700" i="1"/>
              <a:t>Importancia de la curva normal:</a:t>
            </a:r>
            <a:endParaRPr lang="es-SV" sz="4700"/>
          </a:p>
        </p:txBody>
      </p:sp>
      <p:sp>
        <p:nvSpPr>
          <p:cNvPr id="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 name="csX0" fmla="*/ 0 w 8140446"/>
              <a:gd name="csY0" fmla="*/ 0 h 18288"/>
              <a:gd name="csX1" fmla="*/ 596966 w 8140446"/>
              <a:gd name="csY1" fmla="*/ 0 h 18288"/>
              <a:gd name="csX2" fmla="*/ 1031123 w 8140446"/>
              <a:gd name="csY2" fmla="*/ 0 h 18288"/>
              <a:gd name="csX3" fmla="*/ 1872303 w 8140446"/>
              <a:gd name="csY3" fmla="*/ 0 h 18288"/>
              <a:gd name="csX4" fmla="*/ 2469269 w 8140446"/>
              <a:gd name="csY4" fmla="*/ 0 h 18288"/>
              <a:gd name="csX5" fmla="*/ 3066235 w 8140446"/>
              <a:gd name="csY5" fmla="*/ 0 h 18288"/>
              <a:gd name="csX6" fmla="*/ 3907414 w 8140446"/>
              <a:gd name="csY6" fmla="*/ 0 h 18288"/>
              <a:gd name="csX7" fmla="*/ 4422976 w 8140446"/>
              <a:gd name="csY7" fmla="*/ 0 h 18288"/>
              <a:gd name="csX8" fmla="*/ 5264155 w 8140446"/>
              <a:gd name="csY8" fmla="*/ 0 h 18288"/>
              <a:gd name="csX9" fmla="*/ 6105335 w 8140446"/>
              <a:gd name="csY9" fmla="*/ 0 h 18288"/>
              <a:gd name="csX10" fmla="*/ 6783705 w 8140446"/>
              <a:gd name="csY10" fmla="*/ 0 h 18288"/>
              <a:gd name="csX11" fmla="*/ 8140446 w 8140446"/>
              <a:gd name="csY11" fmla="*/ 0 h 18288"/>
              <a:gd name="csX12" fmla="*/ 8140446 w 8140446"/>
              <a:gd name="csY12" fmla="*/ 18288 h 18288"/>
              <a:gd name="csX13" fmla="*/ 7706289 w 8140446"/>
              <a:gd name="csY13" fmla="*/ 18288 h 18288"/>
              <a:gd name="csX14" fmla="*/ 6865109 w 8140446"/>
              <a:gd name="csY14" fmla="*/ 18288 h 18288"/>
              <a:gd name="csX15" fmla="*/ 6349548 w 8140446"/>
              <a:gd name="csY15" fmla="*/ 18288 h 18288"/>
              <a:gd name="csX16" fmla="*/ 5671177 w 8140446"/>
              <a:gd name="csY16" fmla="*/ 18288 h 18288"/>
              <a:gd name="csX17" fmla="*/ 4829998 w 8140446"/>
              <a:gd name="csY17" fmla="*/ 18288 h 18288"/>
              <a:gd name="csX18" fmla="*/ 4151627 w 8140446"/>
              <a:gd name="csY18" fmla="*/ 18288 h 18288"/>
              <a:gd name="csX19" fmla="*/ 3717470 w 8140446"/>
              <a:gd name="csY19" fmla="*/ 18288 h 18288"/>
              <a:gd name="csX20" fmla="*/ 3201909 w 8140446"/>
              <a:gd name="csY20" fmla="*/ 18288 h 18288"/>
              <a:gd name="csX21" fmla="*/ 2360729 w 8140446"/>
              <a:gd name="csY21" fmla="*/ 18288 h 18288"/>
              <a:gd name="csX22" fmla="*/ 1682359 w 8140446"/>
              <a:gd name="csY22" fmla="*/ 18288 h 18288"/>
              <a:gd name="csX23" fmla="*/ 1166797 w 8140446"/>
              <a:gd name="csY23" fmla="*/ 18288 h 18288"/>
              <a:gd name="csX24" fmla="*/ 0 w 8140446"/>
              <a:gd name="csY24" fmla="*/ 18288 h 18288"/>
              <a:gd name="csX25" fmla="*/ 0 w 8140446"/>
              <a:gd name="csY2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8140446" h="18288" fill="none" extrusionOk="0">
                <a:moveTo>
                  <a:pt x="0" y="0"/>
                </a:moveTo>
                <a:cubicBezTo>
                  <a:pt x="87427" y="6231"/>
                  <a:pt x="309612" y="-26324"/>
                  <a:pt x="434157" y="0"/>
                </a:cubicBezTo>
                <a:cubicBezTo>
                  <a:pt x="536972" y="29330"/>
                  <a:pt x="959392" y="28619"/>
                  <a:pt x="1193932" y="0"/>
                </a:cubicBezTo>
                <a:cubicBezTo>
                  <a:pt x="1446097" y="13819"/>
                  <a:pt x="1471680" y="7203"/>
                  <a:pt x="1628089" y="0"/>
                </a:cubicBezTo>
                <a:cubicBezTo>
                  <a:pt x="1817415" y="4047"/>
                  <a:pt x="1949536" y="-59324"/>
                  <a:pt x="2225055" y="0"/>
                </a:cubicBezTo>
                <a:cubicBezTo>
                  <a:pt x="2520490" y="18365"/>
                  <a:pt x="2717469" y="18707"/>
                  <a:pt x="3066235" y="0"/>
                </a:cubicBezTo>
                <a:cubicBezTo>
                  <a:pt x="3437075" y="3751"/>
                  <a:pt x="3408347" y="31644"/>
                  <a:pt x="3744605" y="0"/>
                </a:cubicBezTo>
                <a:cubicBezTo>
                  <a:pt x="4097249" y="-11527"/>
                  <a:pt x="4249699" y="-32555"/>
                  <a:pt x="4504380" y="0"/>
                </a:cubicBezTo>
                <a:cubicBezTo>
                  <a:pt x="4737570" y="17980"/>
                  <a:pt x="4877497" y="1006"/>
                  <a:pt x="5101346" y="0"/>
                </a:cubicBezTo>
                <a:cubicBezTo>
                  <a:pt x="5359305" y="-15330"/>
                  <a:pt x="5447195" y="7257"/>
                  <a:pt x="5779717" y="0"/>
                </a:cubicBezTo>
                <a:cubicBezTo>
                  <a:pt x="6090019" y="-17621"/>
                  <a:pt x="6273151" y="4279"/>
                  <a:pt x="6620896" y="0"/>
                </a:cubicBezTo>
                <a:cubicBezTo>
                  <a:pt x="6968586" y="34056"/>
                  <a:pt x="6990073" y="23587"/>
                  <a:pt x="7136458" y="0"/>
                </a:cubicBezTo>
                <a:cubicBezTo>
                  <a:pt x="7320575" y="20480"/>
                  <a:pt x="7847401" y="-6173"/>
                  <a:pt x="8140446" y="0"/>
                </a:cubicBezTo>
                <a:cubicBezTo>
                  <a:pt x="8139878" y="7862"/>
                  <a:pt x="8140227" y="13269"/>
                  <a:pt x="8140446" y="18288"/>
                </a:cubicBezTo>
                <a:cubicBezTo>
                  <a:pt x="7908069" y="-20636"/>
                  <a:pt x="7683037" y="21977"/>
                  <a:pt x="7543480" y="18288"/>
                </a:cubicBezTo>
                <a:cubicBezTo>
                  <a:pt x="7393752" y="10050"/>
                  <a:pt x="7221032" y="-3229"/>
                  <a:pt x="7109323" y="18288"/>
                </a:cubicBezTo>
                <a:cubicBezTo>
                  <a:pt x="7015297" y="22483"/>
                  <a:pt x="6599332" y="40899"/>
                  <a:pt x="6430952" y="18288"/>
                </a:cubicBezTo>
                <a:cubicBezTo>
                  <a:pt x="6292915" y="-34150"/>
                  <a:pt x="6142305" y="21507"/>
                  <a:pt x="5915391" y="18288"/>
                </a:cubicBezTo>
                <a:cubicBezTo>
                  <a:pt x="5682725" y="47843"/>
                  <a:pt x="5440566" y="31420"/>
                  <a:pt x="5237020" y="18288"/>
                </a:cubicBezTo>
                <a:cubicBezTo>
                  <a:pt x="5046456" y="10577"/>
                  <a:pt x="4706449" y="51976"/>
                  <a:pt x="4558650" y="18288"/>
                </a:cubicBezTo>
                <a:cubicBezTo>
                  <a:pt x="4361396" y="-987"/>
                  <a:pt x="4145362" y="-22303"/>
                  <a:pt x="3880279" y="18288"/>
                </a:cubicBezTo>
                <a:cubicBezTo>
                  <a:pt x="3610716" y="25411"/>
                  <a:pt x="3472690" y="4008"/>
                  <a:pt x="3201909" y="18288"/>
                </a:cubicBezTo>
                <a:cubicBezTo>
                  <a:pt x="2913595" y="35097"/>
                  <a:pt x="2753317" y="-1149"/>
                  <a:pt x="2604943" y="18288"/>
                </a:cubicBezTo>
                <a:cubicBezTo>
                  <a:pt x="2450130" y="36989"/>
                  <a:pt x="1974183" y="40159"/>
                  <a:pt x="1845168" y="18288"/>
                </a:cubicBezTo>
                <a:cubicBezTo>
                  <a:pt x="1677929" y="220"/>
                  <a:pt x="1378098" y="-772"/>
                  <a:pt x="1166797" y="18288"/>
                </a:cubicBezTo>
                <a:cubicBezTo>
                  <a:pt x="921150" y="53277"/>
                  <a:pt x="327457" y="47297"/>
                  <a:pt x="0" y="18288"/>
                </a:cubicBezTo>
                <a:cubicBezTo>
                  <a:pt x="-589" y="13471"/>
                  <a:pt x="-474" y="7409"/>
                  <a:pt x="0" y="0"/>
                </a:cubicBezTo>
                <a:close/>
              </a:path>
              <a:path w="8140446" h="18288" stroke="0" extrusionOk="0">
                <a:moveTo>
                  <a:pt x="0" y="0"/>
                </a:moveTo>
                <a:cubicBezTo>
                  <a:pt x="136968" y="-25482"/>
                  <a:pt x="379786" y="11224"/>
                  <a:pt x="596966" y="0"/>
                </a:cubicBezTo>
                <a:cubicBezTo>
                  <a:pt x="815878" y="-21223"/>
                  <a:pt x="832062" y="11868"/>
                  <a:pt x="1031123" y="0"/>
                </a:cubicBezTo>
                <a:cubicBezTo>
                  <a:pt x="1256800" y="-30738"/>
                  <a:pt x="1658090" y="-20345"/>
                  <a:pt x="1872303" y="0"/>
                </a:cubicBezTo>
                <a:cubicBezTo>
                  <a:pt x="2115604" y="28431"/>
                  <a:pt x="2277865" y="-40642"/>
                  <a:pt x="2469269" y="0"/>
                </a:cubicBezTo>
                <a:cubicBezTo>
                  <a:pt x="2679731" y="25919"/>
                  <a:pt x="2788602" y="-6498"/>
                  <a:pt x="3066235" y="0"/>
                </a:cubicBezTo>
                <a:cubicBezTo>
                  <a:pt x="3325663" y="-14487"/>
                  <a:pt x="3706561" y="67517"/>
                  <a:pt x="3907414" y="0"/>
                </a:cubicBezTo>
                <a:cubicBezTo>
                  <a:pt x="4127229" y="-37113"/>
                  <a:pt x="4179037" y="-8167"/>
                  <a:pt x="4422976" y="0"/>
                </a:cubicBezTo>
                <a:cubicBezTo>
                  <a:pt x="4683575" y="-28486"/>
                  <a:pt x="5055803" y="-13799"/>
                  <a:pt x="5264155" y="0"/>
                </a:cubicBezTo>
                <a:cubicBezTo>
                  <a:pt x="5513566" y="14315"/>
                  <a:pt x="5735215" y="2768"/>
                  <a:pt x="6105335" y="0"/>
                </a:cubicBezTo>
                <a:cubicBezTo>
                  <a:pt x="6510913" y="-12587"/>
                  <a:pt x="6456171" y="3247"/>
                  <a:pt x="6783705" y="0"/>
                </a:cubicBezTo>
                <a:cubicBezTo>
                  <a:pt x="7057099" y="-15461"/>
                  <a:pt x="7592067" y="5384"/>
                  <a:pt x="8140446" y="0"/>
                </a:cubicBezTo>
                <a:cubicBezTo>
                  <a:pt x="8140452" y="8597"/>
                  <a:pt x="8141122" y="9732"/>
                  <a:pt x="8140446" y="18288"/>
                </a:cubicBezTo>
                <a:cubicBezTo>
                  <a:pt x="7961834" y="8406"/>
                  <a:pt x="7874097" y="10350"/>
                  <a:pt x="7706289" y="18288"/>
                </a:cubicBezTo>
                <a:cubicBezTo>
                  <a:pt x="7582508" y="-14920"/>
                  <a:pt x="7179551" y="-33111"/>
                  <a:pt x="6865109" y="18288"/>
                </a:cubicBezTo>
                <a:cubicBezTo>
                  <a:pt x="6583382" y="24117"/>
                  <a:pt x="6525821" y="36696"/>
                  <a:pt x="6349548" y="18288"/>
                </a:cubicBezTo>
                <a:cubicBezTo>
                  <a:pt x="6209953" y="10881"/>
                  <a:pt x="5959707" y="-47828"/>
                  <a:pt x="5671177" y="18288"/>
                </a:cubicBezTo>
                <a:cubicBezTo>
                  <a:pt x="5387744" y="29809"/>
                  <a:pt x="5228514" y="101507"/>
                  <a:pt x="4829998" y="18288"/>
                </a:cubicBezTo>
                <a:cubicBezTo>
                  <a:pt x="4415646" y="-28596"/>
                  <a:pt x="4343809" y="28954"/>
                  <a:pt x="4151627" y="18288"/>
                </a:cubicBezTo>
                <a:cubicBezTo>
                  <a:pt x="3950673" y="-9796"/>
                  <a:pt x="3879947" y="41143"/>
                  <a:pt x="3717470" y="18288"/>
                </a:cubicBezTo>
                <a:cubicBezTo>
                  <a:pt x="3558660" y="10110"/>
                  <a:pt x="3468854" y="29375"/>
                  <a:pt x="3201909" y="18288"/>
                </a:cubicBezTo>
                <a:cubicBezTo>
                  <a:pt x="2965673" y="10505"/>
                  <a:pt x="2568327" y="22116"/>
                  <a:pt x="2360729" y="18288"/>
                </a:cubicBezTo>
                <a:cubicBezTo>
                  <a:pt x="2171885" y="49144"/>
                  <a:pt x="1923258" y="16020"/>
                  <a:pt x="1682359" y="18288"/>
                </a:cubicBezTo>
                <a:cubicBezTo>
                  <a:pt x="1430698" y="-2378"/>
                  <a:pt x="1324229" y="-1751"/>
                  <a:pt x="1166797" y="18288"/>
                </a:cubicBezTo>
                <a:cubicBezTo>
                  <a:pt x="1001390" y="41795"/>
                  <a:pt x="324313" y="57964"/>
                  <a:pt x="0" y="18288"/>
                </a:cubicBezTo>
                <a:cubicBezTo>
                  <a:pt x="285" y="13135"/>
                  <a:pt x="532" y="5956"/>
                  <a:pt x="0" y="0"/>
                </a:cubicBezTo>
                <a:close/>
              </a:path>
              <a:path w="8140446" h="18288" fill="none" stroke="0" extrusionOk="0">
                <a:moveTo>
                  <a:pt x="0" y="0"/>
                </a:moveTo>
                <a:cubicBezTo>
                  <a:pt x="69532" y="-6557"/>
                  <a:pt x="264219" y="3919"/>
                  <a:pt x="434157" y="0"/>
                </a:cubicBezTo>
                <a:cubicBezTo>
                  <a:pt x="600013" y="9090"/>
                  <a:pt x="921449" y="-13478"/>
                  <a:pt x="1193932" y="0"/>
                </a:cubicBezTo>
                <a:cubicBezTo>
                  <a:pt x="1443592" y="14844"/>
                  <a:pt x="1471188" y="10722"/>
                  <a:pt x="1628089" y="0"/>
                </a:cubicBezTo>
                <a:cubicBezTo>
                  <a:pt x="1750006" y="-24149"/>
                  <a:pt x="1967480" y="-14904"/>
                  <a:pt x="2225055" y="0"/>
                </a:cubicBezTo>
                <a:cubicBezTo>
                  <a:pt x="2503918" y="19247"/>
                  <a:pt x="2709263" y="-16351"/>
                  <a:pt x="3066235" y="0"/>
                </a:cubicBezTo>
                <a:cubicBezTo>
                  <a:pt x="3429723" y="-1627"/>
                  <a:pt x="3399401" y="30976"/>
                  <a:pt x="3744605" y="0"/>
                </a:cubicBezTo>
                <a:cubicBezTo>
                  <a:pt x="4081920" y="-40602"/>
                  <a:pt x="4258272" y="-2441"/>
                  <a:pt x="4504380" y="0"/>
                </a:cubicBezTo>
                <a:cubicBezTo>
                  <a:pt x="4760039" y="21121"/>
                  <a:pt x="4866555" y="-1351"/>
                  <a:pt x="5101346" y="0"/>
                </a:cubicBezTo>
                <a:cubicBezTo>
                  <a:pt x="5336279" y="1859"/>
                  <a:pt x="5465100" y="30801"/>
                  <a:pt x="5779717" y="0"/>
                </a:cubicBezTo>
                <a:cubicBezTo>
                  <a:pt x="6117018" y="-2879"/>
                  <a:pt x="6273497" y="-5002"/>
                  <a:pt x="6620896" y="0"/>
                </a:cubicBezTo>
                <a:cubicBezTo>
                  <a:pt x="6972306" y="38666"/>
                  <a:pt x="6992056" y="28334"/>
                  <a:pt x="7136458" y="0"/>
                </a:cubicBezTo>
                <a:cubicBezTo>
                  <a:pt x="7325567" y="-61201"/>
                  <a:pt x="7766555" y="-88399"/>
                  <a:pt x="8140446" y="0"/>
                </a:cubicBezTo>
                <a:cubicBezTo>
                  <a:pt x="8140031" y="7748"/>
                  <a:pt x="8139515" y="13015"/>
                  <a:pt x="8140446" y="18288"/>
                </a:cubicBezTo>
                <a:cubicBezTo>
                  <a:pt x="7892673" y="-4012"/>
                  <a:pt x="7668025" y="650"/>
                  <a:pt x="7543480" y="18288"/>
                </a:cubicBezTo>
                <a:cubicBezTo>
                  <a:pt x="7406710" y="-3467"/>
                  <a:pt x="7207646" y="8893"/>
                  <a:pt x="7109323" y="18288"/>
                </a:cubicBezTo>
                <a:cubicBezTo>
                  <a:pt x="6993037" y="49011"/>
                  <a:pt x="6598723" y="59405"/>
                  <a:pt x="6430952" y="18288"/>
                </a:cubicBezTo>
                <a:cubicBezTo>
                  <a:pt x="6284771" y="15315"/>
                  <a:pt x="6162730" y="20350"/>
                  <a:pt x="5915391" y="18288"/>
                </a:cubicBezTo>
                <a:cubicBezTo>
                  <a:pt x="5684668" y="13603"/>
                  <a:pt x="5422852" y="53618"/>
                  <a:pt x="5237020" y="18288"/>
                </a:cubicBezTo>
                <a:cubicBezTo>
                  <a:pt x="5035482" y="26296"/>
                  <a:pt x="4719808" y="55145"/>
                  <a:pt x="4558650" y="18288"/>
                </a:cubicBezTo>
                <a:cubicBezTo>
                  <a:pt x="4375169" y="-35587"/>
                  <a:pt x="4137553" y="12086"/>
                  <a:pt x="3880279" y="18288"/>
                </a:cubicBezTo>
                <a:cubicBezTo>
                  <a:pt x="3624533" y="32648"/>
                  <a:pt x="3467387" y="6480"/>
                  <a:pt x="3201909" y="18288"/>
                </a:cubicBezTo>
                <a:cubicBezTo>
                  <a:pt x="2918126" y="73342"/>
                  <a:pt x="2717830" y="-17156"/>
                  <a:pt x="2604943" y="18288"/>
                </a:cubicBezTo>
                <a:cubicBezTo>
                  <a:pt x="2496133" y="44525"/>
                  <a:pt x="2003915" y="18254"/>
                  <a:pt x="1845168" y="18288"/>
                </a:cubicBezTo>
                <a:cubicBezTo>
                  <a:pt x="1694518" y="14989"/>
                  <a:pt x="1344959" y="44188"/>
                  <a:pt x="1166797" y="18288"/>
                </a:cubicBezTo>
                <a:cubicBezTo>
                  <a:pt x="935925" y="69451"/>
                  <a:pt x="319712" y="-63972"/>
                  <a:pt x="0" y="18288"/>
                </a:cubicBezTo>
                <a:cubicBezTo>
                  <a:pt x="1307" y="12414"/>
                  <a:pt x="-32" y="574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628650" y="1929384"/>
                <a:ext cx="7886700" cy="4251960"/>
              </a:xfrm>
            </p:spPr>
            <p:txBody>
              <a:bodyPr>
                <a:normAutofit/>
              </a:bodyPr>
              <a:lstStyle/>
              <a:p>
                <a:pPr marL="514350" lvl="0" indent="-514350">
                  <a:buFont typeface="+mj-lt"/>
                  <a:buAutoNum type="arabicPeriod"/>
                </a:pPr>
                <a:r>
                  <a:rPr lang="es-SV" sz="1900"/>
                  <a:t>Muchas variables naturales, y físicas tienden a comportarse como una distribución normal.</a:t>
                </a:r>
              </a:p>
              <a:p>
                <a:pPr marL="514350" lvl="0" indent="-514350">
                  <a:buFont typeface="+mj-lt"/>
                  <a:buAutoNum type="arabicPeriod"/>
                </a:pPr>
                <a:r>
                  <a:rPr lang="es-SV" sz="1900"/>
                  <a:t>La distribución normal sirve como aproximación de varias distribuciones probabilística.</a:t>
                </a:r>
              </a:p>
              <a:p>
                <a:pPr marL="514350" lvl="0" indent="-514350">
                  <a:buFont typeface="+mj-lt"/>
                  <a:buAutoNum type="arabicPeriod"/>
                </a:pPr>
                <a:r>
                  <a:rPr lang="es-SV" sz="1900"/>
                  <a:t>Las medias muestrales tienden a distribuirse normalmente aunque la población de donde se toma la muestra no tenga un comportamiento normal.</a:t>
                </a:r>
              </a:p>
              <a:p>
                <a:pPr marL="514350" lvl="0" indent="-514350">
                  <a:buFont typeface="+mj-lt"/>
                  <a:buAutoNum type="arabicPeriod"/>
                </a:pPr>
                <a:r>
                  <a:rPr lang="es-SV" sz="1900"/>
                  <a:t>Las proporciones muestrales </a:t>
                </a:r>
                <a14:m>
                  <m:oMath xmlns:m="http://schemas.openxmlformats.org/officeDocument/2006/math">
                    <m:r>
                      <a:rPr lang="es-SV" sz="1900" i="1">
                        <a:latin typeface="Cambria Math" panose="02040503050406030204" pitchFamily="18" charset="0"/>
                      </a:rPr>
                      <m:t>(</m:t>
                    </m:r>
                    <m:acc>
                      <m:accPr>
                        <m:chr m:val="̂"/>
                        <m:ctrlPr>
                          <a:rPr lang="es-SV" sz="1900" i="1">
                            <a:latin typeface="Cambria Math" panose="02040503050406030204" pitchFamily="18" charset="0"/>
                          </a:rPr>
                        </m:ctrlPr>
                      </m:accPr>
                      <m:e>
                        <m:r>
                          <a:rPr lang="es-SV" sz="1900" i="1">
                            <a:latin typeface="Cambria Math" panose="02040503050406030204" pitchFamily="18" charset="0"/>
                          </a:rPr>
                          <m:t>𝑝</m:t>
                        </m:r>
                      </m:e>
                    </m:acc>
                    <m:r>
                      <a:rPr lang="es-SV" sz="1900" i="1">
                        <a:latin typeface="Cambria Math" panose="02040503050406030204" pitchFamily="18" charset="0"/>
                      </a:rPr>
                      <m:t>)</m:t>
                    </m:r>
                  </m:oMath>
                </a14:m>
                <a:r>
                  <a:rPr lang="es-SV" sz="1900"/>
                  <a:t> tienden a distribuirse normalmente cuando las muestras son suficientemente grandes.</a:t>
                </a:r>
              </a:p>
              <a:p>
                <a:pPr marL="514350" lvl="0" indent="-514350">
                  <a:buFont typeface="+mj-lt"/>
                  <a:buAutoNum type="arabicPeriod"/>
                </a:pPr>
                <a:r>
                  <a:rPr lang="es-SV" sz="1900"/>
                  <a:t>De la distribución normal se derivan otras distribuciones probabilísticas utilizadas en inferencias estadísticas: Chi-cuadrado </a:t>
                </a:r>
                <a14:m>
                  <m:oMath xmlns:m="http://schemas.openxmlformats.org/officeDocument/2006/math">
                    <m:r>
                      <a:rPr lang="es-SV" sz="1900" i="1">
                        <a:latin typeface="Cambria Math" panose="02040503050406030204" pitchFamily="18" charset="0"/>
                      </a:rPr>
                      <m:t>(</m:t>
                    </m:r>
                    <m:sSup>
                      <m:sSupPr>
                        <m:ctrlPr>
                          <a:rPr lang="es-SV" sz="1900" i="1">
                            <a:latin typeface="Cambria Math" panose="02040503050406030204" pitchFamily="18" charset="0"/>
                          </a:rPr>
                        </m:ctrlPr>
                      </m:sSupPr>
                      <m:e>
                        <m:r>
                          <a:rPr lang="es-SV" sz="1900" i="1">
                            <a:latin typeface="Cambria Math" panose="02040503050406030204" pitchFamily="18" charset="0"/>
                          </a:rPr>
                          <m:t>𝑋</m:t>
                        </m:r>
                      </m:e>
                      <m:sup>
                        <m:r>
                          <a:rPr lang="es-SV" sz="1900" i="1">
                            <a:latin typeface="Cambria Math" panose="02040503050406030204" pitchFamily="18" charset="0"/>
                          </a:rPr>
                          <m:t>2</m:t>
                        </m:r>
                      </m:sup>
                    </m:sSup>
                    <m:r>
                      <a:rPr lang="es-SV" sz="1900" i="1">
                        <a:latin typeface="Cambria Math" panose="02040503050406030204" pitchFamily="18" charset="0"/>
                      </a:rPr>
                      <m:t>)</m:t>
                    </m:r>
                  </m:oMath>
                </a14:m>
                <a:r>
                  <a:rPr lang="es-SV" sz="1900"/>
                  <a:t> ; t-student, la F de Snedecor o de Fisher.</a:t>
                </a:r>
              </a:p>
              <a:p>
                <a:pPr marL="0" indent="0">
                  <a:buNone/>
                </a:pPr>
                <a:endParaRPr lang="es-SV" sz="190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628650" y="1929384"/>
                <a:ext cx="7886700" cy="4251960"/>
              </a:xfrm>
              <a:blipFill>
                <a:blip r:embed="rId2"/>
                <a:stretch>
                  <a:fillRect l="-773" t="-1722"/>
                </a:stretch>
              </a:blipFill>
            </p:spPr>
            <p:txBody>
              <a:bodyPr/>
              <a:lstStyle/>
              <a:p>
                <a:r>
                  <a:rPr lang="es-SV">
                    <a:noFill/>
                  </a:rPr>
                  <a:t> </a:t>
                </a:r>
              </a:p>
            </p:txBody>
          </p:sp>
        </mc:Fallback>
      </mc:AlternateContent>
    </p:spTree>
    <p:extLst>
      <p:ext uri="{BB962C8B-B14F-4D97-AF65-F5344CB8AC3E}">
        <p14:creationId xmlns:p14="http://schemas.microsoft.com/office/powerpoint/2010/main" val="1111012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SV"/>
              <a:t>Gráficos Normales con igual σ y distintas (μ)</a:t>
            </a:r>
            <a:endParaRPr lang="es-SV" dirty="0"/>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p:txBody>
              <a:bodyPr/>
              <a:lstStyle/>
              <a:p>
                <a:pPr marL="0" indent="0" algn="just">
                  <a:buNone/>
                </a:pPr>
                <a:r>
                  <a:rPr lang="es-SV" sz="2400" dirty="0"/>
                  <a:t>Consideremos los siguientes parámetros para una Distribución Normal </a:t>
                </a:r>
                <a14:m>
                  <m:oMath xmlns:m="http://schemas.openxmlformats.org/officeDocument/2006/math">
                    <m:r>
                      <a:rPr lang="es-SV" sz="2400" i="1">
                        <a:latin typeface="Cambria Math" panose="02040503050406030204" pitchFamily="18" charset="0"/>
                      </a:rPr>
                      <m:t>𝜎</m:t>
                    </m:r>
                    <m:r>
                      <a:rPr lang="es-SV" sz="2400" i="1">
                        <a:latin typeface="Cambria Math" panose="02040503050406030204" pitchFamily="18" charset="0"/>
                      </a:rPr>
                      <m:t>=1   </m:t>
                    </m:r>
                    <m:r>
                      <a:rPr lang="es-SV" sz="2400" i="1">
                        <a:latin typeface="Cambria Math" panose="02040503050406030204" pitchFamily="18" charset="0"/>
                      </a:rPr>
                      <m:t>𝑦</m:t>
                    </m:r>
                    <m:r>
                      <a:rPr lang="es-SV" sz="2400" i="1">
                        <a:latin typeface="Cambria Math" panose="02040503050406030204" pitchFamily="18" charset="0"/>
                      </a:rPr>
                      <m:t> </m:t>
                    </m:r>
                    <m:sSub>
                      <m:sSubPr>
                        <m:ctrlPr>
                          <a:rPr lang="es-SV" sz="2400" i="1">
                            <a:latin typeface="Cambria Math" panose="02040503050406030204" pitchFamily="18" charset="0"/>
                          </a:rPr>
                        </m:ctrlPr>
                      </m:sSubPr>
                      <m:e>
                        <m:r>
                          <a:rPr lang="es-SV" sz="2400" i="1">
                            <a:latin typeface="Cambria Math" panose="02040503050406030204" pitchFamily="18" charset="0"/>
                          </a:rPr>
                          <m:t>    </m:t>
                        </m:r>
                        <m:r>
                          <a:rPr lang="es-SV" sz="2400" i="1">
                            <a:latin typeface="Cambria Math" panose="02040503050406030204" pitchFamily="18" charset="0"/>
                          </a:rPr>
                          <m:t>𝜇</m:t>
                        </m:r>
                      </m:e>
                      <m:sub>
                        <m:r>
                          <a:rPr lang="es-SV" sz="2400" i="1">
                            <a:latin typeface="Cambria Math" panose="02040503050406030204" pitchFamily="18" charset="0"/>
                          </a:rPr>
                          <m:t>1</m:t>
                        </m:r>
                      </m:sub>
                    </m:sSub>
                    <m:r>
                      <a:rPr lang="es-SV" sz="2400" i="1">
                        <a:latin typeface="Cambria Math" panose="02040503050406030204" pitchFamily="18" charset="0"/>
                      </a:rPr>
                      <m:t>=</m:t>
                    </m:r>
                    <m:r>
                      <a:rPr lang="es-SV" sz="2400" b="0" i="1" smtClean="0">
                        <a:latin typeface="Cambria Math" panose="02040503050406030204" pitchFamily="18" charset="0"/>
                      </a:rPr>
                      <m:t>−3</m:t>
                    </m:r>
                    <m:r>
                      <a:rPr lang="es-SV" sz="2400" i="1">
                        <a:latin typeface="Cambria Math" panose="02040503050406030204" pitchFamily="18" charset="0"/>
                      </a:rPr>
                      <m:t>    </m:t>
                    </m:r>
                    <m:sSub>
                      <m:sSubPr>
                        <m:ctrlPr>
                          <a:rPr lang="es-SV" sz="2400" i="1">
                            <a:latin typeface="Cambria Math" panose="02040503050406030204" pitchFamily="18" charset="0"/>
                          </a:rPr>
                        </m:ctrlPr>
                      </m:sSubPr>
                      <m:e>
                        <m:r>
                          <a:rPr lang="es-SV" sz="2400" i="1">
                            <a:latin typeface="Cambria Math" panose="02040503050406030204" pitchFamily="18" charset="0"/>
                          </a:rPr>
                          <m:t>𝜇</m:t>
                        </m:r>
                      </m:e>
                      <m:sub>
                        <m:r>
                          <a:rPr lang="es-SV" sz="2400" i="1">
                            <a:latin typeface="Cambria Math" panose="02040503050406030204" pitchFamily="18" charset="0"/>
                          </a:rPr>
                          <m:t>2</m:t>
                        </m:r>
                      </m:sub>
                    </m:sSub>
                    <m:r>
                      <a:rPr lang="es-SV" sz="2400" i="1">
                        <a:latin typeface="Cambria Math" panose="02040503050406030204" pitchFamily="18" charset="0"/>
                      </a:rPr>
                      <m:t>=</m:t>
                    </m:r>
                    <m:r>
                      <a:rPr lang="es-SV" sz="2400" b="0" i="1" smtClean="0">
                        <a:latin typeface="Cambria Math" panose="02040503050406030204" pitchFamily="18" charset="0"/>
                      </a:rPr>
                      <m:t>0</m:t>
                    </m:r>
                    <m:r>
                      <a:rPr lang="es-SV" sz="2400" i="1">
                        <a:latin typeface="Cambria Math" panose="02040503050406030204" pitchFamily="18" charset="0"/>
                      </a:rPr>
                      <m:t>  </m:t>
                    </m:r>
                    <m:sSub>
                      <m:sSubPr>
                        <m:ctrlPr>
                          <a:rPr lang="es-SV" sz="2400" i="1">
                            <a:latin typeface="Cambria Math" panose="02040503050406030204" pitchFamily="18" charset="0"/>
                          </a:rPr>
                        </m:ctrlPr>
                      </m:sSubPr>
                      <m:e>
                        <m:r>
                          <a:rPr lang="es-SV" sz="2400" i="1">
                            <a:latin typeface="Cambria Math" panose="02040503050406030204" pitchFamily="18" charset="0"/>
                          </a:rPr>
                          <m:t>  </m:t>
                        </m:r>
                        <m:r>
                          <a:rPr lang="es-SV" sz="2400" i="1">
                            <a:latin typeface="Cambria Math" panose="02040503050406030204" pitchFamily="18" charset="0"/>
                          </a:rPr>
                          <m:t>𝜇</m:t>
                        </m:r>
                      </m:e>
                      <m:sub>
                        <m:r>
                          <a:rPr lang="es-SV" sz="2400" i="1">
                            <a:latin typeface="Cambria Math" panose="02040503050406030204" pitchFamily="18" charset="0"/>
                          </a:rPr>
                          <m:t>3</m:t>
                        </m:r>
                      </m:sub>
                    </m:sSub>
                    <m:r>
                      <a:rPr lang="es-SV" sz="2400" i="1">
                        <a:latin typeface="Cambria Math" panose="02040503050406030204" pitchFamily="18" charset="0"/>
                      </a:rPr>
                      <m:t>=</m:t>
                    </m:r>
                    <m:r>
                      <a:rPr lang="es-SV" sz="2400" b="0" i="1" smtClean="0">
                        <a:latin typeface="Cambria Math" panose="02040503050406030204" pitchFamily="18" charset="0"/>
                      </a:rPr>
                      <m:t>3</m:t>
                    </m:r>
                  </m:oMath>
                </a14:m>
                <a:endParaRPr lang="es-SV" sz="2400" dirty="0"/>
              </a:p>
              <a:p>
                <a14:m>
                  <m:oMath xmlns:m="http://schemas.openxmlformats.org/officeDocument/2006/math">
                    <m:sSub>
                      <m:sSubPr>
                        <m:ctrlPr>
                          <a:rPr lang="es-SV" sz="1800" i="1">
                            <a:latin typeface="Cambria Math" panose="02040503050406030204" pitchFamily="18" charset="0"/>
                          </a:rPr>
                        </m:ctrlPr>
                      </m:sSubPr>
                      <m:e>
                        <m:r>
                          <a:rPr lang="es-SV" sz="1800" i="1">
                            <a:latin typeface="Cambria Math" panose="02040503050406030204" pitchFamily="18" charset="0"/>
                          </a:rPr>
                          <m:t>𝑓</m:t>
                        </m:r>
                      </m:e>
                      <m:sub>
                        <m:r>
                          <a:rPr lang="es-SV" sz="1800" i="1">
                            <a:latin typeface="Cambria Math" panose="02040503050406030204" pitchFamily="18" charset="0"/>
                          </a:rPr>
                          <m:t>1</m:t>
                        </m:r>
                      </m:sub>
                    </m:sSub>
                    <m:d>
                      <m:dPr>
                        <m:ctrlPr>
                          <a:rPr lang="es-SV" sz="1800" i="1">
                            <a:latin typeface="Cambria Math" panose="02040503050406030204" pitchFamily="18" charset="0"/>
                          </a:rPr>
                        </m:ctrlPr>
                      </m:dPr>
                      <m:e>
                        <m:r>
                          <a:rPr lang="es-SV" sz="1800" i="1">
                            <a:latin typeface="Cambria Math" panose="02040503050406030204" pitchFamily="18" charset="0"/>
                          </a:rPr>
                          <m:t>𝑥</m:t>
                        </m:r>
                      </m:e>
                    </m:d>
                    <m:r>
                      <a:rPr lang="es-SV" sz="1800" i="1">
                        <a:latin typeface="Cambria Math" panose="02040503050406030204" pitchFamily="18" charset="0"/>
                      </a:rPr>
                      <m:t>=</m:t>
                    </m:r>
                    <m:f>
                      <m:fPr>
                        <m:ctrlPr>
                          <a:rPr lang="es-SV" sz="1800" i="1">
                            <a:latin typeface="Cambria Math" panose="02040503050406030204" pitchFamily="18" charset="0"/>
                          </a:rPr>
                        </m:ctrlPr>
                      </m:fPr>
                      <m:num>
                        <m:r>
                          <a:rPr lang="es-SV" sz="1800" i="1">
                            <a:latin typeface="Cambria Math" panose="02040503050406030204" pitchFamily="18" charset="0"/>
                          </a:rPr>
                          <m:t>1</m:t>
                        </m:r>
                      </m:num>
                      <m:den>
                        <m:rad>
                          <m:radPr>
                            <m:degHide m:val="on"/>
                            <m:ctrlPr>
                              <a:rPr lang="es-SV" sz="1800" i="1">
                                <a:latin typeface="Cambria Math" panose="02040503050406030204" pitchFamily="18" charset="0"/>
                              </a:rPr>
                            </m:ctrlPr>
                          </m:radPr>
                          <m:deg/>
                          <m:e>
                            <m:r>
                              <a:rPr lang="es-SV" sz="1800" i="1">
                                <a:latin typeface="Cambria Math" panose="02040503050406030204" pitchFamily="18" charset="0"/>
                              </a:rPr>
                              <m:t>2</m:t>
                            </m:r>
                            <m:r>
                              <a:rPr lang="es-SV" sz="1800" i="1">
                                <a:latin typeface="Cambria Math" panose="02040503050406030204" pitchFamily="18" charset="0"/>
                              </a:rPr>
                              <m:t>𝜋</m:t>
                            </m:r>
                          </m:e>
                        </m:rad>
                        <m:r>
                          <a:rPr lang="es-SV" sz="1800" i="1">
                            <a:latin typeface="Cambria Math" panose="02040503050406030204" pitchFamily="18" charset="0"/>
                          </a:rPr>
                          <m:t>(</m:t>
                        </m:r>
                        <m:r>
                          <a:rPr lang="es-SV" sz="1800" b="0" i="1" smtClean="0">
                            <a:latin typeface="Cambria Math" panose="02040503050406030204" pitchFamily="18" charset="0"/>
                          </a:rPr>
                          <m:t>1</m:t>
                        </m:r>
                        <m:r>
                          <a:rPr lang="es-SV" sz="1800" i="1">
                            <a:latin typeface="Cambria Math" panose="02040503050406030204" pitchFamily="18" charset="0"/>
                          </a:rPr>
                          <m:t>)</m:t>
                        </m:r>
                      </m:den>
                    </m:f>
                    <m:r>
                      <a:rPr lang="es-SV" sz="1800" i="1">
                        <a:latin typeface="Cambria Math" panose="02040503050406030204" pitchFamily="18" charset="0"/>
                      </a:rPr>
                      <m:t>×</m:t>
                    </m:r>
                    <m:sSup>
                      <m:sSupPr>
                        <m:ctrlPr>
                          <a:rPr lang="es-SV" sz="1800" i="1">
                            <a:latin typeface="Cambria Math" panose="02040503050406030204" pitchFamily="18" charset="0"/>
                          </a:rPr>
                        </m:ctrlPr>
                      </m:sSupPr>
                      <m:e>
                        <m:r>
                          <a:rPr lang="es-SV" sz="1800" i="1">
                            <a:latin typeface="Cambria Math" panose="02040503050406030204" pitchFamily="18" charset="0"/>
                          </a:rPr>
                          <m:t>𝑒</m:t>
                        </m:r>
                      </m:e>
                      <m:sup>
                        <m:r>
                          <a:rPr lang="es-SV" sz="1800" i="1" smtClean="0">
                            <a:latin typeface="Cambria Math" panose="02040503050406030204" pitchFamily="18" charset="0"/>
                          </a:rPr>
                          <m:t>−</m:t>
                        </m:r>
                        <m:f>
                          <m:fPr>
                            <m:ctrlPr>
                              <a:rPr lang="es-SV" sz="1800" i="1">
                                <a:latin typeface="Cambria Math" panose="02040503050406030204" pitchFamily="18" charset="0"/>
                              </a:rPr>
                            </m:ctrlPr>
                          </m:fPr>
                          <m:num>
                            <m:r>
                              <a:rPr lang="es-SV" sz="1800" i="1">
                                <a:latin typeface="Cambria Math" panose="02040503050406030204" pitchFamily="18" charset="0"/>
                              </a:rPr>
                              <m:t>1</m:t>
                            </m:r>
                          </m:num>
                          <m:den>
                            <m:r>
                              <a:rPr lang="es-SV" sz="1800" i="1">
                                <a:latin typeface="Cambria Math" panose="02040503050406030204" pitchFamily="18" charset="0"/>
                              </a:rPr>
                              <m:t>2</m:t>
                            </m:r>
                          </m:den>
                        </m:f>
                        <m:sSup>
                          <m:sSupPr>
                            <m:ctrlPr>
                              <a:rPr lang="es-SV" sz="1800" i="1">
                                <a:latin typeface="Cambria Math" panose="02040503050406030204" pitchFamily="18" charset="0"/>
                              </a:rPr>
                            </m:ctrlPr>
                          </m:sSupPr>
                          <m:e>
                            <m:d>
                              <m:dPr>
                                <m:ctrlPr>
                                  <a:rPr lang="es-SV" sz="1800" i="1">
                                    <a:latin typeface="Cambria Math" panose="02040503050406030204" pitchFamily="18" charset="0"/>
                                  </a:rPr>
                                </m:ctrlPr>
                              </m:dPr>
                              <m:e>
                                <m:f>
                                  <m:fPr>
                                    <m:ctrlPr>
                                      <a:rPr lang="es-SV" sz="1800" i="1">
                                        <a:latin typeface="Cambria Math" panose="02040503050406030204" pitchFamily="18" charset="0"/>
                                      </a:rPr>
                                    </m:ctrlPr>
                                  </m:fPr>
                                  <m:num>
                                    <m:r>
                                      <a:rPr lang="es-SV" sz="1800" i="1">
                                        <a:latin typeface="Cambria Math" panose="02040503050406030204" pitchFamily="18" charset="0"/>
                                      </a:rPr>
                                      <m:t>𝑥</m:t>
                                    </m:r>
                                    <m:r>
                                      <a:rPr lang="es-SV" sz="1800" i="1">
                                        <a:latin typeface="Cambria Math" panose="02040503050406030204" pitchFamily="18" charset="0"/>
                                      </a:rPr>
                                      <m:t>−(−3)</m:t>
                                    </m:r>
                                  </m:num>
                                  <m:den>
                                    <m:r>
                                      <a:rPr lang="es-SV" sz="1800" b="0" i="1" smtClean="0">
                                        <a:latin typeface="Cambria Math" panose="02040503050406030204" pitchFamily="18" charset="0"/>
                                      </a:rPr>
                                      <m:t>1</m:t>
                                    </m:r>
                                  </m:den>
                                </m:f>
                              </m:e>
                            </m:d>
                          </m:e>
                          <m:sup>
                            <m:r>
                              <a:rPr lang="es-SV" sz="1800" i="1">
                                <a:latin typeface="Cambria Math" panose="02040503050406030204" pitchFamily="18" charset="0"/>
                              </a:rPr>
                              <m:t>2</m:t>
                            </m:r>
                          </m:sup>
                        </m:sSup>
                        <m:r>
                          <a:rPr lang="es-SV" sz="1800" i="1">
                            <a:latin typeface="Cambria Math" panose="02040503050406030204" pitchFamily="18" charset="0"/>
                          </a:rPr>
                          <m:t>  </m:t>
                        </m:r>
                      </m:sup>
                    </m:sSup>
                    <m:r>
                      <a:rPr lang="es-SV" sz="1800" i="1">
                        <a:latin typeface="Cambria Math" panose="02040503050406030204" pitchFamily="18" charset="0"/>
                      </a:rPr>
                      <m:t> ;  </m:t>
                    </m:r>
                    <m:r>
                      <a:rPr lang="es-SV" sz="1800" i="1">
                        <a:latin typeface="Cambria Math" panose="02040503050406030204" pitchFamily="18" charset="0"/>
                      </a:rPr>
                      <m:t>𝑥</m:t>
                    </m:r>
                    <m:r>
                      <a:rPr lang="es-SV" sz="1800" i="1">
                        <a:latin typeface="Cambria Math" panose="02040503050406030204" pitchFamily="18" charset="0"/>
                      </a:rPr>
                      <m:t> </m:t>
                    </m:r>
                    <m:r>
                      <a:rPr lang="es-SV" sz="1800" i="1">
                        <a:latin typeface="Cambria Math" panose="02040503050406030204" pitchFamily="18" charset="0"/>
                      </a:rPr>
                      <m:t>𝜖</m:t>
                    </m:r>
                    <m:r>
                      <a:rPr lang="es-SV" sz="1800" i="1">
                        <a:latin typeface="Cambria Math" panose="02040503050406030204" pitchFamily="18" charset="0"/>
                      </a:rPr>
                      <m:t> </m:t>
                    </m:r>
                    <m:r>
                      <a:rPr lang="es-SV" sz="1800" i="1">
                        <a:latin typeface="Cambria Math" panose="02040503050406030204" pitchFamily="18" charset="0"/>
                      </a:rPr>
                      <m:t>𝑅</m:t>
                    </m:r>
                  </m:oMath>
                </a14:m>
                <a:endParaRPr lang="es-SV" sz="1800" dirty="0"/>
              </a:p>
              <a:p>
                <a14:m>
                  <m:oMath xmlns:m="http://schemas.openxmlformats.org/officeDocument/2006/math">
                    <m:r>
                      <a:rPr lang="es-SV" sz="1800" i="1">
                        <a:latin typeface="Cambria Math" panose="02040503050406030204" pitchFamily="18" charset="0"/>
                      </a:rPr>
                      <m:t> </m:t>
                    </m:r>
                    <m:sSub>
                      <m:sSubPr>
                        <m:ctrlPr>
                          <a:rPr lang="es-SV" sz="1800" i="1">
                            <a:latin typeface="Cambria Math" panose="02040503050406030204" pitchFamily="18" charset="0"/>
                          </a:rPr>
                        </m:ctrlPr>
                      </m:sSubPr>
                      <m:e>
                        <m:r>
                          <a:rPr lang="es-SV" sz="1800" i="1">
                            <a:latin typeface="Cambria Math" panose="02040503050406030204" pitchFamily="18" charset="0"/>
                          </a:rPr>
                          <m:t>𝑓</m:t>
                        </m:r>
                      </m:e>
                      <m:sub>
                        <m:r>
                          <a:rPr lang="es-SV" sz="1800" i="1">
                            <a:latin typeface="Cambria Math" panose="02040503050406030204" pitchFamily="18" charset="0"/>
                          </a:rPr>
                          <m:t>2</m:t>
                        </m:r>
                      </m:sub>
                    </m:sSub>
                    <m:d>
                      <m:dPr>
                        <m:ctrlPr>
                          <a:rPr lang="es-SV" sz="1800" i="1">
                            <a:latin typeface="Cambria Math" panose="02040503050406030204" pitchFamily="18" charset="0"/>
                          </a:rPr>
                        </m:ctrlPr>
                      </m:dPr>
                      <m:e>
                        <m:r>
                          <a:rPr lang="es-SV" sz="1800" i="1">
                            <a:latin typeface="Cambria Math" panose="02040503050406030204" pitchFamily="18" charset="0"/>
                          </a:rPr>
                          <m:t>𝑥</m:t>
                        </m:r>
                      </m:e>
                    </m:d>
                    <m:r>
                      <a:rPr lang="es-SV" sz="1800" i="1">
                        <a:latin typeface="Cambria Math" panose="02040503050406030204" pitchFamily="18" charset="0"/>
                      </a:rPr>
                      <m:t>=</m:t>
                    </m:r>
                    <m:f>
                      <m:fPr>
                        <m:ctrlPr>
                          <a:rPr lang="es-SV" sz="1800" i="1">
                            <a:latin typeface="Cambria Math" panose="02040503050406030204" pitchFamily="18" charset="0"/>
                          </a:rPr>
                        </m:ctrlPr>
                      </m:fPr>
                      <m:num>
                        <m:r>
                          <a:rPr lang="es-SV" sz="1800" i="1">
                            <a:latin typeface="Cambria Math" panose="02040503050406030204" pitchFamily="18" charset="0"/>
                          </a:rPr>
                          <m:t>1</m:t>
                        </m:r>
                      </m:num>
                      <m:den>
                        <m:rad>
                          <m:radPr>
                            <m:degHide m:val="on"/>
                            <m:ctrlPr>
                              <a:rPr lang="es-SV" sz="1800" i="1">
                                <a:latin typeface="Cambria Math" panose="02040503050406030204" pitchFamily="18" charset="0"/>
                              </a:rPr>
                            </m:ctrlPr>
                          </m:radPr>
                          <m:deg/>
                          <m:e>
                            <m:r>
                              <a:rPr lang="es-SV" sz="1800" i="1">
                                <a:latin typeface="Cambria Math" panose="02040503050406030204" pitchFamily="18" charset="0"/>
                              </a:rPr>
                              <m:t>2</m:t>
                            </m:r>
                            <m:r>
                              <a:rPr lang="es-SV" sz="1800" i="1">
                                <a:latin typeface="Cambria Math" panose="02040503050406030204" pitchFamily="18" charset="0"/>
                              </a:rPr>
                              <m:t>𝜋</m:t>
                            </m:r>
                          </m:e>
                        </m:rad>
                        <m:r>
                          <a:rPr lang="es-SV" sz="1800" i="1">
                            <a:latin typeface="Cambria Math" panose="02040503050406030204" pitchFamily="18" charset="0"/>
                          </a:rPr>
                          <m:t>(</m:t>
                        </m:r>
                        <m:r>
                          <a:rPr lang="es-SV" sz="1800" b="0" i="1" smtClean="0">
                            <a:latin typeface="Cambria Math" panose="02040503050406030204" pitchFamily="18" charset="0"/>
                          </a:rPr>
                          <m:t>1</m:t>
                        </m:r>
                        <m:r>
                          <a:rPr lang="es-SV" sz="1800" i="1">
                            <a:latin typeface="Cambria Math" panose="02040503050406030204" pitchFamily="18" charset="0"/>
                          </a:rPr>
                          <m:t>)</m:t>
                        </m:r>
                      </m:den>
                    </m:f>
                    <m:r>
                      <a:rPr lang="es-SV" sz="1800" i="1">
                        <a:latin typeface="Cambria Math" panose="02040503050406030204" pitchFamily="18" charset="0"/>
                      </a:rPr>
                      <m:t>×</m:t>
                    </m:r>
                    <m:sSup>
                      <m:sSupPr>
                        <m:ctrlPr>
                          <a:rPr lang="es-SV" sz="1800" i="1">
                            <a:latin typeface="Cambria Math" panose="02040503050406030204" pitchFamily="18" charset="0"/>
                          </a:rPr>
                        </m:ctrlPr>
                      </m:sSupPr>
                      <m:e>
                        <m:r>
                          <a:rPr lang="es-SV" sz="1800" i="1">
                            <a:latin typeface="Cambria Math" panose="02040503050406030204" pitchFamily="18" charset="0"/>
                          </a:rPr>
                          <m:t>𝑒</m:t>
                        </m:r>
                      </m:e>
                      <m:sup>
                        <m:r>
                          <a:rPr lang="es-SV" sz="1800" i="1">
                            <a:latin typeface="Cambria Math" panose="02040503050406030204" pitchFamily="18" charset="0"/>
                          </a:rPr>
                          <m:t>−</m:t>
                        </m:r>
                        <m:f>
                          <m:fPr>
                            <m:ctrlPr>
                              <a:rPr lang="es-SV" sz="1800" i="1">
                                <a:latin typeface="Cambria Math" panose="02040503050406030204" pitchFamily="18" charset="0"/>
                              </a:rPr>
                            </m:ctrlPr>
                          </m:fPr>
                          <m:num>
                            <m:r>
                              <a:rPr lang="es-SV" sz="1800" i="1">
                                <a:latin typeface="Cambria Math" panose="02040503050406030204" pitchFamily="18" charset="0"/>
                              </a:rPr>
                              <m:t>1</m:t>
                            </m:r>
                          </m:num>
                          <m:den>
                            <m:r>
                              <a:rPr lang="es-SV" sz="1800" i="1">
                                <a:latin typeface="Cambria Math" panose="02040503050406030204" pitchFamily="18" charset="0"/>
                              </a:rPr>
                              <m:t>2</m:t>
                            </m:r>
                          </m:den>
                        </m:f>
                        <m:sSup>
                          <m:sSupPr>
                            <m:ctrlPr>
                              <a:rPr lang="es-SV" sz="1800" i="1">
                                <a:latin typeface="Cambria Math" panose="02040503050406030204" pitchFamily="18" charset="0"/>
                              </a:rPr>
                            </m:ctrlPr>
                          </m:sSupPr>
                          <m:e>
                            <m:d>
                              <m:dPr>
                                <m:ctrlPr>
                                  <a:rPr lang="es-SV" sz="1800" i="1">
                                    <a:latin typeface="Cambria Math" panose="02040503050406030204" pitchFamily="18" charset="0"/>
                                  </a:rPr>
                                </m:ctrlPr>
                              </m:dPr>
                              <m:e>
                                <m:f>
                                  <m:fPr>
                                    <m:ctrlPr>
                                      <a:rPr lang="es-SV" sz="1800" i="1">
                                        <a:latin typeface="Cambria Math" panose="02040503050406030204" pitchFamily="18" charset="0"/>
                                      </a:rPr>
                                    </m:ctrlPr>
                                  </m:fPr>
                                  <m:num>
                                    <m:r>
                                      <a:rPr lang="es-SV" sz="1800" i="1">
                                        <a:latin typeface="Cambria Math" panose="02040503050406030204" pitchFamily="18" charset="0"/>
                                      </a:rPr>
                                      <m:t>𝑥</m:t>
                                    </m:r>
                                    <m:r>
                                      <a:rPr lang="es-SV" sz="1800" i="1">
                                        <a:latin typeface="Cambria Math" panose="02040503050406030204" pitchFamily="18" charset="0"/>
                                      </a:rPr>
                                      <m:t>−0</m:t>
                                    </m:r>
                                  </m:num>
                                  <m:den>
                                    <m:r>
                                      <a:rPr lang="es-SV" sz="1800" b="0" i="1" smtClean="0">
                                        <a:latin typeface="Cambria Math" panose="02040503050406030204" pitchFamily="18" charset="0"/>
                                      </a:rPr>
                                      <m:t>1</m:t>
                                    </m:r>
                                  </m:den>
                                </m:f>
                              </m:e>
                            </m:d>
                          </m:e>
                          <m:sup>
                            <m:r>
                              <a:rPr lang="es-SV" sz="1800" i="1">
                                <a:latin typeface="Cambria Math" panose="02040503050406030204" pitchFamily="18" charset="0"/>
                              </a:rPr>
                              <m:t>2</m:t>
                            </m:r>
                          </m:sup>
                        </m:sSup>
                        <m:r>
                          <a:rPr lang="es-SV" sz="1800" i="1">
                            <a:latin typeface="Cambria Math" panose="02040503050406030204" pitchFamily="18" charset="0"/>
                          </a:rPr>
                          <m:t>  </m:t>
                        </m:r>
                      </m:sup>
                    </m:sSup>
                    <m:r>
                      <a:rPr lang="es-SV" sz="1800" i="1">
                        <a:latin typeface="Cambria Math" panose="02040503050406030204" pitchFamily="18" charset="0"/>
                      </a:rPr>
                      <m:t> ;  </m:t>
                    </m:r>
                    <m:r>
                      <a:rPr lang="es-SV" sz="1800" i="1">
                        <a:latin typeface="Cambria Math" panose="02040503050406030204" pitchFamily="18" charset="0"/>
                      </a:rPr>
                      <m:t>𝑥</m:t>
                    </m:r>
                    <m:r>
                      <a:rPr lang="es-SV" sz="1800" i="1">
                        <a:latin typeface="Cambria Math" panose="02040503050406030204" pitchFamily="18" charset="0"/>
                      </a:rPr>
                      <m:t> </m:t>
                    </m:r>
                    <m:r>
                      <a:rPr lang="es-SV" sz="1800" i="1">
                        <a:latin typeface="Cambria Math" panose="02040503050406030204" pitchFamily="18" charset="0"/>
                      </a:rPr>
                      <m:t>𝜖</m:t>
                    </m:r>
                    <m:r>
                      <a:rPr lang="es-SV" sz="1800" i="1">
                        <a:latin typeface="Cambria Math" panose="02040503050406030204" pitchFamily="18" charset="0"/>
                      </a:rPr>
                      <m:t> </m:t>
                    </m:r>
                    <m:r>
                      <a:rPr lang="es-SV" sz="1800" i="1">
                        <a:latin typeface="Cambria Math" panose="02040503050406030204" pitchFamily="18" charset="0"/>
                      </a:rPr>
                      <m:t>𝑅</m:t>
                    </m:r>
                  </m:oMath>
                </a14:m>
                <a:endParaRPr lang="es-SV" sz="1800" dirty="0"/>
              </a:p>
              <a:p>
                <a14:m>
                  <m:oMath xmlns:m="http://schemas.openxmlformats.org/officeDocument/2006/math">
                    <m:sSub>
                      <m:sSubPr>
                        <m:ctrlPr>
                          <a:rPr lang="es-SV" sz="1800" i="1">
                            <a:latin typeface="Cambria Math" panose="02040503050406030204" pitchFamily="18" charset="0"/>
                          </a:rPr>
                        </m:ctrlPr>
                      </m:sSubPr>
                      <m:e>
                        <m:r>
                          <a:rPr lang="es-SV" sz="1800" i="1">
                            <a:latin typeface="Cambria Math" panose="02040503050406030204" pitchFamily="18" charset="0"/>
                          </a:rPr>
                          <m:t>𝑓</m:t>
                        </m:r>
                      </m:e>
                      <m:sub>
                        <m:r>
                          <a:rPr lang="es-SV" sz="1800" i="1">
                            <a:latin typeface="Cambria Math" panose="02040503050406030204" pitchFamily="18" charset="0"/>
                          </a:rPr>
                          <m:t>3</m:t>
                        </m:r>
                      </m:sub>
                    </m:sSub>
                    <m:d>
                      <m:dPr>
                        <m:ctrlPr>
                          <a:rPr lang="es-SV" sz="1800" i="1">
                            <a:latin typeface="Cambria Math" panose="02040503050406030204" pitchFamily="18" charset="0"/>
                          </a:rPr>
                        </m:ctrlPr>
                      </m:dPr>
                      <m:e>
                        <m:r>
                          <a:rPr lang="es-SV" sz="1800" i="1">
                            <a:latin typeface="Cambria Math" panose="02040503050406030204" pitchFamily="18" charset="0"/>
                          </a:rPr>
                          <m:t>𝑥</m:t>
                        </m:r>
                      </m:e>
                    </m:d>
                    <m:r>
                      <a:rPr lang="es-SV" sz="1800" i="1">
                        <a:latin typeface="Cambria Math" panose="02040503050406030204" pitchFamily="18" charset="0"/>
                      </a:rPr>
                      <m:t>=</m:t>
                    </m:r>
                    <m:f>
                      <m:fPr>
                        <m:ctrlPr>
                          <a:rPr lang="es-SV" sz="1800" i="1">
                            <a:latin typeface="Cambria Math" panose="02040503050406030204" pitchFamily="18" charset="0"/>
                          </a:rPr>
                        </m:ctrlPr>
                      </m:fPr>
                      <m:num>
                        <m:r>
                          <a:rPr lang="es-SV" sz="1800" i="1">
                            <a:latin typeface="Cambria Math" panose="02040503050406030204" pitchFamily="18" charset="0"/>
                          </a:rPr>
                          <m:t>1</m:t>
                        </m:r>
                      </m:num>
                      <m:den>
                        <m:rad>
                          <m:radPr>
                            <m:degHide m:val="on"/>
                            <m:ctrlPr>
                              <a:rPr lang="es-SV" sz="1800" i="1">
                                <a:latin typeface="Cambria Math" panose="02040503050406030204" pitchFamily="18" charset="0"/>
                              </a:rPr>
                            </m:ctrlPr>
                          </m:radPr>
                          <m:deg/>
                          <m:e>
                            <m:r>
                              <a:rPr lang="es-SV" sz="1800" i="1">
                                <a:latin typeface="Cambria Math" panose="02040503050406030204" pitchFamily="18" charset="0"/>
                              </a:rPr>
                              <m:t>2</m:t>
                            </m:r>
                            <m:r>
                              <a:rPr lang="es-SV" sz="1800" i="1">
                                <a:latin typeface="Cambria Math" panose="02040503050406030204" pitchFamily="18" charset="0"/>
                              </a:rPr>
                              <m:t>𝜋</m:t>
                            </m:r>
                          </m:e>
                        </m:rad>
                        <m:r>
                          <a:rPr lang="es-SV" sz="1800" i="1">
                            <a:latin typeface="Cambria Math" panose="02040503050406030204" pitchFamily="18" charset="0"/>
                          </a:rPr>
                          <m:t>(</m:t>
                        </m:r>
                        <m:r>
                          <a:rPr lang="es-SV" sz="1800" b="0" i="1" smtClean="0">
                            <a:latin typeface="Cambria Math" panose="02040503050406030204" pitchFamily="18" charset="0"/>
                          </a:rPr>
                          <m:t>1</m:t>
                        </m:r>
                        <m:r>
                          <a:rPr lang="es-SV" sz="1800" i="1">
                            <a:latin typeface="Cambria Math" panose="02040503050406030204" pitchFamily="18" charset="0"/>
                          </a:rPr>
                          <m:t>)</m:t>
                        </m:r>
                      </m:den>
                    </m:f>
                    <m:r>
                      <a:rPr lang="es-SV" sz="1800" i="1">
                        <a:latin typeface="Cambria Math" panose="02040503050406030204" pitchFamily="18" charset="0"/>
                      </a:rPr>
                      <m:t>×</m:t>
                    </m:r>
                    <m:sSup>
                      <m:sSupPr>
                        <m:ctrlPr>
                          <a:rPr lang="es-SV" sz="1800" i="1">
                            <a:latin typeface="Cambria Math" panose="02040503050406030204" pitchFamily="18" charset="0"/>
                          </a:rPr>
                        </m:ctrlPr>
                      </m:sSupPr>
                      <m:e>
                        <m:r>
                          <a:rPr lang="es-SV" sz="1800" i="1">
                            <a:latin typeface="Cambria Math" panose="02040503050406030204" pitchFamily="18" charset="0"/>
                          </a:rPr>
                          <m:t>𝑒</m:t>
                        </m:r>
                      </m:e>
                      <m:sup>
                        <m:r>
                          <a:rPr lang="es-SV" sz="1800" i="1">
                            <a:latin typeface="Cambria Math" panose="02040503050406030204" pitchFamily="18" charset="0"/>
                          </a:rPr>
                          <m:t>−</m:t>
                        </m:r>
                        <m:f>
                          <m:fPr>
                            <m:ctrlPr>
                              <a:rPr lang="es-SV" sz="1800" i="1">
                                <a:latin typeface="Cambria Math" panose="02040503050406030204" pitchFamily="18" charset="0"/>
                              </a:rPr>
                            </m:ctrlPr>
                          </m:fPr>
                          <m:num>
                            <m:r>
                              <a:rPr lang="es-SV" sz="1800" i="1">
                                <a:latin typeface="Cambria Math" panose="02040503050406030204" pitchFamily="18" charset="0"/>
                              </a:rPr>
                              <m:t>1</m:t>
                            </m:r>
                          </m:num>
                          <m:den>
                            <m:r>
                              <a:rPr lang="es-SV" sz="1800" i="1">
                                <a:latin typeface="Cambria Math" panose="02040503050406030204" pitchFamily="18" charset="0"/>
                              </a:rPr>
                              <m:t>2</m:t>
                            </m:r>
                          </m:den>
                        </m:f>
                        <m:sSup>
                          <m:sSupPr>
                            <m:ctrlPr>
                              <a:rPr lang="es-SV" sz="1800" i="1">
                                <a:latin typeface="Cambria Math" panose="02040503050406030204" pitchFamily="18" charset="0"/>
                              </a:rPr>
                            </m:ctrlPr>
                          </m:sSupPr>
                          <m:e>
                            <m:d>
                              <m:dPr>
                                <m:ctrlPr>
                                  <a:rPr lang="es-SV" sz="1800" i="1">
                                    <a:latin typeface="Cambria Math" panose="02040503050406030204" pitchFamily="18" charset="0"/>
                                  </a:rPr>
                                </m:ctrlPr>
                              </m:dPr>
                              <m:e>
                                <m:f>
                                  <m:fPr>
                                    <m:ctrlPr>
                                      <a:rPr lang="es-SV" sz="1800" i="1">
                                        <a:latin typeface="Cambria Math" panose="02040503050406030204" pitchFamily="18" charset="0"/>
                                      </a:rPr>
                                    </m:ctrlPr>
                                  </m:fPr>
                                  <m:num>
                                    <m:r>
                                      <a:rPr lang="es-SV" sz="1800" i="1">
                                        <a:latin typeface="Cambria Math" panose="02040503050406030204" pitchFamily="18" charset="0"/>
                                      </a:rPr>
                                      <m:t>𝑥</m:t>
                                    </m:r>
                                    <m:r>
                                      <a:rPr lang="es-SV" sz="1800" i="1">
                                        <a:latin typeface="Cambria Math" panose="02040503050406030204" pitchFamily="18" charset="0"/>
                                      </a:rPr>
                                      <m:t>−3</m:t>
                                    </m:r>
                                  </m:num>
                                  <m:den>
                                    <m:r>
                                      <a:rPr lang="es-SV" sz="1800" b="0" i="1" smtClean="0">
                                        <a:latin typeface="Cambria Math" panose="02040503050406030204" pitchFamily="18" charset="0"/>
                                      </a:rPr>
                                      <m:t>1</m:t>
                                    </m:r>
                                  </m:den>
                                </m:f>
                              </m:e>
                            </m:d>
                          </m:e>
                          <m:sup>
                            <m:r>
                              <a:rPr lang="es-SV" sz="1800" i="1">
                                <a:latin typeface="Cambria Math" panose="02040503050406030204" pitchFamily="18" charset="0"/>
                              </a:rPr>
                              <m:t>2</m:t>
                            </m:r>
                          </m:sup>
                        </m:sSup>
                        <m:r>
                          <a:rPr lang="es-SV" sz="1800" i="1">
                            <a:latin typeface="Cambria Math" panose="02040503050406030204" pitchFamily="18" charset="0"/>
                          </a:rPr>
                          <m:t>  </m:t>
                        </m:r>
                      </m:sup>
                    </m:sSup>
                    <m:r>
                      <a:rPr lang="es-SV" sz="1800" i="1">
                        <a:latin typeface="Cambria Math" panose="02040503050406030204" pitchFamily="18" charset="0"/>
                      </a:rPr>
                      <m:t> ;  </m:t>
                    </m:r>
                    <m:r>
                      <a:rPr lang="es-SV" sz="1800" i="1">
                        <a:latin typeface="Cambria Math" panose="02040503050406030204" pitchFamily="18" charset="0"/>
                      </a:rPr>
                      <m:t>𝑥</m:t>
                    </m:r>
                    <m:r>
                      <a:rPr lang="es-SV" sz="1800" i="1">
                        <a:latin typeface="Cambria Math" panose="02040503050406030204" pitchFamily="18" charset="0"/>
                      </a:rPr>
                      <m:t> </m:t>
                    </m:r>
                    <m:r>
                      <a:rPr lang="es-SV" sz="1800" i="1">
                        <a:latin typeface="Cambria Math" panose="02040503050406030204" pitchFamily="18" charset="0"/>
                      </a:rPr>
                      <m:t>𝜖</m:t>
                    </m:r>
                    <m:r>
                      <a:rPr lang="es-SV" sz="1800" i="1">
                        <a:latin typeface="Cambria Math" panose="02040503050406030204" pitchFamily="18" charset="0"/>
                      </a:rPr>
                      <m:t> </m:t>
                    </m:r>
                    <m:r>
                      <a:rPr lang="es-SV" sz="1800" i="1">
                        <a:latin typeface="Cambria Math" panose="02040503050406030204" pitchFamily="18" charset="0"/>
                      </a:rPr>
                      <m:t>𝑅</m:t>
                    </m:r>
                  </m:oMath>
                </a14:m>
                <a:endParaRPr lang="es-SV" sz="1800" dirty="0"/>
              </a:p>
              <a:p>
                <a:pPr marL="0" indent="0">
                  <a:buNone/>
                </a:pPr>
                <a:endParaRPr lang="es-SV"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blipFill>
                <a:blip r:embed="rId2"/>
                <a:stretch>
                  <a:fillRect l="-1159" t="-1961" r="-1236"/>
                </a:stretch>
              </a:blipFill>
            </p:spPr>
            <p:txBody>
              <a:bodyPr/>
              <a:lstStyle/>
              <a:p>
                <a:r>
                  <a:rPr lang="es-SV">
                    <a:noFill/>
                  </a:rPr>
                  <a:t> </a:t>
                </a:r>
              </a:p>
            </p:txBody>
          </p:sp>
        </mc:Fallback>
      </mc:AlternateContent>
      <p:pic>
        <p:nvPicPr>
          <p:cNvPr id="4" name="Imagen 3" descr="http://www.monografias.com/trabajos15/estadistica-apoyo/estadistica-apoyo_archivos/img1054.gif"/>
          <p:cNvPicPr/>
          <p:nvPr/>
        </p:nvPicPr>
        <p:blipFill>
          <a:blip r:embed="rId3">
            <a:extLst>
              <a:ext uri="{28A0092B-C50C-407E-A947-70E740481C1C}">
                <a14:useLocalDpi xmlns:a14="http://schemas.microsoft.com/office/drawing/2010/main" val="0"/>
              </a:ext>
            </a:extLst>
          </a:blip>
          <a:srcRect/>
          <a:stretch>
            <a:fillRect/>
          </a:stretch>
        </p:blipFill>
        <p:spPr bwMode="auto">
          <a:xfrm>
            <a:off x="4499992" y="2564904"/>
            <a:ext cx="4352925" cy="3276600"/>
          </a:xfrm>
          <a:prstGeom prst="rect">
            <a:avLst/>
          </a:prstGeom>
          <a:noFill/>
          <a:ln>
            <a:noFill/>
          </a:ln>
        </p:spPr>
      </p:pic>
    </p:spTree>
    <p:extLst>
      <p:ext uri="{BB962C8B-B14F-4D97-AF65-F5344CB8AC3E}">
        <p14:creationId xmlns:p14="http://schemas.microsoft.com/office/powerpoint/2010/main" val="1445602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SV" dirty="0"/>
              <a:t>Graficas de normales con iguales medias μ y distintas σ</a:t>
            </a:r>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p:txBody>
              <a:bodyPr>
                <a:normAutofit/>
              </a:bodyPr>
              <a:lstStyle/>
              <a:p>
                <a:pPr marL="0" indent="0">
                  <a:buNone/>
                </a:pPr>
                <a:r>
                  <a:rPr lang="es-SV" sz="2400" dirty="0"/>
                  <a:t>Consideremos los siguientes parámetros para una Distribución Normal</a:t>
                </a:r>
                <a14:m>
                  <m:oMath xmlns:m="http://schemas.openxmlformats.org/officeDocument/2006/math">
                    <m:sSub>
                      <m:sSubPr>
                        <m:ctrlPr>
                          <a:rPr lang="es-SV" sz="2400" i="1">
                            <a:latin typeface="Cambria Math" panose="02040503050406030204" pitchFamily="18" charset="0"/>
                          </a:rPr>
                        </m:ctrlPr>
                      </m:sSubPr>
                      <m:e>
                        <m:r>
                          <a:rPr lang="es-SV" sz="2400" i="1">
                            <a:latin typeface="Cambria Math" panose="02040503050406030204" pitchFamily="18" charset="0"/>
                          </a:rPr>
                          <m:t>    </m:t>
                        </m:r>
                        <m:r>
                          <a:rPr lang="es-SV" sz="2400" i="1">
                            <a:latin typeface="Cambria Math" panose="02040503050406030204" pitchFamily="18" charset="0"/>
                          </a:rPr>
                          <m:t>𝜇</m:t>
                        </m:r>
                      </m:e>
                      <m:sub>
                        <m:r>
                          <a:rPr lang="es-SV" sz="2400" b="0" i="1" smtClean="0">
                            <a:latin typeface="Cambria Math" panose="02040503050406030204" pitchFamily="18" charset="0"/>
                          </a:rPr>
                          <m:t>𝑥</m:t>
                        </m:r>
                      </m:sub>
                    </m:sSub>
                    <m:r>
                      <a:rPr lang="es-SV" sz="2400" i="1">
                        <a:latin typeface="Cambria Math" panose="02040503050406030204" pitchFamily="18" charset="0"/>
                      </a:rPr>
                      <m:t>=</m:t>
                    </m:r>
                    <m:r>
                      <a:rPr lang="es-SV" sz="2400" b="0" i="1" smtClean="0">
                        <a:latin typeface="Cambria Math" panose="02040503050406030204" pitchFamily="18" charset="0"/>
                      </a:rPr>
                      <m:t>0</m:t>
                    </m:r>
                    <m:r>
                      <a:rPr lang="es-SV" sz="2400" i="1">
                        <a:latin typeface="Cambria Math" panose="02040503050406030204" pitchFamily="18" charset="0"/>
                      </a:rPr>
                      <m:t>   </m:t>
                    </m:r>
                    <m:r>
                      <a:rPr lang="es-SV" sz="2400" i="1">
                        <a:latin typeface="Cambria Math" panose="02040503050406030204" pitchFamily="18" charset="0"/>
                      </a:rPr>
                      <m:t>𝑦</m:t>
                    </m:r>
                    <m:r>
                      <a:rPr lang="es-SV" sz="2400" i="1">
                        <a:latin typeface="Cambria Math" panose="02040503050406030204" pitchFamily="18" charset="0"/>
                      </a:rPr>
                      <m:t> </m:t>
                    </m:r>
                    <m:sSub>
                      <m:sSubPr>
                        <m:ctrlPr>
                          <a:rPr lang="es-SV" sz="2400" i="1">
                            <a:latin typeface="Cambria Math" panose="02040503050406030204" pitchFamily="18" charset="0"/>
                          </a:rPr>
                        </m:ctrlPr>
                      </m:sSubPr>
                      <m:e>
                        <m:r>
                          <m:rPr>
                            <m:nor/>
                          </m:rPr>
                          <a:rPr lang="es-SV" sz="2400" dirty="0"/>
                          <m:t>σ</m:t>
                        </m:r>
                      </m:e>
                      <m:sub>
                        <m:r>
                          <a:rPr lang="es-SV" sz="2400" i="1">
                            <a:latin typeface="Cambria Math" panose="02040503050406030204" pitchFamily="18" charset="0"/>
                          </a:rPr>
                          <m:t>1</m:t>
                        </m:r>
                      </m:sub>
                    </m:sSub>
                    <m:r>
                      <a:rPr lang="es-SV" sz="2400" i="1">
                        <a:latin typeface="Cambria Math" panose="02040503050406030204" pitchFamily="18" charset="0"/>
                      </a:rPr>
                      <m:t>=</m:t>
                    </m:r>
                    <m:r>
                      <a:rPr lang="es-SV" sz="2400" b="0" i="1" smtClean="0">
                        <a:latin typeface="Cambria Math" panose="02040503050406030204" pitchFamily="18" charset="0"/>
                      </a:rPr>
                      <m:t>1</m:t>
                    </m:r>
                    <m:r>
                      <a:rPr lang="es-SV" sz="2400" i="1">
                        <a:latin typeface="Cambria Math" panose="02040503050406030204" pitchFamily="18" charset="0"/>
                      </a:rPr>
                      <m:t>    </m:t>
                    </m:r>
                    <m:sSub>
                      <m:sSubPr>
                        <m:ctrlPr>
                          <a:rPr lang="es-SV" sz="2400" i="1">
                            <a:latin typeface="Cambria Math" panose="02040503050406030204" pitchFamily="18" charset="0"/>
                          </a:rPr>
                        </m:ctrlPr>
                      </m:sSubPr>
                      <m:e>
                        <m:r>
                          <m:rPr>
                            <m:nor/>
                          </m:rPr>
                          <a:rPr lang="es-SV" sz="2400" dirty="0"/>
                          <m:t>σ</m:t>
                        </m:r>
                      </m:e>
                      <m:sub>
                        <m:r>
                          <a:rPr lang="es-SV" sz="2400" i="1">
                            <a:latin typeface="Cambria Math" panose="02040503050406030204" pitchFamily="18" charset="0"/>
                          </a:rPr>
                          <m:t>2</m:t>
                        </m:r>
                      </m:sub>
                    </m:sSub>
                    <m:r>
                      <a:rPr lang="es-SV" sz="2400" i="1">
                        <a:latin typeface="Cambria Math" panose="02040503050406030204" pitchFamily="18" charset="0"/>
                      </a:rPr>
                      <m:t>=</m:t>
                    </m:r>
                    <m:r>
                      <a:rPr lang="es-SV" sz="2400" b="0" i="1" smtClean="0">
                        <a:latin typeface="Cambria Math" panose="02040503050406030204" pitchFamily="18" charset="0"/>
                      </a:rPr>
                      <m:t>2</m:t>
                    </m:r>
                    <m:r>
                      <a:rPr lang="es-SV" sz="2400" i="1">
                        <a:latin typeface="Cambria Math" panose="02040503050406030204" pitchFamily="18" charset="0"/>
                      </a:rPr>
                      <m:t>  </m:t>
                    </m:r>
                    <m:sSub>
                      <m:sSubPr>
                        <m:ctrlPr>
                          <a:rPr lang="es-SV" sz="2400" i="1">
                            <a:latin typeface="Cambria Math" panose="02040503050406030204" pitchFamily="18" charset="0"/>
                          </a:rPr>
                        </m:ctrlPr>
                      </m:sSubPr>
                      <m:e>
                        <m:r>
                          <m:rPr>
                            <m:nor/>
                          </m:rPr>
                          <a:rPr lang="es-SV" sz="2400" dirty="0"/>
                          <m:t>σ</m:t>
                        </m:r>
                      </m:e>
                      <m:sub>
                        <m:r>
                          <a:rPr lang="es-SV" sz="2400" i="1">
                            <a:latin typeface="Cambria Math" panose="02040503050406030204" pitchFamily="18" charset="0"/>
                          </a:rPr>
                          <m:t>3</m:t>
                        </m:r>
                      </m:sub>
                    </m:sSub>
                    <m:r>
                      <a:rPr lang="es-SV" sz="2400" i="1">
                        <a:latin typeface="Cambria Math" panose="02040503050406030204" pitchFamily="18" charset="0"/>
                      </a:rPr>
                      <m:t>=</m:t>
                    </m:r>
                    <m:r>
                      <a:rPr lang="es-SV" sz="2400" b="0" i="1" smtClean="0">
                        <a:latin typeface="Cambria Math" panose="02040503050406030204" pitchFamily="18" charset="0"/>
                      </a:rPr>
                      <m:t>4</m:t>
                    </m:r>
                  </m:oMath>
                </a14:m>
                <a:endParaRPr lang="es-SV" sz="2400" dirty="0"/>
              </a:p>
              <a:p>
                <a:endParaRPr lang="es-SV" sz="1800" i="1" dirty="0"/>
              </a:p>
              <a:p>
                <a14:m>
                  <m:oMath xmlns:m="http://schemas.openxmlformats.org/officeDocument/2006/math">
                    <m:sSub>
                      <m:sSubPr>
                        <m:ctrlPr>
                          <a:rPr lang="es-SV" sz="1800" i="1">
                            <a:latin typeface="Cambria Math" panose="02040503050406030204" pitchFamily="18" charset="0"/>
                          </a:rPr>
                        </m:ctrlPr>
                      </m:sSubPr>
                      <m:e>
                        <m:r>
                          <a:rPr lang="es-SV" sz="1800" i="1">
                            <a:latin typeface="Cambria Math" panose="02040503050406030204" pitchFamily="18" charset="0"/>
                          </a:rPr>
                          <m:t>𝑓</m:t>
                        </m:r>
                      </m:e>
                      <m:sub>
                        <m:r>
                          <a:rPr lang="es-SV" sz="1800" i="1">
                            <a:latin typeface="Cambria Math" panose="02040503050406030204" pitchFamily="18" charset="0"/>
                          </a:rPr>
                          <m:t>1</m:t>
                        </m:r>
                      </m:sub>
                    </m:sSub>
                    <m:d>
                      <m:dPr>
                        <m:ctrlPr>
                          <a:rPr lang="es-SV" sz="1800" i="1">
                            <a:latin typeface="Cambria Math" panose="02040503050406030204" pitchFamily="18" charset="0"/>
                          </a:rPr>
                        </m:ctrlPr>
                      </m:dPr>
                      <m:e>
                        <m:r>
                          <a:rPr lang="es-SV" sz="1800" i="1">
                            <a:latin typeface="Cambria Math" panose="02040503050406030204" pitchFamily="18" charset="0"/>
                          </a:rPr>
                          <m:t>𝑥</m:t>
                        </m:r>
                      </m:e>
                    </m:d>
                    <m:r>
                      <a:rPr lang="es-SV" sz="1800" i="1">
                        <a:latin typeface="Cambria Math" panose="02040503050406030204" pitchFamily="18" charset="0"/>
                      </a:rPr>
                      <m:t>=</m:t>
                    </m:r>
                    <m:f>
                      <m:fPr>
                        <m:ctrlPr>
                          <a:rPr lang="es-SV" sz="1800" i="1">
                            <a:latin typeface="Cambria Math" panose="02040503050406030204" pitchFamily="18" charset="0"/>
                          </a:rPr>
                        </m:ctrlPr>
                      </m:fPr>
                      <m:num>
                        <m:r>
                          <a:rPr lang="es-SV" sz="1800" i="1">
                            <a:latin typeface="Cambria Math" panose="02040503050406030204" pitchFamily="18" charset="0"/>
                          </a:rPr>
                          <m:t>1</m:t>
                        </m:r>
                      </m:num>
                      <m:den>
                        <m:rad>
                          <m:radPr>
                            <m:degHide m:val="on"/>
                            <m:ctrlPr>
                              <a:rPr lang="es-SV" sz="1800" i="1">
                                <a:latin typeface="Cambria Math" panose="02040503050406030204" pitchFamily="18" charset="0"/>
                              </a:rPr>
                            </m:ctrlPr>
                          </m:radPr>
                          <m:deg/>
                          <m:e>
                            <m:r>
                              <a:rPr lang="es-SV" sz="1800" i="1">
                                <a:latin typeface="Cambria Math" panose="02040503050406030204" pitchFamily="18" charset="0"/>
                              </a:rPr>
                              <m:t>2</m:t>
                            </m:r>
                            <m:r>
                              <a:rPr lang="es-SV" sz="1800" i="1">
                                <a:latin typeface="Cambria Math" panose="02040503050406030204" pitchFamily="18" charset="0"/>
                              </a:rPr>
                              <m:t>𝜋</m:t>
                            </m:r>
                          </m:e>
                        </m:rad>
                        <m:r>
                          <a:rPr lang="es-SV" sz="1800" i="1">
                            <a:latin typeface="Cambria Math" panose="02040503050406030204" pitchFamily="18" charset="0"/>
                          </a:rPr>
                          <m:t>(</m:t>
                        </m:r>
                        <m:r>
                          <a:rPr lang="es-SV" sz="1800" b="0" i="1" smtClean="0">
                            <a:latin typeface="Cambria Math" panose="02040503050406030204" pitchFamily="18" charset="0"/>
                          </a:rPr>
                          <m:t>1</m:t>
                        </m:r>
                        <m:r>
                          <a:rPr lang="es-SV" sz="1800" i="1">
                            <a:latin typeface="Cambria Math" panose="02040503050406030204" pitchFamily="18" charset="0"/>
                          </a:rPr>
                          <m:t>)</m:t>
                        </m:r>
                      </m:den>
                    </m:f>
                    <m:sSup>
                      <m:sSupPr>
                        <m:ctrlPr>
                          <a:rPr lang="es-SV" sz="1800" i="1">
                            <a:latin typeface="Cambria Math" panose="02040503050406030204" pitchFamily="18" charset="0"/>
                          </a:rPr>
                        </m:ctrlPr>
                      </m:sSupPr>
                      <m:e>
                        <m:r>
                          <a:rPr lang="es-SV" sz="1800" i="1">
                            <a:latin typeface="Cambria Math" panose="02040503050406030204" pitchFamily="18" charset="0"/>
                          </a:rPr>
                          <m:t>𝑒</m:t>
                        </m:r>
                      </m:e>
                      <m:sup>
                        <m:r>
                          <a:rPr lang="es-SV" sz="1800" i="1">
                            <a:latin typeface="Cambria Math" panose="02040503050406030204" pitchFamily="18" charset="0"/>
                          </a:rPr>
                          <m:t>−</m:t>
                        </m:r>
                        <m:f>
                          <m:fPr>
                            <m:ctrlPr>
                              <a:rPr lang="es-SV" sz="1800" i="1">
                                <a:latin typeface="Cambria Math" panose="02040503050406030204" pitchFamily="18" charset="0"/>
                              </a:rPr>
                            </m:ctrlPr>
                          </m:fPr>
                          <m:num>
                            <m:r>
                              <a:rPr lang="es-SV" sz="1800" i="1">
                                <a:latin typeface="Cambria Math" panose="02040503050406030204" pitchFamily="18" charset="0"/>
                              </a:rPr>
                              <m:t>1</m:t>
                            </m:r>
                          </m:num>
                          <m:den>
                            <m:r>
                              <a:rPr lang="es-SV" sz="1800" i="1">
                                <a:latin typeface="Cambria Math" panose="02040503050406030204" pitchFamily="18" charset="0"/>
                              </a:rPr>
                              <m:t>2</m:t>
                            </m:r>
                          </m:den>
                        </m:f>
                        <m:sSup>
                          <m:sSupPr>
                            <m:ctrlPr>
                              <a:rPr lang="es-SV" sz="1800" i="1">
                                <a:latin typeface="Cambria Math" panose="02040503050406030204" pitchFamily="18" charset="0"/>
                              </a:rPr>
                            </m:ctrlPr>
                          </m:sSupPr>
                          <m:e>
                            <m:d>
                              <m:dPr>
                                <m:ctrlPr>
                                  <a:rPr lang="es-SV" sz="1800" i="1">
                                    <a:latin typeface="Cambria Math" panose="02040503050406030204" pitchFamily="18" charset="0"/>
                                  </a:rPr>
                                </m:ctrlPr>
                              </m:dPr>
                              <m:e>
                                <m:f>
                                  <m:fPr>
                                    <m:ctrlPr>
                                      <a:rPr lang="es-SV" sz="1800" i="1">
                                        <a:latin typeface="Cambria Math" panose="02040503050406030204" pitchFamily="18" charset="0"/>
                                      </a:rPr>
                                    </m:ctrlPr>
                                  </m:fPr>
                                  <m:num>
                                    <m:r>
                                      <a:rPr lang="es-SV" sz="1800" i="1">
                                        <a:latin typeface="Cambria Math" panose="02040503050406030204" pitchFamily="18" charset="0"/>
                                      </a:rPr>
                                      <m:t>𝑥</m:t>
                                    </m:r>
                                    <m:r>
                                      <a:rPr lang="es-SV" sz="1800" i="1">
                                        <a:latin typeface="Cambria Math" panose="02040503050406030204" pitchFamily="18" charset="0"/>
                                      </a:rPr>
                                      <m:t>−0</m:t>
                                    </m:r>
                                  </m:num>
                                  <m:den>
                                    <m:r>
                                      <a:rPr lang="es-SV" sz="1800" b="0" i="1" smtClean="0">
                                        <a:latin typeface="Cambria Math" panose="02040503050406030204" pitchFamily="18" charset="0"/>
                                      </a:rPr>
                                      <m:t>1</m:t>
                                    </m:r>
                                  </m:den>
                                </m:f>
                              </m:e>
                            </m:d>
                          </m:e>
                          <m:sup>
                            <m:r>
                              <a:rPr lang="es-SV" sz="1800" i="1">
                                <a:latin typeface="Cambria Math" panose="02040503050406030204" pitchFamily="18" charset="0"/>
                              </a:rPr>
                              <m:t>2</m:t>
                            </m:r>
                          </m:sup>
                        </m:sSup>
                      </m:sup>
                    </m:sSup>
                  </m:oMath>
                </a14:m>
                <a:endParaRPr lang="es-SV" sz="1800" dirty="0"/>
              </a:p>
              <a:p>
                <a14:m>
                  <m:oMath xmlns:m="http://schemas.openxmlformats.org/officeDocument/2006/math">
                    <m:sSub>
                      <m:sSubPr>
                        <m:ctrlPr>
                          <a:rPr lang="es-SV" sz="1800" i="1">
                            <a:latin typeface="Cambria Math" panose="02040503050406030204" pitchFamily="18" charset="0"/>
                          </a:rPr>
                        </m:ctrlPr>
                      </m:sSubPr>
                      <m:e>
                        <m:r>
                          <a:rPr lang="es-SV" sz="1800" i="1">
                            <a:latin typeface="Cambria Math" panose="02040503050406030204" pitchFamily="18" charset="0"/>
                          </a:rPr>
                          <m:t>𝑓</m:t>
                        </m:r>
                      </m:e>
                      <m:sub>
                        <m:r>
                          <a:rPr lang="es-SV" sz="1800" i="1">
                            <a:latin typeface="Cambria Math" panose="02040503050406030204" pitchFamily="18" charset="0"/>
                          </a:rPr>
                          <m:t>2</m:t>
                        </m:r>
                      </m:sub>
                    </m:sSub>
                    <m:d>
                      <m:dPr>
                        <m:ctrlPr>
                          <a:rPr lang="es-SV" sz="1800" i="1">
                            <a:latin typeface="Cambria Math" panose="02040503050406030204" pitchFamily="18" charset="0"/>
                          </a:rPr>
                        </m:ctrlPr>
                      </m:dPr>
                      <m:e>
                        <m:r>
                          <a:rPr lang="es-SV" sz="1800" i="1">
                            <a:latin typeface="Cambria Math" panose="02040503050406030204" pitchFamily="18" charset="0"/>
                          </a:rPr>
                          <m:t>𝑥</m:t>
                        </m:r>
                      </m:e>
                    </m:d>
                    <m:r>
                      <a:rPr lang="es-SV" sz="1800" i="1">
                        <a:latin typeface="Cambria Math" panose="02040503050406030204" pitchFamily="18" charset="0"/>
                      </a:rPr>
                      <m:t>=</m:t>
                    </m:r>
                    <m:f>
                      <m:fPr>
                        <m:ctrlPr>
                          <a:rPr lang="es-SV" sz="1800" i="1">
                            <a:latin typeface="Cambria Math" panose="02040503050406030204" pitchFamily="18" charset="0"/>
                          </a:rPr>
                        </m:ctrlPr>
                      </m:fPr>
                      <m:num>
                        <m:r>
                          <a:rPr lang="es-SV" sz="1800" i="1">
                            <a:latin typeface="Cambria Math" panose="02040503050406030204" pitchFamily="18" charset="0"/>
                          </a:rPr>
                          <m:t>1</m:t>
                        </m:r>
                      </m:num>
                      <m:den>
                        <m:rad>
                          <m:radPr>
                            <m:degHide m:val="on"/>
                            <m:ctrlPr>
                              <a:rPr lang="es-SV" sz="1800" i="1">
                                <a:latin typeface="Cambria Math" panose="02040503050406030204" pitchFamily="18" charset="0"/>
                              </a:rPr>
                            </m:ctrlPr>
                          </m:radPr>
                          <m:deg/>
                          <m:e>
                            <m:r>
                              <a:rPr lang="es-SV" sz="1800" i="1">
                                <a:latin typeface="Cambria Math" panose="02040503050406030204" pitchFamily="18" charset="0"/>
                              </a:rPr>
                              <m:t>2</m:t>
                            </m:r>
                            <m:r>
                              <a:rPr lang="es-SV" sz="1800" i="1">
                                <a:latin typeface="Cambria Math" panose="02040503050406030204" pitchFamily="18" charset="0"/>
                              </a:rPr>
                              <m:t>𝜋</m:t>
                            </m:r>
                          </m:e>
                        </m:rad>
                        <m:r>
                          <a:rPr lang="es-SV" sz="1800" i="1">
                            <a:latin typeface="Cambria Math" panose="02040503050406030204" pitchFamily="18" charset="0"/>
                          </a:rPr>
                          <m:t>(</m:t>
                        </m:r>
                        <m:r>
                          <a:rPr lang="es-SV" sz="1800" b="0" i="1" smtClean="0">
                            <a:latin typeface="Cambria Math" panose="02040503050406030204" pitchFamily="18" charset="0"/>
                          </a:rPr>
                          <m:t>2</m:t>
                        </m:r>
                        <m:r>
                          <a:rPr lang="es-SV" sz="1800" i="1">
                            <a:latin typeface="Cambria Math" panose="02040503050406030204" pitchFamily="18" charset="0"/>
                          </a:rPr>
                          <m:t>)</m:t>
                        </m:r>
                      </m:den>
                    </m:f>
                    <m:sSup>
                      <m:sSupPr>
                        <m:ctrlPr>
                          <a:rPr lang="es-SV" sz="1800" i="1">
                            <a:latin typeface="Cambria Math" panose="02040503050406030204" pitchFamily="18" charset="0"/>
                          </a:rPr>
                        </m:ctrlPr>
                      </m:sSupPr>
                      <m:e>
                        <m:r>
                          <a:rPr lang="es-SV" sz="1800" i="1">
                            <a:latin typeface="Cambria Math" panose="02040503050406030204" pitchFamily="18" charset="0"/>
                          </a:rPr>
                          <m:t>𝑒</m:t>
                        </m:r>
                      </m:e>
                      <m:sup>
                        <m:r>
                          <a:rPr lang="es-SV" sz="1800" i="1">
                            <a:latin typeface="Cambria Math" panose="02040503050406030204" pitchFamily="18" charset="0"/>
                          </a:rPr>
                          <m:t>−</m:t>
                        </m:r>
                        <m:f>
                          <m:fPr>
                            <m:ctrlPr>
                              <a:rPr lang="es-SV" sz="1800" i="1">
                                <a:latin typeface="Cambria Math" panose="02040503050406030204" pitchFamily="18" charset="0"/>
                              </a:rPr>
                            </m:ctrlPr>
                          </m:fPr>
                          <m:num>
                            <m:r>
                              <a:rPr lang="es-SV" sz="1800" i="1">
                                <a:latin typeface="Cambria Math" panose="02040503050406030204" pitchFamily="18" charset="0"/>
                              </a:rPr>
                              <m:t>1</m:t>
                            </m:r>
                          </m:num>
                          <m:den>
                            <m:r>
                              <a:rPr lang="es-SV" sz="1800" i="1">
                                <a:latin typeface="Cambria Math" panose="02040503050406030204" pitchFamily="18" charset="0"/>
                              </a:rPr>
                              <m:t>2</m:t>
                            </m:r>
                          </m:den>
                        </m:f>
                        <m:sSup>
                          <m:sSupPr>
                            <m:ctrlPr>
                              <a:rPr lang="es-SV" sz="1800" i="1">
                                <a:latin typeface="Cambria Math" panose="02040503050406030204" pitchFamily="18" charset="0"/>
                              </a:rPr>
                            </m:ctrlPr>
                          </m:sSupPr>
                          <m:e>
                            <m:d>
                              <m:dPr>
                                <m:ctrlPr>
                                  <a:rPr lang="es-SV" sz="1800" i="1">
                                    <a:latin typeface="Cambria Math" panose="02040503050406030204" pitchFamily="18" charset="0"/>
                                  </a:rPr>
                                </m:ctrlPr>
                              </m:dPr>
                              <m:e>
                                <m:f>
                                  <m:fPr>
                                    <m:ctrlPr>
                                      <a:rPr lang="es-SV" sz="1800" i="1">
                                        <a:latin typeface="Cambria Math" panose="02040503050406030204" pitchFamily="18" charset="0"/>
                                      </a:rPr>
                                    </m:ctrlPr>
                                  </m:fPr>
                                  <m:num>
                                    <m:r>
                                      <a:rPr lang="es-SV" sz="1800" i="1">
                                        <a:latin typeface="Cambria Math" panose="02040503050406030204" pitchFamily="18" charset="0"/>
                                      </a:rPr>
                                      <m:t>𝑥</m:t>
                                    </m:r>
                                    <m:r>
                                      <a:rPr lang="es-SV" sz="1800" i="1">
                                        <a:latin typeface="Cambria Math" panose="02040503050406030204" pitchFamily="18" charset="0"/>
                                      </a:rPr>
                                      <m:t>−0</m:t>
                                    </m:r>
                                  </m:num>
                                  <m:den>
                                    <m:r>
                                      <a:rPr lang="es-SV" sz="1800" b="0" i="1" smtClean="0">
                                        <a:latin typeface="Cambria Math" panose="02040503050406030204" pitchFamily="18" charset="0"/>
                                      </a:rPr>
                                      <m:t>2</m:t>
                                    </m:r>
                                  </m:den>
                                </m:f>
                              </m:e>
                            </m:d>
                          </m:e>
                          <m:sup>
                            <m:r>
                              <a:rPr lang="es-SV" sz="1800" i="1">
                                <a:latin typeface="Cambria Math" panose="02040503050406030204" pitchFamily="18" charset="0"/>
                              </a:rPr>
                              <m:t>2</m:t>
                            </m:r>
                          </m:sup>
                        </m:sSup>
                      </m:sup>
                    </m:sSup>
                  </m:oMath>
                </a14:m>
                <a:endParaRPr lang="es-SV" sz="1800" dirty="0"/>
              </a:p>
              <a:p>
                <a14:m>
                  <m:oMath xmlns:m="http://schemas.openxmlformats.org/officeDocument/2006/math">
                    <m:sSub>
                      <m:sSubPr>
                        <m:ctrlPr>
                          <a:rPr lang="es-SV" sz="1800" i="1">
                            <a:latin typeface="Cambria Math" panose="02040503050406030204" pitchFamily="18" charset="0"/>
                          </a:rPr>
                        </m:ctrlPr>
                      </m:sSubPr>
                      <m:e>
                        <m:r>
                          <a:rPr lang="es-SV" sz="1800" i="1">
                            <a:latin typeface="Cambria Math" panose="02040503050406030204" pitchFamily="18" charset="0"/>
                          </a:rPr>
                          <m:t>𝑓</m:t>
                        </m:r>
                      </m:e>
                      <m:sub>
                        <m:r>
                          <a:rPr lang="es-SV" sz="1800" i="1">
                            <a:latin typeface="Cambria Math" panose="02040503050406030204" pitchFamily="18" charset="0"/>
                          </a:rPr>
                          <m:t>3</m:t>
                        </m:r>
                      </m:sub>
                    </m:sSub>
                    <m:d>
                      <m:dPr>
                        <m:ctrlPr>
                          <a:rPr lang="es-SV" sz="1800" i="1">
                            <a:latin typeface="Cambria Math" panose="02040503050406030204" pitchFamily="18" charset="0"/>
                          </a:rPr>
                        </m:ctrlPr>
                      </m:dPr>
                      <m:e>
                        <m:r>
                          <a:rPr lang="es-SV" sz="1800" i="1">
                            <a:latin typeface="Cambria Math" panose="02040503050406030204" pitchFamily="18" charset="0"/>
                          </a:rPr>
                          <m:t>𝑥</m:t>
                        </m:r>
                      </m:e>
                    </m:d>
                    <m:r>
                      <a:rPr lang="es-SV" sz="1800" i="1">
                        <a:latin typeface="Cambria Math" panose="02040503050406030204" pitchFamily="18" charset="0"/>
                      </a:rPr>
                      <m:t>=</m:t>
                    </m:r>
                    <m:f>
                      <m:fPr>
                        <m:ctrlPr>
                          <a:rPr lang="es-SV" sz="1800" i="1">
                            <a:latin typeface="Cambria Math" panose="02040503050406030204" pitchFamily="18" charset="0"/>
                          </a:rPr>
                        </m:ctrlPr>
                      </m:fPr>
                      <m:num>
                        <m:r>
                          <a:rPr lang="es-SV" sz="1800" i="1">
                            <a:latin typeface="Cambria Math" panose="02040503050406030204" pitchFamily="18" charset="0"/>
                          </a:rPr>
                          <m:t>1</m:t>
                        </m:r>
                      </m:num>
                      <m:den>
                        <m:rad>
                          <m:radPr>
                            <m:degHide m:val="on"/>
                            <m:ctrlPr>
                              <a:rPr lang="es-SV" sz="1800" i="1">
                                <a:latin typeface="Cambria Math" panose="02040503050406030204" pitchFamily="18" charset="0"/>
                              </a:rPr>
                            </m:ctrlPr>
                          </m:radPr>
                          <m:deg/>
                          <m:e>
                            <m:r>
                              <a:rPr lang="es-SV" sz="1800" i="1">
                                <a:latin typeface="Cambria Math" panose="02040503050406030204" pitchFamily="18" charset="0"/>
                              </a:rPr>
                              <m:t>2</m:t>
                            </m:r>
                            <m:r>
                              <a:rPr lang="es-SV" sz="1800" i="1">
                                <a:latin typeface="Cambria Math" panose="02040503050406030204" pitchFamily="18" charset="0"/>
                              </a:rPr>
                              <m:t>𝜋</m:t>
                            </m:r>
                          </m:e>
                        </m:rad>
                        <m:r>
                          <a:rPr lang="es-SV" sz="1800" i="1">
                            <a:latin typeface="Cambria Math" panose="02040503050406030204" pitchFamily="18" charset="0"/>
                          </a:rPr>
                          <m:t>(</m:t>
                        </m:r>
                        <m:r>
                          <a:rPr lang="es-SV" sz="1800" b="0" i="1" smtClean="0">
                            <a:latin typeface="Cambria Math" panose="02040503050406030204" pitchFamily="18" charset="0"/>
                          </a:rPr>
                          <m:t>4</m:t>
                        </m:r>
                        <m:r>
                          <a:rPr lang="es-SV" sz="1800" i="1">
                            <a:latin typeface="Cambria Math" panose="02040503050406030204" pitchFamily="18" charset="0"/>
                          </a:rPr>
                          <m:t>)</m:t>
                        </m:r>
                      </m:den>
                    </m:f>
                    <m:sSup>
                      <m:sSupPr>
                        <m:ctrlPr>
                          <a:rPr lang="es-SV" sz="1800" i="1">
                            <a:latin typeface="Cambria Math" panose="02040503050406030204" pitchFamily="18" charset="0"/>
                          </a:rPr>
                        </m:ctrlPr>
                      </m:sSupPr>
                      <m:e>
                        <m:r>
                          <a:rPr lang="es-SV" sz="1800" i="1">
                            <a:latin typeface="Cambria Math" panose="02040503050406030204" pitchFamily="18" charset="0"/>
                          </a:rPr>
                          <m:t>𝑒</m:t>
                        </m:r>
                      </m:e>
                      <m:sup>
                        <m:r>
                          <a:rPr lang="es-SV" sz="1800" i="1">
                            <a:latin typeface="Cambria Math" panose="02040503050406030204" pitchFamily="18" charset="0"/>
                          </a:rPr>
                          <m:t>−</m:t>
                        </m:r>
                        <m:f>
                          <m:fPr>
                            <m:ctrlPr>
                              <a:rPr lang="es-SV" sz="1800" i="1">
                                <a:latin typeface="Cambria Math" panose="02040503050406030204" pitchFamily="18" charset="0"/>
                              </a:rPr>
                            </m:ctrlPr>
                          </m:fPr>
                          <m:num>
                            <m:r>
                              <a:rPr lang="es-SV" sz="1800" i="1">
                                <a:latin typeface="Cambria Math" panose="02040503050406030204" pitchFamily="18" charset="0"/>
                              </a:rPr>
                              <m:t>1</m:t>
                            </m:r>
                          </m:num>
                          <m:den>
                            <m:r>
                              <a:rPr lang="es-SV" sz="1800" i="1">
                                <a:latin typeface="Cambria Math" panose="02040503050406030204" pitchFamily="18" charset="0"/>
                              </a:rPr>
                              <m:t>2</m:t>
                            </m:r>
                          </m:den>
                        </m:f>
                        <m:sSup>
                          <m:sSupPr>
                            <m:ctrlPr>
                              <a:rPr lang="es-SV" sz="1800" i="1">
                                <a:latin typeface="Cambria Math" panose="02040503050406030204" pitchFamily="18" charset="0"/>
                              </a:rPr>
                            </m:ctrlPr>
                          </m:sSupPr>
                          <m:e>
                            <m:d>
                              <m:dPr>
                                <m:ctrlPr>
                                  <a:rPr lang="es-SV" sz="1800" i="1">
                                    <a:latin typeface="Cambria Math" panose="02040503050406030204" pitchFamily="18" charset="0"/>
                                  </a:rPr>
                                </m:ctrlPr>
                              </m:dPr>
                              <m:e>
                                <m:f>
                                  <m:fPr>
                                    <m:ctrlPr>
                                      <a:rPr lang="es-SV" sz="1800" i="1">
                                        <a:latin typeface="Cambria Math" panose="02040503050406030204" pitchFamily="18" charset="0"/>
                                      </a:rPr>
                                    </m:ctrlPr>
                                  </m:fPr>
                                  <m:num>
                                    <m:r>
                                      <a:rPr lang="es-SV" sz="1800" i="1">
                                        <a:latin typeface="Cambria Math" panose="02040503050406030204" pitchFamily="18" charset="0"/>
                                      </a:rPr>
                                      <m:t>𝑥</m:t>
                                    </m:r>
                                    <m:r>
                                      <a:rPr lang="es-SV" sz="1800" i="1">
                                        <a:latin typeface="Cambria Math" panose="02040503050406030204" pitchFamily="18" charset="0"/>
                                      </a:rPr>
                                      <m:t>−0</m:t>
                                    </m:r>
                                  </m:num>
                                  <m:den>
                                    <m:r>
                                      <a:rPr lang="es-SV" sz="1800" b="0" i="1" smtClean="0">
                                        <a:latin typeface="Cambria Math" panose="02040503050406030204" pitchFamily="18" charset="0"/>
                                      </a:rPr>
                                      <m:t>4</m:t>
                                    </m:r>
                                  </m:den>
                                </m:f>
                              </m:e>
                            </m:d>
                          </m:e>
                          <m:sup>
                            <m:r>
                              <a:rPr lang="es-SV" sz="1800" i="1">
                                <a:latin typeface="Cambria Math" panose="02040503050406030204" pitchFamily="18" charset="0"/>
                              </a:rPr>
                              <m:t>2</m:t>
                            </m:r>
                          </m:sup>
                        </m:sSup>
                      </m:sup>
                    </m:sSup>
                  </m:oMath>
                </a14:m>
                <a:endParaRPr lang="es-SV" sz="1800" dirty="0"/>
              </a:p>
            </p:txBody>
          </p:sp>
        </mc:Choice>
        <mc:Fallback xmlns="">
          <p:sp>
            <p:nvSpPr>
              <p:cNvPr id="3" name="Marcador de contenido 2"/>
              <p:cNvSpPr>
                <a:spLocks noGrp="1" noRot="1" noChangeAspect="1" noMove="1" noResize="1" noEditPoints="1" noAdjustHandles="1" noChangeArrowheads="1" noChangeShapeType="1" noTextEdit="1"/>
              </p:cNvSpPr>
              <p:nvPr>
                <p:ph sz="quarter" idx="1"/>
              </p:nvPr>
            </p:nvSpPr>
            <p:spPr>
              <a:blipFill>
                <a:blip r:embed="rId2"/>
                <a:stretch>
                  <a:fillRect l="-1111" t="-988"/>
                </a:stretch>
              </a:blipFill>
            </p:spPr>
            <p:txBody>
              <a:bodyPr/>
              <a:lstStyle/>
              <a:p>
                <a:r>
                  <a:rPr lang="es-SV">
                    <a:noFill/>
                  </a:rPr>
                  <a:t> </a:t>
                </a:r>
              </a:p>
            </p:txBody>
          </p:sp>
        </mc:Fallback>
      </mc:AlternateContent>
      <p:pic>
        <p:nvPicPr>
          <p:cNvPr id="4" name="Imagen 3" descr="http://virtual.uptc.edu.co/ova/estadistica/docs/libros/ftp.bioestadistica.uma.es/libro/img1055.gif"/>
          <p:cNvPicPr/>
          <p:nvPr/>
        </p:nvPicPr>
        <p:blipFill>
          <a:blip r:embed="rId3">
            <a:extLst>
              <a:ext uri="{28A0092B-C50C-407E-A947-70E740481C1C}">
                <a14:useLocalDpi xmlns:a14="http://schemas.microsoft.com/office/drawing/2010/main" val="0"/>
              </a:ext>
            </a:extLst>
          </a:blip>
          <a:srcRect/>
          <a:stretch>
            <a:fillRect/>
          </a:stretch>
        </p:blipFill>
        <p:spPr bwMode="auto">
          <a:xfrm>
            <a:off x="3995936" y="2816696"/>
            <a:ext cx="4371975" cy="3276600"/>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5" name="Entrada de lápiz 4">
                <a:extLst>
                  <a:ext uri="{FF2B5EF4-FFF2-40B4-BE49-F238E27FC236}">
                    <a16:creationId xmlns:a16="http://schemas.microsoft.com/office/drawing/2014/main" id="{3C2F73BF-1F96-41EA-A6D6-02AEBEDBB0C2}"/>
                  </a:ext>
                </a:extLst>
              </p14:cNvPr>
              <p14:cNvContentPartPr/>
              <p14:nvPr/>
            </p14:nvContentPartPr>
            <p14:xfrm>
              <a:off x="6106680" y="5850720"/>
              <a:ext cx="196200" cy="28080"/>
            </p14:xfrm>
          </p:contentPart>
        </mc:Choice>
        <mc:Fallback xmlns="">
          <p:pic>
            <p:nvPicPr>
              <p:cNvPr id="5" name="Entrada de lápiz 4">
                <a:extLst>
                  <a:ext uri="{FF2B5EF4-FFF2-40B4-BE49-F238E27FC236}">
                    <a16:creationId xmlns:a16="http://schemas.microsoft.com/office/drawing/2014/main" id="{3C2F73BF-1F96-41EA-A6D6-02AEBEDBB0C2}"/>
                  </a:ext>
                </a:extLst>
              </p:cNvPr>
              <p:cNvPicPr/>
              <p:nvPr/>
            </p:nvPicPr>
            <p:blipFill>
              <a:blip r:embed="rId5"/>
              <a:stretch>
                <a:fillRect/>
              </a:stretch>
            </p:blipFill>
            <p:spPr>
              <a:xfrm>
                <a:off x="6097320" y="5841360"/>
                <a:ext cx="21492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Entrada de lápiz 5"/>
              <p14:cNvContentPartPr/>
              <p14:nvPr/>
            </p14:nvContentPartPr>
            <p14:xfrm>
              <a:off x="7049160" y="5163480"/>
              <a:ext cx="229680" cy="190080"/>
            </p14:xfrm>
          </p:contentPart>
        </mc:Choice>
        <mc:Fallback xmlns="">
          <p:pic>
            <p:nvPicPr>
              <p:cNvPr id="6" name="Entrada de lápiz 5"/>
              <p:cNvPicPr/>
              <p:nvPr/>
            </p:nvPicPr>
            <p:blipFill>
              <a:blip r:embed="rId7"/>
              <a:stretch>
                <a:fillRect/>
              </a:stretch>
            </p:blipFill>
            <p:spPr>
              <a:xfrm>
                <a:off x="7044840" y="5159160"/>
                <a:ext cx="237600" cy="198000"/>
              </a:xfrm>
              <a:prstGeom prst="rect">
                <a:avLst/>
              </a:prstGeom>
            </p:spPr>
          </p:pic>
        </mc:Fallback>
      </mc:AlternateContent>
    </p:spTree>
    <p:extLst>
      <p:ext uri="{BB962C8B-B14F-4D97-AF65-F5344CB8AC3E}">
        <p14:creationId xmlns:p14="http://schemas.microsoft.com/office/powerpoint/2010/main" val="4287921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473202" y="502920"/>
            <a:ext cx="2564892" cy="1463040"/>
          </a:xfrm>
        </p:spPr>
        <p:txBody>
          <a:bodyPr anchor="ctr">
            <a:normAutofit/>
          </a:bodyPr>
          <a:lstStyle/>
          <a:p>
            <a:r>
              <a:rPr lang="es-SV" sz="2300"/>
              <a:t>Distribución normal estándar (o normal tipificada)</a:t>
            </a:r>
          </a:p>
        </p:txBody>
      </p:sp>
      <p:sp>
        <p:nvSpPr>
          <p:cNvPr id="11"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480309" y="1227582"/>
            <a:ext cx="1554480" cy="13716"/>
          </a:xfrm>
          <a:custGeom>
            <a:avLst/>
            <a:gdLst>
              <a:gd name="csX0" fmla="*/ 0 w 1554480"/>
              <a:gd name="csY0" fmla="*/ 0 h 13716"/>
              <a:gd name="csX1" fmla="*/ 549250 w 1554480"/>
              <a:gd name="csY1" fmla="*/ 0 h 13716"/>
              <a:gd name="csX2" fmla="*/ 1082954 w 1554480"/>
              <a:gd name="csY2" fmla="*/ 0 h 13716"/>
              <a:gd name="csX3" fmla="*/ 1554480 w 1554480"/>
              <a:gd name="csY3" fmla="*/ 0 h 13716"/>
              <a:gd name="csX4" fmla="*/ 1554480 w 1554480"/>
              <a:gd name="csY4" fmla="*/ 13716 h 13716"/>
              <a:gd name="csX5" fmla="*/ 1067410 w 1554480"/>
              <a:gd name="csY5" fmla="*/ 13716 h 13716"/>
              <a:gd name="csX6" fmla="*/ 549250 w 1554480"/>
              <a:gd name="csY6" fmla="*/ 13716 h 13716"/>
              <a:gd name="csX7" fmla="*/ 0 w 1554480"/>
              <a:gd name="csY7" fmla="*/ 13716 h 13716"/>
              <a:gd name="csX8" fmla="*/ 0 w 1554480"/>
              <a:gd name="csY8" fmla="*/ 0 h 13716"/>
              <a:gd name="csX0" fmla="*/ 0 w 1554480"/>
              <a:gd name="csY0" fmla="*/ 0 h 13716"/>
              <a:gd name="csX1" fmla="*/ 502615 w 1554480"/>
              <a:gd name="csY1" fmla="*/ 0 h 13716"/>
              <a:gd name="csX2" fmla="*/ 974141 w 1554480"/>
              <a:gd name="csY2" fmla="*/ 0 h 13716"/>
              <a:gd name="csX3" fmla="*/ 1554480 w 1554480"/>
              <a:gd name="csY3" fmla="*/ 0 h 13716"/>
              <a:gd name="csX4" fmla="*/ 1554480 w 1554480"/>
              <a:gd name="csY4" fmla="*/ 13716 h 13716"/>
              <a:gd name="csX5" fmla="*/ 1067410 w 1554480"/>
              <a:gd name="csY5" fmla="*/ 13716 h 13716"/>
              <a:gd name="csX6" fmla="*/ 518160 w 1554480"/>
              <a:gd name="csY6" fmla="*/ 13716 h 13716"/>
              <a:gd name="csX7" fmla="*/ 0 w 1554480"/>
              <a:gd name="csY7" fmla="*/ 13716 h 13716"/>
              <a:gd name="csX8" fmla="*/ 0 w 1554480"/>
              <a:gd name="csY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3716" fill="none" extrusionOk="0">
                <a:moveTo>
                  <a:pt x="0" y="0"/>
                </a:moveTo>
                <a:cubicBezTo>
                  <a:pt x="69558" y="-27075"/>
                  <a:pt x="365297" y="14897"/>
                  <a:pt x="549250" y="0"/>
                </a:cubicBezTo>
                <a:cubicBezTo>
                  <a:pt x="762323" y="14872"/>
                  <a:pt x="864871" y="21041"/>
                  <a:pt x="1082954" y="0"/>
                </a:cubicBezTo>
                <a:cubicBezTo>
                  <a:pt x="1306037" y="9403"/>
                  <a:pt x="1371926" y="14821"/>
                  <a:pt x="1554480" y="0"/>
                </a:cubicBezTo>
                <a:cubicBezTo>
                  <a:pt x="1554010" y="4793"/>
                  <a:pt x="1554680" y="10394"/>
                  <a:pt x="1554480" y="13716"/>
                </a:cubicBezTo>
                <a:cubicBezTo>
                  <a:pt x="1328957" y="3179"/>
                  <a:pt x="1207025" y="27731"/>
                  <a:pt x="1067410" y="13716"/>
                </a:cubicBezTo>
                <a:cubicBezTo>
                  <a:pt x="897316" y="-7440"/>
                  <a:pt x="788951" y="-24962"/>
                  <a:pt x="549250" y="13716"/>
                </a:cubicBezTo>
                <a:cubicBezTo>
                  <a:pt x="300394" y="-2982"/>
                  <a:pt x="129576" y="35301"/>
                  <a:pt x="0" y="13716"/>
                </a:cubicBezTo>
                <a:cubicBezTo>
                  <a:pt x="354" y="8869"/>
                  <a:pt x="649" y="6738"/>
                  <a:pt x="0" y="0"/>
                </a:cubicBezTo>
                <a:close/>
              </a:path>
              <a:path w="1554480" h="13716" stroke="0" extrusionOk="0">
                <a:moveTo>
                  <a:pt x="0" y="0"/>
                </a:moveTo>
                <a:cubicBezTo>
                  <a:pt x="249513" y="10124"/>
                  <a:pt x="389298" y="10419"/>
                  <a:pt x="502615" y="0"/>
                </a:cubicBezTo>
                <a:cubicBezTo>
                  <a:pt x="616735" y="10147"/>
                  <a:pt x="791037" y="-19212"/>
                  <a:pt x="974141" y="0"/>
                </a:cubicBezTo>
                <a:cubicBezTo>
                  <a:pt x="1141919" y="34853"/>
                  <a:pt x="1248514" y="16971"/>
                  <a:pt x="1554480" y="0"/>
                </a:cubicBezTo>
                <a:cubicBezTo>
                  <a:pt x="1554288" y="3835"/>
                  <a:pt x="1554171" y="7531"/>
                  <a:pt x="1554480" y="13716"/>
                </a:cubicBezTo>
                <a:cubicBezTo>
                  <a:pt x="1337806" y="9080"/>
                  <a:pt x="1308467" y="19887"/>
                  <a:pt x="1067410" y="13716"/>
                </a:cubicBezTo>
                <a:cubicBezTo>
                  <a:pt x="824349" y="13143"/>
                  <a:pt x="783437" y="24151"/>
                  <a:pt x="518160" y="13716"/>
                </a:cubicBezTo>
                <a:cubicBezTo>
                  <a:pt x="271530" y="4598"/>
                  <a:pt x="132568" y="-7659"/>
                  <a:pt x="0" y="13716"/>
                </a:cubicBezTo>
                <a:cubicBezTo>
                  <a:pt x="768" y="9617"/>
                  <a:pt x="-274" y="4847"/>
                  <a:pt x="0" y="0"/>
                </a:cubicBezTo>
                <a:close/>
              </a:path>
              <a:path w="1554480" h="13716" fill="none" stroke="0" extrusionOk="0">
                <a:moveTo>
                  <a:pt x="0" y="0"/>
                </a:moveTo>
                <a:cubicBezTo>
                  <a:pt x="95687" y="-31247"/>
                  <a:pt x="331569" y="3404"/>
                  <a:pt x="549250" y="0"/>
                </a:cubicBezTo>
                <a:cubicBezTo>
                  <a:pt x="776590" y="6530"/>
                  <a:pt x="844530" y="-5109"/>
                  <a:pt x="1082954" y="0"/>
                </a:cubicBezTo>
                <a:cubicBezTo>
                  <a:pt x="1293569" y="15486"/>
                  <a:pt x="1361850" y="13824"/>
                  <a:pt x="1554480" y="0"/>
                </a:cubicBezTo>
                <a:cubicBezTo>
                  <a:pt x="1553504" y="4786"/>
                  <a:pt x="1554832" y="10912"/>
                  <a:pt x="1554480" y="13716"/>
                </a:cubicBezTo>
                <a:cubicBezTo>
                  <a:pt x="1366718" y="4861"/>
                  <a:pt x="1218290" y="26644"/>
                  <a:pt x="1067410" y="13716"/>
                </a:cubicBezTo>
                <a:cubicBezTo>
                  <a:pt x="900327" y="-8822"/>
                  <a:pt x="792178" y="6310"/>
                  <a:pt x="549250" y="13716"/>
                </a:cubicBezTo>
                <a:cubicBezTo>
                  <a:pt x="295300" y="2843"/>
                  <a:pt x="142619" y="40779"/>
                  <a:pt x="0" y="13716"/>
                </a:cubicBezTo>
                <a:cubicBezTo>
                  <a:pt x="813" y="8812"/>
                  <a:pt x="948" y="672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1554480"/>
                      <a:gd name="connsiteY0" fmla="*/ 0 h 13716"/>
                      <a:gd name="connsiteX1" fmla="*/ 549250 w 1554480"/>
                      <a:gd name="connsiteY1" fmla="*/ 0 h 13716"/>
                      <a:gd name="connsiteX2" fmla="*/ 1082954 w 1554480"/>
                      <a:gd name="connsiteY2" fmla="*/ 0 h 13716"/>
                      <a:gd name="connsiteX3" fmla="*/ 1554480 w 1554480"/>
                      <a:gd name="connsiteY3" fmla="*/ 0 h 13716"/>
                      <a:gd name="connsiteX4" fmla="*/ 1554480 w 1554480"/>
                      <a:gd name="connsiteY4" fmla="*/ 13716 h 13716"/>
                      <a:gd name="connsiteX5" fmla="*/ 1067410 w 1554480"/>
                      <a:gd name="connsiteY5" fmla="*/ 13716 h 13716"/>
                      <a:gd name="connsiteX6" fmla="*/ 549250 w 1554480"/>
                      <a:gd name="connsiteY6" fmla="*/ 13716 h 13716"/>
                      <a:gd name="connsiteX7" fmla="*/ 0 w 1554480"/>
                      <a:gd name="connsiteY7" fmla="*/ 13716 h 13716"/>
                      <a:gd name="connsiteX8" fmla="*/ 0 w 1554480"/>
                      <a:gd name="connsiteY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3716"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3820" y="4959"/>
                          <a:pt x="1554594" y="10798"/>
                          <a:pt x="1554480" y="13716"/>
                        </a:cubicBezTo>
                        <a:cubicBezTo>
                          <a:pt x="1338847" y="1555"/>
                          <a:pt x="1215066" y="33279"/>
                          <a:pt x="1067410" y="13716"/>
                        </a:cubicBezTo>
                        <a:cubicBezTo>
                          <a:pt x="919754" y="-5847"/>
                          <a:pt x="800465" y="-1492"/>
                          <a:pt x="549250" y="13716"/>
                        </a:cubicBezTo>
                        <a:cubicBezTo>
                          <a:pt x="298035" y="28924"/>
                          <a:pt x="158868" y="18197"/>
                          <a:pt x="0" y="13716"/>
                        </a:cubicBezTo>
                        <a:cubicBezTo>
                          <a:pt x="488" y="8630"/>
                          <a:pt x="480" y="6612"/>
                          <a:pt x="0" y="0"/>
                        </a:cubicBezTo>
                        <a:close/>
                      </a:path>
                      <a:path w="1554480" h="13716"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232" y="4157"/>
                          <a:pt x="1554673" y="7559"/>
                          <a:pt x="1554480" y="13716"/>
                        </a:cubicBezTo>
                        <a:cubicBezTo>
                          <a:pt x="1336087" y="7600"/>
                          <a:pt x="1310024" y="15187"/>
                          <a:pt x="1067410" y="13716"/>
                        </a:cubicBezTo>
                        <a:cubicBezTo>
                          <a:pt x="824796" y="12246"/>
                          <a:pt x="787902" y="30075"/>
                          <a:pt x="518160" y="13716"/>
                        </a:cubicBezTo>
                        <a:cubicBezTo>
                          <a:pt x="248418" y="-2643"/>
                          <a:pt x="133160" y="4633"/>
                          <a:pt x="0" y="13716"/>
                        </a:cubicBezTo>
                        <a:cubicBezTo>
                          <a:pt x="43" y="9160"/>
                          <a:pt x="-111" y="4811"/>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3490721" y="502920"/>
                <a:ext cx="5170932" cy="1463040"/>
              </a:xfrm>
            </p:spPr>
            <p:txBody>
              <a:bodyPr anchor="ctr">
                <a:normAutofit/>
              </a:bodyPr>
              <a:lstStyle/>
              <a:p>
                <a:pPr marL="0" indent="0">
                  <a:buNone/>
                </a:pPr>
                <a:r>
                  <a:rPr lang="es-SV" sz="1900"/>
                  <a:t>Una variable aleatoria Z tiene normal estándar si es normal con μ=0 y desviación estándar σ=1.</a:t>
                </a:r>
              </a:p>
              <a:p>
                <a:pPr marL="0" indent="0">
                  <a:buNone/>
                </a:pPr>
                <a:r>
                  <a:rPr lang="es-SV" sz="1900"/>
                  <a:t>La función de densidad de probabilidad es:</a:t>
                </a:r>
              </a:p>
              <a:p>
                <a14:m>
                  <m:oMath xmlns:m="http://schemas.openxmlformats.org/officeDocument/2006/math">
                    <m:r>
                      <a:rPr lang="es-SV" sz="1900" i="1">
                        <a:latin typeface="Cambria Math" panose="02040503050406030204" pitchFamily="18" charset="0"/>
                      </a:rPr>
                      <m:t>𝑔</m:t>
                    </m:r>
                    <m:d>
                      <m:dPr>
                        <m:ctrlPr>
                          <a:rPr lang="es-SV" sz="1900" i="1">
                            <a:latin typeface="Cambria Math" panose="02040503050406030204" pitchFamily="18" charset="0"/>
                          </a:rPr>
                        </m:ctrlPr>
                      </m:dPr>
                      <m:e>
                        <m:r>
                          <a:rPr lang="es-SV" sz="1900" i="1">
                            <a:latin typeface="Cambria Math" panose="02040503050406030204" pitchFamily="18" charset="0"/>
                          </a:rPr>
                          <m:t>𝑧</m:t>
                        </m:r>
                      </m:e>
                    </m:d>
                    <m:r>
                      <a:rPr lang="es-SV" sz="1900" i="1">
                        <a:latin typeface="Cambria Math" panose="02040503050406030204" pitchFamily="18" charset="0"/>
                      </a:rPr>
                      <m:t>=</m:t>
                    </m:r>
                    <m:f>
                      <m:fPr>
                        <m:ctrlPr>
                          <a:rPr lang="es-SV" sz="1900" i="1">
                            <a:latin typeface="Cambria Math" panose="02040503050406030204" pitchFamily="18" charset="0"/>
                          </a:rPr>
                        </m:ctrlPr>
                      </m:fPr>
                      <m:num>
                        <m:r>
                          <a:rPr lang="es-SV" sz="1900" i="1">
                            <a:latin typeface="Cambria Math" panose="02040503050406030204" pitchFamily="18" charset="0"/>
                          </a:rPr>
                          <m:t>1</m:t>
                        </m:r>
                      </m:num>
                      <m:den>
                        <m:rad>
                          <m:radPr>
                            <m:degHide m:val="on"/>
                            <m:ctrlPr>
                              <a:rPr lang="es-SV" sz="1900" i="1">
                                <a:latin typeface="Cambria Math" panose="02040503050406030204" pitchFamily="18" charset="0"/>
                              </a:rPr>
                            </m:ctrlPr>
                          </m:radPr>
                          <m:deg/>
                          <m:e>
                            <m:r>
                              <a:rPr lang="es-SV" sz="1900" i="1">
                                <a:latin typeface="Cambria Math" panose="02040503050406030204" pitchFamily="18" charset="0"/>
                              </a:rPr>
                              <m:t>2</m:t>
                            </m:r>
                            <m:r>
                              <a:rPr lang="es-SV" sz="1900" i="1">
                                <a:latin typeface="Cambria Math" panose="02040503050406030204" pitchFamily="18" charset="0"/>
                              </a:rPr>
                              <m:t>𝜋</m:t>
                            </m:r>
                          </m:e>
                        </m:rad>
                      </m:den>
                    </m:f>
                    <m:sSup>
                      <m:sSupPr>
                        <m:ctrlPr>
                          <a:rPr lang="es-SV" sz="1900" i="1">
                            <a:latin typeface="Cambria Math" panose="02040503050406030204" pitchFamily="18" charset="0"/>
                          </a:rPr>
                        </m:ctrlPr>
                      </m:sSupPr>
                      <m:e>
                        <m:r>
                          <a:rPr lang="es-SV" sz="1900" i="1">
                            <a:latin typeface="Cambria Math" panose="02040503050406030204" pitchFamily="18" charset="0"/>
                          </a:rPr>
                          <m:t>𝑒</m:t>
                        </m:r>
                      </m:e>
                      <m:sup>
                        <m:r>
                          <a:rPr lang="es-SV" sz="1900" i="1">
                            <a:latin typeface="Cambria Math" panose="02040503050406030204" pitchFamily="18" charset="0"/>
                          </a:rPr>
                          <m:t>−1/2</m:t>
                        </m:r>
                        <m:sSup>
                          <m:sSupPr>
                            <m:ctrlPr>
                              <a:rPr lang="es-SV" sz="1900" i="1">
                                <a:latin typeface="Cambria Math" panose="02040503050406030204" pitchFamily="18" charset="0"/>
                              </a:rPr>
                            </m:ctrlPr>
                          </m:sSupPr>
                          <m:e>
                            <m:r>
                              <a:rPr lang="es-SV" sz="1900" i="1">
                                <a:latin typeface="Cambria Math" panose="02040503050406030204" pitchFamily="18" charset="0"/>
                              </a:rPr>
                              <m:t>𝑧</m:t>
                            </m:r>
                          </m:e>
                          <m:sup>
                            <m:r>
                              <a:rPr lang="es-SV" sz="1900" i="1">
                                <a:latin typeface="Cambria Math" panose="02040503050406030204" pitchFamily="18" charset="0"/>
                              </a:rPr>
                              <m:t>2</m:t>
                            </m:r>
                          </m:sup>
                        </m:sSup>
                      </m:sup>
                    </m:sSup>
                    <m:r>
                      <a:rPr lang="es-SV" sz="1900" i="1">
                        <a:latin typeface="Cambria Math" panose="02040503050406030204" pitchFamily="18" charset="0"/>
                      </a:rPr>
                      <m:t>  ;  </m:t>
                    </m:r>
                    <m:r>
                      <a:rPr lang="es-SV" sz="1900" i="1">
                        <a:latin typeface="Cambria Math" panose="02040503050406030204" pitchFamily="18" charset="0"/>
                      </a:rPr>
                      <m:t>𝑧</m:t>
                    </m:r>
                    <m:r>
                      <a:rPr lang="es-SV" sz="1900" i="1">
                        <a:latin typeface="Cambria Math" panose="02040503050406030204" pitchFamily="18" charset="0"/>
                      </a:rPr>
                      <m:t> </m:t>
                    </m:r>
                    <m:r>
                      <a:rPr lang="es-SV" sz="1900" i="1">
                        <a:latin typeface="Cambria Math" panose="02040503050406030204" pitchFamily="18" charset="0"/>
                      </a:rPr>
                      <m:t>𝜖</m:t>
                    </m:r>
                    <m:r>
                      <a:rPr lang="es-SV" sz="1900" i="1">
                        <a:latin typeface="Cambria Math" panose="02040503050406030204" pitchFamily="18" charset="0"/>
                      </a:rPr>
                      <m:t> </m:t>
                    </m:r>
                    <m:r>
                      <a:rPr lang="es-SV" sz="1900" i="1">
                        <a:latin typeface="Cambria Math" panose="02040503050406030204" pitchFamily="18" charset="0"/>
                      </a:rPr>
                      <m:t>𝑅</m:t>
                    </m:r>
                  </m:oMath>
                </a14:m>
                <a:endParaRPr lang="es-SV" sz="1900"/>
              </a:p>
              <a:p>
                <a:endParaRPr lang="es-SV" sz="190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3490721" y="502920"/>
                <a:ext cx="5170932" cy="1463040"/>
              </a:xfrm>
              <a:blipFill>
                <a:blip r:embed="rId2"/>
                <a:stretch>
                  <a:fillRect l="-1179" t="-16667"/>
                </a:stretch>
              </a:blipFill>
            </p:spPr>
            <p:txBody>
              <a:bodyPr/>
              <a:lstStyle/>
              <a:p>
                <a:r>
                  <a:rPr lang="es-SV">
                    <a:noFill/>
                  </a:rPr>
                  <a:t> </a:t>
                </a:r>
              </a:p>
            </p:txBody>
          </p:sp>
        </mc:Fallback>
      </mc:AlternateContent>
      <p:pic>
        <p:nvPicPr>
          <p:cNvPr id="4" name="Imagen 3" descr="gráfica"/>
          <p:cNvPicPr/>
          <p:nvPr/>
        </p:nvPicPr>
        <p:blipFill>
          <a:blip r:embed="rId3">
            <a:extLst>
              <a:ext uri="{28A0092B-C50C-407E-A947-70E740481C1C}">
                <a14:useLocalDpi xmlns:a14="http://schemas.microsoft.com/office/drawing/2010/main" val="0"/>
              </a:ext>
            </a:extLst>
          </a:blip>
          <a:stretch>
            <a:fillRect/>
          </a:stretch>
        </p:blipFill>
        <p:spPr bwMode="auto">
          <a:xfrm>
            <a:off x="473202" y="2909282"/>
            <a:ext cx="8188452" cy="2722660"/>
          </a:xfrm>
          <a:prstGeom prst="rect">
            <a:avLst/>
          </a:prstGeom>
          <a:noFill/>
        </p:spPr>
      </p:pic>
    </p:spTree>
    <p:extLst>
      <p:ext uri="{BB962C8B-B14F-4D97-AF65-F5344CB8AC3E}">
        <p14:creationId xmlns:p14="http://schemas.microsoft.com/office/powerpoint/2010/main" val="458908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E4CBDBB-4FBD-4B9E-BD01-054A81D431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B01A6F03-171F-40B2-8B2C-A061B89241F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1714" cy="6862380"/>
          </a:xfrm>
          <a:prstGeom prst="rect">
            <a:avLst/>
          </a:prstGeom>
        </p:spPr>
      </p:pic>
      <p:sp>
        <p:nvSpPr>
          <p:cNvPr id="14" name="Rectangle 13">
            <a:extLst>
              <a:ext uri="{FF2B5EF4-FFF2-40B4-BE49-F238E27FC236}">
                <a16:creationId xmlns:a16="http://schemas.microsoft.com/office/drawing/2014/main" id="{72C4834C-B602-4125-8264-BD0D55A588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3172EE5-132F-4DD4-8855-4DBBD9C346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883" y="1110000"/>
            <a:ext cx="7646805" cy="4629235"/>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899592" y="1268760"/>
                <a:ext cx="6740271" cy="4307522"/>
              </a:xfrm>
            </p:spPr>
            <p:txBody>
              <a:bodyPr anchor="t">
                <a:normAutofit/>
              </a:bodyPr>
              <a:lstStyle/>
              <a:p>
                <a:pPr marL="82296" indent="0" algn="just">
                  <a:buNone/>
                </a:pPr>
                <a:r>
                  <a:rPr lang="es-SV" sz="2400" dirty="0"/>
                  <a:t>Cualquier normal con cierta media y cierta desviación estándar, se puede transformar en una normal estándar así: x es normal con media </a:t>
                </a:r>
                <a14:m>
                  <m:oMath xmlns:m="http://schemas.openxmlformats.org/officeDocument/2006/math">
                    <m:r>
                      <a:rPr lang="es-SV" sz="2400" i="1">
                        <a:latin typeface="Cambria Math"/>
                        <a:ea typeface="Cambria Math"/>
                      </a:rPr>
                      <m:t>𝜇</m:t>
                    </m:r>
                    <m:r>
                      <a:rPr lang="es-SV" sz="2400" b="0" i="1">
                        <a:latin typeface="Cambria Math"/>
                        <a:ea typeface="Cambria Math"/>
                      </a:rPr>
                      <m:t> </m:t>
                    </m:r>
                  </m:oMath>
                </a14:m>
                <a:r>
                  <a:rPr lang="es-SV" sz="2400" dirty="0"/>
                  <a:t>y desviación estándar </a:t>
                </a:r>
                <a14:m>
                  <m:oMath xmlns:m="http://schemas.openxmlformats.org/officeDocument/2006/math">
                    <m:r>
                      <a:rPr lang="es-SV" sz="2400" i="1">
                        <a:latin typeface="Cambria Math"/>
                        <a:ea typeface="Cambria Math"/>
                      </a:rPr>
                      <m:t>𝜎</m:t>
                    </m:r>
                    <m:r>
                      <a:rPr lang="es-SV" sz="2400" b="0" i="1">
                        <a:latin typeface="Cambria Math"/>
                        <a:ea typeface="Cambria Math"/>
                      </a:rPr>
                      <m:t>.</m:t>
                    </m:r>
                  </m:oMath>
                </a14:m>
                <a:endParaRPr lang="es-SV" sz="2400" b="0" dirty="0">
                  <a:ea typeface="Cambria Math"/>
                </a:endParaRPr>
              </a:p>
              <a:p>
                <a:pPr marL="82296" indent="0" algn="just">
                  <a:buNone/>
                </a:pPr>
                <a:r>
                  <a:rPr lang="es-SV" sz="2400" dirty="0">
                    <a:ea typeface="Cambria Math"/>
                  </a:rPr>
                  <a:t>Sea </a:t>
                </a:r>
                <a14:m>
                  <m:oMath xmlns:m="http://schemas.openxmlformats.org/officeDocument/2006/math">
                    <m:r>
                      <a:rPr lang="es-SV" sz="2400" b="0" i="1">
                        <a:latin typeface="Cambria Math"/>
                        <a:ea typeface="Cambria Math"/>
                      </a:rPr>
                      <m:t>𝑧</m:t>
                    </m:r>
                    <m:r>
                      <a:rPr lang="es-SV" sz="2400" b="0" i="1">
                        <a:latin typeface="Cambria Math"/>
                        <a:ea typeface="Cambria Math"/>
                      </a:rPr>
                      <m:t>=</m:t>
                    </m:r>
                    <m:f>
                      <m:fPr>
                        <m:ctrlPr>
                          <a:rPr lang="es-SV" sz="2400" b="0" i="1">
                            <a:latin typeface="Cambria Math" panose="02040503050406030204" pitchFamily="18" charset="0"/>
                            <a:ea typeface="Cambria Math"/>
                          </a:rPr>
                        </m:ctrlPr>
                      </m:fPr>
                      <m:num>
                        <m:r>
                          <a:rPr lang="es-SV" sz="2400" b="0" i="1">
                            <a:latin typeface="Cambria Math"/>
                            <a:ea typeface="Cambria Math"/>
                          </a:rPr>
                          <m:t>𝑥</m:t>
                        </m:r>
                        <m:r>
                          <a:rPr lang="es-SV" sz="2400" b="0" i="1">
                            <a:latin typeface="Cambria Math"/>
                            <a:ea typeface="Cambria Math"/>
                          </a:rPr>
                          <m:t>−</m:t>
                        </m:r>
                        <m:r>
                          <a:rPr lang="es-SV" sz="2400" b="0" i="1">
                            <a:latin typeface="Cambria Math"/>
                            <a:ea typeface="Cambria Math"/>
                          </a:rPr>
                          <m:t>𝜇</m:t>
                        </m:r>
                      </m:num>
                      <m:den>
                        <m:r>
                          <a:rPr lang="es-SV" sz="2400" b="0" i="1">
                            <a:latin typeface="Cambria Math"/>
                            <a:ea typeface="Cambria Math"/>
                          </a:rPr>
                          <m:t>𝜎</m:t>
                        </m:r>
                      </m:den>
                    </m:f>
                    <m:r>
                      <a:rPr lang="es-SV" sz="2400" b="0" i="0">
                        <a:latin typeface="Cambria Math"/>
                        <a:ea typeface="Cambria Math"/>
                      </a:rPr>
                      <m:t>      </m:t>
                    </m:r>
                  </m:oMath>
                </a14:m>
                <a:r>
                  <a:rPr lang="es-SV" sz="2400" dirty="0"/>
                  <a:t>entonces: z tiene distribución normal estándar y así</a:t>
                </a:r>
              </a:p>
              <a:p>
                <a:pPr marL="82296" indent="0" algn="just">
                  <a:buNone/>
                </a:pPr>
                <a14:m>
                  <m:oMathPara xmlns:m="http://schemas.openxmlformats.org/officeDocument/2006/math">
                    <m:oMathParaPr>
                      <m:jc m:val="left"/>
                    </m:oMathParaPr>
                    <m:oMath xmlns:m="http://schemas.openxmlformats.org/officeDocument/2006/math">
                      <m:r>
                        <a:rPr lang="es-SV" sz="2400" b="0" i="1">
                          <a:latin typeface="Cambria Math"/>
                        </a:rPr>
                        <m:t>𝑃</m:t>
                      </m:r>
                      <m:d>
                        <m:dPr>
                          <m:ctrlPr>
                            <a:rPr lang="es-SV" sz="2400" b="0" i="1">
                              <a:latin typeface="Cambria Math" panose="02040503050406030204" pitchFamily="18" charset="0"/>
                            </a:rPr>
                          </m:ctrlPr>
                        </m:dPr>
                        <m:e>
                          <m:r>
                            <a:rPr lang="es-SV" sz="2400" b="0" i="1">
                              <a:latin typeface="Cambria Math"/>
                            </a:rPr>
                            <m:t>𝑎</m:t>
                          </m:r>
                          <m:r>
                            <a:rPr lang="es-SV" sz="2400" b="0" i="1">
                              <a:latin typeface="Cambria Math"/>
                              <a:ea typeface="Cambria Math"/>
                            </a:rPr>
                            <m:t>≤</m:t>
                          </m:r>
                          <m:r>
                            <a:rPr lang="es-SV" sz="2400" b="0" i="1">
                              <a:latin typeface="Cambria Math"/>
                              <a:ea typeface="Cambria Math"/>
                            </a:rPr>
                            <m:t>𝑥</m:t>
                          </m:r>
                          <m:r>
                            <a:rPr lang="es-SV" sz="2400" b="0" i="1">
                              <a:latin typeface="Cambria Math"/>
                              <a:ea typeface="Cambria Math"/>
                            </a:rPr>
                            <m:t>≤</m:t>
                          </m:r>
                          <m:r>
                            <a:rPr lang="es-SV" sz="2400" b="0" i="1">
                              <a:latin typeface="Cambria Math"/>
                              <a:ea typeface="Cambria Math"/>
                            </a:rPr>
                            <m:t>𝑏</m:t>
                          </m:r>
                        </m:e>
                      </m:d>
                      <m:r>
                        <a:rPr lang="es-SV" sz="2400" b="0" i="1">
                          <a:latin typeface="Cambria Math"/>
                          <a:ea typeface="Cambria Math"/>
                        </a:rPr>
                        <m:t>=</m:t>
                      </m:r>
                      <m:r>
                        <a:rPr lang="es-SV" sz="2400" b="0" i="1">
                          <a:latin typeface="Cambria Math"/>
                          <a:ea typeface="Cambria Math"/>
                        </a:rPr>
                        <m:t>𝑃</m:t>
                      </m:r>
                      <m:d>
                        <m:dPr>
                          <m:ctrlPr>
                            <a:rPr lang="es-SV" sz="2400" b="0" i="1">
                              <a:latin typeface="Cambria Math" panose="02040503050406030204" pitchFamily="18" charset="0"/>
                              <a:ea typeface="Cambria Math"/>
                            </a:rPr>
                          </m:ctrlPr>
                        </m:dPr>
                        <m:e>
                          <m:f>
                            <m:fPr>
                              <m:ctrlPr>
                                <a:rPr lang="es-SV" sz="2400" b="0" i="1">
                                  <a:latin typeface="Cambria Math" panose="02040503050406030204" pitchFamily="18" charset="0"/>
                                  <a:ea typeface="Cambria Math"/>
                                </a:rPr>
                              </m:ctrlPr>
                            </m:fPr>
                            <m:num>
                              <m:r>
                                <a:rPr lang="es-SV" sz="2400" b="0" i="1">
                                  <a:latin typeface="Cambria Math"/>
                                  <a:ea typeface="Cambria Math"/>
                                </a:rPr>
                                <m:t>𝑎</m:t>
                              </m:r>
                              <m:r>
                                <a:rPr lang="es-SV" sz="2400" b="0" i="1">
                                  <a:latin typeface="Cambria Math"/>
                                  <a:ea typeface="Cambria Math"/>
                                </a:rPr>
                                <m:t>−</m:t>
                              </m:r>
                              <m:r>
                                <a:rPr lang="es-SV" sz="2400" b="0" i="1">
                                  <a:latin typeface="Cambria Math"/>
                                  <a:ea typeface="Cambria Math"/>
                                </a:rPr>
                                <m:t>𝜇</m:t>
                              </m:r>
                            </m:num>
                            <m:den>
                              <m:r>
                                <a:rPr lang="es-SV" sz="2400" b="0" i="1">
                                  <a:latin typeface="Cambria Math"/>
                                  <a:ea typeface="Cambria Math"/>
                                </a:rPr>
                                <m:t>𝜎</m:t>
                              </m:r>
                            </m:den>
                          </m:f>
                          <m:r>
                            <a:rPr lang="es-SV" sz="2400" b="0" i="1">
                              <a:latin typeface="Cambria Math"/>
                              <a:ea typeface="Cambria Math"/>
                            </a:rPr>
                            <m:t>≤</m:t>
                          </m:r>
                          <m:f>
                            <m:fPr>
                              <m:ctrlPr>
                                <a:rPr lang="es-SV" sz="2400" b="0" i="1">
                                  <a:latin typeface="Cambria Math" panose="02040503050406030204" pitchFamily="18" charset="0"/>
                                  <a:ea typeface="Cambria Math"/>
                                </a:rPr>
                              </m:ctrlPr>
                            </m:fPr>
                            <m:num>
                              <m:r>
                                <a:rPr lang="es-SV" sz="2400" b="0" i="1">
                                  <a:latin typeface="Cambria Math"/>
                                  <a:ea typeface="Cambria Math"/>
                                </a:rPr>
                                <m:t>𝑥</m:t>
                              </m:r>
                              <m:r>
                                <a:rPr lang="es-SV" sz="2400" b="0" i="1">
                                  <a:latin typeface="Cambria Math"/>
                                  <a:ea typeface="Cambria Math"/>
                                </a:rPr>
                                <m:t>−</m:t>
                              </m:r>
                              <m:r>
                                <a:rPr lang="es-SV" sz="2400" b="0" i="1">
                                  <a:latin typeface="Cambria Math"/>
                                  <a:ea typeface="Cambria Math"/>
                                </a:rPr>
                                <m:t>𝜇</m:t>
                              </m:r>
                            </m:num>
                            <m:den>
                              <m:r>
                                <a:rPr lang="es-SV" sz="2400" b="0" i="1">
                                  <a:latin typeface="Cambria Math"/>
                                  <a:ea typeface="Cambria Math"/>
                                </a:rPr>
                                <m:t>𝜎</m:t>
                              </m:r>
                            </m:den>
                          </m:f>
                          <m:r>
                            <a:rPr lang="es-SV" sz="2400" b="0" i="1">
                              <a:latin typeface="Cambria Math"/>
                              <a:ea typeface="Cambria Math"/>
                            </a:rPr>
                            <m:t>≤</m:t>
                          </m:r>
                          <m:f>
                            <m:fPr>
                              <m:ctrlPr>
                                <a:rPr lang="es-SV" sz="2400" b="0" i="1">
                                  <a:latin typeface="Cambria Math" panose="02040503050406030204" pitchFamily="18" charset="0"/>
                                  <a:ea typeface="Cambria Math"/>
                                </a:rPr>
                              </m:ctrlPr>
                            </m:fPr>
                            <m:num>
                              <m:r>
                                <a:rPr lang="es-SV" sz="2400" b="0" i="1">
                                  <a:latin typeface="Cambria Math"/>
                                  <a:ea typeface="Cambria Math"/>
                                </a:rPr>
                                <m:t>𝑏</m:t>
                              </m:r>
                              <m:r>
                                <a:rPr lang="es-SV" sz="2400" b="0" i="1">
                                  <a:latin typeface="Cambria Math"/>
                                  <a:ea typeface="Cambria Math"/>
                                </a:rPr>
                                <m:t>−</m:t>
                              </m:r>
                              <m:r>
                                <a:rPr lang="es-SV" sz="2400" b="0" i="1">
                                  <a:latin typeface="Cambria Math"/>
                                  <a:ea typeface="Cambria Math"/>
                                </a:rPr>
                                <m:t>𝜇</m:t>
                              </m:r>
                            </m:num>
                            <m:den>
                              <m:r>
                                <a:rPr lang="es-SV" sz="2400" b="0" i="1">
                                  <a:latin typeface="Cambria Math"/>
                                  <a:ea typeface="Cambria Math"/>
                                </a:rPr>
                                <m:t>𝜎</m:t>
                              </m:r>
                            </m:den>
                          </m:f>
                        </m:e>
                      </m:d>
                    </m:oMath>
                  </m:oMathPara>
                </a14:m>
                <a:endParaRPr lang="es-SV" sz="2400" b="0" dirty="0">
                  <a:ea typeface="Cambria Math"/>
                </a:endParaRPr>
              </a:p>
              <a:p>
                <a:pPr marL="82296" indent="0" algn="just">
                  <a:buNone/>
                </a:pPr>
                <a14:m>
                  <m:oMathPara xmlns:m="http://schemas.openxmlformats.org/officeDocument/2006/math">
                    <m:oMathParaPr>
                      <m:jc m:val="left"/>
                    </m:oMathParaPr>
                    <m:oMath xmlns:m="http://schemas.openxmlformats.org/officeDocument/2006/math">
                      <m:r>
                        <a:rPr lang="es-SV" sz="2400" i="1">
                          <a:latin typeface="Cambria Math"/>
                        </a:rPr>
                        <m:t>𝑃</m:t>
                      </m:r>
                      <m:d>
                        <m:dPr>
                          <m:ctrlPr>
                            <a:rPr lang="es-SV" sz="2400" i="1">
                              <a:latin typeface="Cambria Math" panose="02040503050406030204" pitchFamily="18" charset="0"/>
                            </a:rPr>
                          </m:ctrlPr>
                        </m:dPr>
                        <m:e>
                          <m:r>
                            <a:rPr lang="es-SV" sz="2400" i="1">
                              <a:latin typeface="Cambria Math"/>
                            </a:rPr>
                            <m:t>𝑎</m:t>
                          </m:r>
                          <m:r>
                            <a:rPr lang="es-SV" sz="2400" i="1">
                              <a:latin typeface="Cambria Math"/>
                              <a:ea typeface="Cambria Math"/>
                            </a:rPr>
                            <m:t>≤</m:t>
                          </m:r>
                          <m:r>
                            <a:rPr lang="es-SV" sz="2400" i="1">
                              <a:latin typeface="Cambria Math"/>
                              <a:ea typeface="Cambria Math"/>
                            </a:rPr>
                            <m:t>𝑥</m:t>
                          </m:r>
                          <m:r>
                            <a:rPr lang="es-SV" sz="2400" i="1">
                              <a:latin typeface="Cambria Math"/>
                              <a:ea typeface="Cambria Math"/>
                            </a:rPr>
                            <m:t>≤</m:t>
                          </m:r>
                          <m:r>
                            <a:rPr lang="es-SV" sz="2400" i="1">
                              <a:latin typeface="Cambria Math"/>
                              <a:ea typeface="Cambria Math"/>
                            </a:rPr>
                            <m:t>𝑏</m:t>
                          </m:r>
                        </m:e>
                      </m:d>
                      <m:r>
                        <a:rPr lang="es-SV" sz="2400" i="1">
                          <a:latin typeface="Cambria Math"/>
                          <a:ea typeface="Cambria Math"/>
                        </a:rPr>
                        <m:t>=</m:t>
                      </m:r>
                      <m:r>
                        <a:rPr lang="es-SV" sz="2400" i="1">
                          <a:latin typeface="Cambria Math"/>
                          <a:ea typeface="Cambria Math"/>
                        </a:rPr>
                        <m:t>𝑃</m:t>
                      </m:r>
                      <m:d>
                        <m:dPr>
                          <m:ctrlPr>
                            <a:rPr lang="es-SV" sz="2400" i="1">
                              <a:latin typeface="Cambria Math" panose="02040503050406030204" pitchFamily="18" charset="0"/>
                              <a:ea typeface="Cambria Math"/>
                            </a:rPr>
                          </m:ctrlPr>
                        </m:dPr>
                        <m:e>
                          <m:f>
                            <m:fPr>
                              <m:ctrlPr>
                                <a:rPr lang="es-SV" sz="2400" i="1">
                                  <a:latin typeface="Cambria Math" panose="02040503050406030204" pitchFamily="18" charset="0"/>
                                  <a:ea typeface="Cambria Math"/>
                                </a:rPr>
                              </m:ctrlPr>
                            </m:fPr>
                            <m:num>
                              <m:r>
                                <a:rPr lang="es-SV" sz="2400" i="1">
                                  <a:latin typeface="Cambria Math"/>
                                  <a:ea typeface="Cambria Math"/>
                                </a:rPr>
                                <m:t>𝑎</m:t>
                              </m:r>
                              <m:r>
                                <a:rPr lang="es-SV" sz="2400" i="1">
                                  <a:latin typeface="Cambria Math"/>
                                  <a:ea typeface="Cambria Math"/>
                                </a:rPr>
                                <m:t>−</m:t>
                              </m:r>
                              <m:r>
                                <a:rPr lang="es-SV" sz="2400" i="1">
                                  <a:latin typeface="Cambria Math"/>
                                  <a:ea typeface="Cambria Math"/>
                                </a:rPr>
                                <m:t>𝜇</m:t>
                              </m:r>
                            </m:num>
                            <m:den>
                              <m:r>
                                <a:rPr lang="es-SV" sz="2400" i="1">
                                  <a:latin typeface="Cambria Math"/>
                                  <a:ea typeface="Cambria Math"/>
                                </a:rPr>
                                <m:t>𝜎</m:t>
                              </m:r>
                            </m:den>
                          </m:f>
                          <m:r>
                            <a:rPr lang="es-SV" sz="2400" i="1">
                              <a:latin typeface="Cambria Math"/>
                              <a:ea typeface="Cambria Math"/>
                            </a:rPr>
                            <m:t>≤</m:t>
                          </m:r>
                          <m:r>
                            <a:rPr lang="es-SV" sz="2400" b="0" i="1">
                              <a:latin typeface="Cambria Math"/>
                              <a:ea typeface="Cambria Math"/>
                            </a:rPr>
                            <m:t>𝑧</m:t>
                          </m:r>
                          <m:r>
                            <a:rPr lang="es-SV" sz="2400" i="1">
                              <a:latin typeface="Cambria Math"/>
                              <a:ea typeface="Cambria Math"/>
                            </a:rPr>
                            <m:t>≤</m:t>
                          </m:r>
                          <m:f>
                            <m:fPr>
                              <m:ctrlPr>
                                <a:rPr lang="es-SV" sz="2400" i="1">
                                  <a:latin typeface="Cambria Math" panose="02040503050406030204" pitchFamily="18" charset="0"/>
                                  <a:ea typeface="Cambria Math"/>
                                </a:rPr>
                              </m:ctrlPr>
                            </m:fPr>
                            <m:num>
                              <m:r>
                                <a:rPr lang="es-SV" sz="2400" i="1">
                                  <a:latin typeface="Cambria Math"/>
                                  <a:ea typeface="Cambria Math"/>
                                </a:rPr>
                                <m:t>𝑏</m:t>
                              </m:r>
                              <m:r>
                                <a:rPr lang="es-SV" sz="2400" i="1">
                                  <a:latin typeface="Cambria Math"/>
                                  <a:ea typeface="Cambria Math"/>
                                </a:rPr>
                                <m:t>−</m:t>
                              </m:r>
                              <m:r>
                                <a:rPr lang="es-SV" sz="2400" i="1">
                                  <a:latin typeface="Cambria Math"/>
                                  <a:ea typeface="Cambria Math"/>
                                </a:rPr>
                                <m:t>𝜇</m:t>
                              </m:r>
                            </m:num>
                            <m:den>
                              <m:r>
                                <a:rPr lang="es-SV" sz="2400" i="1">
                                  <a:latin typeface="Cambria Math"/>
                                  <a:ea typeface="Cambria Math"/>
                                </a:rPr>
                                <m:t>𝜎</m:t>
                              </m:r>
                            </m:den>
                          </m:f>
                        </m:e>
                      </m:d>
                    </m:oMath>
                  </m:oMathPara>
                </a14:m>
                <a:endParaRPr lang="es-SV" sz="2400" dirty="0">
                  <a:ea typeface="Cambria Math"/>
                </a:endParaRPr>
              </a:p>
              <a:p>
                <a:pPr marL="82296" indent="0" algn="just">
                  <a:buNone/>
                </a:pPr>
                <a:endParaRPr lang="es-SV" sz="2400" b="0" dirty="0">
                  <a:ea typeface="Cambria Math"/>
                </a:endParaRPr>
              </a:p>
              <a:p>
                <a:pPr marL="82296" indent="0" algn="ctr">
                  <a:buNone/>
                </a:pPr>
                <a:endParaRPr lang="es-SV" sz="1400" dirty="0"/>
              </a:p>
              <a:p>
                <a:pPr marL="82296" indent="0" algn="ctr">
                  <a:buNone/>
                </a:pPr>
                <a:endParaRPr lang="es-SV" sz="1400" dirty="0"/>
              </a:p>
              <a:p>
                <a:pPr marL="82296" indent="0" algn="ctr">
                  <a:buNone/>
                </a:pPr>
                <a:endParaRPr lang="es-SV" sz="1400" dirty="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899592" y="1268760"/>
                <a:ext cx="6740271" cy="4307522"/>
              </a:xfrm>
              <a:blipFill>
                <a:blip r:embed="rId3"/>
                <a:stretch>
                  <a:fillRect l="-181" t="-1980" r="-1448"/>
                </a:stretch>
              </a:blipFill>
            </p:spPr>
            <p:txBody>
              <a:bodyPr/>
              <a:lstStyle/>
              <a:p>
                <a:r>
                  <a:rPr lang="es-SV">
                    <a:noFill/>
                  </a:rPr>
                  <a:t> </a:t>
                </a:r>
              </a:p>
            </p:txBody>
          </p:sp>
        </mc:Fallback>
      </mc:AlternateContent>
    </p:spTree>
    <p:extLst>
      <p:ext uri="{BB962C8B-B14F-4D97-AF65-F5344CB8AC3E}">
        <p14:creationId xmlns:p14="http://schemas.microsoft.com/office/powerpoint/2010/main" val="2634252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Rectangle 32">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350041" y="586855"/>
            <a:ext cx="2401025" cy="3387497"/>
          </a:xfrm>
        </p:spPr>
        <p:txBody>
          <a:bodyPr anchor="b">
            <a:normAutofit/>
          </a:bodyPr>
          <a:lstStyle/>
          <a:p>
            <a:pPr algn="r"/>
            <a:r>
              <a:rPr lang="es-SV" sz="3500">
                <a:solidFill>
                  <a:srgbClr val="FFFFFF"/>
                </a:solidFill>
              </a:rPr>
              <a:t>Problema sobre distribución normal</a:t>
            </a:r>
          </a:p>
        </p:txBody>
      </p:sp>
      <p:sp>
        <p:nvSpPr>
          <p:cNvPr id="3" name="Marcador de contenido 2"/>
          <p:cNvSpPr>
            <a:spLocks noGrp="1"/>
          </p:cNvSpPr>
          <p:nvPr>
            <p:ph idx="1"/>
          </p:nvPr>
        </p:nvSpPr>
        <p:spPr>
          <a:xfrm>
            <a:off x="3101107" y="649480"/>
            <a:ext cx="5692852" cy="6198382"/>
          </a:xfrm>
        </p:spPr>
        <p:txBody>
          <a:bodyPr anchor="ctr">
            <a:normAutofit fontScale="92500" lnSpcReduction="20000"/>
          </a:bodyPr>
          <a:lstStyle/>
          <a:p>
            <a:pPr marL="0" indent="0">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s-ES" sz="13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s-ES" sz="1300" dirty="0">
              <a:latin typeface="Arial" panose="020B0604020202020204" pitchFamily="34" charset="0"/>
              <a:ea typeface="Times New Roman" panose="02020603050405020304" pitchFamily="18" charset="0"/>
              <a:cs typeface="Times New Roman" panose="02020603050405020304" pitchFamily="18" charset="0"/>
            </a:endParaRPr>
          </a:p>
          <a:p>
            <a:pPr marL="0" indent="0">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s-ES" sz="13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900" dirty="0">
                <a:effectLst/>
                <a:latin typeface="Arial" panose="020B0604020202020204" pitchFamily="34" charset="0"/>
                <a:ea typeface="Times New Roman" panose="02020603050405020304" pitchFamily="18" charset="0"/>
                <a:cs typeface="Times New Roman" panose="02020603050405020304" pitchFamily="18" charset="0"/>
              </a:rPr>
              <a:t>La incertidumbre de la demanda, particularmente en la industria de la moda es  rápida y una preocupación importante. Por este motivo, Carol Wilson ha decidido echar un vistazo más de cerca a la distribución de la demanda de varios artículos que manufactura en su empresa.</a:t>
            </a:r>
            <a:endParaRPr lang="es-SV" sz="19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900" dirty="0">
                <a:effectLst/>
                <a:latin typeface="Arial" panose="020B0604020202020204" pitchFamily="34" charset="0"/>
                <a:ea typeface="Times New Roman" panose="02020603050405020304" pitchFamily="18" charset="0"/>
                <a:cs typeface="Times New Roman" panose="02020603050405020304" pitchFamily="18" charset="0"/>
              </a:rPr>
              <a:t>Te ha pedido que analices la demanda de uno de los jeans básicos de la compañía, los "jeans rectos de corte regular" (SKU J97204X). La demanda semanal de este artículo se encuentra distribuida normalmente, con una media de 70 unidades y una desviación estándar de 24 unidades. (Tenga en cuenta que este SKU no está en el conjunto de datos en donde se definieron dichos </a:t>
            </a:r>
            <a:r>
              <a:rPr lang="es-ES" sz="1900" dirty="0" err="1">
                <a:effectLst/>
                <a:latin typeface="Arial" panose="020B0604020202020204" pitchFamily="34" charset="0"/>
                <a:ea typeface="Times New Roman" panose="02020603050405020304" pitchFamily="18" charset="0"/>
                <a:cs typeface="Times New Roman" panose="02020603050405020304" pitchFamily="18" charset="0"/>
              </a:rPr>
              <a:t>parametros</a:t>
            </a:r>
            <a:r>
              <a:rPr lang="es-ES" sz="1900" dirty="0">
                <a:effectLst/>
                <a:latin typeface="Arial" panose="020B0604020202020204" pitchFamily="34" charset="0"/>
                <a:ea typeface="Times New Roman" panose="02020603050405020304" pitchFamily="18" charset="0"/>
                <a:cs typeface="Times New Roman" panose="02020603050405020304" pitchFamily="18" charset="0"/>
              </a:rPr>
              <a:t>).</a:t>
            </a:r>
            <a:endParaRPr lang="es-SV" sz="19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900" dirty="0">
                <a:effectLst/>
                <a:latin typeface="Arial" panose="020B0604020202020204" pitchFamily="34" charset="0"/>
                <a:ea typeface="Times New Roman" panose="02020603050405020304" pitchFamily="18" charset="0"/>
                <a:cs typeface="Times New Roman" panose="02020603050405020304" pitchFamily="18" charset="0"/>
              </a:rPr>
              <a:t>Si almacenó 84 unidades de “jeans rectos de corte regular” (SKU J97204X) para la semana 1, ¿cuál es la probabilidad de que la demanda durante la semana 1 exceda el nivel de existencias? </a:t>
            </a:r>
          </a:p>
          <a:p>
            <a:pPr algn="just">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s-ES" sz="1900" dirty="0">
                <a:effectLst/>
                <a:latin typeface="Arial" panose="020B0604020202020204" pitchFamily="34" charset="0"/>
                <a:ea typeface="Times New Roman" panose="02020603050405020304" pitchFamily="18" charset="0"/>
                <a:cs typeface="Times New Roman" panose="02020603050405020304" pitchFamily="18" charset="0"/>
              </a:rPr>
              <a:t>¿Cuántos “jeans rectos de corte regular” (SKU J97204X) necesita tener en stock para reducir la probabilidad de que la demanda exceda el nivel de existencias al 12.0%?</a:t>
            </a:r>
            <a:endParaRPr lang="es-SV" sz="19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s-ES" sz="13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s-SV" sz="13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s-SV" sz="1300" dirty="0"/>
          </a:p>
        </p:txBody>
      </p:sp>
    </p:spTree>
    <p:extLst>
      <p:ext uri="{BB962C8B-B14F-4D97-AF65-F5344CB8AC3E}">
        <p14:creationId xmlns:p14="http://schemas.microsoft.com/office/powerpoint/2010/main" val="19005837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092810" y="640080"/>
            <a:ext cx="3568844" cy="3566160"/>
          </a:xfrm>
        </p:spPr>
        <p:txBody>
          <a:bodyPr vert="horz" lIns="91440" tIns="45720" rIns="91440" bIns="45720" rtlCol="0" anchor="b">
            <a:normAutofit/>
          </a:bodyPr>
          <a:lstStyle/>
          <a:p>
            <a:pPr defTabSz="914400"/>
            <a:r>
              <a:rPr lang="en-US" sz="3600"/>
              <a:t>APLICACIONES EN EL MUNDO DE LOS NEGOCIOS</a:t>
            </a:r>
            <a:br>
              <a:rPr lang="en-US" sz="3600"/>
            </a:br>
            <a:br>
              <a:rPr lang="en-US" sz="3600"/>
            </a:br>
            <a:br>
              <a:rPr lang="en-US" sz="3600"/>
            </a:br>
            <a:endParaRPr lang="en-US" sz="3600"/>
          </a:p>
        </p:txBody>
      </p:sp>
      <p:pic>
        <p:nvPicPr>
          <p:cNvPr id="4" name="Picture 3" descr="Esfera con una red de nodos conectados">
            <a:extLst>
              <a:ext uri="{FF2B5EF4-FFF2-40B4-BE49-F238E27FC236}">
                <a16:creationId xmlns:a16="http://schemas.microsoft.com/office/drawing/2014/main" id="{B299E3D5-A577-4A84-8F94-C9C25D5F9742}"/>
              </a:ext>
            </a:extLst>
          </p:cNvPr>
          <p:cNvPicPr>
            <a:picLocks noChangeAspect="1"/>
          </p:cNvPicPr>
          <p:nvPr/>
        </p:nvPicPr>
        <p:blipFill rotWithShape="1">
          <a:blip r:embed="rId3"/>
          <a:srcRect l="40444" r="9456"/>
          <a:stretch/>
        </p:blipFill>
        <p:spPr>
          <a:xfrm>
            <a:off x="20" y="10"/>
            <a:ext cx="4581100" cy="6857990"/>
          </a:xfrm>
          <a:custGeom>
            <a:avLst/>
            <a:gdLst/>
            <a:ahLst/>
            <a:cxnLst/>
            <a:rect l="l" t="t" r="r" b="b"/>
            <a:pathLst>
              <a:path w="6108161" h="6858000">
                <a:moveTo>
                  <a:pt x="0" y="0"/>
                </a:moveTo>
                <a:lnTo>
                  <a:pt x="2058355" y="0"/>
                </a:lnTo>
                <a:lnTo>
                  <a:pt x="3299791" y="0"/>
                </a:lnTo>
                <a:lnTo>
                  <a:pt x="6076880" y="0"/>
                </a:lnTo>
                <a:lnTo>
                  <a:pt x="6078171" y="10931"/>
                </a:lnTo>
                <a:cubicBezTo>
                  <a:pt x="6093300" y="94836"/>
                  <a:pt x="6090630" y="179884"/>
                  <a:pt x="6094698" y="264297"/>
                </a:cubicBezTo>
                <a:cubicBezTo>
                  <a:pt x="6099656" y="367652"/>
                  <a:pt x="6093427" y="471135"/>
                  <a:pt x="6091266" y="574617"/>
                </a:cubicBezTo>
                <a:cubicBezTo>
                  <a:pt x="6089359" y="662717"/>
                  <a:pt x="6080587" y="750690"/>
                  <a:pt x="6083384" y="838916"/>
                </a:cubicBezTo>
                <a:cubicBezTo>
                  <a:pt x="6083384" y="841968"/>
                  <a:pt x="6083384" y="845019"/>
                  <a:pt x="6083384" y="848070"/>
                </a:cubicBezTo>
                <a:cubicBezTo>
                  <a:pt x="6075375" y="945068"/>
                  <a:pt x="6075375" y="1042576"/>
                  <a:pt x="6083384" y="1139574"/>
                </a:cubicBezTo>
                <a:cubicBezTo>
                  <a:pt x="6085964" y="1179950"/>
                  <a:pt x="6085240" y="1220466"/>
                  <a:pt x="6081223" y="1260728"/>
                </a:cubicBezTo>
                <a:cubicBezTo>
                  <a:pt x="6077409" y="1311960"/>
                  <a:pt x="6065204" y="1364083"/>
                  <a:pt x="6073976" y="1414934"/>
                </a:cubicBezTo>
                <a:cubicBezTo>
                  <a:pt x="6079722" y="1456784"/>
                  <a:pt x="6082913" y="1498940"/>
                  <a:pt x="6083511" y="1541172"/>
                </a:cubicBezTo>
                <a:cubicBezTo>
                  <a:pt x="6087833" y="1635755"/>
                  <a:pt x="6083638" y="1730847"/>
                  <a:pt x="6082112" y="1825685"/>
                </a:cubicBezTo>
                <a:cubicBezTo>
                  <a:pt x="6080205" y="1936286"/>
                  <a:pt x="6083002" y="2046634"/>
                  <a:pt x="6074103" y="2157235"/>
                </a:cubicBezTo>
                <a:cubicBezTo>
                  <a:pt x="6069145" y="2246581"/>
                  <a:pt x="6069145" y="2336130"/>
                  <a:pt x="6074103" y="2425476"/>
                </a:cubicBezTo>
                <a:cubicBezTo>
                  <a:pt x="6076519" y="2507473"/>
                  <a:pt x="6088850" y="2588454"/>
                  <a:pt x="6086816" y="2671214"/>
                </a:cubicBezTo>
                <a:cubicBezTo>
                  <a:pt x="6084401" y="2767832"/>
                  <a:pt x="6072959" y="2863940"/>
                  <a:pt x="6076519" y="2960685"/>
                </a:cubicBezTo>
                <a:cubicBezTo>
                  <a:pt x="6078171" y="3006832"/>
                  <a:pt x="6078299" y="3052980"/>
                  <a:pt x="6079316" y="3099127"/>
                </a:cubicBezTo>
                <a:cubicBezTo>
                  <a:pt x="6080333" y="3154682"/>
                  <a:pt x="6090376" y="3210110"/>
                  <a:pt x="6084782" y="3265665"/>
                </a:cubicBezTo>
                <a:cubicBezTo>
                  <a:pt x="6075502" y="3358087"/>
                  <a:pt x="6051475" y="3448857"/>
                  <a:pt x="6066476" y="3543567"/>
                </a:cubicBezTo>
                <a:cubicBezTo>
                  <a:pt x="6074739" y="3595690"/>
                  <a:pt x="6084146" y="3647940"/>
                  <a:pt x="6088850" y="3700571"/>
                </a:cubicBezTo>
                <a:cubicBezTo>
                  <a:pt x="6093045" y="3747608"/>
                  <a:pt x="6103724" y="3795408"/>
                  <a:pt x="6095588" y="3842191"/>
                </a:cubicBezTo>
                <a:cubicBezTo>
                  <a:pt x="6088723" y="3882237"/>
                  <a:pt x="6092410" y="3922282"/>
                  <a:pt x="6087070" y="3962327"/>
                </a:cubicBezTo>
                <a:cubicBezTo>
                  <a:pt x="6080078" y="4014831"/>
                  <a:pt x="6076265" y="4068352"/>
                  <a:pt x="6071052" y="4121111"/>
                </a:cubicBezTo>
                <a:cubicBezTo>
                  <a:pt x="6066221" y="4169038"/>
                  <a:pt x="6062662" y="4216838"/>
                  <a:pt x="6075375" y="4261841"/>
                </a:cubicBezTo>
                <a:cubicBezTo>
                  <a:pt x="6106394" y="4375112"/>
                  <a:pt x="6089359" y="4487748"/>
                  <a:pt x="6077663" y="4600257"/>
                </a:cubicBezTo>
                <a:cubicBezTo>
                  <a:pt x="6071942" y="4655049"/>
                  <a:pt x="6063552" y="4712765"/>
                  <a:pt x="6076265" y="4762853"/>
                </a:cubicBezTo>
                <a:cubicBezTo>
                  <a:pt x="6099783" y="4851716"/>
                  <a:pt x="6081350" y="4936764"/>
                  <a:pt x="6071179" y="5021432"/>
                </a:cubicBezTo>
                <a:cubicBezTo>
                  <a:pt x="6061009" y="5106099"/>
                  <a:pt x="6058594" y="5189495"/>
                  <a:pt x="6076392" y="5272637"/>
                </a:cubicBezTo>
                <a:cubicBezTo>
                  <a:pt x="6088850" y="5331116"/>
                  <a:pt x="6088850" y="5390612"/>
                  <a:pt x="6090376" y="5449600"/>
                </a:cubicBezTo>
                <a:cubicBezTo>
                  <a:pt x="6091266" y="5486339"/>
                  <a:pt x="6077663" y="5523842"/>
                  <a:pt x="6068637" y="5560582"/>
                </a:cubicBezTo>
                <a:cubicBezTo>
                  <a:pt x="6052364" y="5626943"/>
                  <a:pt x="6046517" y="5694321"/>
                  <a:pt x="6068637" y="5759029"/>
                </a:cubicBezTo>
                <a:cubicBezTo>
                  <a:pt x="6099148" y="5848655"/>
                  <a:pt x="6116691" y="5938407"/>
                  <a:pt x="6103978" y="6033117"/>
                </a:cubicBezTo>
                <a:cubicBezTo>
                  <a:pt x="6096732" y="6091724"/>
                  <a:pt x="6094952" y="6151347"/>
                  <a:pt x="6084019" y="6209190"/>
                </a:cubicBezTo>
                <a:cubicBezTo>
                  <a:pt x="6065713" y="6304790"/>
                  <a:pt x="6072196" y="6399882"/>
                  <a:pt x="6086816" y="6494211"/>
                </a:cubicBezTo>
                <a:cubicBezTo>
                  <a:pt x="6096897" y="6573081"/>
                  <a:pt x="6097965" y="6652829"/>
                  <a:pt x="6089994" y="6731941"/>
                </a:cubicBezTo>
                <a:lnTo>
                  <a:pt x="6081268" y="6858000"/>
                </a:lnTo>
                <a:lnTo>
                  <a:pt x="3299791" y="6858000"/>
                </a:lnTo>
                <a:lnTo>
                  <a:pt x="2058355" y="6858000"/>
                </a:lnTo>
                <a:lnTo>
                  <a:pt x="0" y="6858000"/>
                </a:lnTo>
                <a:close/>
              </a:path>
            </a:pathLst>
          </a:custGeom>
        </p:spPr>
      </p:pic>
      <p:sp>
        <p:nvSpPr>
          <p:cNvPr id="10" name="sketchy line">
            <a:extLst>
              <a:ext uri="{FF2B5EF4-FFF2-40B4-BE49-F238E27FC236}">
                <a16:creationId xmlns:a16="http://schemas.microsoft.com/office/drawing/2014/main" id="{82580482-BA80-420A-8A05-C58E97F2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00856" y="4409267"/>
            <a:ext cx="3182112" cy="18288"/>
          </a:xfrm>
          <a:custGeom>
            <a:avLst/>
            <a:gdLst>
              <a:gd name="csX0" fmla="*/ 0 w 3182112"/>
              <a:gd name="csY0" fmla="*/ 0 h 18288"/>
              <a:gd name="csX1" fmla="*/ 636422 w 3182112"/>
              <a:gd name="csY1" fmla="*/ 0 h 18288"/>
              <a:gd name="csX2" fmla="*/ 1241024 w 3182112"/>
              <a:gd name="csY2" fmla="*/ 0 h 18288"/>
              <a:gd name="csX3" fmla="*/ 1845625 w 3182112"/>
              <a:gd name="csY3" fmla="*/ 0 h 18288"/>
              <a:gd name="csX4" fmla="*/ 2545690 w 3182112"/>
              <a:gd name="csY4" fmla="*/ 0 h 18288"/>
              <a:gd name="csX5" fmla="*/ 3182112 w 3182112"/>
              <a:gd name="csY5" fmla="*/ 0 h 18288"/>
              <a:gd name="csX6" fmla="*/ 3182112 w 3182112"/>
              <a:gd name="csY6" fmla="*/ 18288 h 18288"/>
              <a:gd name="csX7" fmla="*/ 2545690 w 3182112"/>
              <a:gd name="csY7" fmla="*/ 18288 h 18288"/>
              <a:gd name="csX8" fmla="*/ 2004731 w 3182112"/>
              <a:gd name="csY8" fmla="*/ 18288 h 18288"/>
              <a:gd name="csX9" fmla="*/ 1400129 w 3182112"/>
              <a:gd name="csY9" fmla="*/ 18288 h 18288"/>
              <a:gd name="csX10" fmla="*/ 795528 w 3182112"/>
              <a:gd name="csY10" fmla="*/ 18288 h 18288"/>
              <a:gd name="csX11" fmla="*/ 0 w 3182112"/>
              <a:gd name="csY11" fmla="*/ 18288 h 18288"/>
              <a:gd name="csX12" fmla="*/ 0 w 3182112"/>
              <a:gd name="csY12" fmla="*/ 0 h 18288"/>
              <a:gd name="csX0" fmla="*/ 0 w 3182112"/>
              <a:gd name="csY0" fmla="*/ 0 h 18288"/>
              <a:gd name="csX1" fmla="*/ 572780 w 3182112"/>
              <a:gd name="csY1" fmla="*/ 0 h 18288"/>
              <a:gd name="csX2" fmla="*/ 1272845 w 3182112"/>
              <a:gd name="csY2" fmla="*/ 0 h 18288"/>
              <a:gd name="csX3" fmla="*/ 1813804 w 3182112"/>
              <a:gd name="csY3" fmla="*/ 0 h 18288"/>
              <a:gd name="csX4" fmla="*/ 2354763 w 3182112"/>
              <a:gd name="csY4" fmla="*/ 0 h 18288"/>
              <a:gd name="csX5" fmla="*/ 3182112 w 3182112"/>
              <a:gd name="csY5" fmla="*/ 0 h 18288"/>
              <a:gd name="csX6" fmla="*/ 3182112 w 3182112"/>
              <a:gd name="csY6" fmla="*/ 18288 h 18288"/>
              <a:gd name="csX7" fmla="*/ 2577511 w 3182112"/>
              <a:gd name="csY7" fmla="*/ 18288 h 18288"/>
              <a:gd name="csX8" fmla="*/ 1972909 w 3182112"/>
              <a:gd name="csY8" fmla="*/ 18288 h 18288"/>
              <a:gd name="csX9" fmla="*/ 1368308 w 3182112"/>
              <a:gd name="csY9" fmla="*/ 18288 h 18288"/>
              <a:gd name="csX10" fmla="*/ 668244 w 3182112"/>
              <a:gd name="csY10" fmla="*/ 18288 h 18288"/>
              <a:gd name="csX11" fmla="*/ 0 w 3182112"/>
              <a:gd name="csY11" fmla="*/ 18288 h 18288"/>
              <a:gd name="csX12" fmla="*/ 0 w 3182112"/>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182112" h="18288" fill="none" extrusionOk="0">
                <a:moveTo>
                  <a:pt x="0" y="0"/>
                </a:moveTo>
                <a:cubicBezTo>
                  <a:pt x="167097" y="-35215"/>
                  <a:pt x="386995" y="-47353"/>
                  <a:pt x="636422" y="0"/>
                </a:cubicBezTo>
                <a:cubicBezTo>
                  <a:pt x="915721" y="14911"/>
                  <a:pt x="978814" y="-9181"/>
                  <a:pt x="1241024" y="0"/>
                </a:cubicBezTo>
                <a:cubicBezTo>
                  <a:pt x="1523940" y="31894"/>
                  <a:pt x="1606328" y="-11705"/>
                  <a:pt x="1845625" y="0"/>
                </a:cubicBezTo>
                <a:cubicBezTo>
                  <a:pt x="2102898" y="-3011"/>
                  <a:pt x="2397984" y="13955"/>
                  <a:pt x="2545690" y="0"/>
                </a:cubicBezTo>
                <a:cubicBezTo>
                  <a:pt x="2705364" y="3313"/>
                  <a:pt x="2935432" y="4386"/>
                  <a:pt x="3182112" y="0"/>
                </a:cubicBezTo>
                <a:cubicBezTo>
                  <a:pt x="3181470" y="7828"/>
                  <a:pt x="3181789" y="10025"/>
                  <a:pt x="3182112" y="18288"/>
                </a:cubicBezTo>
                <a:cubicBezTo>
                  <a:pt x="2885361" y="29807"/>
                  <a:pt x="2846304" y="22960"/>
                  <a:pt x="2545690" y="18288"/>
                </a:cubicBezTo>
                <a:cubicBezTo>
                  <a:pt x="2296262" y="32454"/>
                  <a:pt x="2267101" y="-2532"/>
                  <a:pt x="2004731" y="18288"/>
                </a:cubicBezTo>
                <a:cubicBezTo>
                  <a:pt x="1806517" y="20412"/>
                  <a:pt x="1671861" y="-28431"/>
                  <a:pt x="1400129" y="18288"/>
                </a:cubicBezTo>
                <a:cubicBezTo>
                  <a:pt x="1147502" y="47781"/>
                  <a:pt x="1063563" y="20586"/>
                  <a:pt x="795528" y="18288"/>
                </a:cubicBezTo>
                <a:cubicBezTo>
                  <a:pt x="531348" y="19059"/>
                  <a:pt x="307978" y="738"/>
                  <a:pt x="0" y="18288"/>
                </a:cubicBezTo>
                <a:cubicBezTo>
                  <a:pt x="222" y="11591"/>
                  <a:pt x="-26" y="3279"/>
                  <a:pt x="0" y="0"/>
                </a:cubicBezTo>
                <a:close/>
              </a:path>
              <a:path w="3182112" h="18288" stroke="0" extrusionOk="0">
                <a:moveTo>
                  <a:pt x="0" y="0"/>
                </a:moveTo>
                <a:cubicBezTo>
                  <a:pt x="224974" y="-3076"/>
                  <a:pt x="336129" y="12250"/>
                  <a:pt x="572780" y="0"/>
                </a:cubicBezTo>
                <a:cubicBezTo>
                  <a:pt x="802270" y="-6413"/>
                  <a:pt x="1081077" y="-35613"/>
                  <a:pt x="1272845" y="0"/>
                </a:cubicBezTo>
                <a:cubicBezTo>
                  <a:pt x="1483194" y="13818"/>
                  <a:pt x="1709890" y="10279"/>
                  <a:pt x="1813804" y="0"/>
                </a:cubicBezTo>
                <a:cubicBezTo>
                  <a:pt x="1932692" y="-21191"/>
                  <a:pt x="2099661" y="51120"/>
                  <a:pt x="2354763" y="0"/>
                </a:cubicBezTo>
                <a:cubicBezTo>
                  <a:pt x="2613656" y="-59585"/>
                  <a:pt x="2864372" y="-2700"/>
                  <a:pt x="3182112" y="0"/>
                </a:cubicBezTo>
                <a:cubicBezTo>
                  <a:pt x="3182760" y="4436"/>
                  <a:pt x="3182087" y="11325"/>
                  <a:pt x="3182112" y="18288"/>
                </a:cubicBezTo>
                <a:cubicBezTo>
                  <a:pt x="2942487" y="15072"/>
                  <a:pt x="2716398" y="15122"/>
                  <a:pt x="2577511" y="18288"/>
                </a:cubicBezTo>
                <a:cubicBezTo>
                  <a:pt x="2427349" y="9546"/>
                  <a:pt x="2116759" y="23913"/>
                  <a:pt x="1972909" y="18288"/>
                </a:cubicBezTo>
                <a:cubicBezTo>
                  <a:pt x="1839235" y="-6881"/>
                  <a:pt x="1610337" y="-8822"/>
                  <a:pt x="1368308" y="18288"/>
                </a:cubicBezTo>
                <a:cubicBezTo>
                  <a:pt x="1126976" y="-6301"/>
                  <a:pt x="974871" y="-298"/>
                  <a:pt x="668244" y="18288"/>
                </a:cubicBezTo>
                <a:cubicBezTo>
                  <a:pt x="348457" y="18152"/>
                  <a:pt x="256623" y="10126"/>
                  <a:pt x="0" y="18288"/>
                </a:cubicBezTo>
                <a:cubicBezTo>
                  <a:pt x="-163" y="14471"/>
                  <a:pt x="-775" y="4083"/>
                  <a:pt x="0" y="0"/>
                </a:cubicBezTo>
                <a:close/>
              </a:path>
              <a:path w="3182112" h="18288" fill="none" stroke="0" extrusionOk="0">
                <a:moveTo>
                  <a:pt x="0" y="0"/>
                </a:moveTo>
                <a:cubicBezTo>
                  <a:pt x="172613" y="-24909"/>
                  <a:pt x="357564" y="-7371"/>
                  <a:pt x="636422" y="0"/>
                </a:cubicBezTo>
                <a:cubicBezTo>
                  <a:pt x="914248" y="21219"/>
                  <a:pt x="954289" y="-16703"/>
                  <a:pt x="1241024" y="0"/>
                </a:cubicBezTo>
                <a:cubicBezTo>
                  <a:pt x="1510135" y="4876"/>
                  <a:pt x="1604042" y="8738"/>
                  <a:pt x="1845625" y="0"/>
                </a:cubicBezTo>
                <a:cubicBezTo>
                  <a:pt x="2080119" y="20374"/>
                  <a:pt x="2361338" y="20926"/>
                  <a:pt x="2545690" y="0"/>
                </a:cubicBezTo>
                <a:cubicBezTo>
                  <a:pt x="2688348" y="-15245"/>
                  <a:pt x="2879596" y="10087"/>
                  <a:pt x="3182112" y="0"/>
                </a:cubicBezTo>
                <a:cubicBezTo>
                  <a:pt x="3182086" y="7514"/>
                  <a:pt x="3181581" y="9795"/>
                  <a:pt x="3182112" y="18288"/>
                </a:cubicBezTo>
                <a:cubicBezTo>
                  <a:pt x="2874389" y="40084"/>
                  <a:pt x="2836312" y="17807"/>
                  <a:pt x="2545690" y="18288"/>
                </a:cubicBezTo>
                <a:cubicBezTo>
                  <a:pt x="2277674" y="-8094"/>
                  <a:pt x="2165305" y="22724"/>
                  <a:pt x="2004731" y="18288"/>
                </a:cubicBezTo>
                <a:cubicBezTo>
                  <a:pt x="1902847" y="2684"/>
                  <a:pt x="1683658" y="-5219"/>
                  <a:pt x="1400129" y="18288"/>
                </a:cubicBezTo>
                <a:cubicBezTo>
                  <a:pt x="1159937" y="27236"/>
                  <a:pt x="1072890" y="15738"/>
                  <a:pt x="795528" y="18288"/>
                </a:cubicBezTo>
                <a:cubicBezTo>
                  <a:pt x="525743" y="26738"/>
                  <a:pt x="338536" y="-12609"/>
                  <a:pt x="0" y="18288"/>
                </a:cubicBezTo>
                <a:cubicBezTo>
                  <a:pt x="-288" y="12007"/>
                  <a:pt x="-714" y="419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custGeom>
                    <a:avLst/>
                    <a:gdLst>
                      <a:gd name="connsiteX0" fmla="*/ 0 w 3182112"/>
                      <a:gd name="connsiteY0" fmla="*/ 0 h 18288"/>
                      <a:gd name="connsiteX1" fmla="*/ 636422 w 3182112"/>
                      <a:gd name="connsiteY1" fmla="*/ 0 h 18288"/>
                      <a:gd name="connsiteX2" fmla="*/ 1241024 w 3182112"/>
                      <a:gd name="connsiteY2" fmla="*/ 0 h 18288"/>
                      <a:gd name="connsiteX3" fmla="*/ 1845625 w 3182112"/>
                      <a:gd name="connsiteY3" fmla="*/ 0 h 18288"/>
                      <a:gd name="connsiteX4" fmla="*/ 2545690 w 3182112"/>
                      <a:gd name="connsiteY4" fmla="*/ 0 h 18288"/>
                      <a:gd name="connsiteX5" fmla="*/ 3182112 w 3182112"/>
                      <a:gd name="connsiteY5" fmla="*/ 0 h 18288"/>
                      <a:gd name="connsiteX6" fmla="*/ 3182112 w 3182112"/>
                      <a:gd name="connsiteY6" fmla="*/ 18288 h 18288"/>
                      <a:gd name="connsiteX7" fmla="*/ 2545690 w 3182112"/>
                      <a:gd name="connsiteY7" fmla="*/ 18288 h 18288"/>
                      <a:gd name="connsiteX8" fmla="*/ 2004731 w 3182112"/>
                      <a:gd name="connsiteY8" fmla="*/ 18288 h 18288"/>
                      <a:gd name="connsiteX9" fmla="*/ 1400129 w 3182112"/>
                      <a:gd name="connsiteY9" fmla="*/ 18288 h 18288"/>
                      <a:gd name="connsiteX10" fmla="*/ 795528 w 3182112"/>
                      <a:gd name="connsiteY10" fmla="*/ 18288 h 18288"/>
                      <a:gd name="connsiteX11" fmla="*/ 0 w 3182112"/>
                      <a:gd name="connsiteY11" fmla="*/ 18288 h 18288"/>
                      <a:gd name="connsiteX12" fmla="*/ 0 w 318211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112" h="18288" fill="none" extrusionOk="0">
                        <a:moveTo>
                          <a:pt x="0" y="0"/>
                        </a:moveTo>
                        <a:cubicBezTo>
                          <a:pt x="149227" y="9811"/>
                          <a:pt x="361579" y="-25608"/>
                          <a:pt x="636422" y="0"/>
                        </a:cubicBezTo>
                        <a:cubicBezTo>
                          <a:pt x="911265" y="25608"/>
                          <a:pt x="969922" y="-15588"/>
                          <a:pt x="1241024" y="0"/>
                        </a:cubicBezTo>
                        <a:cubicBezTo>
                          <a:pt x="1512126" y="15588"/>
                          <a:pt x="1611937" y="-6343"/>
                          <a:pt x="1845625" y="0"/>
                        </a:cubicBezTo>
                        <a:cubicBezTo>
                          <a:pt x="2079313" y="6343"/>
                          <a:pt x="2390997" y="18445"/>
                          <a:pt x="2545690" y="0"/>
                        </a:cubicBezTo>
                        <a:cubicBezTo>
                          <a:pt x="2700383" y="-18445"/>
                          <a:pt x="2898553" y="-25854"/>
                          <a:pt x="3182112" y="0"/>
                        </a:cubicBezTo>
                        <a:cubicBezTo>
                          <a:pt x="3181678" y="7551"/>
                          <a:pt x="3181645" y="9822"/>
                          <a:pt x="3182112" y="18288"/>
                        </a:cubicBezTo>
                        <a:cubicBezTo>
                          <a:pt x="2882016" y="32512"/>
                          <a:pt x="2839678" y="15853"/>
                          <a:pt x="2545690" y="18288"/>
                        </a:cubicBezTo>
                        <a:cubicBezTo>
                          <a:pt x="2251702" y="20723"/>
                          <a:pt x="2152589" y="14997"/>
                          <a:pt x="2004731" y="18288"/>
                        </a:cubicBezTo>
                        <a:cubicBezTo>
                          <a:pt x="1856873" y="21579"/>
                          <a:pt x="1653555" y="5080"/>
                          <a:pt x="1400129" y="18288"/>
                        </a:cubicBezTo>
                        <a:cubicBezTo>
                          <a:pt x="1146703" y="31496"/>
                          <a:pt x="1067656" y="18189"/>
                          <a:pt x="795528" y="18288"/>
                        </a:cubicBezTo>
                        <a:cubicBezTo>
                          <a:pt x="523400" y="18387"/>
                          <a:pt x="318441" y="1018"/>
                          <a:pt x="0" y="18288"/>
                        </a:cubicBezTo>
                        <a:cubicBezTo>
                          <a:pt x="60" y="11696"/>
                          <a:pt x="66" y="3758"/>
                          <a:pt x="0" y="0"/>
                        </a:cubicBezTo>
                        <a:close/>
                      </a:path>
                      <a:path w="3182112" h="18288" stroke="0" extrusionOk="0">
                        <a:moveTo>
                          <a:pt x="0" y="0"/>
                        </a:moveTo>
                        <a:cubicBezTo>
                          <a:pt x="215562" y="1260"/>
                          <a:pt x="336090" y="6473"/>
                          <a:pt x="572780" y="0"/>
                        </a:cubicBezTo>
                        <a:cubicBezTo>
                          <a:pt x="809470" y="-6473"/>
                          <a:pt x="1080729" y="-23038"/>
                          <a:pt x="1272845" y="0"/>
                        </a:cubicBezTo>
                        <a:cubicBezTo>
                          <a:pt x="1464961" y="23038"/>
                          <a:pt x="1699922" y="1589"/>
                          <a:pt x="1813804" y="0"/>
                        </a:cubicBezTo>
                        <a:cubicBezTo>
                          <a:pt x="1927686" y="-1589"/>
                          <a:pt x="2116547" y="7184"/>
                          <a:pt x="2354763" y="0"/>
                        </a:cubicBezTo>
                        <a:cubicBezTo>
                          <a:pt x="2592979" y="-7184"/>
                          <a:pt x="2863919" y="3952"/>
                          <a:pt x="3182112" y="0"/>
                        </a:cubicBezTo>
                        <a:cubicBezTo>
                          <a:pt x="3182030" y="4406"/>
                          <a:pt x="3182023" y="9982"/>
                          <a:pt x="3182112" y="18288"/>
                        </a:cubicBezTo>
                        <a:cubicBezTo>
                          <a:pt x="2938288" y="16038"/>
                          <a:pt x="2724925" y="29080"/>
                          <a:pt x="2577511" y="18288"/>
                        </a:cubicBezTo>
                        <a:cubicBezTo>
                          <a:pt x="2430097" y="7496"/>
                          <a:pt x="2119926" y="47706"/>
                          <a:pt x="1972909" y="18288"/>
                        </a:cubicBezTo>
                        <a:cubicBezTo>
                          <a:pt x="1825892" y="-11130"/>
                          <a:pt x="1597470" y="43818"/>
                          <a:pt x="1368308" y="18288"/>
                        </a:cubicBezTo>
                        <a:cubicBezTo>
                          <a:pt x="1139146" y="-7242"/>
                          <a:pt x="981628" y="18679"/>
                          <a:pt x="668244" y="18288"/>
                        </a:cubicBezTo>
                        <a:cubicBezTo>
                          <a:pt x="354860" y="17897"/>
                          <a:pt x="259749" y="211"/>
                          <a:pt x="0" y="18288"/>
                        </a:cubicBezTo>
                        <a:cubicBezTo>
                          <a:pt x="189" y="14288"/>
                          <a:pt x="-703" y="3747"/>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62646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630936" y="548640"/>
            <a:ext cx="2700645" cy="5431536"/>
          </a:xfrm>
        </p:spPr>
        <p:txBody>
          <a:bodyPr>
            <a:normAutofit/>
          </a:bodyPr>
          <a:lstStyle/>
          <a:p>
            <a:r>
              <a:rPr lang="es-SV" sz="4700"/>
              <a:t>Ejercicio 1</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47917" y="3261001"/>
            <a:ext cx="4480560" cy="13716"/>
          </a:xfrm>
          <a:custGeom>
            <a:avLst/>
            <a:gdLst>
              <a:gd name="csX0" fmla="*/ 0 w 4480560"/>
              <a:gd name="csY0" fmla="*/ 0 h 13716"/>
              <a:gd name="csX1" fmla="*/ 595274 w 4480560"/>
              <a:gd name="csY1" fmla="*/ 0 h 13716"/>
              <a:gd name="csX2" fmla="*/ 1100938 w 4480560"/>
              <a:gd name="csY2" fmla="*/ 0 h 13716"/>
              <a:gd name="csX3" fmla="*/ 1651406 w 4480560"/>
              <a:gd name="csY3" fmla="*/ 0 h 13716"/>
              <a:gd name="csX4" fmla="*/ 2336292 w 4480560"/>
              <a:gd name="csY4" fmla="*/ 0 h 13716"/>
              <a:gd name="csX5" fmla="*/ 2931566 w 4480560"/>
              <a:gd name="csY5" fmla="*/ 0 h 13716"/>
              <a:gd name="csX6" fmla="*/ 3482035 w 4480560"/>
              <a:gd name="csY6" fmla="*/ 0 h 13716"/>
              <a:gd name="csX7" fmla="*/ 4480560 w 4480560"/>
              <a:gd name="csY7" fmla="*/ 0 h 13716"/>
              <a:gd name="csX8" fmla="*/ 4480560 w 4480560"/>
              <a:gd name="csY8" fmla="*/ 13716 h 13716"/>
              <a:gd name="csX9" fmla="*/ 3840480 w 4480560"/>
              <a:gd name="csY9" fmla="*/ 13716 h 13716"/>
              <a:gd name="csX10" fmla="*/ 3290011 w 4480560"/>
              <a:gd name="csY10" fmla="*/ 13716 h 13716"/>
              <a:gd name="csX11" fmla="*/ 2560320 w 4480560"/>
              <a:gd name="csY11" fmla="*/ 13716 h 13716"/>
              <a:gd name="csX12" fmla="*/ 1965046 w 4480560"/>
              <a:gd name="csY12" fmla="*/ 13716 h 13716"/>
              <a:gd name="csX13" fmla="*/ 1459382 w 4480560"/>
              <a:gd name="csY13" fmla="*/ 13716 h 13716"/>
              <a:gd name="csX14" fmla="*/ 774497 w 4480560"/>
              <a:gd name="csY14" fmla="*/ 13716 h 13716"/>
              <a:gd name="csX15" fmla="*/ 0 w 4480560"/>
              <a:gd name="csY15" fmla="*/ 13716 h 13716"/>
              <a:gd name="csX16" fmla="*/ 0 w 4480560"/>
              <a:gd name="csY16" fmla="*/ 0 h 13716"/>
              <a:gd name="csX0" fmla="*/ 0 w 4480560"/>
              <a:gd name="csY0" fmla="*/ 0 h 13716"/>
              <a:gd name="csX1" fmla="*/ 595274 w 4480560"/>
              <a:gd name="csY1" fmla="*/ 0 h 13716"/>
              <a:gd name="csX2" fmla="*/ 1100938 w 4480560"/>
              <a:gd name="csY2" fmla="*/ 0 h 13716"/>
              <a:gd name="csX3" fmla="*/ 1830629 w 4480560"/>
              <a:gd name="csY3" fmla="*/ 0 h 13716"/>
              <a:gd name="csX4" fmla="*/ 2425903 w 4480560"/>
              <a:gd name="csY4" fmla="*/ 0 h 13716"/>
              <a:gd name="csX5" fmla="*/ 3021178 w 4480560"/>
              <a:gd name="csY5" fmla="*/ 0 h 13716"/>
              <a:gd name="csX6" fmla="*/ 3750869 w 4480560"/>
              <a:gd name="csY6" fmla="*/ 0 h 13716"/>
              <a:gd name="csX7" fmla="*/ 4480560 w 4480560"/>
              <a:gd name="csY7" fmla="*/ 0 h 13716"/>
              <a:gd name="csX8" fmla="*/ 4480560 w 4480560"/>
              <a:gd name="csY8" fmla="*/ 13716 h 13716"/>
              <a:gd name="csX9" fmla="*/ 3930091 w 4480560"/>
              <a:gd name="csY9" fmla="*/ 13716 h 13716"/>
              <a:gd name="csX10" fmla="*/ 3290011 w 4480560"/>
              <a:gd name="csY10" fmla="*/ 13716 h 13716"/>
              <a:gd name="csX11" fmla="*/ 2649931 w 4480560"/>
              <a:gd name="csY11" fmla="*/ 13716 h 13716"/>
              <a:gd name="csX12" fmla="*/ 2054657 w 4480560"/>
              <a:gd name="csY12" fmla="*/ 13716 h 13716"/>
              <a:gd name="csX13" fmla="*/ 1324966 w 4480560"/>
              <a:gd name="csY13" fmla="*/ 13716 h 13716"/>
              <a:gd name="csX14" fmla="*/ 595274 w 4480560"/>
              <a:gd name="csY14" fmla="*/ 13716 h 13716"/>
              <a:gd name="csX15" fmla="*/ 0 w 4480560"/>
              <a:gd name="csY15" fmla="*/ 13716 h 13716"/>
              <a:gd name="csX16" fmla="*/ 0 w 4480560"/>
              <a:gd name="csY16"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3716" fill="none" extrusionOk="0">
                <a:moveTo>
                  <a:pt x="0" y="0"/>
                </a:moveTo>
                <a:cubicBezTo>
                  <a:pt x="267574" y="14606"/>
                  <a:pt x="338605" y="-40"/>
                  <a:pt x="595274" y="0"/>
                </a:cubicBezTo>
                <a:cubicBezTo>
                  <a:pt x="856171" y="-2198"/>
                  <a:pt x="863435" y="-13333"/>
                  <a:pt x="1100938" y="0"/>
                </a:cubicBezTo>
                <a:cubicBezTo>
                  <a:pt x="1340270" y="17713"/>
                  <a:pt x="1418448" y="-18893"/>
                  <a:pt x="1651406" y="0"/>
                </a:cubicBezTo>
                <a:cubicBezTo>
                  <a:pt x="1875387" y="1627"/>
                  <a:pt x="2153037" y="22688"/>
                  <a:pt x="2336292" y="0"/>
                </a:cubicBezTo>
                <a:cubicBezTo>
                  <a:pt x="2522206" y="-4211"/>
                  <a:pt x="2718333" y="34959"/>
                  <a:pt x="2931566" y="0"/>
                </a:cubicBezTo>
                <a:cubicBezTo>
                  <a:pt x="3137043" y="-17106"/>
                  <a:pt x="3304331" y="1415"/>
                  <a:pt x="3482035" y="0"/>
                </a:cubicBezTo>
                <a:cubicBezTo>
                  <a:pt x="3649837" y="-24078"/>
                  <a:pt x="4010577" y="-51921"/>
                  <a:pt x="4480560" y="0"/>
                </a:cubicBezTo>
                <a:cubicBezTo>
                  <a:pt x="4480642" y="3611"/>
                  <a:pt x="4480510" y="9346"/>
                  <a:pt x="4480560" y="13716"/>
                </a:cubicBezTo>
                <a:cubicBezTo>
                  <a:pt x="4305601" y="36948"/>
                  <a:pt x="4025154" y="21890"/>
                  <a:pt x="3840480" y="13716"/>
                </a:cubicBezTo>
                <a:cubicBezTo>
                  <a:pt x="3668919" y="-16903"/>
                  <a:pt x="3556555" y="-17246"/>
                  <a:pt x="3290011" y="13716"/>
                </a:cubicBezTo>
                <a:cubicBezTo>
                  <a:pt x="2991827" y="13600"/>
                  <a:pt x="2862038" y="-27094"/>
                  <a:pt x="2560320" y="13716"/>
                </a:cubicBezTo>
                <a:cubicBezTo>
                  <a:pt x="2273396" y="32804"/>
                  <a:pt x="2159701" y="35426"/>
                  <a:pt x="1965046" y="13716"/>
                </a:cubicBezTo>
                <a:cubicBezTo>
                  <a:pt x="1785994" y="24616"/>
                  <a:pt x="1686680" y="47748"/>
                  <a:pt x="1459382" y="13716"/>
                </a:cubicBezTo>
                <a:cubicBezTo>
                  <a:pt x="1260610" y="398"/>
                  <a:pt x="913962" y="26960"/>
                  <a:pt x="774497" y="13716"/>
                </a:cubicBezTo>
                <a:cubicBezTo>
                  <a:pt x="689426" y="-2719"/>
                  <a:pt x="378264" y="1751"/>
                  <a:pt x="0" y="13716"/>
                </a:cubicBezTo>
                <a:cubicBezTo>
                  <a:pt x="-173" y="8371"/>
                  <a:pt x="-387" y="6213"/>
                  <a:pt x="0" y="0"/>
                </a:cubicBezTo>
                <a:close/>
              </a:path>
              <a:path w="4480560" h="13716" stroke="0" extrusionOk="0">
                <a:moveTo>
                  <a:pt x="0" y="0"/>
                </a:moveTo>
                <a:cubicBezTo>
                  <a:pt x="290844" y="5546"/>
                  <a:pt x="318443" y="10543"/>
                  <a:pt x="595274" y="0"/>
                </a:cubicBezTo>
                <a:cubicBezTo>
                  <a:pt x="862223" y="-10630"/>
                  <a:pt x="1008164" y="-6970"/>
                  <a:pt x="1100938" y="0"/>
                </a:cubicBezTo>
                <a:cubicBezTo>
                  <a:pt x="1231751" y="-9052"/>
                  <a:pt x="1563421" y="-55931"/>
                  <a:pt x="1830629" y="0"/>
                </a:cubicBezTo>
                <a:cubicBezTo>
                  <a:pt x="2081843" y="38764"/>
                  <a:pt x="2181743" y="16966"/>
                  <a:pt x="2425903" y="0"/>
                </a:cubicBezTo>
                <a:cubicBezTo>
                  <a:pt x="2657412" y="-20059"/>
                  <a:pt x="2795431" y="8423"/>
                  <a:pt x="3021178" y="0"/>
                </a:cubicBezTo>
                <a:cubicBezTo>
                  <a:pt x="3275119" y="-4749"/>
                  <a:pt x="3480943" y="2522"/>
                  <a:pt x="3750869" y="0"/>
                </a:cubicBezTo>
                <a:cubicBezTo>
                  <a:pt x="4005211" y="16055"/>
                  <a:pt x="4302144" y="-2969"/>
                  <a:pt x="4480560" y="0"/>
                </a:cubicBezTo>
                <a:cubicBezTo>
                  <a:pt x="4480397" y="3458"/>
                  <a:pt x="4481383" y="8632"/>
                  <a:pt x="4480560" y="13716"/>
                </a:cubicBezTo>
                <a:cubicBezTo>
                  <a:pt x="4261480" y="-10003"/>
                  <a:pt x="4206199" y="28529"/>
                  <a:pt x="3930091" y="13716"/>
                </a:cubicBezTo>
                <a:cubicBezTo>
                  <a:pt x="3666932" y="-15474"/>
                  <a:pt x="3493645" y="14804"/>
                  <a:pt x="3290011" y="13716"/>
                </a:cubicBezTo>
                <a:cubicBezTo>
                  <a:pt x="3137078" y="-41032"/>
                  <a:pt x="2894690" y="-17948"/>
                  <a:pt x="2649931" y="13716"/>
                </a:cubicBezTo>
                <a:cubicBezTo>
                  <a:pt x="2413020" y="21294"/>
                  <a:pt x="2225991" y="-10559"/>
                  <a:pt x="2054657" y="13716"/>
                </a:cubicBezTo>
                <a:cubicBezTo>
                  <a:pt x="1886877" y="37541"/>
                  <a:pt x="1548763" y="45390"/>
                  <a:pt x="1324966" y="13716"/>
                </a:cubicBezTo>
                <a:cubicBezTo>
                  <a:pt x="1040995" y="1897"/>
                  <a:pt x="786929" y="-17655"/>
                  <a:pt x="595274" y="13716"/>
                </a:cubicBezTo>
                <a:cubicBezTo>
                  <a:pt x="371401" y="32831"/>
                  <a:pt x="168483" y="23167"/>
                  <a:pt x="0" y="13716"/>
                </a:cubicBezTo>
                <a:cubicBezTo>
                  <a:pt x="-740" y="8467"/>
                  <a:pt x="-279" y="4434"/>
                  <a:pt x="0" y="0"/>
                </a:cubicBezTo>
                <a:close/>
              </a:path>
              <a:path w="4480560" h="13716" fill="none" stroke="0" extrusionOk="0">
                <a:moveTo>
                  <a:pt x="0" y="0"/>
                </a:moveTo>
                <a:cubicBezTo>
                  <a:pt x="254633" y="596"/>
                  <a:pt x="318854" y="8353"/>
                  <a:pt x="595274" y="0"/>
                </a:cubicBezTo>
                <a:cubicBezTo>
                  <a:pt x="857042" y="-2503"/>
                  <a:pt x="863005" y="-13327"/>
                  <a:pt x="1100938" y="0"/>
                </a:cubicBezTo>
                <a:cubicBezTo>
                  <a:pt x="1322315" y="28736"/>
                  <a:pt x="1429801" y="-15572"/>
                  <a:pt x="1651406" y="0"/>
                </a:cubicBezTo>
                <a:cubicBezTo>
                  <a:pt x="1861310" y="20479"/>
                  <a:pt x="2199002" y="36173"/>
                  <a:pt x="2336292" y="0"/>
                </a:cubicBezTo>
                <a:cubicBezTo>
                  <a:pt x="2504451" y="-23230"/>
                  <a:pt x="2735943" y="-3451"/>
                  <a:pt x="2931566" y="0"/>
                </a:cubicBezTo>
                <a:cubicBezTo>
                  <a:pt x="3109081" y="-33272"/>
                  <a:pt x="3310374" y="39503"/>
                  <a:pt x="3482035" y="0"/>
                </a:cubicBezTo>
                <a:cubicBezTo>
                  <a:pt x="3630968" y="-117346"/>
                  <a:pt x="3975789" y="30358"/>
                  <a:pt x="4480560" y="0"/>
                </a:cubicBezTo>
                <a:cubicBezTo>
                  <a:pt x="4480546" y="3532"/>
                  <a:pt x="4481771" y="9530"/>
                  <a:pt x="4480560" y="13716"/>
                </a:cubicBezTo>
                <a:cubicBezTo>
                  <a:pt x="4299745" y="8025"/>
                  <a:pt x="4055484" y="54224"/>
                  <a:pt x="3840480" y="13716"/>
                </a:cubicBezTo>
                <a:cubicBezTo>
                  <a:pt x="3665362" y="14404"/>
                  <a:pt x="3548412" y="6532"/>
                  <a:pt x="3290011" y="13716"/>
                </a:cubicBezTo>
                <a:cubicBezTo>
                  <a:pt x="3037450" y="36923"/>
                  <a:pt x="2862123" y="43167"/>
                  <a:pt x="2560320" y="13716"/>
                </a:cubicBezTo>
                <a:cubicBezTo>
                  <a:pt x="2308793" y="7156"/>
                  <a:pt x="2153402" y="-25971"/>
                  <a:pt x="1965046" y="13716"/>
                </a:cubicBezTo>
                <a:cubicBezTo>
                  <a:pt x="1778601" y="25944"/>
                  <a:pt x="1672011" y="23840"/>
                  <a:pt x="1459382" y="13716"/>
                </a:cubicBezTo>
                <a:cubicBezTo>
                  <a:pt x="1212351" y="-9856"/>
                  <a:pt x="906131" y="12859"/>
                  <a:pt x="774497" y="13716"/>
                </a:cubicBezTo>
                <a:cubicBezTo>
                  <a:pt x="636671" y="-47283"/>
                  <a:pt x="331670" y="1705"/>
                  <a:pt x="0" y="13716"/>
                </a:cubicBezTo>
                <a:cubicBezTo>
                  <a:pt x="-561" y="8546"/>
                  <a:pt x="-377" y="614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4480560"/>
                      <a:gd name="connsiteY0" fmla="*/ 0 h 13716"/>
                      <a:gd name="connsiteX1" fmla="*/ 595274 w 4480560"/>
                      <a:gd name="connsiteY1" fmla="*/ 0 h 13716"/>
                      <a:gd name="connsiteX2" fmla="*/ 1100938 w 4480560"/>
                      <a:gd name="connsiteY2" fmla="*/ 0 h 13716"/>
                      <a:gd name="connsiteX3" fmla="*/ 1651406 w 4480560"/>
                      <a:gd name="connsiteY3" fmla="*/ 0 h 13716"/>
                      <a:gd name="connsiteX4" fmla="*/ 2336292 w 4480560"/>
                      <a:gd name="connsiteY4" fmla="*/ 0 h 13716"/>
                      <a:gd name="connsiteX5" fmla="*/ 2931566 w 4480560"/>
                      <a:gd name="connsiteY5" fmla="*/ 0 h 13716"/>
                      <a:gd name="connsiteX6" fmla="*/ 3482035 w 4480560"/>
                      <a:gd name="connsiteY6" fmla="*/ 0 h 13716"/>
                      <a:gd name="connsiteX7" fmla="*/ 4480560 w 4480560"/>
                      <a:gd name="connsiteY7" fmla="*/ 0 h 13716"/>
                      <a:gd name="connsiteX8" fmla="*/ 4480560 w 4480560"/>
                      <a:gd name="connsiteY8" fmla="*/ 13716 h 13716"/>
                      <a:gd name="connsiteX9" fmla="*/ 3840480 w 4480560"/>
                      <a:gd name="connsiteY9" fmla="*/ 13716 h 13716"/>
                      <a:gd name="connsiteX10" fmla="*/ 3290011 w 4480560"/>
                      <a:gd name="connsiteY10" fmla="*/ 13716 h 13716"/>
                      <a:gd name="connsiteX11" fmla="*/ 2560320 w 4480560"/>
                      <a:gd name="connsiteY11" fmla="*/ 13716 h 13716"/>
                      <a:gd name="connsiteX12" fmla="*/ 1965046 w 4480560"/>
                      <a:gd name="connsiteY12" fmla="*/ 13716 h 13716"/>
                      <a:gd name="connsiteX13" fmla="*/ 1459382 w 4480560"/>
                      <a:gd name="connsiteY13" fmla="*/ 13716 h 13716"/>
                      <a:gd name="connsiteX14" fmla="*/ 774497 w 4480560"/>
                      <a:gd name="connsiteY14" fmla="*/ 13716 h 13716"/>
                      <a:gd name="connsiteX15" fmla="*/ 0 w 4480560"/>
                      <a:gd name="connsiteY15" fmla="*/ 13716 h 13716"/>
                      <a:gd name="connsiteX16" fmla="*/ 0 w 4480560"/>
                      <a:gd name="connsiteY1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3716"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273" y="3379"/>
                          <a:pt x="4480768" y="9289"/>
                          <a:pt x="4480560" y="13716"/>
                        </a:cubicBezTo>
                        <a:cubicBezTo>
                          <a:pt x="4314132" y="10352"/>
                          <a:pt x="4028383" y="32060"/>
                          <a:pt x="3840480" y="13716"/>
                        </a:cubicBezTo>
                        <a:cubicBezTo>
                          <a:pt x="3652577" y="-4628"/>
                          <a:pt x="3547615" y="-1724"/>
                          <a:pt x="3290011" y="13716"/>
                        </a:cubicBezTo>
                        <a:cubicBezTo>
                          <a:pt x="3032407" y="29156"/>
                          <a:pt x="2830268" y="4147"/>
                          <a:pt x="2560320" y="13716"/>
                        </a:cubicBezTo>
                        <a:cubicBezTo>
                          <a:pt x="2290372" y="23285"/>
                          <a:pt x="2147422" y="2156"/>
                          <a:pt x="1965046" y="13716"/>
                        </a:cubicBezTo>
                        <a:cubicBezTo>
                          <a:pt x="1782670" y="25276"/>
                          <a:pt x="1689791" y="36108"/>
                          <a:pt x="1459382" y="13716"/>
                        </a:cubicBezTo>
                        <a:cubicBezTo>
                          <a:pt x="1228973" y="-8676"/>
                          <a:pt x="915486" y="31929"/>
                          <a:pt x="774497" y="13716"/>
                        </a:cubicBezTo>
                        <a:cubicBezTo>
                          <a:pt x="633508" y="-4497"/>
                          <a:pt x="361442" y="-15679"/>
                          <a:pt x="0" y="13716"/>
                        </a:cubicBezTo>
                        <a:cubicBezTo>
                          <a:pt x="-362" y="8190"/>
                          <a:pt x="-434" y="6098"/>
                          <a:pt x="0" y="0"/>
                        </a:cubicBezTo>
                        <a:close/>
                      </a:path>
                      <a:path w="4480560" h="13716"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360" y="3832"/>
                          <a:pt x="4481152" y="9314"/>
                          <a:pt x="4480560" y="13716"/>
                        </a:cubicBezTo>
                        <a:cubicBezTo>
                          <a:pt x="4279652" y="-11422"/>
                          <a:pt x="4200762" y="36994"/>
                          <a:pt x="3930091" y="13716"/>
                        </a:cubicBezTo>
                        <a:cubicBezTo>
                          <a:pt x="3659420" y="-9562"/>
                          <a:pt x="3456052" y="17722"/>
                          <a:pt x="3290011" y="13716"/>
                        </a:cubicBezTo>
                        <a:cubicBezTo>
                          <a:pt x="3123970" y="9710"/>
                          <a:pt x="2882392" y="28246"/>
                          <a:pt x="2649931" y="13716"/>
                        </a:cubicBezTo>
                        <a:cubicBezTo>
                          <a:pt x="2417470" y="-814"/>
                          <a:pt x="2238426" y="2765"/>
                          <a:pt x="2054657" y="13716"/>
                        </a:cubicBezTo>
                        <a:cubicBezTo>
                          <a:pt x="1870888" y="24667"/>
                          <a:pt x="1566368" y="40468"/>
                          <a:pt x="1324966" y="13716"/>
                        </a:cubicBezTo>
                        <a:cubicBezTo>
                          <a:pt x="1083564" y="-13036"/>
                          <a:pt x="787410" y="6374"/>
                          <a:pt x="595274" y="13716"/>
                        </a:cubicBezTo>
                        <a:cubicBezTo>
                          <a:pt x="403138" y="21058"/>
                          <a:pt x="169622" y="5927"/>
                          <a:pt x="0" y="13716"/>
                        </a:cubicBezTo>
                        <a:cubicBezTo>
                          <a:pt x="-475" y="8699"/>
                          <a:pt x="-565" y="4408"/>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3844813" y="552091"/>
                <a:ext cx="4668251" cy="5431536"/>
              </a:xfrm>
            </p:spPr>
            <p:txBody>
              <a:bodyPr anchor="ctr">
                <a:normAutofit/>
              </a:bodyPr>
              <a:lstStyle/>
              <a:p>
                <a:pPr marL="0" indent="0">
                  <a:buNone/>
                </a:pPr>
                <a:r>
                  <a:rPr lang="es-SV" sz="1900"/>
                  <a:t>Una variable aleatoria x tiene la siguiente f.d.p, </a:t>
                </a:r>
                <a14:m>
                  <m:oMath xmlns:m="http://schemas.openxmlformats.org/officeDocument/2006/math">
                    <m:r>
                      <a:rPr lang="es-SV" sz="1900" i="1">
                        <a:latin typeface="Cambria Math" panose="02040503050406030204" pitchFamily="18" charset="0"/>
                      </a:rPr>
                      <m:t>𝑓</m:t>
                    </m:r>
                    <m:d>
                      <m:dPr>
                        <m:ctrlPr>
                          <a:rPr lang="es-SV" sz="1900" i="1">
                            <a:latin typeface="Cambria Math" panose="02040503050406030204" pitchFamily="18" charset="0"/>
                          </a:rPr>
                        </m:ctrlPr>
                      </m:dPr>
                      <m:e>
                        <m:r>
                          <a:rPr lang="es-SV" sz="1900" i="1">
                            <a:latin typeface="Cambria Math" panose="02040503050406030204" pitchFamily="18" charset="0"/>
                          </a:rPr>
                          <m:t>𝑥</m:t>
                        </m:r>
                      </m:e>
                    </m:d>
                    <m:r>
                      <a:rPr lang="es-SV" sz="1900" b="0" i="1">
                        <a:latin typeface="Cambria Math" panose="02040503050406030204" pitchFamily="18" charset="0"/>
                      </a:rPr>
                      <m:t>=</m:t>
                    </m:r>
                    <m:r>
                      <a:rPr lang="es-SV" sz="1900" i="1">
                        <a:latin typeface="Cambria Math" panose="02040503050406030204" pitchFamily="18" charset="0"/>
                      </a:rPr>
                      <m:t>6</m:t>
                    </m:r>
                    <m:r>
                      <a:rPr lang="es-SV" sz="1900" i="1">
                        <a:latin typeface="Cambria Math" panose="02040503050406030204" pitchFamily="18" charset="0"/>
                      </a:rPr>
                      <m:t>𝑥</m:t>
                    </m:r>
                    <m:d>
                      <m:dPr>
                        <m:ctrlPr>
                          <a:rPr lang="es-SV" sz="1900" i="1">
                            <a:latin typeface="Cambria Math" panose="02040503050406030204" pitchFamily="18" charset="0"/>
                          </a:rPr>
                        </m:ctrlPr>
                      </m:dPr>
                      <m:e>
                        <m:r>
                          <a:rPr lang="es-SV" sz="1900" i="1">
                            <a:latin typeface="Cambria Math" panose="02040503050406030204" pitchFamily="18" charset="0"/>
                          </a:rPr>
                          <m:t>1−</m:t>
                        </m:r>
                        <m:r>
                          <a:rPr lang="es-SV" sz="1900" i="1">
                            <a:latin typeface="Cambria Math" panose="02040503050406030204" pitchFamily="18" charset="0"/>
                          </a:rPr>
                          <m:t>𝑥</m:t>
                        </m:r>
                      </m:e>
                    </m:d>
                    <m:r>
                      <a:rPr lang="es-SV" sz="1900" i="1">
                        <a:latin typeface="Cambria Math" panose="02040503050406030204" pitchFamily="18" charset="0"/>
                      </a:rPr>
                      <m:t>;  0≤</m:t>
                    </m:r>
                    <m:r>
                      <a:rPr lang="es-SV" sz="1900" i="1">
                        <a:latin typeface="Cambria Math" panose="02040503050406030204" pitchFamily="18" charset="0"/>
                      </a:rPr>
                      <m:t>𝑥</m:t>
                    </m:r>
                    <m:r>
                      <a:rPr lang="es-SV" sz="1900" i="1">
                        <a:latin typeface="Cambria Math" panose="02040503050406030204" pitchFamily="18" charset="0"/>
                      </a:rPr>
                      <m:t>&lt;1</m:t>
                    </m:r>
                  </m:oMath>
                </a14:m>
                <a:endParaRPr lang="es-SV" sz="1900"/>
              </a:p>
              <a:p>
                <a:pPr lvl="0"/>
                <a:r>
                  <a:rPr lang="es-SV" sz="1900"/>
                  <a:t>Haga un gráfico de la función.</a:t>
                </a:r>
              </a:p>
              <a:p>
                <a:pPr lvl="0"/>
                <a:r>
                  <a:rPr lang="es-SV" sz="1900"/>
                  <a:t>Mostrar que </a:t>
                </a:r>
                <a14:m>
                  <m:oMath xmlns:m="http://schemas.openxmlformats.org/officeDocument/2006/math">
                    <m:nary>
                      <m:naryPr>
                        <m:limLoc m:val="subSup"/>
                        <m:ctrlPr>
                          <a:rPr lang="es-SV" sz="1900" i="1">
                            <a:latin typeface="Cambria Math" panose="02040503050406030204" pitchFamily="18" charset="0"/>
                          </a:rPr>
                        </m:ctrlPr>
                      </m:naryPr>
                      <m:sub>
                        <m:sSub>
                          <m:sSubPr>
                            <m:ctrlPr>
                              <a:rPr lang="es-SV" sz="1900" i="1">
                                <a:latin typeface="Cambria Math" panose="02040503050406030204" pitchFamily="18" charset="0"/>
                              </a:rPr>
                            </m:ctrlPr>
                          </m:sSubPr>
                          <m:e>
                            <m:r>
                              <a:rPr lang="es-SV" sz="1900" i="1">
                                <a:latin typeface="Cambria Math" panose="02040503050406030204" pitchFamily="18" charset="0"/>
                              </a:rPr>
                              <m:t>𝑅</m:t>
                            </m:r>
                          </m:e>
                          <m:sub>
                            <m:r>
                              <a:rPr lang="es-SV" sz="1900" i="1">
                                <a:latin typeface="Cambria Math" panose="02040503050406030204" pitchFamily="18" charset="0"/>
                              </a:rPr>
                              <m:t>𝑥</m:t>
                            </m:r>
                          </m:sub>
                        </m:sSub>
                      </m:sub>
                      <m:sup/>
                      <m:e>
                        <m:r>
                          <a:rPr lang="es-SV" sz="1900" i="1">
                            <a:latin typeface="Cambria Math" panose="02040503050406030204" pitchFamily="18" charset="0"/>
                          </a:rPr>
                          <m:t>𝑓</m:t>
                        </m:r>
                        <m:d>
                          <m:dPr>
                            <m:ctrlPr>
                              <a:rPr lang="es-SV" sz="1900" i="1">
                                <a:latin typeface="Cambria Math" panose="02040503050406030204" pitchFamily="18" charset="0"/>
                              </a:rPr>
                            </m:ctrlPr>
                          </m:dPr>
                          <m:e>
                            <m:r>
                              <a:rPr lang="es-SV" sz="1900" i="1">
                                <a:latin typeface="Cambria Math" panose="02040503050406030204" pitchFamily="18" charset="0"/>
                              </a:rPr>
                              <m:t>𝑥</m:t>
                            </m:r>
                          </m:e>
                        </m:d>
                        <m:r>
                          <a:rPr lang="es-SV" sz="1900" i="1">
                            <a:latin typeface="Cambria Math" panose="02040503050406030204" pitchFamily="18" charset="0"/>
                          </a:rPr>
                          <m:t>𝑑𝑥</m:t>
                        </m:r>
                      </m:e>
                    </m:nary>
                    <m:r>
                      <a:rPr lang="es-SV" sz="1900" i="1">
                        <a:latin typeface="Cambria Math" panose="02040503050406030204" pitchFamily="18" charset="0"/>
                      </a:rPr>
                      <m:t>=1</m:t>
                    </m:r>
                  </m:oMath>
                </a14:m>
                <a:r>
                  <a:rPr lang="es-SV" sz="1900"/>
                  <a:t> </a:t>
                </a:r>
              </a:p>
              <a:p>
                <a:pPr lvl="0"/>
                <a:r>
                  <a:rPr lang="es-SV" sz="1900"/>
                  <a:t>Calcular las siguientes probabilidades.</a:t>
                </a:r>
              </a:p>
              <a:p>
                <a:pPr marL="571500" indent="-571500">
                  <a:buAutoNum type="romanLcParenR"/>
                </a:pPr>
                <a14:m>
                  <m:oMath xmlns:m="http://schemas.openxmlformats.org/officeDocument/2006/math">
                    <m:r>
                      <a:rPr lang="es-SV" sz="1900" i="1">
                        <a:latin typeface="Cambria Math" panose="02040503050406030204" pitchFamily="18" charset="0"/>
                      </a:rPr>
                      <m:t>𝑃</m:t>
                    </m:r>
                    <m:d>
                      <m:dPr>
                        <m:ctrlPr>
                          <a:rPr lang="es-SV" sz="1900" i="1">
                            <a:latin typeface="Cambria Math" panose="02040503050406030204" pitchFamily="18" charset="0"/>
                          </a:rPr>
                        </m:ctrlPr>
                      </m:dPr>
                      <m:e>
                        <m:r>
                          <a:rPr lang="es-SV" sz="1900" i="1">
                            <a:latin typeface="Cambria Math" panose="02040503050406030204" pitchFamily="18" charset="0"/>
                          </a:rPr>
                          <m:t>𝑥</m:t>
                        </m:r>
                        <m:r>
                          <a:rPr lang="es-SV" sz="1900" i="1">
                            <a:latin typeface="Cambria Math" panose="02040503050406030204" pitchFamily="18" charset="0"/>
                          </a:rPr>
                          <m:t>=0.5</m:t>
                        </m:r>
                      </m:e>
                    </m:d>
                  </m:oMath>
                </a14:m>
                <a:r>
                  <a:rPr lang="es-SV" sz="1900"/>
                  <a:t> </a:t>
                </a:r>
              </a:p>
              <a:p>
                <a:pPr marL="571500" indent="-571500">
                  <a:buAutoNum type="romanLcParenR"/>
                </a:pPr>
                <a14:m>
                  <m:oMath xmlns:m="http://schemas.openxmlformats.org/officeDocument/2006/math">
                    <m:r>
                      <a:rPr lang="es-SV" sz="1900" i="1">
                        <a:latin typeface="Cambria Math" panose="02040503050406030204" pitchFamily="18" charset="0"/>
                      </a:rPr>
                      <m:t>𝑃</m:t>
                    </m:r>
                    <m:d>
                      <m:dPr>
                        <m:ctrlPr>
                          <a:rPr lang="es-SV" sz="1900" i="1">
                            <a:latin typeface="Cambria Math" panose="02040503050406030204" pitchFamily="18" charset="0"/>
                          </a:rPr>
                        </m:ctrlPr>
                      </m:dPr>
                      <m:e>
                        <m:r>
                          <a:rPr lang="es-SV" sz="1900" i="1">
                            <a:latin typeface="Cambria Math" panose="02040503050406030204" pitchFamily="18" charset="0"/>
                          </a:rPr>
                          <m:t>𝑥</m:t>
                        </m:r>
                        <m:r>
                          <a:rPr lang="es-SV" sz="1900" i="1">
                            <a:latin typeface="Cambria Math" panose="02040503050406030204" pitchFamily="18" charset="0"/>
                          </a:rPr>
                          <m:t>≤0.3</m:t>
                        </m:r>
                      </m:e>
                    </m:d>
                  </m:oMath>
                </a14:m>
                <a:r>
                  <a:rPr lang="es-SV" sz="1900"/>
                  <a:t> </a:t>
                </a:r>
              </a:p>
              <a:p>
                <a:pPr marL="571500" indent="-571500">
                  <a:buAutoNum type="romanLcParenR"/>
                </a:pPr>
                <a14:m>
                  <m:oMath xmlns:m="http://schemas.openxmlformats.org/officeDocument/2006/math">
                    <m:r>
                      <a:rPr lang="es-SV" sz="1900" i="1">
                        <a:latin typeface="Cambria Math" panose="02040503050406030204" pitchFamily="18" charset="0"/>
                      </a:rPr>
                      <m:t>𝑃</m:t>
                    </m:r>
                    <m:d>
                      <m:dPr>
                        <m:ctrlPr>
                          <a:rPr lang="es-SV" sz="1900" i="1">
                            <a:latin typeface="Cambria Math" panose="02040503050406030204" pitchFamily="18" charset="0"/>
                          </a:rPr>
                        </m:ctrlPr>
                      </m:dPr>
                      <m:e>
                        <m:r>
                          <a:rPr lang="es-SV" sz="1900" i="1">
                            <a:latin typeface="Cambria Math" panose="02040503050406030204" pitchFamily="18" charset="0"/>
                          </a:rPr>
                          <m:t>0.5≤</m:t>
                        </m:r>
                        <m:r>
                          <a:rPr lang="es-SV" sz="1900" i="1">
                            <a:latin typeface="Cambria Math" panose="02040503050406030204" pitchFamily="18" charset="0"/>
                          </a:rPr>
                          <m:t>𝑥</m:t>
                        </m:r>
                        <m:r>
                          <a:rPr lang="es-SV" sz="1900" i="1">
                            <a:latin typeface="Cambria Math" panose="02040503050406030204" pitchFamily="18" charset="0"/>
                          </a:rPr>
                          <m:t>≤0.7</m:t>
                        </m:r>
                      </m:e>
                    </m:d>
                  </m:oMath>
                </a14:m>
                <a:r>
                  <a:rPr lang="es-SV" sz="1900"/>
                  <a:t> </a:t>
                </a:r>
              </a:p>
              <a:p>
                <a:pPr marL="0" indent="0">
                  <a:buNone/>
                </a:pPr>
                <a:endParaRPr lang="es-SV" sz="190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3844813" y="552091"/>
                <a:ext cx="4668251" cy="5431536"/>
              </a:xfrm>
              <a:blipFill>
                <a:blip r:embed="rId2"/>
                <a:stretch>
                  <a:fillRect l="-1305"/>
                </a:stretch>
              </a:blipFill>
            </p:spPr>
            <p:txBody>
              <a:bodyPr/>
              <a:lstStyle/>
              <a:p>
                <a:r>
                  <a:rPr lang="es-SV">
                    <a:noFill/>
                  </a:rPr>
                  <a:t> </a:t>
                </a:r>
              </a:p>
            </p:txBody>
          </p:sp>
        </mc:Fallback>
      </mc:AlternateContent>
    </p:spTree>
    <p:extLst>
      <p:ext uri="{BB962C8B-B14F-4D97-AF65-F5344CB8AC3E}">
        <p14:creationId xmlns:p14="http://schemas.microsoft.com/office/powerpoint/2010/main" val="429122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133778"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ítulo 1"/>
          <p:cNvSpPr>
            <a:spLocks noGrp="1"/>
          </p:cNvSpPr>
          <p:nvPr>
            <p:ph type="title"/>
          </p:nvPr>
        </p:nvSpPr>
        <p:spPr>
          <a:xfrm>
            <a:off x="628650" y="713312"/>
            <a:ext cx="3028950" cy="5431376"/>
          </a:xfrm>
        </p:spPr>
        <p:txBody>
          <a:bodyPr>
            <a:normAutofit/>
          </a:bodyPr>
          <a:lstStyle/>
          <a:p>
            <a:r>
              <a:rPr lang="es-SV" dirty="0"/>
              <a:t>Ejercicio 2</a:t>
            </a:r>
          </a:p>
        </p:txBody>
      </p:sp>
      <p:sp>
        <p:nvSpPr>
          <p:cNvPr id="3" name="Marcador de contenido 2"/>
          <p:cNvSpPr>
            <a:spLocks noGrp="1"/>
          </p:cNvSpPr>
          <p:nvPr>
            <p:ph idx="1"/>
          </p:nvPr>
        </p:nvSpPr>
        <p:spPr>
          <a:xfrm>
            <a:off x="4571999" y="713313"/>
            <a:ext cx="3943351" cy="5431376"/>
          </a:xfrm>
        </p:spPr>
        <p:txBody>
          <a:bodyPr anchor="ctr">
            <a:normAutofit/>
          </a:bodyPr>
          <a:lstStyle/>
          <a:p>
            <a:pPr marL="0" indent="0">
              <a:buNone/>
            </a:pPr>
            <a:r>
              <a:rPr lang="es-SV" sz="1700"/>
              <a:t>Los puntajes de un total de aptitud tienen una tendencia normal con μ= 62 puntos y σ=15 puntos. </a:t>
            </a:r>
          </a:p>
          <a:p>
            <a:pPr marL="0" indent="0">
              <a:buNone/>
            </a:pPr>
            <a:endParaRPr lang="es-SV" sz="1700"/>
          </a:p>
          <a:p>
            <a:r>
              <a:rPr lang="es-SV" sz="1700"/>
              <a:t>¿Qué porcentaje de las personas que se someten al test tendrá una nota de 70 o más? </a:t>
            </a:r>
          </a:p>
          <a:p>
            <a:r>
              <a:rPr lang="es-SV" sz="1700"/>
              <a:t>De 50 a menos </a:t>
            </a:r>
          </a:p>
          <a:p>
            <a:r>
              <a:rPr lang="es-SV" sz="1700"/>
              <a:t>De 60 a más </a:t>
            </a:r>
          </a:p>
          <a:p>
            <a:r>
              <a:rPr lang="es-SV" sz="1700"/>
              <a:t>Entre 50 y 70 </a:t>
            </a:r>
          </a:p>
          <a:p>
            <a:r>
              <a:rPr lang="es-SV" sz="1700"/>
              <a:t>Entre 65 y 85</a:t>
            </a:r>
            <a:endParaRPr lang="es-SV" sz="1700" i="1"/>
          </a:p>
        </p:txBody>
      </p:sp>
    </p:spTree>
    <p:extLst>
      <p:ext uri="{BB962C8B-B14F-4D97-AF65-F5344CB8AC3E}">
        <p14:creationId xmlns:p14="http://schemas.microsoft.com/office/powerpoint/2010/main" val="40137746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A8AAC95-3719-4BCD-B710-4160043D92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3A6D7BA-50E4-42FE-A0E3-FC42B7EC43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767722"/>
            <a:ext cx="2266158" cy="1532055"/>
          </a:xfrm>
          <a:custGeom>
            <a:avLst/>
            <a:gdLst>
              <a:gd name="connsiteX0" fmla="*/ 3021543 w 3021543"/>
              <a:gd name="connsiteY0" fmla="*/ 0 h 1532055"/>
              <a:gd name="connsiteX1" fmla="*/ 2963800 w 3021543"/>
              <a:gd name="connsiteY1" fmla="*/ 7730 h 1532055"/>
              <a:gd name="connsiteX2" fmla="*/ 2793803 w 3021543"/>
              <a:gd name="connsiteY2" fmla="*/ 25704 h 1532055"/>
              <a:gd name="connsiteX3" fmla="*/ 2414348 w 3021543"/>
              <a:gd name="connsiteY3" fmla="*/ 31695 h 1532055"/>
              <a:gd name="connsiteX4" fmla="*/ 2091558 w 3021543"/>
              <a:gd name="connsiteY4" fmla="*/ 29298 h 1532055"/>
              <a:gd name="connsiteX5" fmla="*/ 1645319 w 3021543"/>
              <a:gd name="connsiteY5" fmla="*/ 30497 h 1532055"/>
              <a:gd name="connsiteX6" fmla="*/ 1243602 w 3021543"/>
              <a:gd name="connsiteY6" fmla="*/ 64048 h 1532055"/>
              <a:gd name="connsiteX7" fmla="*/ 753851 w 3021543"/>
              <a:gd name="connsiteY7" fmla="*/ 61651 h 1532055"/>
              <a:gd name="connsiteX8" fmla="*/ 465465 w 3021543"/>
              <a:gd name="connsiteY8" fmla="*/ 123960 h 1532055"/>
              <a:gd name="connsiteX9" fmla="*/ 546416 w 3021543"/>
              <a:gd name="connsiteY9" fmla="*/ 145529 h 1532055"/>
              <a:gd name="connsiteX10" fmla="*/ 689091 w 3021543"/>
              <a:gd name="connsiteY10" fmla="*/ 192260 h 1532055"/>
              <a:gd name="connsiteX11" fmla="*/ 704269 w 3021543"/>
              <a:gd name="connsiteY11" fmla="*/ 222217 h 1532055"/>
              <a:gd name="connsiteX12" fmla="*/ 683020 w 3021543"/>
              <a:gd name="connsiteY12" fmla="*/ 236595 h 1532055"/>
              <a:gd name="connsiteX13" fmla="*/ 621295 w 3021543"/>
              <a:gd name="connsiteY13" fmla="*/ 264155 h 1532055"/>
              <a:gd name="connsiteX14" fmla="*/ 848968 w 3021543"/>
              <a:gd name="connsiteY14" fmla="*/ 304896 h 1532055"/>
              <a:gd name="connsiteX15" fmla="*/ 768018 w 3021543"/>
              <a:gd name="connsiteY15" fmla="*/ 330059 h 1532055"/>
              <a:gd name="connsiteX16" fmla="*/ 684032 w 3021543"/>
              <a:gd name="connsiteY16" fmla="*/ 348032 h 1532055"/>
              <a:gd name="connsiteX17" fmla="*/ 592962 w 3021543"/>
              <a:gd name="connsiteY17" fmla="*/ 361213 h 1532055"/>
              <a:gd name="connsiteX18" fmla="*/ 509988 w 3021543"/>
              <a:gd name="connsiteY18" fmla="*/ 387575 h 1532055"/>
              <a:gd name="connsiteX19" fmla="*/ 726531 w 3021543"/>
              <a:gd name="connsiteY19" fmla="*/ 398359 h 1532055"/>
              <a:gd name="connsiteX20" fmla="*/ 614212 w 3021543"/>
              <a:gd name="connsiteY20" fmla="*/ 422324 h 1532055"/>
              <a:gd name="connsiteX21" fmla="*/ 522131 w 3021543"/>
              <a:gd name="connsiteY21" fmla="*/ 453478 h 1532055"/>
              <a:gd name="connsiteX22" fmla="*/ 457370 w 3021543"/>
              <a:gd name="connsiteY22" fmla="*/ 467857 h 1532055"/>
              <a:gd name="connsiteX23" fmla="*/ 388562 w 3021543"/>
              <a:gd name="connsiteY23" fmla="*/ 471452 h 1532055"/>
              <a:gd name="connsiteX24" fmla="*/ 372372 w 3021543"/>
              <a:gd name="connsiteY24" fmla="*/ 494218 h 1532055"/>
              <a:gd name="connsiteX25" fmla="*/ 393622 w 3021543"/>
              <a:gd name="connsiteY25" fmla="*/ 518184 h 1532055"/>
              <a:gd name="connsiteX26" fmla="*/ 426002 w 3021543"/>
              <a:gd name="connsiteY26" fmla="*/ 520580 h 1532055"/>
              <a:gd name="connsiteX27" fmla="*/ 619271 w 3021543"/>
              <a:gd name="connsiteY27" fmla="*/ 526571 h 1532055"/>
              <a:gd name="connsiteX28" fmla="*/ 0 w 3021543"/>
              <a:gd name="connsiteY28" fmla="*/ 579294 h 1532055"/>
              <a:gd name="connsiteX29" fmla="*/ 83986 w 3021543"/>
              <a:gd name="connsiteY29" fmla="*/ 611647 h 1532055"/>
              <a:gd name="connsiteX30" fmla="*/ 112319 w 3021543"/>
              <a:gd name="connsiteY30" fmla="*/ 700317 h 1532055"/>
              <a:gd name="connsiteX31" fmla="*/ 215531 w 3021543"/>
              <a:gd name="connsiteY31" fmla="*/ 750643 h 1532055"/>
              <a:gd name="connsiteX32" fmla="*/ 282315 w 3021543"/>
              <a:gd name="connsiteY32" fmla="*/ 768617 h 1532055"/>
              <a:gd name="connsiteX33" fmla="*/ 435109 w 3021543"/>
              <a:gd name="connsiteY33" fmla="*/ 794979 h 1532055"/>
              <a:gd name="connsiteX34" fmla="*/ 457370 w 3021543"/>
              <a:gd name="connsiteY34" fmla="*/ 838116 h 1532055"/>
              <a:gd name="connsiteX35" fmla="*/ 476596 w 3021543"/>
              <a:gd name="connsiteY35" fmla="*/ 886046 h 1532055"/>
              <a:gd name="connsiteX36" fmla="*/ 517071 w 3021543"/>
              <a:gd name="connsiteY36" fmla="*/ 917200 h 1532055"/>
              <a:gd name="connsiteX37" fmla="*/ 202377 w 3021543"/>
              <a:gd name="connsiteY37" fmla="*/ 912407 h 1532055"/>
              <a:gd name="connsiteX38" fmla="*/ 557546 w 3021543"/>
              <a:gd name="connsiteY38" fmla="*/ 1013060 h 1532055"/>
              <a:gd name="connsiteX39" fmla="*/ 526178 w 3021543"/>
              <a:gd name="connsiteY39" fmla="*/ 1052602 h 1532055"/>
              <a:gd name="connsiteX40" fmla="*/ 720459 w 3021543"/>
              <a:gd name="connsiteY40" fmla="*/ 1106523 h 1532055"/>
              <a:gd name="connsiteX41" fmla="*/ 616236 w 3021543"/>
              <a:gd name="connsiteY41" fmla="*/ 1112514 h 1532055"/>
              <a:gd name="connsiteX42" fmla="*/ 1222353 w 3021543"/>
              <a:gd name="connsiteY42" fmla="*/ 1337785 h 1532055"/>
              <a:gd name="connsiteX43" fmla="*/ 2087511 w 3021543"/>
              <a:gd name="connsiteY43" fmla="*/ 1500747 h 1532055"/>
              <a:gd name="connsiteX44" fmla="*/ 2425479 w 3021543"/>
              <a:gd name="connsiteY44" fmla="*/ 1531901 h 1532055"/>
              <a:gd name="connsiteX45" fmla="*/ 2809994 w 3021543"/>
              <a:gd name="connsiteY45" fmla="*/ 1522315 h 1532055"/>
              <a:gd name="connsiteX46" fmla="*/ 2953618 w 3021543"/>
              <a:gd name="connsiteY46" fmla="*/ 1512448 h 1532055"/>
              <a:gd name="connsiteX47" fmla="*/ 3021543 w 3021543"/>
              <a:gd name="connsiteY47" fmla="*/ 1502657 h 1532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532055">
                <a:moveTo>
                  <a:pt x="3021543" y="0"/>
                </a:moveTo>
                <a:lnTo>
                  <a:pt x="2963800" y="7730"/>
                </a:lnTo>
                <a:cubicBezTo>
                  <a:pt x="2907134" y="14919"/>
                  <a:pt x="2850469" y="24506"/>
                  <a:pt x="2793803" y="25704"/>
                </a:cubicBezTo>
                <a:cubicBezTo>
                  <a:pt x="2667318" y="29298"/>
                  <a:pt x="2539821" y="20911"/>
                  <a:pt x="2414348" y="31695"/>
                </a:cubicBezTo>
                <a:cubicBezTo>
                  <a:pt x="2307089" y="41281"/>
                  <a:pt x="2198818" y="30497"/>
                  <a:pt x="2091558" y="29298"/>
                </a:cubicBezTo>
                <a:cubicBezTo>
                  <a:pt x="1942812" y="28100"/>
                  <a:pt x="1793053" y="19713"/>
                  <a:pt x="1645319" y="30497"/>
                </a:cubicBezTo>
                <a:cubicBezTo>
                  <a:pt x="1510738" y="38885"/>
                  <a:pt x="1376158" y="41281"/>
                  <a:pt x="1243602" y="64048"/>
                </a:cubicBezTo>
                <a:cubicBezTo>
                  <a:pt x="1079677" y="76030"/>
                  <a:pt x="916765" y="68841"/>
                  <a:pt x="753851" y="61651"/>
                </a:cubicBezTo>
                <a:cubicBezTo>
                  <a:pt x="653675" y="56858"/>
                  <a:pt x="554511" y="41281"/>
                  <a:pt x="465465" y="123960"/>
                </a:cubicBezTo>
                <a:cubicBezTo>
                  <a:pt x="489751" y="143132"/>
                  <a:pt x="519095" y="139537"/>
                  <a:pt x="546416" y="145529"/>
                </a:cubicBezTo>
                <a:cubicBezTo>
                  <a:pt x="594986" y="157511"/>
                  <a:pt x="643557" y="169493"/>
                  <a:pt x="689091" y="192260"/>
                </a:cubicBezTo>
                <a:cubicBezTo>
                  <a:pt x="699210" y="197053"/>
                  <a:pt x="708317" y="206639"/>
                  <a:pt x="704269" y="222217"/>
                </a:cubicBezTo>
                <a:cubicBezTo>
                  <a:pt x="701234" y="234199"/>
                  <a:pt x="691115" y="234199"/>
                  <a:pt x="683020" y="236595"/>
                </a:cubicBezTo>
                <a:cubicBezTo>
                  <a:pt x="664806" y="243785"/>
                  <a:pt x="642545" y="238992"/>
                  <a:pt x="621295" y="264155"/>
                </a:cubicBezTo>
                <a:cubicBezTo>
                  <a:pt x="702245" y="277336"/>
                  <a:pt x="780160" y="252172"/>
                  <a:pt x="848968" y="304896"/>
                </a:cubicBezTo>
                <a:cubicBezTo>
                  <a:pt x="823671" y="331257"/>
                  <a:pt x="795339" y="325266"/>
                  <a:pt x="768018" y="330059"/>
                </a:cubicBezTo>
                <a:cubicBezTo>
                  <a:pt x="739685" y="334852"/>
                  <a:pt x="712365" y="343240"/>
                  <a:pt x="684032" y="348032"/>
                </a:cubicBezTo>
                <a:cubicBezTo>
                  <a:pt x="653675" y="354023"/>
                  <a:pt x="623319" y="355222"/>
                  <a:pt x="592962" y="361213"/>
                </a:cubicBezTo>
                <a:cubicBezTo>
                  <a:pt x="567666" y="366006"/>
                  <a:pt x="540345" y="357618"/>
                  <a:pt x="509988" y="387575"/>
                </a:cubicBezTo>
                <a:cubicBezTo>
                  <a:pt x="584867" y="409143"/>
                  <a:pt x="652663" y="376790"/>
                  <a:pt x="726531" y="398359"/>
                </a:cubicBezTo>
                <a:cubicBezTo>
                  <a:pt x="683020" y="417531"/>
                  <a:pt x="647604" y="411539"/>
                  <a:pt x="614212" y="422324"/>
                </a:cubicBezTo>
                <a:cubicBezTo>
                  <a:pt x="583855" y="433108"/>
                  <a:pt x="547428" y="421126"/>
                  <a:pt x="522131" y="453478"/>
                </a:cubicBezTo>
                <a:cubicBezTo>
                  <a:pt x="502905" y="478641"/>
                  <a:pt x="482668" y="482236"/>
                  <a:pt x="457370" y="467857"/>
                </a:cubicBezTo>
                <a:cubicBezTo>
                  <a:pt x="435109" y="454676"/>
                  <a:pt x="410824" y="458271"/>
                  <a:pt x="388562" y="471452"/>
                </a:cubicBezTo>
                <a:cubicBezTo>
                  <a:pt x="380468" y="476245"/>
                  <a:pt x="372372" y="482236"/>
                  <a:pt x="372372" y="494218"/>
                </a:cubicBezTo>
                <a:cubicBezTo>
                  <a:pt x="372372" y="510994"/>
                  <a:pt x="382491" y="515787"/>
                  <a:pt x="393622" y="518184"/>
                </a:cubicBezTo>
                <a:cubicBezTo>
                  <a:pt x="403741" y="520580"/>
                  <a:pt x="415883" y="522977"/>
                  <a:pt x="426002" y="520580"/>
                </a:cubicBezTo>
                <a:cubicBezTo>
                  <a:pt x="490762" y="507399"/>
                  <a:pt x="554511" y="528968"/>
                  <a:pt x="619271" y="526571"/>
                </a:cubicBezTo>
                <a:cubicBezTo>
                  <a:pt x="415883" y="578096"/>
                  <a:pt x="210471" y="561321"/>
                  <a:pt x="0" y="579294"/>
                </a:cubicBezTo>
                <a:cubicBezTo>
                  <a:pt x="27321" y="615241"/>
                  <a:pt x="62737" y="585286"/>
                  <a:pt x="83986" y="611647"/>
                </a:cubicBezTo>
                <a:cubicBezTo>
                  <a:pt x="63748" y="666766"/>
                  <a:pt x="71844" y="696722"/>
                  <a:pt x="112319" y="700317"/>
                </a:cubicBezTo>
                <a:cubicBezTo>
                  <a:pt x="151782" y="703912"/>
                  <a:pt x="194281" y="684740"/>
                  <a:pt x="215531" y="750643"/>
                </a:cubicBezTo>
                <a:cubicBezTo>
                  <a:pt x="221602" y="771014"/>
                  <a:pt x="259042" y="765023"/>
                  <a:pt x="282315" y="768617"/>
                </a:cubicBezTo>
                <a:cubicBezTo>
                  <a:pt x="332909" y="777005"/>
                  <a:pt x="386539" y="768617"/>
                  <a:pt x="435109" y="794979"/>
                </a:cubicBezTo>
                <a:cubicBezTo>
                  <a:pt x="454335" y="804565"/>
                  <a:pt x="467489" y="811754"/>
                  <a:pt x="457370" y="838116"/>
                </a:cubicBezTo>
                <a:cubicBezTo>
                  <a:pt x="447252" y="865675"/>
                  <a:pt x="460406" y="875261"/>
                  <a:pt x="476596" y="886046"/>
                </a:cubicBezTo>
                <a:cubicBezTo>
                  <a:pt x="488739" y="894433"/>
                  <a:pt x="506953" y="892037"/>
                  <a:pt x="517071" y="917200"/>
                </a:cubicBezTo>
                <a:cubicBezTo>
                  <a:pt x="410824" y="913605"/>
                  <a:pt x="307612" y="893235"/>
                  <a:pt x="202377" y="912407"/>
                </a:cubicBezTo>
                <a:cubicBezTo>
                  <a:pt x="317731" y="960337"/>
                  <a:pt x="444216" y="957940"/>
                  <a:pt x="557546" y="1013060"/>
                </a:cubicBezTo>
                <a:cubicBezTo>
                  <a:pt x="553499" y="1032232"/>
                  <a:pt x="527190" y="1023844"/>
                  <a:pt x="526178" y="1052602"/>
                </a:cubicBezTo>
                <a:cubicBezTo>
                  <a:pt x="585879" y="1082558"/>
                  <a:pt x="657723" y="1062188"/>
                  <a:pt x="720459" y="1106523"/>
                </a:cubicBezTo>
                <a:cubicBezTo>
                  <a:pt x="684032" y="1126893"/>
                  <a:pt x="650640" y="1093342"/>
                  <a:pt x="616236" y="1112514"/>
                </a:cubicBezTo>
                <a:cubicBezTo>
                  <a:pt x="627367" y="1141273"/>
                  <a:pt x="1131283" y="1318613"/>
                  <a:pt x="1222353" y="1337785"/>
                </a:cubicBezTo>
                <a:cubicBezTo>
                  <a:pt x="1407527" y="1377327"/>
                  <a:pt x="1940788" y="1477980"/>
                  <a:pt x="2087511" y="1500747"/>
                </a:cubicBezTo>
                <a:cubicBezTo>
                  <a:pt x="2200841" y="1517522"/>
                  <a:pt x="2313160" y="1530703"/>
                  <a:pt x="2425479" y="1531901"/>
                </a:cubicBezTo>
                <a:cubicBezTo>
                  <a:pt x="2553988" y="1533099"/>
                  <a:pt x="2681485" y="1527108"/>
                  <a:pt x="2809994" y="1522315"/>
                </a:cubicBezTo>
                <a:cubicBezTo>
                  <a:pt x="2858058" y="1520518"/>
                  <a:pt x="2905933" y="1517372"/>
                  <a:pt x="2953618" y="1512448"/>
                </a:cubicBezTo>
                <a:lnTo>
                  <a:pt x="3021543" y="1502657"/>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ítulo 1"/>
          <p:cNvSpPr>
            <a:spLocks noGrp="1"/>
          </p:cNvSpPr>
          <p:nvPr>
            <p:ph type="title"/>
          </p:nvPr>
        </p:nvSpPr>
        <p:spPr>
          <a:xfrm>
            <a:off x="628650" y="838199"/>
            <a:ext cx="3143250" cy="5338763"/>
          </a:xfrm>
        </p:spPr>
        <p:txBody>
          <a:bodyPr>
            <a:normAutofit/>
          </a:bodyPr>
          <a:lstStyle/>
          <a:p>
            <a:r>
              <a:rPr lang="es-SV" dirty="0"/>
              <a:t>Ejercicio 3  </a:t>
            </a:r>
          </a:p>
        </p:txBody>
      </p:sp>
      <p:sp>
        <p:nvSpPr>
          <p:cNvPr id="3" name="Marcador de contenido 2"/>
          <p:cNvSpPr>
            <a:spLocks noGrp="1"/>
          </p:cNvSpPr>
          <p:nvPr>
            <p:ph idx="1"/>
          </p:nvPr>
        </p:nvSpPr>
        <p:spPr>
          <a:xfrm>
            <a:off x="3976749" y="838199"/>
            <a:ext cx="4538601" cy="5338763"/>
          </a:xfrm>
        </p:spPr>
        <p:txBody>
          <a:bodyPr anchor="ctr">
            <a:normAutofit/>
          </a:bodyPr>
          <a:lstStyle/>
          <a:p>
            <a:pPr marL="0" indent="0">
              <a:buNone/>
            </a:pPr>
            <a:r>
              <a:rPr lang="es-SV" sz="1700"/>
              <a:t>La U.S. Bureau of Labor Statistics informa que el gasto promedio anual en alimentos y bebidas de una familia es $5700 (</a:t>
            </a:r>
            <a:r>
              <a:rPr lang="es-SV" sz="1700" i="1"/>
              <a:t>Money</a:t>
            </a:r>
            <a:r>
              <a:rPr lang="es-SV" sz="1700"/>
              <a:t>, diciembre de 2003). Suponga que los gastos anuales en alimentos y bebidas están distribuidos en forma normal y que la desviación estándar es $1500. (Anderson, Sweeney y Williams 2008)</a:t>
            </a:r>
          </a:p>
          <a:p>
            <a:r>
              <a:rPr lang="es-SV" sz="1700"/>
              <a:t>¿Cuál es el intervalo en que se encuentran los gastos de 10% de las familias que tienen los menores gastos anuales en alimentos y bebidas? </a:t>
            </a:r>
          </a:p>
          <a:p>
            <a:r>
              <a:rPr lang="es-SV" sz="1700"/>
              <a:t>¿Qué porcentaje de las familias gasta más de $7000 anualmente en alimentos y bebidas? </a:t>
            </a:r>
          </a:p>
          <a:p>
            <a:r>
              <a:rPr lang="es-SV" sz="1700"/>
              <a:t>¿Cuál es el intervalo en el que se encuentran los gastos de 5% de las familias que tienen los gastos más altos en alimentos y bebidas? </a:t>
            </a:r>
          </a:p>
        </p:txBody>
      </p:sp>
    </p:spTree>
    <p:extLst>
      <p:ext uri="{BB962C8B-B14F-4D97-AF65-F5344CB8AC3E}">
        <p14:creationId xmlns:p14="http://schemas.microsoft.com/office/powerpoint/2010/main" val="12810616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8717E5B-2C1D-4094-9D25-6FF6FBD92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1219200"/>
            <a:ext cx="3383128" cy="380455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rtlCol="0" anchor="ctr"/>
          <a:lstStyle/>
          <a:p>
            <a:endParaRPr lang="en-US"/>
          </a:p>
        </p:txBody>
      </p:sp>
      <p:sp>
        <p:nvSpPr>
          <p:cNvPr id="2" name="Título 1"/>
          <p:cNvSpPr>
            <a:spLocks noGrp="1"/>
          </p:cNvSpPr>
          <p:nvPr>
            <p:ph type="title"/>
          </p:nvPr>
        </p:nvSpPr>
        <p:spPr>
          <a:xfrm>
            <a:off x="854283" y="2090114"/>
            <a:ext cx="2537167" cy="2481886"/>
          </a:xfrm>
        </p:spPr>
        <p:txBody>
          <a:bodyPr>
            <a:normAutofit/>
          </a:bodyPr>
          <a:lstStyle/>
          <a:p>
            <a:pPr algn="ctr"/>
            <a:r>
              <a:rPr lang="es-SV" dirty="0"/>
              <a:t>Ejercicio 4</a:t>
            </a:r>
            <a:endParaRPr lang="es-SV"/>
          </a:p>
        </p:txBody>
      </p:sp>
      <p:sp>
        <p:nvSpPr>
          <p:cNvPr id="3" name="Marcador de contenido 2"/>
          <p:cNvSpPr>
            <a:spLocks noGrp="1"/>
          </p:cNvSpPr>
          <p:nvPr>
            <p:ph idx="1"/>
          </p:nvPr>
        </p:nvSpPr>
        <p:spPr>
          <a:xfrm>
            <a:off x="3963760" y="964850"/>
            <a:ext cx="4551590" cy="4928300"/>
          </a:xfrm>
        </p:spPr>
        <p:txBody>
          <a:bodyPr anchor="ctr">
            <a:normAutofit/>
          </a:bodyPr>
          <a:lstStyle/>
          <a:p>
            <a:pPr marL="0" indent="0">
              <a:buNone/>
            </a:pPr>
            <a:r>
              <a:rPr lang="es-SV" sz="1700"/>
              <a:t>El promedio anual de gastos de una familia estadounidense en transporte diario es $6312 (</a:t>
            </a:r>
            <a:r>
              <a:rPr lang="es-SV" sz="1700" i="1"/>
              <a:t>Money</a:t>
            </a:r>
            <a:r>
              <a:rPr lang="es-SV" sz="1700"/>
              <a:t>, agosto de 2001). Suponga que dicha cantidad está distribuida normalmente. (Anderson, Sweeney y Williams 2008)</a:t>
            </a:r>
          </a:p>
          <a:p>
            <a:r>
              <a:rPr lang="es-SV" sz="1700"/>
              <a:t>Si sabe que 5% de las familias estadounidenses gastan menos de $1000 en el transporte diario. ¿Cuál es la desviación estándar en esta cantidad de gasto?</a:t>
            </a:r>
          </a:p>
          <a:p>
            <a:r>
              <a:rPr lang="es-SV" sz="1700"/>
              <a:t>¿Cuál es la probabilidad de que un hogar gaste entre $4000 y $6000?</a:t>
            </a:r>
          </a:p>
          <a:p>
            <a:r>
              <a:rPr lang="es-SV" sz="1700"/>
              <a:t>¿En que intervalo se encuentran los gastos de las familias que constituyen 3% de las familias con los gastos más altos en transporte?</a:t>
            </a:r>
          </a:p>
        </p:txBody>
      </p:sp>
    </p:spTree>
    <p:extLst>
      <p:ext uri="{BB962C8B-B14F-4D97-AF65-F5344CB8AC3E}">
        <p14:creationId xmlns:p14="http://schemas.microsoft.com/office/powerpoint/2010/main" val="17638694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133778"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ítulo 1"/>
          <p:cNvSpPr>
            <a:spLocks noGrp="1"/>
          </p:cNvSpPr>
          <p:nvPr>
            <p:ph type="title"/>
          </p:nvPr>
        </p:nvSpPr>
        <p:spPr>
          <a:xfrm>
            <a:off x="628650" y="713312"/>
            <a:ext cx="3028950" cy="5431376"/>
          </a:xfrm>
        </p:spPr>
        <p:txBody>
          <a:bodyPr>
            <a:normAutofit/>
          </a:bodyPr>
          <a:lstStyle/>
          <a:p>
            <a:r>
              <a:rPr lang="es-SV" dirty="0"/>
              <a:t>Ejercicio 5 </a:t>
            </a:r>
          </a:p>
        </p:txBody>
      </p:sp>
      <p:sp>
        <p:nvSpPr>
          <p:cNvPr id="3" name="Marcador de contenido 2"/>
          <p:cNvSpPr>
            <a:spLocks noGrp="1"/>
          </p:cNvSpPr>
          <p:nvPr>
            <p:ph idx="1"/>
          </p:nvPr>
        </p:nvSpPr>
        <p:spPr>
          <a:xfrm>
            <a:off x="4571999" y="713313"/>
            <a:ext cx="3943351" cy="5431376"/>
          </a:xfrm>
        </p:spPr>
        <p:txBody>
          <a:bodyPr anchor="ctr">
            <a:normAutofit/>
          </a:bodyPr>
          <a:lstStyle/>
          <a:p>
            <a:pPr marL="0" indent="0">
              <a:buNone/>
            </a:pPr>
            <a:r>
              <a:rPr lang="es-SV" sz="1600"/>
              <a:t>De acuerdo con </a:t>
            </a:r>
            <a:r>
              <a:rPr lang="es-SV" sz="1600" i="1"/>
              <a:t>Adversiting Age</a:t>
            </a:r>
            <a:r>
              <a:rPr lang="es-SV" sz="1600"/>
              <a:t>, el salario base promedio de las mujeres que trabajan como publicistas es superior al salario base promedio de los hombres. El salario base promedio de las mujeres es $67 000 y el salario base promedio de los hombres es $65 500 (</a:t>
            </a:r>
            <a:r>
              <a:rPr lang="es-SV" sz="1600" i="1"/>
              <a:t>Working Woman</a:t>
            </a:r>
            <a:r>
              <a:rPr lang="es-SV" sz="1600"/>
              <a:t>, julio/agosto de 2000). Suponga que los salarios están distribuidos normalmente con una desviación estándar de $7000 tanto para hombres como para mujeres. (Anderson, Sweeney y Williams 2008)</a:t>
            </a:r>
          </a:p>
          <a:p>
            <a:r>
              <a:rPr lang="es-SV" sz="1600"/>
              <a:t>¿Cuál es la probabilidad de que una mujer tenga un salario mayor que $75 000?</a:t>
            </a:r>
          </a:p>
          <a:p>
            <a:r>
              <a:rPr lang="es-SV" sz="1600"/>
              <a:t>¿De que un hombre tenga un salario mayor que $75 000?</a:t>
            </a:r>
          </a:p>
          <a:p>
            <a:r>
              <a:rPr lang="es-SV" sz="1600"/>
              <a:t>¿De que una mujer tenga un salario mayor que $50 000?</a:t>
            </a:r>
          </a:p>
          <a:p>
            <a:r>
              <a:rPr lang="es-SV" sz="1600"/>
              <a:t>¿Cuánto tendrá que ganar una mujer para tener un salario mayor que 99% de los hombres?</a:t>
            </a:r>
          </a:p>
        </p:txBody>
      </p:sp>
    </p:spTree>
    <p:extLst>
      <p:ext uri="{BB962C8B-B14F-4D97-AF65-F5344CB8AC3E}">
        <p14:creationId xmlns:p14="http://schemas.microsoft.com/office/powerpoint/2010/main" val="18659637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133778"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ítulo 1"/>
          <p:cNvSpPr>
            <a:spLocks noGrp="1"/>
          </p:cNvSpPr>
          <p:nvPr>
            <p:ph type="title"/>
          </p:nvPr>
        </p:nvSpPr>
        <p:spPr>
          <a:xfrm>
            <a:off x="628650" y="713312"/>
            <a:ext cx="3028950" cy="5431376"/>
          </a:xfrm>
        </p:spPr>
        <p:txBody>
          <a:bodyPr>
            <a:normAutofit/>
          </a:bodyPr>
          <a:lstStyle/>
          <a:p>
            <a:r>
              <a:rPr lang="es-SV" dirty="0"/>
              <a:t>Ejercicio 6</a:t>
            </a:r>
          </a:p>
        </p:txBody>
      </p:sp>
      <p:sp>
        <p:nvSpPr>
          <p:cNvPr id="3" name="Marcador de contenido 2"/>
          <p:cNvSpPr>
            <a:spLocks noGrp="1"/>
          </p:cNvSpPr>
          <p:nvPr>
            <p:ph idx="1"/>
          </p:nvPr>
        </p:nvSpPr>
        <p:spPr>
          <a:xfrm>
            <a:off x="4571999" y="713313"/>
            <a:ext cx="3943351" cy="5431376"/>
          </a:xfrm>
        </p:spPr>
        <p:txBody>
          <a:bodyPr anchor="ctr">
            <a:normAutofit/>
          </a:bodyPr>
          <a:lstStyle/>
          <a:p>
            <a:pPr marL="0" indent="0">
              <a:buNone/>
            </a:pPr>
            <a:r>
              <a:rPr lang="es-SV" sz="1700"/>
              <a:t>Sparagowsky &amp; Associates hace un estudio sobre los tiempos necesarios para atender a un cliente en la ventanilla de su automóvil en los restaurantes de comida rápida. En McDonald´s el tiempo medio para atender a un cliente fue 2.78 minutos (</a:t>
            </a:r>
            <a:r>
              <a:rPr lang="es-SV" sz="1700" i="1"/>
              <a:t>The Cincinnati Enquirer</a:t>
            </a:r>
            <a:r>
              <a:rPr lang="es-SV" sz="1700"/>
              <a:t>, 9 de julio de 2000). Tiempos de servicio como los de estos restaurantes suelen seguir una distribución exponencial.</a:t>
            </a:r>
          </a:p>
          <a:p>
            <a:r>
              <a:rPr lang="es-SV" sz="1700"/>
              <a:t>¿Cuál es la probabilidad de que el tiempo para atender a un cliente sea menor que 2 minutos? </a:t>
            </a:r>
          </a:p>
          <a:p>
            <a:r>
              <a:rPr lang="es-SV" sz="1700"/>
              <a:t>¿De que el tiempo para atender a un cliente sean más de 5 minutos? </a:t>
            </a:r>
          </a:p>
          <a:p>
            <a:r>
              <a:rPr lang="es-SV" sz="1700"/>
              <a:t>¿De que el tiempo para atender a un cliente sean más de 2.78 minutos? </a:t>
            </a:r>
          </a:p>
        </p:txBody>
      </p:sp>
    </p:spTree>
    <p:extLst>
      <p:ext uri="{BB962C8B-B14F-4D97-AF65-F5344CB8AC3E}">
        <p14:creationId xmlns:p14="http://schemas.microsoft.com/office/powerpoint/2010/main" val="34955618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A8AAC95-3719-4BCD-B710-4160043D92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3A6D7BA-50E4-42FE-A0E3-FC42B7EC43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767722"/>
            <a:ext cx="2266158" cy="1532055"/>
          </a:xfrm>
          <a:custGeom>
            <a:avLst/>
            <a:gdLst>
              <a:gd name="connsiteX0" fmla="*/ 3021543 w 3021543"/>
              <a:gd name="connsiteY0" fmla="*/ 0 h 1532055"/>
              <a:gd name="connsiteX1" fmla="*/ 2963800 w 3021543"/>
              <a:gd name="connsiteY1" fmla="*/ 7730 h 1532055"/>
              <a:gd name="connsiteX2" fmla="*/ 2793803 w 3021543"/>
              <a:gd name="connsiteY2" fmla="*/ 25704 h 1532055"/>
              <a:gd name="connsiteX3" fmla="*/ 2414348 w 3021543"/>
              <a:gd name="connsiteY3" fmla="*/ 31695 h 1532055"/>
              <a:gd name="connsiteX4" fmla="*/ 2091558 w 3021543"/>
              <a:gd name="connsiteY4" fmla="*/ 29298 h 1532055"/>
              <a:gd name="connsiteX5" fmla="*/ 1645319 w 3021543"/>
              <a:gd name="connsiteY5" fmla="*/ 30497 h 1532055"/>
              <a:gd name="connsiteX6" fmla="*/ 1243602 w 3021543"/>
              <a:gd name="connsiteY6" fmla="*/ 64048 h 1532055"/>
              <a:gd name="connsiteX7" fmla="*/ 753851 w 3021543"/>
              <a:gd name="connsiteY7" fmla="*/ 61651 h 1532055"/>
              <a:gd name="connsiteX8" fmla="*/ 465465 w 3021543"/>
              <a:gd name="connsiteY8" fmla="*/ 123960 h 1532055"/>
              <a:gd name="connsiteX9" fmla="*/ 546416 w 3021543"/>
              <a:gd name="connsiteY9" fmla="*/ 145529 h 1532055"/>
              <a:gd name="connsiteX10" fmla="*/ 689091 w 3021543"/>
              <a:gd name="connsiteY10" fmla="*/ 192260 h 1532055"/>
              <a:gd name="connsiteX11" fmla="*/ 704269 w 3021543"/>
              <a:gd name="connsiteY11" fmla="*/ 222217 h 1532055"/>
              <a:gd name="connsiteX12" fmla="*/ 683020 w 3021543"/>
              <a:gd name="connsiteY12" fmla="*/ 236595 h 1532055"/>
              <a:gd name="connsiteX13" fmla="*/ 621295 w 3021543"/>
              <a:gd name="connsiteY13" fmla="*/ 264155 h 1532055"/>
              <a:gd name="connsiteX14" fmla="*/ 848968 w 3021543"/>
              <a:gd name="connsiteY14" fmla="*/ 304896 h 1532055"/>
              <a:gd name="connsiteX15" fmla="*/ 768018 w 3021543"/>
              <a:gd name="connsiteY15" fmla="*/ 330059 h 1532055"/>
              <a:gd name="connsiteX16" fmla="*/ 684032 w 3021543"/>
              <a:gd name="connsiteY16" fmla="*/ 348032 h 1532055"/>
              <a:gd name="connsiteX17" fmla="*/ 592962 w 3021543"/>
              <a:gd name="connsiteY17" fmla="*/ 361213 h 1532055"/>
              <a:gd name="connsiteX18" fmla="*/ 509988 w 3021543"/>
              <a:gd name="connsiteY18" fmla="*/ 387575 h 1532055"/>
              <a:gd name="connsiteX19" fmla="*/ 726531 w 3021543"/>
              <a:gd name="connsiteY19" fmla="*/ 398359 h 1532055"/>
              <a:gd name="connsiteX20" fmla="*/ 614212 w 3021543"/>
              <a:gd name="connsiteY20" fmla="*/ 422324 h 1532055"/>
              <a:gd name="connsiteX21" fmla="*/ 522131 w 3021543"/>
              <a:gd name="connsiteY21" fmla="*/ 453478 h 1532055"/>
              <a:gd name="connsiteX22" fmla="*/ 457370 w 3021543"/>
              <a:gd name="connsiteY22" fmla="*/ 467857 h 1532055"/>
              <a:gd name="connsiteX23" fmla="*/ 388562 w 3021543"/>
              <a:gd name="connsiteY23" fmla="*/ 471452 h 1532055"/>
              <a:gd name="connsiteX24" fmla="*/ 372372 w 3021543"/>
              <a:gd name="connsiteY24" fmla="*/ 494218 h 1532055"/>
              <a:gd name="connsiteX25" fmla="*/ 393622 w 3021543"/>
              <a:gd name="connsiteY25" fmla="*/ 518184 h 1532055"/>
              <a:gd name="connsiteX26" fmla="*/ 426002 w 3021543"/>
              <a:gd name="connsiteY26" fmla="*/ 520580 h 1532055"/>
              <a:gd name="connsiteX27" fmla="*/ 619271 w 3021543"/>
              <a:gd name="connsiteY27" fmla="*/ 526571 h 1532055"/>
              <a:gd name="connsiteX28" fmla="*/ 0 w 3021543"/>
              <a:gd name="connsiteY28" fmla="*/ 579294 h 1532055"/>
              <a:gd name="connsiteX29" fmla="*/ 83986 w 3021543"/>
              <a:gd name="connsiteY29" fmla="*/ 611647 h 1532055"/>
              <a:gd name="connsiteX30" fmla="*/ 112319 w 3021543"/>
              <a:gd name="connsiteY30" fmla="*/ 700317 h 1532055"/>
              <a:gd name="connsiteX31" fmla="*/ 215531 w 3021543"/>
              <a:gd name="connsiteY31" fmla="*/ 750643 h 1532055"/>
              <a:gd name="connsiteX32" fmla="*/ 282315 w 3021543"/>
              <a:gd name="connsiteY32" fmla="*/ 768617 h 1532055"/>
              <a:gd name="connsiteX33" fmla="*/ 435109 w 3021543"/>
              <a:gd name="connsiteY33" fmla="*/ 794979 h 1532055"/>
              <a:gd name="connsiteX34" fmla="*/ 457370 w 3021543"/>
              <a:gd name="connsiteY34" fmla="*/ 838116 h 1532055"/>
              <a:gd name="connsiteX35" fmla="*/ 476596 w 3021543"/>
              <a:gd name="connsiteY35" fmla="*/ 886046 h 1532055"/>
              <a:gd name="connsiteX36" fmla="*/ 517071 w 3021543"/>
              <a:gd name="connsiteY36" fmla="*/ 917200 h 1532055"/>
              <a:gd name="connsiteX37" fmla="*/ 202377 w 3021543"/>
              <a:gd name="connsiteY37" fmla="*/ 912407 h 1532055"/>
              <a:gd name="connsiteX38" fmla="*/ 557546 w 3021543"/>
              <a:gd name="connsiteY38" fmla="*/ 1013060 h 1532055"/>
              <a:gd name="connsiteX39" fmla="*/ 526178 w 3021543"/>
              <a:gd name="connsiteY39" fmla="*/ 1052602 h 1532055"/>
              <a:gd name="connsiteX40" fmla="*/ 720459 w 3021543"/>
              <a:gd name="connsiteY40" fmla="*/ 1106523 h 1532055"/>
              <a:gd name="connsiteX41" fmla="*/ 616236 w 3021543"/>
              <a:gd name="connsiteY41" fmla="*/ 1112514 h 1532055"/>
              <a:gd name="connsiteX42" fmla="*/ 1222353 w 3021543"/>
              <a:gd name="connsiteY42" fmla="*/ 1337785 h 1532055"/>
              <a:gd name="connsiteX43" fmla="*/ 2087511 w 3021543"/>
              <a:gd name="connsiteY43" fmla="*/ 1500747 h 1532055"/>
              <a:gd name="connsiteX44" fmla="*/ 2425479 w 3021543"/>
              <a:gd name="connsiteY44" fmla="*/ 1531901 h 1532055"/>
              <a:gd name="connsiteX45" fmla="*/ 2809994 w 3021543"/>
              <a:gd name="connsiteY45" fmla="*/ 1522315 h 1532055"/>
              <a:gd name="connsiteX46" fmla="*/ 2953618 w 3021543"/>
              <a:gd name="connsiteY46" fmla="*/ 1512448 h 1532055"/>
              <a:gd name="connsiteX47" fmla="*/ 3021543 w 3021543"/>
              <a:gd name="connsiteY47" fmla="*/ 1502657 h 1532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532055">
                <a:moveTo>
                  <a:pt x="3021543" y="0"/>
                </a:moveTo>
                <a:lnTo>
                  <a:pt x="2963800" y="7730"/>
                </a:lnTo>
                <a:cubicBezTo>
                  <a:pt x="2907134" y="14919"/>
                  <a:pt x="2850469" y="24506"/>
                  <a:pt x="2793803" y="25704"/>
                </a:cubicBezTo>
                <a:cubicBezTo>
                  <a:pt x="2667318" y="29298"/>
                  <a:pt x="2539821" y="20911"/>
                  <a:pt x="2414348" y="31695"/>
                </a:cubicBezTo>
                <a:cubicBezTo>
                  <a:pt x="2307089" y="41281"/>
                  <a:pt x="2198818" y="30497"/>
                  <a:pt x="2091558" y="29298"/>
                </a:cubicBezTo>
                <a:cubicBezTo>
                  <a:pt x="1942812" y="28100"/>
                  <a:pt x="1793053" y="19713"/>
                  <a:pt x="1645319" y="30497"/>
                </a:cubicBezTo>
                <a:cubicBezTo>
                  <a:pt x="1510738" y="38885"/>
                  <a:pt x="1376158" y="41281"/>
                  <a:pt x="1243602" y="64048"/>
                </a:cubicBezTo>
                <a:cubicBezTo>
                  <a:pt x="1079677" y="76030"/>
                  <a:pt x="916765" y="68841"/>
                  <a:pt x="753851" y="61651"/>
                </a:cubicBezTo>
                <a:cubicBezTo>
                  <a:pt x="653675" y="56858"/>
                  <a:pt x="554511" y="41281"/>
                  <a:pt x="465465" y="123960"/>
                </a:cubicBezTo>
                <a:cubicBezTo>
                  <a:pt x="489751" y="143132"/>
                  <a:pt x="519095" y="139537"/>
                  <a:pt x="546416" y="145529"/>
                </a:cubicBezTo>
                <a:cubicBezTo>
                  <a:pt x="594986" y="157511"/>
                  <a:pt x="643557" y="169493"/>
                  <a:pt x="689091" y="192260"/>
                </a:cubicBezTo>
                <a:cubicBezTo>
                  <a:pt x="699210" y="197053"/>
                  <a:pt x="708317" y="206639"/>
                  <a:pt x="704269" y="222217"/>
                </a:cubicBezTo>
                <a:cubicBezTo>
                  <a:pt x="701234" y="234199"/>
                  <a:pt x="691115" y="234199"/>
                  <a:pt x="683020" y="236595"/>
                </a:cubicBezTo>
                <a:cubicBezTo>
                  <a:pt x="664806" y="243785"/>
                  <a:pt x="642545" y="238992"/>
                  <a:pt x="621295" y="264155"/>
                </a:cubicBezTo>
                <a:cubicBezTo>
                  <a:pt x="702245" y="277336"/>
                  <a:pt x="780160" y="252172"/>
                  <a:pt x="848968" y="304896"/>
                </a:cubicBezTo>
                <a:cubicBezTo>
                  <a:pt x="823671" y="331257"/>
                  <a:pt x="795339" y="325266"/>
                  <a:pt x="768018" y="330059"/>
                </a:cubicBezTo>
                <a:cubicBezTo>
                  <a:pt x="739685" y="334852"/>
                  <a:pt x="712365" y="343240"/>
                  <a:pt x="684032" y="348032"/>
                </a:cubicBezTo>
                <a:cubicBezTo>
                  <a:pt x="653675" y="354023"/>
                  <a:pt x="623319" y="355222"/>
                  <a:pt x="592962" y="361213"/>
                </a:cubicBezTo>
                <a:cubicBezTo>
                  <a:pt x="567666" y="366006"/>
                  <a:pt x="540345" y="357618"/>
                  <a:pt x="509988" y="387575"/>
                </a:cubicBezTo>
                <a:cubicBezTo>
                  <a:pt x="584867" y="409143"/>
                  <a:pt x="652663" y="376790"/>
                  <a:pt x="726531" y="398359"/>
                </a:cubicBezTo>
                <a:cubicBezTo>
                  <a:pt x="683020" y="417531"/>
                  <a:pt x="647604" y="411539"/>
                  <a:pt x="614212" y="422324"/>
                </a:cubicBezTo>
                <a:cubicBezTo>
                  <a:pt x="583855" y="433108"/>
                  <a:pt x="547428" y="421126"/>
                  <a:pt x="522131" y="453478"/>
                </a:cubicBezTo>
                <a:cubicBezTo>
                  <a:pt x="502905" y="478641"/>
                  <a:pt x="482668" y="482236"/>
                  <a:pt x="457370" y="467857"/>
                </a:cubicBezTo>
                <a:cubicBezTo>
                  <a:pt x="435109" y="454676"/>
                  <a:pt x="410824" y="458271"/>
                  <a:pt x="388562" y="471452"/>
                </a:cubicBezTo>
                <a:cubicBezTo>
                  <a:pt x="380468" y="476245"/>
                  <a:pt x="372372" y="482236"/>
                  <a:pt x="372372" y="494218"/>
                </a:cubicBezTo>
                <a:cubicBezTo>
                  <a:pt x="372372" y="510994"/>
                  <a:pt x="382491" y="515787"/>
                  <a:pt x="393622" y="518184"/>
                </a:cubicBezTo>
                <a:cubicBezTo>
                  <a:pt x="403741" y="520580"/>
                  <a:pt x="415883" y="522977"/>
                  <a:pt x="426002" y="520580"/>
                </a:cubicBezTo>
                <a:cubicBezTo>
                  <a:pt x="490762" y="507399"/>
                  <a:pt x="554511" y="528968"/>
                  <a:pt x="619271" y="526571"/>
                </a:cubicBezTo>
                <a:cubicBezTo>
                  <a:pt x="415883" y="578096"/>
                  <a:pt x="210471" y="561321"/>
                  <a:pt x="0" y="579294"/>
                </a:cubicBezTo>
                <a:cubicBezTo>
                  <a:pt x="27321" y="615241"/>
                  <a:pt x="62737" y="585286"/>
                  <a:pt x="83986" y="611647"/>
                </a:cubicBezTo>
                <a:cubicBezTo>
                  <a:pt x="63748" y="666766"/>
                  <a:pt x="71844" y="696722"/>
                  <a:pt x="112319" y="700317"/>
                </a:cubicBezTo>
                <a:cubicBezTo>
                  <a:pt x="151782" y="703912"/>
                  <a:pt x="194281" y="684740"/>
                  <a:pt x="215531" y="750643"/>
                </a:cubicBezTo>
                <a:cubicBezTo>
                  <a:pt x="221602" y="771014"/>
                  <a:pt x="259042" y="765023"/>
                  <a:pt x="282315" y="768617"/>
                </a:cubicBezTo>
                <a:cubicBezTo>
                  <a:pt x="332909" y="777005"/>
                  <a:pt x="386539" y="768617"/>
                  <a:pt x="435109" y="794979"/>
                </a:cubicBezTo>
                <a:cubicBezTo>
                  <a:pt x="454335" y="804565"/>
                  <a:pt x="467489" y="811754"/>
                  <a:pt x="457370" y="838116"/>
                </a:cubicBezTo>
                <a:cubicBezTo>
                  <a:pt x="447252" y="865675"/>
                  <a:pt x="460406" y="875261"/>
                  <a:pt x="476596" y="886046"/>
                </a:cubicBezTo>
                <a:cubicBezTo>
                  <a:pt x="488739" y="894433"/>
                  <a:pt x="506953" y="892037"/>
                  <a:pt x="517071" y="917200"/>
                </a:cubicBezTo>
                <a:cubicBezTo>
                  <a:pt x="410824" y="913605"/>
                  <a:pt x="307612" y="893235"/>
                  <a:pt x="202377" y="912407"/>
                </a:cubicBezTo>
                <a:cubicBezTo>
                  <a:pt x="317731" y="960337"/>
                  <a:pt x="444216" y="957940"/>
                  <a:pt x="557546" y="1013060"/>
                </a:cubicBezTo>
                <a:cubicBezTo>
                  <a:pt x="553499" y="1032232"/>
                  <a:pt x="527190" y="1023844"/>
                  <a:pt x="526178" y="1052602"/>
                </a:cubicBezTo>
                <a:cubicBezTo>
                  <a:pt x="585879" y="1082558"/>
                  <a:pt x="657723" y="1062188"/>
                  <a:pt x="720459" y="1106523"/>
                </a:cubicBezTo>
                <a:cubicBezTo>
                  <a:pt x="684032" y="1126893"/>
                  <a:pt x="650640" y="1093342"/>
                  <a:pt x="616236" y="1112514"/>
                </a:cubicBezTo>
                <a:cubicBezTo>
                  <a:pt x="627367" y="1141273"/>
                  <a:pt x="1131283" y="1318613"/>
                  <a:pt x="1222353" y="1337785"/>
                </a:cubicBezTo>
                <a:cubicBezTo>
                  <a:pt x="1407527" y="1377327"/>
                  <a:pt x="1940788" y="1477980"/>
                  <a:pt x="2087511" y="1500747"/>
                </a:cubicBezTo>
                <a:cubicBezTo>
                  <a:pt x="2200841" y="1517522"/>
                  <a:pt x="2313160" y="1530703"/>
                  <a:pt x="2425479" y="1531901"/>
                </a:cubicBezTo>
                <a:cubicBezTo>
                  <a:pt x="2553988" y="1533099"/>
                  <a:pt x="2681485" y="1527108"/>
                  <a:pt x="2809994" y="1522315"/>
                </a:cubicBezTo>
                <a:cubicBezTo>
                  <a:pt x="2858058" y="1520518"/>
                  <a:pt x="2905933" y="1517372"/>
                  <a:pt x="2953618" y="1512448"/>
                </a:cubicBezTo>
                <a:lnTo>
                  <a:pt x="3021543" y="1502657"/>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ítulo 1"/>
          <p:cNvSpPr>
            <a:spLocks noGrp="1"/>
          </p:cNvSpPr>
          <p:nvPr>
            <p:ph type="title"/>
          </p:nvPr>
        </p:nvSpPr>
        <p:spPr>
          <a:xfrm>
            <a:off x="628650" y="838199"/>
            <a:ext cx="3143250" cy="5338763"/>
          </a:xfrm>
        </p:spPr>
        <p:txBody>
          <a:bodyPr>
            <a:normAutofit/>
          </a:bodyPr>
          <a:lstStyle/>
          <a:p>
            <a:r>
              <a:rPr lang="es-SV" dirty="0"/>
              <a:t>Ejercicio 7</a:t>
            </a:r>
          </a:p>
        </p:txBody>
      </p:sp>
      <p:sp>
        <p:nvSpPr>
          <p:cNvPr id="3" name="Marcador de contenido 2"/>
          <p:cNvSpPr>
            <a:spLocks noGrp="1"/>
          </p:cNvSpPr>
          <p:nvPr>
            <p:ph idx="1"/>
          </p:nvPr>
        </p:nvSpPr>
        <p:spPr>
          <a:xfrm>
            <a:off x="3976749" y="838199"/>
            <a:ext cx="4538601" cy="5338763"/>
          </a:xfrm>
        </p:spPr>
        <p:txBody>
          <a:bodyPr anchor="ctr">
            <a:normAutofit/>
          </a:bodyPr>
          <a:lstStyle/>
          <a:p>
            <a:pPr marL="0" indent="0">
              <a:buNone/>
            </a:pPr>
            <a:r>
              <a:rPr lang="es-SV" sz="1700"/>
              <a:t>El tiempo, en minutos, que un estudiante usa una terminal de computadora en el centro de cálculo de una universidad sigue una distribución de probabilidad exponencial con una media de 36 minutos. Suponga que un estudiante llega a una terminal precisamente en el momento en que otro estudiante quería usar la terminal.</a:t>
            </a:r>
          </a:p>
          <a:p>
            <a:r>
              <a:rPr lang="es-SV" sz="1700"/>
              <a:t>¿Cuál es la probabilidad de que el segundo estudiante tenga que esperar 15 minutos o menos?</a:t>
            </a:r>
          </a:p>
          <a:p>
            <a:r>
              <a:rPr lang="es-SV" sz="1700"/>
              <a:t>¿De que el segundo estudiante tenga que esperar entre 15 y 45 minutos?</a:t>
            </a:r>
          </a:p>
          <a:p>
            <a:r>
              <a:rPr lang="es-SV" sz="1700"/>
              <a:t>¿Cuál la probabilidad de que el segundo estudiante tenga que esperar una hora o más?</a:t>
            </a:r>
          </a:p>
        </p:txBody>
      </p:sp>
    </p:spTree>
    <p:extLst>
      <p:ext uri="{BB962C8B-B14F-4D97-AF65-F5344CB8AC3E}">
        <p14:creationId xmlns:p14="http://schemas.microsoft.com/office/powerpoint/2010/main" val="180974054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2972</TotalTime>
  <Words>1881</Words>
  <Application>Microsoft Office PowerPoint</Application>
  <PresentationFormat>Presentación en pantalla (4:3)</PresentationFormat>
  <Paragraphs>128</Paragraphs>
  <Slides>24</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24</vt:i4>
      </vt:variant>
    </vt:vector>
  </HeadingPairs>
  <TitlesOfParts>
    <vt:vector size="32" baseType="lpstr">
      <vt:lpstr>Meiryo</vt:lpstr>
      <vt:lpstr>Arial</vt:lpstr>
      <vt:lpstr>Calibri</vt:lpstr>
      <vt:lpstr>Calibri Light</vt:lpstr>
      <vt:lpstr>Cambria Math</vt:lpstr>
      <vt:lpstr>Times New Roman</vt:lpstr>
      <vt:lpstr>Wingdings 3</vt:lpstr>
      <vt:lpstr>Tema de Office</vt:lpstr>
      <vt:lpstr>Universidad centroamericana  “José Simeón Cañas” </vt:lpstr>
      <vt:lpstr>Conceptos básicos</vt:lpstr>
      <vt:lpstr>Variables aleatorias continuas</vt:lpstr>
      <vt:lpstr>Propiedades </vt:lpstr>
      <vt:lpstr>Media y varianza de una variable continua </vt:lpstr>
      <vt:lpstr>Desarrollo de problema </vt:lpstr>
      <vt:lpstr>Distribución de probabilidad exponencial</vt:lpstr>
      <vt:lpstr>Presentación de PowerPoint</vt:lpstr>
      <vt:lpstr>Desarrollo de problema</vt:lpstr>
      <vt:lpstr>Distribución Normal (μ, σ)</vt:lpstr>
      <vt:lpstr>Importancia de la curva normal:</vt:lpstr>
      <vt:lpstr>Gráficos Normales con igual σ y distintas (μ)</vt:lpstr>
      <vt:lpstr>Graficas de normales con iguales medias μ y distintas σ</vt:lpstr>
      <vt:lpstr>Distribución normal estándar (o normal tipificada)</vt:lpstr>
      <vt:lpstr>Presentación de PowerPoint</vt:lpstr>
      <vt:lpstr>Problema sobre distribución normal</vt:lpstr>
      <vt:lpstr>APLICACIONES EN EL MUNDO DE LOS NEGOCIOS   </vt:lpstr>
      <vt:lpstr>Ejercicio 1</vt:lpstr>
      <vt:lpstr>Ejercicio 2</vt:lpstr>
      <vt:lpstr>Ejercicio 3  </vt:lpstr>
      <vt:lpstr>Ejercicio 4</vt:lpstr>
      <vt:lpstr>Ejercicio 5 </vt:lpstr>
      <vt:lpstr>Ejercicio 6</vt:lpstr>
      <vt:lpstr>Ejercicio 7</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Universidad centroamericana José Simeón Cañas</dc:title>
  <dc:creator>UCA</dc:creator>
  <cp:lastModifiedBy>Daisy Michelle Molina</cp:lastModifiedBy>
  <cp:revision>220</cp:revision>
  <dcterms:created xsi:type="dcterms:W3CDTF">2015-01-09T20:37:27Z</dcterms:created>
  <dcterms:modified xsi:type="dcterms:W3CDTF">2026-05-13T23:57:58Z</dcterms:modified>
</cp:coreProperties>
</file>