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46" y="-4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Diseño de piso de cuadros de colores brillantes">
            <a:extLst>
              <a:ext uri="{FF2B5EF4-FFF2-40B4-BE49-F238E27FC236}">
                <a16:creationId xmlns:a16="http://schemas.microsoft.com/office/drawing/2014/main" id="{FE8C4A1E-01B0-20CF-E746-0C444E6964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12" r="4988"/>
          <a:stretch>
            <a:fillRect/>
          </a:stretch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22960" y="325550"/>
            <a:ext cx="7543800" cy="357477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5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Probabilidad y Estadística para Ciencia de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00005A"/>
                </a:solidFill>
              </a:rPr>
              <a:t>Objetivos</a:t>
            </a:r>
            <a:r>
              <a:rPr sz="2800" b="1" dirty="0">
                <a:solidFill>
                  <a:srgbClr val="00005A"/>
                </a:solidFill>
              </a:rPr>
              <a:t> del </a:t>
            </a:r>
            <a:r>
              <a:rPr sz="2800" b="1" dirty="0" err="1">
                <a:solidFill>
                  <a:srgbClr val="00005A"/>
                </a:solidFill>
              </a:rPr>
              <a:t>Curso</a:t>
            </a:r>
            <a:endParaRPr sz="2800" b="1" dirty="0">
              <a:solidFill>
                <a:srgbClr val="00005A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7772400" cy="54864"/>
          </a:xfrm>
          <a:prstGeom prst="rect">
            <a:avLst/>
          </a:prstGeom>
          <a:solidFill>
            <a:srgbClr val="FF6650"/>
          </a:solidFill>
          <a:ln>
            <a:solidFill>
              <a:srgbClr val="FF6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0078" y="1371600"/>
            <a:ext cx="6578083" cy="38148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50000"/>
              </a:lnSpc>
            </a:pPr>
            <a:r>
              <a:rPr sz="2000" dirty="0">
                <a:solidFill>
                  <a:srgbClr val="282828"/>
                </a:solidFill>
              </a:rPr>
              <a:t>• </a:t>
            </a:r>
            <a:r>
              <a:rPr sz="2000" dirty="0" err="1">
                <a:solidFill>
                  <a:srgbClr val="282828"/>
                </a:solidFill>
              </a:rPr>
              <a:t>Comprender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los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fundamentos</a:t>
            </a:r>
            <a:r>
              <a:rPr sz="2000" dirty="0">
                <a:solidFill>
                  <a:srgbClr val="282828"/>
                </a:solidFill>
              </a:rPr>
              <a:t> de </a:t>
            </a:r>
            <a:r>
              <a:rPr sz="2000" dirty="0" err="1">
                <a:solidFill>
                  <a:srgbClr val="282828"/>
                </a:solidFill>
              </a:rPr>
              <a:t>probabilidad</a:t>
            </a:r>
            <a:r>
              <a:rPr sz="2000" dirty="0">
                <a:solidFill>
                  <a:srgbClr val="282828"/>
                </a:solidFill>
              </a:rPr>
              <a:t> y </a:t>
            </a:r>
            <a:r>
              <a:rPr sz="2000" dirty="0" err="1">
                <a:solidFill>
                  <a:srgbClr val="282828"/>
                </a:solidFill>
              </a:rPr>
              <a:t>estadística</a:t>
            </a:r>
            <a:r>
              <a:rPr sz="2000" dirty="0">
                <a:solidFill>
                  <a:srgbClr val="282828"/>
                </a:solidFill>
              </a:rPr>
              <a:t>.
• </a:t>
            </a:r>
            <a:r>
              <a:rPr sz="2000" dirty="0" err="1">
                <a:solidFill>
                  <a:srgbClr val="282828"/>
                </a:solidFill>
              </a:rPr>
              <a:t>Aplicar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técnicas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estadísticas</a:t>
            </a:r>
            <a:r>
              <a:rPr sz="2000" dirty="0">
                <a:solidFill>
                  <a:srgbClr val="282828"/>
                </a:solidFill>
              </a:rPr>
              <a:t> para la </a:t>
            </a:r>
            <a:r>
              <a:rPr sz="2000" dirty="0" err="1">
                <a:solidFill>
                  <a:srgbClr val="282828"/>
                </a:solidFill>
              </a:rPr>
              <a:t>toma</a:t>
            </a:r>
            <a:r>
              <a:rPr sz="2000" dirty="0">
                <a:solidFill>
                  <a:srgbClr val="282828"/>
                </a:solidFill>
              </a:rPr>
              <a:t> de </a:t>
            </a:r>
            <a:r>
              <a:rPr sz="2000" dirty="0" err="1">
                <a:solidFill>
                  <a:srgbClr val="282828"/>
                </a:solidFill>
              </a:rPr>
              <a:t>decisiones</a:t>
            </a:r>
            <a:r>
              <a:rPr sz="2000" dirty="0">
                <a:solidFill>
                  <a:srgbClr val="282828"/>
                </a:solidFill>
              </a:rPr>
              <a:t>.
• </a:t>
            </a:r>
            <a:r>
              <a:rPr sz="2000" dirty="0" err="1">
                <a:solidFill>
                  <a:srgbClr val="282828"/>
                </a:solidFill>
              </a:rPr>
              <a:t>Interpretar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datos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mediante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herramientas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cuantitativas</a:t>
            </a:r>
            <a:r>
              <a:rPr sz="2000" dirty="0">
                <a:solidFill>
                  <a:srgbClr val="282828"/>
                </a:solidFill>
              </a:rPr>
              <a:t>.
• </a:t>
            </a:r>
            <a:r>
              <a:rPr sz="2000" dirty="0" err="1">
                <a:solidFill>
                  <a:srgbClr val="282828"/>
                </a:solidFill>
              </a:rPr>
              <a:t>Introducir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conceptos</a:t>
            </a:r>
            <a:r>
              <a:rPr sz="2000" dirty="0">
                <a:solidFill>
                  <a:srgbClr val="282828"/>
                </a:solidFill>
              </a:rPr>
              <a:t> clave </a:t>
            </a:r>
            <a:r>
              <a:rPr sz="2000" dirty="0" err="1">
                <a:solidFill>
                  <a:srgbClr val="282828"/>
                </a:solidFill>
              </a:rPr>
              <a:t>utilizados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en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ciencia</a:t>
            </a:r>
            <a:r>
              <a:rPr sz="2000" dirty="0">
                <a:solidFill>
                  <a:srgbClr val="282828"/>
                </a:solidFill>
              </a:rPr>
              <a:t> de </a:t>
            </a:r>
            <a:r>
              <a:rPr sz="2000" dirty="0" err="1">
                <a:solidFill>
                  <a:srgbClr val="282828"/>
                </a:solidFill>
              </a:rPr>
              <a:t>datos</a:t>
            </a:r>
            <a:r>
              <a:rPr sz="2000" dirty="0">
                <a:solidFill>
                  <a:srgbClr val="282828"/>
                </a:solidFill>
              </a:rPr>
              <a:t>.
• </a:t>
            </a:r>
            <a:r>
              <a:rPr sz="2000" dirty="0" err="1">
                <a:solidFill>
                  <a:srgbClr val="282828"/>
                </a:solidFill>
              </a:rPr>
              <a:t>Relacionar</a:t>
            </a:r>
            <a:r>
              <a:rPr sz="2000" dirty="0">
                <a:solidFill>
                  <a:srgbClr val="282828"/>
                </a:solidFill>
              </a:rPr>
              <a:t> la </a:t>
            </a:r>
            <a:r>
              <a:rPr sz="2000" dirty="0" err="1">
                <a:solidFill>
                  <a:srgbClr val="282828"/>
                </a:solidFill>
              </a:rPr>
              <a:t>estadística</a:t>
            </a:r>
            <a:r>
              <a:rPr sz="2000" dirty="0">
                <a:solidFill>
                  <a:srgbClr val="282828"/>
                </a:solidFill>
              </a:rPr>
              <a:t> con </a:t>
            </a:r>
            <a:r>
              <a:rPr sz="2000" dirty="0" err="1">
                <a:solidFill>
                  <a:srgbClr val="282828"/>
                </a:solidFill>
              </a:rPr>
              <a:t>problemas</a:t>
            </a:r>
            <a:r>
              <a:rPr sz="2000" dirty="0">
                <a:solidFill>
                  <a:srgbClr val="282828"/>
                </a:solidFill>
              </a:rPr>
              <a:t> reales.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5A"/>
                </a:solidFill>
              </a:rPr>
              <a:t>¿Qué es la Ciencia de Datos?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7772400" cy="54864"/>
          </a:xfrm>
          <a:prstGeom prst="rect">
            <a:avLst/>
          </a:prstGeom>
          <a:solidFill>
            <a:srgbClr val="FF6650"/>
          </a:solidFill>
          <a:ln>
            <a:solidFill>
              <a:srgbClr val="FF6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8501686" cy="41996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sz="2000" dirty="0">
                <a:solidFill>
                  <a:srgbClr val="282828"/>
                </a:solidFill>
              </a:rPr>
              <a:t>La </a:t>
            </a:r>
            <a:r>
              <a:rPr sz="2000" dirty="0" err="1">
                <a:solidFill>
                  <a:srgbClr val="282828"/>
                </a:solidFill>
              </a:rPr>
              <a:t>ciencia</a:t>
            </a:r>
            <a:r>
              <a:rPr sz="2000" dirty="0">
                <a:solidFill>
                  <a:srgbClr val="282828"/>
                </a:solidFill>
              </a:rPr>
              <a:t> de </a:t>
            </a:r>
            <a:r>
              <a:rPr sz="2000" dirty="0" err="1">
                <a:solidFill>
                  <a:srgbClr val="282828"/>
                </a:solidFill>
              </a:rPr>
              <a:t>datos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combina</a:t>
            </a:r>
            <a:r>
              <a:rPr sz="2000" dirty="0">
                <a:solidFill>
                  <a:srgbClr val="282828"/>
                </a:solidFill>
              </a:rPr>
              <a:t>:
• </a:t>
            </a:r>
            <a:r>
              <a:rPr sz="2000" dirty="0" err="1">
                <a:solidFill>
                  <a:srgbClr val="282828"/>
                </a:solidFill>
              </a:rPr>
              <a:t>Estadística</a:t>
            </a:r>
            <a:r>
              <a:rPr sz="2000" dirty="0">
                <a:solidFill>
                  <a:srgbClr val="282828"/>
                </a:solidFill>
              </a:rPr>
              <a:t>
• </a:t>
            </a:r>
            <a:r>
              <a:rPr sz="2000" dirty="0" err="1">
                <a:solidFill>
                  <a:srgbClr val="282828"/>
                </a:solidFill>
              </a:rPr>
              <a:t>Matemática</a:t>
            </a:r>
            <a:r>
              <a:rPr sz="2000" dirty="0">
                <a:solidFill>
                  <a:srgbClr val="282828"/>
                </a:solidFill>
              </a:rPr>
              <a:t>
• </a:t>
            </a:r>
            <a:r>
              <a:rPr sz="2000" dirty="0" err="1">
                <a:solidFill>
                  <a:srgbClr val="282828"/>
                </a:solidFill>
              </a:rPr>
              <a:t>Programación</a:t>
            </a:r>
            <a:r>
              <a:rPr sz="2000" dirty="0">
                <a:solidFill>
                  <a:srgbClr val="282828"/>
                </a:solidFill>
              </a:rPr>
              <a:t>
• </a:t>
            </a:r>
            <a:r>
              <a:rPr sz="2000" dirty="0" err="1">
                <a:solidFill>
                  <a:srgbClr val="282828"/>
                </a:solidFill>
              </a:rPr>
              <a:t>Inteligencia</a:t>
            </a:r>
            <a:r>
              <a:rPr sz="2000" dirty="0">
                <a:solidFill>
                  <a:srgbClr val="282828"/>
                </a:solidFill>
              </a:rPr>
              <a:t> Artificial
• </a:t>
            </a:r>
            <a:r>
              <a:rPr sz="2000" dirty="0" err="1">
                <a:solidFill>
                  <a:srgbClr val="282828"/>
                </a:solidFill>
              </a:rPr>
              <a:t>Visualización</a:t>
            </a:r>
            <a:r>
              <a:rPr sz="2000" dirty="0">
                <a:solidFill>
                  <a:srgbClr val="282828"/>
                </a:solidFill>
              </a:rPr>
              <a:t> de </a:t>
            </a:r>
            <a:r>
              <a:rPr sz="2000" dirty="0" err="1">
                <a:solidFill>
                  <a:srgbClr val="282828"/>
                </a:solidFill>
              </a:rPr>
              <a:t>datos</a:t>
            </a:r>
            <a:r>
              <a:rPr sz="2000" dirty="0">
                <a:solidFill>
                  <a:srgbClr val="282828"/>
                </a:solidFill>
              </a:rPr>
              <a:t>
Su </a:t>
            </a:r>
            <a:r>
              <a:rPr sz="2000" dirty="0" err="1">
                <a:solidFill>
                  <a:srgbClr val="282828"/>
                </a:solidFill>
              </a:rPr>
              <a:t>objetivo</a:t>
            </a:r>
            <a:r>
              <a:rPr sz="2000" dirty="0">
                <a:solidFill>
                  <a:srgbClr val="282828"/>
                </a:solidFill>
              </a:rPr>
              <a:t> es </a:t>
            </a:r>
            <a:r>
              <a:rPr sz="2000" dirty="0" err="1">
                <a:solidFill>
                  <a:srgbClr val="282828"/>
                </a:solidFill>
              </a:rPr>
              <a:t>transformar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datos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en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información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útil</a:t>
            </a:r>
            <a:r>
              <a:rPr sz="2000" dirty="0">
                <a:solidFill>
                  <a:srgbClr val="282828"/>
                </a:solidFill>
              </a:rPr>
              <a:t> para la </a:t>
            </a:r>
            <a:r>
              <a:rPr sz="2000" dirty="0" err="1">
                <a:solidFill>
                  <a:srgbClr val="282828"/>
                </a:solidFill>
              </a:rPr>
              <a:t>toma</a:t>
            </a:r>
            <a:r>
              <a:rPr sz="2000" dirty="0">
                <a:solidFill>
                  <a:srgbClr val="282828"/>
                </a:solidFill>
              </a:rPr>
              <a:t> de </a:t>
            </a:r>
            <a:r>
              <a:rPr sz="2000" dirty="0" err="1">
                <a:solidFill>
                  <a:srgbClr val="282828"/>
                </a:solidFill>
              </a:rPr>
              <a:t>decisiones</a:t>
            </a:r>
            <a:r>
              <a:rPr sz="2000" dirty="0">
                <a:solidFill>
                  <a:srgbClr val="282828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5A"/>
                </a:solidFill>
              </a:rPr>
              <a:t>Importancia de la Probabilidad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7772400" cy="54864"/>
          </a:xfrm>
          <a:prstGeom prst="rect">
            <a:avLst/>
          </a:prstGeom>
          <a:solidFill>
            <a:srgbClr val="FF6650"/>
          </a:solidFill>
          <a:ln>
            <a:solidFill>
              <a:srgbClr val="FF6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19" y="1371600"/>
            <a:ext cx="4646725" cy="369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2000" dirty="0">
                <a:solidFill>
                  <a:srgbClr val="282828"/>
                </a:solidFill>
              </a:rPr>
              <a:t>La </a:t>
            </a:r>
            <a:r>
              <a:rPr sz="2000" dirty="0" err="1">
                <a:solidFill>
                  <a:srgbClr val="282828"/>
                </a:solidFill>
              </a:rPr>
              <a:t>probabilidad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permite</a:t>
            </a:r>
            <a:r>
              <a:rPr sz="2000" dirty="0">
                <a:solidFill>
                  <a:srgbClr val="282828"/>
                </a:solidFill>
              </a:rPr>
              <a:t>:
• </a:t>
            </a:r>
            <a:r>
              <a:rPr sz="2000" dirty="0" err="1">
                <a:solidFill>
                  <a:srgbClr val="282828"/>
                </a:solidFill>
              </a:rPr>
              <a:t>Medir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incertidumbre</a:t>
            </a:r>
            <a:r>
              <a:rPr sz="2000" dirty="0">
                <a:solidFill>
                  <a:srgbClr val="282828"/>
                </a:solidFill>
              </a:rPr>
              <a:t>.
• Analizar </a:t>
            </a:r>
            <a:r>
              <a:rPr sz="2000" dirty="0" err="1">
                <a:solidFill>
                  <a:srgbClr val="282828"/>
                </a:solidFill>
              </a:rPr>
              <a:t>riesgos</a:t>
            </a:r>
            <a:r>
              <a:rPr sz="2000" dirty="0">
                <a:solidFill>
                  <a:srgbClr val="282828"/>
                </a:solidFill>
              </a:rPr>
              <a:t>.
• </a:t>
            </a:r>
            <a:r>
              <a:rPr sz="2000" dirty="0" err="1">
                <a:solidFill>
                  <a:srgbClr val="282828"/>
                </a:solidFill>
              </a:rPr>
              <a:t>Construir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modelos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predictivos</a:t>
            </a:r>
            <a:r>
              <a:rPr sz="2000" dirty="0">
                <a:solidFill>
                  <a:srgbClr val="282828"/>
                </a:solidFill>
              </a:rPr>
              <a:t>.
• </a:t>
            </a:r>
            <a:r>
              <a:rPr sz="2000" dirty="0" err="1">
                <a:solidFill>
                  <a:srgbClr val="282828"/>
                </a:solidFill>
              </a:rPr>
              <a:t>Realizar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simulaciones</a:t>
            </a:r>
            <a:r>
              <a:rPr sz="2000" dirty="0">
                <a:solidFill>
                  <a:srgbClr val="282828"/>
                </a:solidFill>
              </a:rPr>
              <a:t>.
• </a:t>
            </a:r>
            <a:r>
              <a:rPr sz="2000" dirty="0" err="1">
                <a:solidFill>
                  <a:srgbClr val="282828"/>
                </a:solidFill>
              </a:rPr>
              <a:t>Evaluar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escenarios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futuros</a:t>
            </a:r>
            <a:r>
              <a:rPr sz="2000" dirty="0">
                <a:solidFill>
                  <a:srgbClr val="282828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5A"/>
                </a:solidFill>
              </a:rPr>
              <a:t>Importancia de la Estadística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7772400" cy="54864"/>
          </a:xfrm>
          <a:prstGeom prst="rect">
            <a:avLst/>
          </a:prstGeom>
          <a:solidFill>
            <a:srgbClr val="FF6650"/>
          </a:solidFill>
          <a:ln>
            <a:solidFill>
              <a:srgbClr val="FF6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92796" cy="28146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sz="2000" dirty="0">
                <a:solidFill>
                  <a:srgbClr val="282828"/>
                </a:solidFill>
              </a:rPr>
              <a:t>La </a:t>
            </a:r>
            <a:r>
              <a:rPr sz="2000" dirty="0" err="1">
                <a:solidFill>
                  <a:srgbClr val="282828"/>
                </a:solidFill>
              </a:rPr>
              <a:t>estadística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ayuda</a:t>
            </a:r>
            <a:r>
              <a:rPr sz="2000" dirty="0">
                <a:solidFill>
                  <a:srgbClr val="282828"/>
                </a:solidFill>
              </a:rPr>
              <a:t> a:
• </a:t>
            </a:r>
            <a:r>
              <a:rPr sz="2000" dirty="0" err="1">
                <a:solidFill>
                  <a:srgbClr val="282828"/>
                </a:solidFill>
              </a:rPr>
              <a:t>Organizar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datos</a:t>
            </a:r>
            <a:r>
              <a:rPr sz="2000" dirty="0">
                <a:solidFill>
                  <a:srgbClr val="282828"/>
                </a:solidFill>
              </a:rPr>
              <a:t>.
• </a:t>
            </a:r>
            <a:r>
              <a:rPr sz="2000" dirty="0" err="1">
                <a:solidFill>
                  <a:srgbClr val="282828"/>
                </a:solidFill>
              </a:rPr>
              <a:t>Resumir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información</a:t>
            </a:r>
            <a:r>
              <a:rPr sz="2000" dirty="0">
                <a:solidFill>
                  <a:srgbClr val="282828"/>
                </a:solidFill>
              </a:rPr>
              <a:t>.
• </a:t>
            </a:r>
            <a:r>
              <a:rPr sz="2000" dirty="0" err="1">
                <a:solidFill>
                  <a:srgbClr val="282828"/>
                </a:solidFill>
              </a:rPr>
              <a:t>Identificar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patrones</a:t>
            </a:r>
            <a:r>
              <a:rPr sz="2000" dirty="0">
                <a:solidFill>
                  <a:srgbClr val="282828"/>
                </a:solidFill>
              </a:rPr>
              <a:t>.
• </a:t>
            </a:r>
            <a:r>
              <a:rPr sz="2000" dirty="0" err="1">
                <a:solidFill>
                  <a:srgbClr val="282828"/>
                </a:solidFill>
              </a:rPr>
              <a:t>Inferir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conclusiones</a:t>
            </a:r>
            <a:r>
              <a:rPr sz="2000" dirty="0">
                <a:solidFill>
                  <a:srgbClr val="282828"/>
                </a:solidFill>
              </a:rPr>
              <a:t>.
• </a:t>
            </a:r>
            <a:r>
              <a:rPr sz="2000" dirty="0" err="1">
                <a:solidFill>
                  <a:srgbClr val="282828"/>
                </a:solidFill>
              </a:rPr>
              <a:t>Apoyar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decisiones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basadas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en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evidencia</a:t>
            </a:r>
            <a:r>
              <a:rPr sz="2000" dirty="0">
                <a:solidFill>
                  <a:srgbClr val="282828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5A"/>
                </a:solidFill>
              </a:rPr>
              <a:t>Aplicaciones en Ciencia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7772400" cy="54864"/>
          </a:xfrm>
          <a:prstGeom prst="rect">
            <a:avLst/>
          </a:prstGeom>
          <a:solidFill>
            <a:srgbClr val="FF6650"/>
          </a:solidFill>
          <a:ln>
            <a:solidFill>
              <a:srgbClr val="FF6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183966" cy="36994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sz="2000" dirty="0">
                <a:solidFill>
                  <a:srgbClr val="282828"/>
                </a:solidFill>
              </a:rPr>
              <a:t>• </a:t>
            </a:r>
            <a:r>
              <a:rPr sz="2000" dirty="0" err="1">
                <a:solidFill>
                  <a:srgbClr val="282828"/>
                </a:solidFill>
              </a:rPr>
              <a:t>Predicción</a:t>
            </a:r>
            <a:r>
              <a:rPr sz="2000" dirty="0">
                <a:solidFill>
                  <a:srgbClr val="282828"/>
                </a:solidFill>
              </a:rPr>
              <a:t> de </a:t>
            </a:r>
            <a:r>
              <a:rPr sz="2000" dirty="0" err="1">
                <a:solidFill>
                  <a:srgbClr val="282828"/>
                </a:solidFill>
              </a:rPr>
              <a:t>ventas</a:t>
            </a:r>
            <a:r>
              <a:rPr sz="2000" dirty="0">
                <a:solidFill>
                  <a:srgbClr val="282828"/>
                </a:solidFill>
              </a:rPr>
              <a:t>.
• Análisis </a:t>
            </a:r>
            <a:r>
              <a:rPr sz="2000" dirty="0" err="1">
                <a:solidFill>
                  <a:srgbClr val="282828"/>
                </a:solidFill>
              </a:rPr>
              <a:t>financiero</a:t>
            </a:r>
            <a:r>
              <a:rPr sz="2000" dirty="0">
                <a:solidFill>
                  <a:srgbClr val="282828"/>
                </a:solidFill>
              </a:rPr>
              <a:t>.
• </a:t>
            </a:r>
            <a:r>
              <a:rPr sz="2000" dirty="0" err="1">
                <a:solidFill>
                  <a:srgbClr val="282828"/>
                </a:solidFill>
              </a:rPr>
              <a:t>Detección</a:t>
            </a:r>
            <a:r>
              <a:rPr sz="2000" dirty="0">
                <a:solidFill>
                  <a:srgbClr val="282828"/>
                </a:solidFill>
              </a:rPr>
              <a:t> de </a:t>
            </a:r>
            <a:r>
              <a:rPr sz="2000" dirty="0" err="1">
                <a:solidFill>
                  <a:srgbClr val="282828"/>
                </a:solidFill>
              </a:rPr>
              <a:t>fraude</a:t>
            </a:r>
            <a:r>
              <a:rPr sz="2000" dirty="0">
                <a:solidFill>
                  <a:srgbClr val="282828"/>
                </a:solidFill>
              </a:rPr>
              <a:t>.
• </a:t>
            </a:r>
            <a:r>
              <a:rPr sz="2000" dirty="0" err="1">
                <a:solidFill>
                  <a:srgbClr val="282828"/>
                </a:solidFill>
              </a:rPr>
              <a:t>Modelos</a:t>
            </a:r>
            <a:r>
              <a:rPr sz="2000" dirty="0">
                <a:solidFill>
                  <a:srgbClr val="282828"/>
                </a:solidFill>
              </a:rPr>
              <a:t> de </a:t>
            </a:r>
            <a:r>
              <a:rPr sz="2000" dirty="0" err="1">
                <a:solidFill>
                  <a:srgbClr val="282828"/>
                </a:solidFill>
              </a:rPr>
              <a:t>aprendizaje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automático</a:t>
            </a:r>
            <a:r>
              <a:rPr sz="2000" dirty="0">
                <a:solidFill>
                  <a:srgbClr val="282828"/>
                </a:solidFill>
              </a:rPr>
              <a:t>.
• Sistemas de </a:t>
            </a:r>
            <a:r>
              <a:rPr sz="2000" dirty="0" err="1">
                <a:solidFill>
                  <a:srgbClr val="282828"/>
                </a:solidFill>
              </a:rPr>
              <a:t>recomendación</a:t>
            </a:r>
            <a:r>
              <a:rPr sz="2000" dirty="0">
                <a:solidFill>
                  <a:srgbClr val="282828"/>
                </a:solidFill>
              </a:rPr>
              <a:t>.
• Control de </a:t>
            </a:r>
            <a:r>
              <a:rPr sz="2000" dirty="0" err="1">
                <a:solidFill>
                  <a:srgbClr val="282828"/>
                </a:solidFill>
              </a:rPr>
              <a:t>calidad</a:t>
            </a:r>
            <a:r>
              <a:rPr sz="2000" dirty="0">
                <a:solidFill>
                  <a:srgbClr val="282828"/>
                </a:solidFill>
              </a:rPr>
              <a:t> y </a:t>
            </a:r>
            <a:r>
              <a:rPr sz="2000" dirty="0" err="1">
                <a:solidFill>
                  <a:srgbClr val="282828"/>
                </a:solidFill>
              </a:rPr>
              <a:t>optimización</a:t>
            </a:r>
            <a:r>
              <a:rPr sz="2000" dirty="0">
                <a:solidFill>
                  <a:srgbClr val="282828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5A"/>
                </a:solidFill>
              </a:rPr>
              <a:t>Rol de la Estadística en la Toma de Decisiones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7772400" cy="54864"/>
          </a:xfrm>
          <a:prstGeom prst="rect">
            <a:avLst/>
          </a:prstGeom>
          <a:solidFill>
            <a:srgbClr val="FF6650"/>
          </a:solidFill>
          <a:ln>
            <a:solidFill>
              <a:srgbClr val="FF6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678525" cy="28146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sz="2000" dirty="0">
                <a:solidFill>
                  <a:srgbClr val="282828"/>
                </a:solidFill>
              </a:rPr>
              <a:t>Las </a:t>
            </a:r>
            <a:r>
              <a:rPr sz="2000" dirty="0" err="1">
                <a:solidFill>
                  <a:srgbClr val="282828"/>
                </a:solidFill>
              </a:rPr>
              <a:t>organizaciones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utilizan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estadística</a:t>
            </a:r>
            <a:r>
              <a:rPr sz="2000" dirty="0">
                <a:solidFill>
                  <a:srgbClr val="282828"/>
                </a:solidFill>
              </a:rPr>
              <a:t> para:
• </a:t>
            </a:r>
            <a:r>
              <a:rPr sz="2000" dirty="0" err="1">
                <a:solidFill>
                  <a:srgbClr val="282828"/>
                </a:solidFill>
              </a:rPr>
              <a:t>Reducir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incertidumbre</a:t>
            </a:r>
            <a:r>
              <a:rPr sz="2000" dirty="0">
                <a:solidFill>
                  <a:srgbClr val="282828"/>
                </a:solidFill>
              </a:rPr>
              <a:t>.
• </a:t>
            </a:r>
            <a:r>
              <a:rPr sz="2000" dirty="0" err="1">
                <a:solidFill>
                  <a:srgbClr val="282828"/>
                </a:solidFill>
              </a:rPr>
              <a:t>Evaluar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desempeño</a:t>
            </a:r>
            <a:r>
              <a:rPr sz="2000" dirty="0">
                <a:solidFill>
                  <a:srgbClr val="282828"/>
                </a:solidFill>
              </a:rPr>
              <a:t>.
• </a:t>
            </a:r>
            <a:r>
              <a:rPr sz="2000" dirty="0" err="1">
                <a:solidFill>
                  <a:srgbClr val="282828"/>
                </a:solidFill>
              </a:rPr>
              <a:t>Optimizar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recursos</a:t>
            </a:r>
            <a:r>
              <a:rPr sz="2000" dirty="0">
                <a:solidFill>
                  <a:srgbClr val="282828"/>
                </a:solidFill>
              </a:rPr>
              <a:t>.
• Mejorar </a:t>
            </a:r>
            <a:r>
              <a:rPr sz="2000" dirty="0" err="1">
                <a:solidFill>
                  <a:srgbClr val="282828"/>
                </a:solidFill>
              </a:rPr>
              <a:t>procesos</a:t>
            </a:r>
            <a:r>
              <a:rPr sz="2000" dirty="0">
                <a:solidFill>
                  <a:srgbClr val="282828"/>
                </a:solidFill>
              </a:rPr>
              <a:t>.
• </a:t>
            </a:r>
            <a:r>
              <a:rPr sz="2000" dirty="0" err="1">
                <a:solidFill>
                  <a:srgbClr val="282828"/>
                </a:solidFill>
              </a:rPr>
              <a:t>Generar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ventajas</a:t>
            </a:r>
            <a:r>
              <a:rPr sz="2000" dirty="0">
                <a:solidFill>
                  <a:srgbClr val="282828"/>
                </a:solidFill>
              </a:rPr>
              <a:t> </a:t>
            </a:r>
            <a:r>
              <a:rPr sz="2000" dirty="0" err="1">
                <a:solidFill>
                  <a:srgbClr val="282828"/>
                </a:solidFill>
              </a:rPr>
              <a:t>competitivas</a:t>
            </a:r>
            <a:r>
              <a:rPr sz="2000" dirty="0">
                <a:solidFill>
                  <a:srgbClr val="282828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5A"/>
                </a:solidFill>
              </a:rPr>
              <a:t>Conclusiones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7772400" cy="54864"/>
          </a:xfrm>
          <a:prstGeom prst="rect">
            <a:avLst/>
          </a:prstGeom>
          <a:solidFill>
            <a:srgbClr val="FF6650"/>
          </a:solidFill>
          <a:ln>
            <a:solidFill>
              <a:srgbClr val="FF6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1932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sz="2800" dirty="0">
                <a:solidFill>
                  <a:srgbClr val="282828"/>
                </a:solidFill>
              </a:rPr>
              <a:t>La </a:t>
            </a:r>
            <a:r>
              <a:rPr sz="2800" dirty="0" err="1">
                <a:solidFill>
                  <a:srgbClr val="282828"/>
                </a:solidFill>
              </a:rPr>
              <a:t>probabilidad</a:t>
            </a:r>
            <a:r>
              <a:rPr sz="2800" dirty="0">
                <a:solidFill>
                  <a:srgbClr val="282828"/>
                </a:solidFill>
              </a:rPr>
              <a:t> y </a:t>
            </a:r>
            <a:r>
              <a:rPr sz="2800" dirty="0" err="1">
                <a:solidFill>
                  <a:srgbClr val="282828"/>
                </a:solidFill>
              </a:rPr>
              <a:t>estadística</a:t>
            </a:r>
            <a:r>
              <a:rPr sz="2800" dirty="0">
                <a:solidFill>
                  <a:srgbClr val="282828"/>
                </a:solidFill>
              </a:rPr>
              <a:t> son </a:t>
            </a:r>
            <a:r>
              <a:rPr sz="2800" dirty="0" err="1">
                <a:solidFill>
                  <a:srgbClr val="282828"/>
                </a:solidFill>
              </a:rPr>
              <a:t>pilares</a:t>
            </a:r>
            <a:r>
              <a:rPr sz="2800" dirty="0">
                <a:solidFill>
                  <a:srgbClr val="282828"/>
                </a:solidFill>
              </a:rPr>
              <a:t> de la </a:t>
            </a:r>
            <a:r>
              <a:rPr sz="2800" dirty="0" err="1">
                <a:solidFill>
                  <a:srgbClr val="282828"/>
                </a:solidFill>
              </a:rPr>
              <a:t>ciencia</a:t>
            </a:r>
            <a:r>
              <a:rPr sz="2800" dirty="0">
                <a:solidFill>
                  <a:srgbClr val="282828"/>
                </a:solidFill>
              </a:rPr>
              <a:t> de </a:t>
            </a:r>
            <a:r>
              <a:rPr sz="2800" dirty="0" err="1">
                <a:solidFill>
                  <a:srgbClr val="282828"/>
                </a:solidFill>
              </a:rPr>
              <a:t>datos</a:t>
            </a:r>
            <a:r>
              <a:rPr sz="2800" dirty="0">
                <a:solidFill>
                  <a:srgbClr val="282828"/>
                </a:solidFill>
              </a:rPr>
              <a:t>.
</a:t>
            </a:r>
            <a:r>
              <a:rPr sz="2800" dirty="0" err="1">
                <a:solidFill>
                  <a:srgbClr val="282828"/>
                </a:solidFill>
              </a:rPr>
              <a:t>Permiten</a:t>
            </a:r>
            <a:r>
              <a:rPr sz="2800" dirty="0">
                <a:solidFill>
                  <a:srgbClr val="282828"/>
                </a:solidFill>
              </a:rPr>
              <a:t> </a:t>
            </a:r>
            <a:r>
              <a:rPr sz="2800" dirty="0" err="1">
                <a:solidFill>
                  <a:srgbClr val="282828"/>
                </a:solidFill>
              </a:rPr>
              <a:t>analizar</a:t>
            </a:r>
            <a:r>
              <a:rPr sz="2800" dirty="0">
                <a:solidFill>
                  <a:srgbClr val="282828"/>
                </a:solidFill>
              </a:rPr>
              <a:t> </a:t>
            </a:r>
            <a:r>
              <a:rPr sz="2800" dirty="0" err="1">
                <a:solidFill>
                  <a:srgbClr val="282828"/>
                </a:solidFill>
              </a:rPr>
              <a:t>información</a:t>
            </a:r>
            <a:r>
              <a:rPr sz="2800" dirty="0">
                <a:solidFill>
                  <a:srgbClr val="282828"/>
                </a:solidFill>
              </a:rPr>
              <a:t> y </a:t>
            </a:r>
            <a:r>
              <a:rPr sz="2800" dirty="0" err="1">
                <a:solidFill>
                  <a:srgbClr val="282828"/>
                </a:solidFill>
              </a:rPr>
              <a:t>tomar</a:t>
            </a:r>
            <a:r>
              <a:rPr sz="2800" dirty="0">
                <a:solidFill>
                  <a:srgbClr val="282828"/>
                </a:solidFill>
              </a:rPr>
              <a:t> </a:t>
            </a:r>
            <a:r>
              <a:rPr sz="2800" dirty="0" err="1">
                <a:solidFill>
                  <a:srgbClr val="282828"/>
                </a:solidFill>
              </a:rPr>
              <a:t>decisiones</a:t>
            </a:r>
            <a:r>
              <a:rPr sz="2800" dirty="0">
                <a:solidFill>
                  <a:srgbClr val="282828"/>
                </a:solidFill>
              </a:rPr>
              <a:t> </a:t>
            </a:r>
            <a:r>
              <a:rPr sz="2800" dirty="0" err="1">
                <a:solidFill>
                  <a:srgbClr val="282828"/>
                </a:solidFill>
              </a:rPr>
              <a:t>objetivas</a:t>
            </a:r>
            <a:r>
              <a:rPr sz="2800" dirty="0">
                <a:solidFill>
                  <a:srgbClr val="282828"/>
                </a:solidFill>
              </a:rPr>
              <a:t>.
Son </a:t>
            </a:r>
            <a:r>
              <a:rPr sz="2800" dirty="0" err="1">
                <a:solidFill>
                  <a:srgbClr val="282828"/>
                </a:solidFill>
              </a:rPr>
              <a:t>fundamentales</a:t>
            </a:r>
            <a:r>
              <a:rPr sz="2800" dirty="0">
                <a:solidFill>
                  <a:srgbClr val="282828"/>
                </a:solidFill>
              </a:rPr>
              <a:t> </a:t>
            </a:r>
            <a:r>
              <a:rPr sz="2800" dirty="0" err="1">
                <a:solidFill>
                  <a:srgbClr val="282828"/>
                </a:solidFill>
              </a:rPr>
              <a:t>en</a:t>
            </a:r>
            <a:r>
              <a:rPr sz="2800" dirty="0">
                <a:solidFill>
                  <a:srgbClr val="282828"/>
                </a:solidFill>
              </a:rPr>
              <a:t> </a:t>
            </a:r>
            <a:r>
              <a:rPr sz="2800" dirty="0" err="1">
                <a:solidFill>
                  <a:srgbClr val="282828"/>
                </a:solidFill>
              </a:rPr>
              <a:t>inteligencia</a:t>
            </a:r>
            <a:r>
              <a:rPr sz="2800" dirty="0">
                <a:solidFill>
                  <a:srgbClr val="282828"/>
                </a:solidFill>
              </a:rPr>
              <a:t> artificial y </a:t>
            </a:r>
            <a:r>
              <a:rPr sz="2800" dirty="0" err="1">
                <a:solidFill>
                  <a:srgbClr val="282828"/>
                </a:solidFill>
              </a:rPr>
              <a:t>analítica</a:t>
            </a:r>
            <a:r>
              <a:rPr sz="2800" dirty="0">
                <a:solidFill>
                  <a:srgbClr val="282828"/>
                </a:solidFill>
              </a:rPr>
              <a:t> moderna.
El </a:t>
            </a:r>
            <a:r>
              <a:rPr sz="2800" dirty="0" err="1">
                <a:solidFill>
                  <a:srgbClr val="282828"/>
                </a:solidFill>
              </a:rPr>
              <a:t>dominio</a:t>
            </a:r>
            <a:r>
              <a:rPr sz="2800" dirty="0">
                <a:solidFill>
                  <a:srgbClr val="282828"/>
                </a:solidFill>
              </a:rPr>
              <a:t> de </a:t>
            </a:r>
            <a:r>
              <a:rPr sz="2800" dirty="0" err="1">
                <a:solidFill>
                  <a:srgbClr val="282828"/>
                </a:solidFill>
              </a:rPr>
              <a:t>estas</a:t>
            </a:r>
            <a:r>
              <a:rPr sz="2800" dirty="0">
                <a:solidFill>
                  <a:srgbClr val="282828"/>
                </a:solidFill>
              </a:rPr>
              <a:t> </a:t>
            </a:r>
            <a:r>
              <a:rPr sz="2800" dirty="0" err="1">
                <a:solidFill>
                  <a:srgbClr val="282828"/>
                </a:solidFill>
              </a:rPr>
              <a:t>herramientas</a:t>
            </a:r>
            <a:r>
              <a:rPr sz="2800" dirty="0">
                <a:solidFill>
                  <a:srgbClr val="282828"/>
                </a:solidFill>
              </a:rPr>
              <a:t> </a:t>
            </a:r>
            <a:r>
              <a:rPr sz="2800" dirty="0" err="1">
                <a:solidFill>
                  <a:srgbClr val="282828"/>
                </a:solidFill>
              </a:rPr>
              <a:t>incrementa</a:t>
            </a:r>
            <a:r>
              <a:rPr sz="2800" dirty="0">
                <a:solidFill>
                  <a:srgbClr val="282828"/>
                </a:solidFill>
              </a:rPr>
              <a:t> la </a:t>
            </a:r>
            <a:r>
              <a:rPr sz="2800" dirty="0" err="1">
                <a:solidFill>
                  <a:srgbClr val="282828"/>
                </a:solidFill>
              </a:rPr>
              <a:t>capacidad</a:t>
            </a:r>
            <a:r>
              <a:rPr sz="2800" dirty="0">
                <a:solidFill>
                  <a:srgbClr val="282828"/>
                </a:solidFill>
              </a:rPr>
              <a:t> </a:t>
            </a:r>
            <a:r>
              <a:rPr sz="2800" dirty="0" err="1">
                <a:solidFill>
                  <a:srgbClr val="282828"/>
                </a:solidFill>
              </a:rPr>
              <a:t>analítica</a:t>
            </a:r>
            <a:r>
              <a:rPr sz="2800" dirty="0">
                <a:solidFill>
                  <a:srgbClr val="282828"/>
                </a:solidFill>
              </a:rPr>
              <a:t> </a:t>
            </a:r>
            <a:r>
              <a:rPr sz="2800" dirty="0" err="1">
                <a:solidFill>
                  <a:srgbClr val="282828"/>
                </a:solidFill>
              </a:rPr>
              <a:t>profesional</a:t>
            </a:r>
            <a:r>
              <a:rPr sz="2800" dirty="0">
                <a:solidFill>
                  <a:srgbClr val="282828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306</Words>
  <Application>Microsoft Office PowerPoint</Application>
  <PresentationFormat>Presentación en pantalla (4:3)</PresentationFormat>
  <Paragraphs>15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uca</dc:creator>
  <cp:keywords/>
  <dc:description>generated using python-pptx</dc:description>
  <cp:lastModifiedBy>Daisy Michelle Molina</cp:lastModifiedBy>
  <cp:revision>4</cp:revision>
  <dcterms:created xsi:type="dcterms:W3CDTF">2013-01-27T09:14:16Z</dcterms:created>
  <dcterms:modified xsi:type="dcterms:W3CDTF">2026-05-06T21:21:05Z</dcterms:modified>
  <cp:category/>
</cp:coreProperties>
</file>