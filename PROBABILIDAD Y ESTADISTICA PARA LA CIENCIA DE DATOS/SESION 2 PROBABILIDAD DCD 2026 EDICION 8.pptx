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9" r:id="rId1"/>
  </p:sldMasterIdLst>
  <p:notesMasterIdLst>
    <p:notesMasterId r:id="rId30"/>
  </p:notesMasterIdLst>
  <p:handoutMasterIdLst>
    <p:handoutMasterId r:id="rId31"/>
  </p:handoutMasterIdLst>
  <p:sldIdLst>
    <p:sldId id="256" r:id="rId2"/>
    <p:sldId id="278" r:id="rId3"/>
    <p:sldId id="399" r:id="rId4"/>
    <p:sldId id="332" r:id="rId5"/>
    <p:sldId id="404" r:id="rId6"/>
    <p:sldId id="333" r:id="rId7"/>
    <p:sldId id="334" r:id="rId8"/>
    <p:sldId id="335" r:id="rId9"/>
    <p:sldId id="337" r:id="rId10"/>
    <p:sldId id="343" r:id="rId11"/>
    <p:sldId id="344" r:id="rId12"/>
    <p:sldId id="345" r:id="rId13"/>
    <p:sldId id="346" r:id="rId14"/>
    <p:sldId id="347" r:id="rId15"/>
    <p:sldId id="356" r:id="rId16"/>
    <p:sldId id="358" r:id="rId17"/>
    <p:sldId id="359" r:id="rId18"/>
    <p:sldId id="360" r:id="rId19"/>
    <p:sldId id="361" r:id="rId20"/>
    <p:sldId id="362" r:id="rId21"/>
    <p:sldId id="363" r:id="rId22"/>
    <p:sldId id="405" r:id="rId23"/>
    <p:sldId id="406" r:id="rId24"/>
    <p:sldId id="376" r:id="rId25"/>
    <p:sldId id="378" r:id="rId26"/>
    <p:sldId id="388" r:id="rId27"/>
    <p:sldId id="380" r:id="rId28"/>
    <p:sldId id="383" r:id="rId29"/>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7E2D42-6221-434F-B484-885E5E63D63C}" v="277" dt="2021-04-14T01:12:24.30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49" autoAdjust="0"/>
    <p:restoredTop sz="94660"/>
  </p:normalViewPr>
  <p:slideViewPr>
    <p:cSldViewPr>
      <p:cViewPr varScale="1">
        <p:scale>
          <a:sx n="109" d="100"/>
          <a:sy n="109" d="100"/>
        </p:scale>
        <p:origin x="1338"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A16D98-960B-41EE-AE78-B303D5D62A04}"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F29C62F5-86BB-48B1-B749-6325C7C3A55F}">
      <dgm:prSet/>
      <dgm:spPr/>
      <dgm:t>
        <a:bodyPr/>
        <a:lstStyle/>
        <a:p>
          <a:r>
            <a:rPr lang="es-SV"/>
            <a:t>PROBABILIDADES.</a:t>
          </a:r>
          <a:endParaRPr lang="en-US"/>
        </a:p>
      </dgm:t>
    </dgm:pt>
    <dgm:pt modelId="{ACD6E0D1-362E-4E21-A8BA-3E5A9109F38F}" type="parTrans" cxnId="{0295D1AE-0359-4C2D-BA71-B26325B2EBB5}">
      <dgm:prSet/>
      <dgm:spPr/>
      <dgm:t>
        <a:bodyPr/>
        <a:lstStyle/>
        <a:p>
          <a:endParaRPr lang="en-US"/>
        </a:p>
      </dgm:t>
    </dgm:pt>
    <dgm:pt modelId="{2E4AA708-75D4-4BD4-924D-6A47C54B2E02}" type="sibTrans" cxnId="{0295D1AE-0359-4C2D-BA71-B26325B2EBB5}">
      <dgm:prSet/>
      <dgm:spPr/>
      <dgm:t>
        <a:bodyPr/>
        <a:lstStyle/>
        <a:p>
          <a:endParaRPr lang="en-US"/>
        </a:p>
      </dgm:t>
    </dgm:pt>
    <dgm:pt modelId="{B4F1FEE8-8F01-49BF-8508-0F46A3BAA078}">
      <dgm:prSet/>
      <dgm:spPr/>
      <dgm:t>
        <a:bodyPr/>
        <a:lstStyle/>
        <a:p>
          <a:r>
            <a:rPr lang="es-MX"/>
            <a:t>Fenómeno aleatorio y experimento aleatorio.</a:t>
          </a:r>
          <a:endParaRPr lang="en-US"/>
        </a:p>
      </dgm:t>
    </dgm:pt>
    <dgm:pt modelId="{15507F74-6D2D-4D1F-B732-F35948F5E0C3}" type="parTrans" cxnId="{C67496B4-1F4A-4E96-8267-9F2790008BA5}">
      <dgm:prSet/>
      <dgm:spPr/>
      <dgm:t>
        <a:bodyPr/>
        <a:lstStyle/>
        <a:p>
          <a:endParaRPr lang="en-US"/>
        </a:p>
      </dgm:t>
    </dgm:pt>
    <dgm:pt modelId="{9E8A1021-1A0D-483E-9E30-81AC078E5541}" type="sibTrans" cxnId="{C67496B4-1F4A-4E96-8267-9F2790008BA5}">
      <dgm:prSet/>
      <dgm:spPr/>
      <dgm:t>
        <a:bodyPr/>
        <a:lstStyle/>
        <a:p>
          <a:endParaRPr lang="en-US"/>
        </a:p>
      </dgm:t>
    </dgm:pt>
    <dgm:pt modelId="{CE61A363-7E1A-42C0-B4FC-63DB7BF38424}">
      <dgm:prSet/>
      <dgm:spPr/>
      <dgm:t>
        <a:bodyPr/>
        <a:lstStyle/>
        <a:p>
          <a:r>
            <a:rPr lang="es-MX"/>
            <a:t>Espacio muestral y evento del espacio muestral.</a:t>
          </a:r>
          <a:endParaRPr lang="en-US"/>
        </a:p>
      </dgm:t>
    </dgm:pt>
    <dgm:pt modelId="{85395CA5-C64C-4539-AECF-8888784879B4}" type="parTrans" cxnId="{E7486882-7907-4154-BE8A-F76E700C77EB}">
      <dgm:prSet/>
      <dgm:spPr/>
      <dgm:t>
        <a:bodyPr/>
        <a:lstStyle/>
        <a:p>
          <a:endParaRPr lang="en-US"/>
        </a:p>
      </dgm:t>
    </dgm:pt>
    <dgm:pt modelId="{97EBD804-64C0-4C3D-99DB-C0E2441300C5}" type="sibTrans" cxnId="{E7486882-7907-4154-BE8A-F76E700C77EB}">
      <dgm:prSet/>
      <dgm:spPr/>
      <dgm:t>
        <a:bodyPr/>
        <a:lstStyle/>
        <a:p>
          <a:endParaRPr lang="en-US"/>
        </a:p>
      </dgm:t>
    </dgm:pt>
    <dgm:pt modelId="{DAF5132C-A21F-48B6-B6A7-841E5B121CB3}">
      <dgm:prSet/>
      <dgm:spPr/>
      <dgm:t>
        <a:bodyPr/>
        <a:lstStyle/>
        <a:p>
          <a:r>
            <a:rPr lang="es-MX"/>
            <a:t>Sucesos mutuamente excluyentes y complementarios.</a:t>
          </a:r>
          <a:endParaRPr lang="en-US"/>
        </a:p>
      </dgm:t>
    </dgm:pt>
    <dgm:pt modelId="{F5EB5F08-9C4E-4DB5-9635-E9C6253D2C14}" type="parTrans" cxnId="{554521AF-0593-45A0-A626-0022C5005060}">
      <dgm:prSet/>
      <dgm:spPr/>
      <dgm:t>
        <a:bodyPr/>
        <a:lstStyle/>
        <a:p>
          <a:endParaRPr lang="en-US"/>
        </a:p>
      </dgm:t>
    </dgm:pt>
    <dgm:pt modelId="{37CA685B-7F13-41B1-B45D-CB593AC1BDDD}" type="sibTrans" cxnId="{554521AF-0593-45A0-A626-0022C5005060}">
      <dgm:prSet/>
      <dgm:spPr/>
      <dgm:t>
        <a:bodyPr/>
        <a:lstStyle/>
        <a:p>
          <a:endParaRPr lang="en-US"/>
        </a:p>
      </dgm:t>
    </dgm:pt>
    <dgm:pt modelId="{2DC16055-CD13-4515-AB97-5F83B8631AD1}">
      <dgm:prSet/>
      <dgm:spPr/>
      <dgm:t>
        <a:bodyPr/>
        <a:lstStyle/>
        <a:p>
          <a:r>
            <a:rPr lang="es-MX"/>
            <a:t>Probabilidad de un suceso.</a:t>
          </a:r>
          <a:endParaRPr lang="en-US"/>
        </a:p>
      </dgm:t>
    </dgm:pt>
    <dgm:pt modelId="{6055AA7C-9870-403D-A2DD-C052ACFC7E69}" type="parTrans" cxnId="{79707018-A5B1-403A-954B-3B1DC067D8B4}">
      <dgm:prSet/>
      <dgm:spPr/>
      <dgm:t>
        <a:bodyPr/>
        <a:lstStyle/>
        <a:p>
          <a:endParaRPr lang="en-US"/>
        </a:p>
      </dgm:t>
    </dgm:pt>
    <dgm:pt modelId="{4B110164-C5E3-4580-BEA1-0009B3DD744A}" type="sibTrans" cxnId="{79707018-A5B1-403A-954B-3B1DC067D8B4}">
      <dgm:prSet/>
      <dgm:spPr/>
      <dgm:t>
        <a:bodyPr/>
        <a:lstStyle/>
        <a:p>
          <a:endParaRPr lang="en-US"/>
        </a:p>
      </dgm:t>
    </dgm:pt>
    <dgm:pt modelId="{1AA108FC-AA9B-4306-92EE-A90300420C15}">
      <dgm:prSet/>
      <dgm:spPr/>
      <dgm:t>
        <a:bodyPr/>
        <a:lstStyle/>
        <a:p>
          <a:r>
            <a:rPr lang="es-MX"/>
            <a:t>Probabilidad condicional.</a:t>
          </a:r>
          <a:endParaRPr lang="en-US"/>
        </a:p>
      </dgm:t>
    </dgm:pt>
    <dgm:pt modelId="{58A5C817-3107-4CAC-BE94-A245B1DC5FC2}" type="parTrans" cxnId="{784F8D98-9AED-40AE-AEF2-559CE3762809}">
      <dgm:prSet/>
      <dgm:spPr/>
      <dgm:t>
        <a:bodyPr/>
        <a:lstStyle/>
        <a:p>
          <a:endParaRPr lang="en-US"/>
        </a:p>
      </dgm:t>
    </dgm:pt>
    <dgm:pt modelId="{0E386B45-A5B2-463D-AF9C-96580B22E6B0}" type="sibTrans" cxnId="{784F8D98-9AED-40AE-AEF2-559CE3762809}">
      <dgm:prSet/>
      <dgm:spPr/>
      <dgm:t>
        <a:bodyPr/>
        <a:lstStyle/>
        <a:p>
          <a:endParaRPr lang="en-US"/>
        </a:p>
      </dgm:t>
    </dgm:pt>
    <dgm:pt modelId="{BB7E874F-4D88-45D4-9C54-7659FAEBE0F2}">
      <dgm:prSet/>
      <dgm:spPr/>
      <dgm:t>
        <a:bodyPr/>
        <a:lstStyle/>
        <a:p>
          <a:r>
            <a:rPr lang="es-MX"/>
            <a:t>Probabilidad total y regla de Bayes </a:t>
          </a:r>
          <a:endParaRPr lang="en-US"/>
        </a:p>
      </dgm:t>
    </dgm:pt>
    <dgm:pt modelId="{D5A16CF4-C8D6-4C03-B5CE-8DFC7D3EF63D}" type="parTrans" cxnId="{5758A4E3-DFD8-4FC2-B1A2-7FDAE563B613}">
      <dgm:prSet/>
      <dgm:spPr/>
      <dgm:t>
        <a:bodyPr/>
        <a:lstStyle/>
        <a:p>
          <a:endParaRPr lang="en-US"/>
        </a:p>
      </dgm:t>
    </dgm:pt>
    <dgm:pt modelId="{8B2C8F71-8C1A-4360-9057-8C2F14F7F73A}" type="sibTrans" cxnId="{5758A4E3-DFD8-4FC2-B1A2-7FDAE563B613}">
      <dgm:prSet/>
      <dgm:spPr/>
      <dgm:t>
        <a:bodyPr/>
        <a:lstStyle/>
        <a:p>
          <a:endParaRPr lang="en-US"/>
        </a:p>
      </dgm:t>
    </dgm:pt>
    <dgm:pt modelId="{D36506E2-6B7C-4C82-B3B8-9C7F469C9D3D}" type="pres">
      <dgm:prSet presAssocID="{94A16D98-960B-41EE-AE78-B303D5D62A04}" presName="vert0" presStyleCnt="0">
        <dgm:presLayoutVars>
          <dgm:dir/>
          <dgm:animOne val="branch"/>
          <dgm:animLvl val="lvl"/>
        </dgm:presLayoutVars>
      </dgm:prSet>
      <dgm:spPr/>
      <dgm:t>
        <a:bodyPr/>
        <a:lstStyle/>
        <a:p>
          <a:endParaRPr lang="es-ES"/>
        </a:p>
      </dgm:t>
    </dgm:pt>
    <dgm:pt modelId="{3242DD7B-1AF1-4DAE-9BB7-688F7E9DCEA7}" type="pres">
      <dgm:prSet presAssocID="{F29C62F5-86BB-48B1-B749-6325C7C3A55F}" presName="thickLine" presStyleLbl="alignNode1" presStyleIdx="0" presStyleCnt="7"/>
      <dgm:spPr/>
    </dgm:pt>
    <dgm:pt modelId="{F58FCF4A-9456-4A79-A825-A1B6D9CBD34C}" type="pres">
      <dgm:prSet presAssocID="{F29C62F5-86BB-48B1-B749-6325C7C3A55F}" presName="horz1" presStyleCnt="0"/>
      <dgm:spPr/>
    </dgm:pt>
    <dgm:pt modelId="{47EFB14E-922D-4557-9C7F-5EE7574B4ED4}" type="pres">
      <dgm:prSet presAssocID="{F29C62F5-86BB-48B1-B749-6325C7C3A55F}" presName="tx1" presStyleLbl="revTx" presStyleIdx="0" presStyleCnt="7"/>
      <dgm:spPr/>
      <dgm:t>
        <a:bodyPr/>
        <a:lstStyle/>
        <a:p>
          <a:endParaRPr lang="es-ES"/>
        </a:p>
      </dgm:t>
    </dgm:pt>
    <dgm:pt modelId="{7945CE8A-DCAC-44EA-8F9D-0F7F47978B12}" type="pres">
      <dgm:prSet presAssocID="{F29C62F5-86BB-48B1-B749-6325C7C3A55F}" presName="vert1" presStyleCnt="0"/>
      <dgm:spPr/>
    </dgm:pt>
    <dgm:pt modelId="{55653ADB-91F6-4241-9B92-48C9B22EB703}" type="pres">
      <dgm:prSet presAssocID="{B4F1FEE8-8F01-49BF-8508-0F46A3BAA078}" presName="thickLine" presStyleLbl="alignNode1" presStyleIdx="1" presStyleCnt="7"/>
      <dgm:spPr/>
    </dgm:pt>
    <dgm:pt modelId="{F8878B9A-57A9-47D8-A044-02688757F6D3}" type="pres">
      <dgm:prSet presAssocID="{B4F1FEE8-8F01-49BF-8508-0F46A3BAA078}" presName="horz1" presStyleCnt="0"/>
      <dgm:spPr/>
    </dgm:pt>
    <dgm:pt modelId="{2D2EDC5B-885E-4650-B01B-741A30B34055}" type="pres">
      <dgm:prSet presAssocID="{B4F1FEE8-8F01-49BF-8508-0F46A3BAA078}" presName="tx1" presStyleLbl="revTx" presStyleIdx="1" presStyleCnt="7"/>
      <dgm:spPr/>
      <dgm:t>
        <a:bodyPr/>
        <a:lstStyle/>
        <a:p>
          <a:endParaRPr lang="es-ES"/>
        </a:p>
      </dgm:t>
    </dgm:pt>
    <dgm:pt modelId="{CC29F4F0-F88C-496D-8489-2F278A1A44BA}" type="pres">
      <dgm:prSet presAssocID="{B4F1FEE8-8F01-49BF-8508-0F46A3BAA078}" presName="vert1" presStyleCnt="0"/>
      <dgm:spPr/>
    </dgm:pt>
    <dgm:pt modelId="{BFB48967-161D-4496-B34D-AE2835D5D273}" type="pres">
      <dgm:prSet presAssocID="{CE61A363-7E1A-42C0-B4FC-63DB7BF38424}" presName="thickLine" presStyleLbl="alignNode1" presStyleIdx="2" presStyleCnt="7"/>
      <dgm:spPr/>
    </dgm:pt>
    <dgm:pt modelId="{A58EAC95-0B91-4E88-9B62-8104C6216781}" type="pres">
      <dgm:prSet presAssocID="{CE61A363-7E1A-42C0-B4FC-63DB7BF38424}" presName="horz1" presStyleCnt="0"/>
      <dgm:spPr/>
    </dgm:pt>
    <dgm:pt modelId="{869A7532-8EDD-4DB5-8D9E-82F144F37F32}" type="pres">
      <dgm:prSet presAssocID="{CE61A363-7E1A-42C0-B4FC-63DB7BF38424}" presName="tx1" presStyleLbl="revTx" presStyleIdx="2" presStyleCnt="7"/>
      <dgm:spPr/>
      <dgm:t>
        <a:bodyPr/>
        <a:lstStyle/>
        <a:p>
          <a:endParaRPr lang="es-ES"/>
        </a:p>
      </dgm:t>
    </dgm:pt>
    <dgm:pt modelId="{78E7F1E2-7C95-4F02-9047-327B2BE9E171}" type="pres">
      <dgm:prSet presAssocID="{CE61A363-7E1A-42C0-B4FC-63DB7BF38424}" presName="vert1" presStyleCnt="0"/>
      <dgm:spPr/>
    </dgm:pt>
    <dgm:pt modelId="{5FB03F4F-7927-4C54-B415-11D20A63FA13}" type="pres">
      <dgm:prSet presAssocID="{DAF5132C-A21F-48B6-B6A7-841E5B121CB3}" presName="thickLine" presStyleLbl="alignNode1" presStyleIdx="3" presStyleCnt="7"/>
      <dgm:spPr/>
    </dgm:pt>
    <dgm:pt modelId="{B1D51F5E-100E-4476-87BD-A1BE68A3876C}" type="pres">
      <dgm:prSet presAssocID="{DAF5132C-A21F-48B6-B6A7-841E5B121CB3}" presName="horz1" presStyleCnt="0"/>
      <dgm:spPr/>
    </dgm:pt>
    <dgm:pt modelId="{FE5D8203-8F1C-473F-8D1F-8CE7F1174F5D}" type="pres">
      <dgm:prSet presAssocID="{DAF5132C-A21F-48B6-B6A7-841E5B121CB3}" presName="tx1" presStyleLbl="revTx" presStyleIdx="3" presStyleCnt="7"/>
      <dgm:spPr/>
      <dgm:t>
        <a:bodyPr/>
        <a:lstStyle/>
        <a:p>
          <a:endParaRPr lang="es-ES"/>
        </a:p>
      </dgm:t>
    </dgm:pt>
    <dgm:pt modelId="{4D936E73-1FC2-4A7E-B5E6-88F27D8FAA05}" type="pres">
      <dgm:prSet presAssocID="{DAF5132C-A21F-48B6-B6A7-841E5B121CB3}" presName="vert1" presStyleCnt="0"/>
      <dgm:spPr/>
    </dgm:pt>
    <dgm:pt modelId="{E0B1AA5B-306B-45C0-9189-65324BB5BAA9}" type="pres">
      <dgm:prSet presAssocID="{2DC16055-CD13-4515-AB97-5F83B8631AD1}" presName="thickLine" presStyleLbl="alignNode1" presStyleIdx="4" presStyleCnt="7"/>
      <dgm:spPr/>
    </dgm:pt>
    <dgm:pt modelId="{A10489A1-007D-4DF6-AD70-B643742C17B5}" type="pres">
      <dgm:prSet presAssocID="{2DC16055-CD13-4515-AB97-5F83B8631AD1}" presName="horz1" presStyleCnt="0"/>
      <dgm:spPr/>
    </dgm:pt>
    <dgm:pt modelId="{D9C3ABCB-31AE-430E-A694-063F95CE743C}" type="pres">
      <dgm:prSet presAssocID="{2DC16055-CD13-4515-AB97-5F83B8631AD1}" presName="tx1" presStyleLbl="revTx" presStyleIdx="4" presStyleCnt="7"/>
      <dgm:spPr/>
      <dgm:t>
        <a:bodyPr/>
        <a:lstStyle/>
        <a:p>
          <a:endParaRPr lang="es-ES"/>
        </a:p>
      </dgm:t>
    </dgm:pt>
    <dgm:pt modelId="{B8F65BCF-0D04-450A-9837-DF8A88EE85D4}" type="pres">
      <dgm:prSet presAssocID="{2DC16055-CD13-4515-AB97-5F83B8631AD1}" presName="vert1" presStyleCnt="0"/>
      <dgm:spPr/>
    </dgm:pt>
    <dgm:pt modelId="{7B9F200C-1879-4C88-9AE7-7B964564A23F}" type="pres">
      <dgm:prSet presAssocID="{1AA108FC-AA9B-4306-92EE-A90300420C15}" presName="thickLine" presStyleLbl="alignNode1" presStyleIdx="5" presStyleCnt="7"/>
      <dgm:spPr/>
    </dgm:pt>
    <dgm:pt modelId="{306732F7-4AFD-4D2E-9399-2D103689DDC9}" type="pres">
      <dgm:prSet presAssocID="{1AA108FC-AA9B-4306-92EE-A90300420C15}" presName="horz1" presStyleCnt="0"/>
      <dgm:spPr/>
    </dgm:pt>
    <dgm:pt modelId="{529B259E-F4F3-4FCD-B118-9F3154ED5690}" type="pres">
      <dgm:prSet presAssocID="{1AA108FC-AA9B-4306-92EE-A90300420C15}" presName="tx1" presStyleLbl="revTx" presStyleIdx="5" presStyleCnt="7"/>
      <dgm:spPr/>
      <dgm:t>
        <a:bodyPr/>
        <a:lstStyle/>
        <a:p>
          <a:endParaRPr lang="es-ES"/>
        </a:p>
      </dgm:t>
    </dgm:pt>
    <dgm:pt modelId="{D4D1F116-6DC3-4985-81EC-A218C468F868}" type="pres">
      <dgm:prSet presAssocID="{1AA108FC-AA9B-4306-92EE-A90300420C15}" presName="vert1" presStyleCnt="0"/>
      <dgm:spPr/>
    </dgm:pt>
    <dgm:pt modelId="{91227EC3-2656-43E0-BD9F-40D6B59DE890}" type="pres">
      <dgm:prSet presAssocID="{BB7E874F-4D88-45D4-9C54-7659FAEBE0F2}" presName="thickLine" presStyleLbl="alignNode1" presStyleIdx="6" presStyleCnt="7"/>
      <dgm:spPr/>
    </dgm:pt>
    <dgm:pt modelId="{8FEF4DC7-EB36-4821-A2D7-85ABB7FFAD87}" type="pres">
      <dgm:prSet presAssocID="{BB7E874F-4D88-45D4-9C54-7659FAEBE0F2}" presName="horz1" presStyleCnt="0"/>
      <dgm:spPr/>
    </dgm:pt>
    <dgm:pt modelId="{E94DE943-868B-4B63-B110-DA575ACF78A3}" type="pres">
      <dgm:prSet presAssocID="{BB7E874F-4D88-45D4-9C54-7659FAEBE0F2}" presName="tx1" presStyleLbl="revTx" presStyleIdx="6" presStyleCnt="7"/>
      <dgm:spPr/>
      <dgm:t>
        <a:bodyPr/>
        <a:lstStyle/>
        <a:p>
          <a:endParaRPr lang="es-ES"/>
        </a:p>
      </dgm:t>
    </dgm:pt>
    <dgm:pt modelId="{6894B380-2459-457A-B785-2BE19FA1463B}" type="pres">
      <dgm:prSet presAssocID="{BB7E874F-4D88-45D4-9C54-7659FAEBE0F2}" presName="vert1" presStyleCnt="0"/>
      <dgm:spPr/>
    </dgm:pt>
  </dgm:ptLst>
  <dgm:cxnLst>
    <dgm:cxn modelId="{784F8D98-9AED-40AE-AEF2-559CE3762809}" srcId="{94A16D98-960B-41EE-AE78-B303D5D62A04}" destId="{1AA108FC-AA9B-4306-92EE-A90300420C15}" srcOrd="5" destOrd="0" parTransId="{58A5C817-3107-4CAC-BE94-A245B1DC5FC2}" sibTransId="{0E386B45-A5B2-463D-AF9C-96580B22E6B0}"/>
    <dgm:cxn modelId="{554521AF-0593-45A0-A626-0022C5005060}" srcId="{94A16D98-960B-41EE-AE78-B303D5D62A04}" destId="{DAF5132C-A21F-48B6-B6A7-841E5B121CB3}" srcOrd="3" destOrd="0" parTransId="{F5EB5F08-9C4E-4DB5-9635-E9C6253D2C14}" sibTransId="{37CA685B-7F13-41B1-B45D-CB593AC1BDDD}"/>
    <dgm:cxn modelId="{C67496B4-1F4A-4E96-8267-9F2790008BA5}" srcId="{94A16D98-960B-41EE-AE78-B303D5D62A04}" destId="{B4F1FEE8-8F01-49BF-8508-0F46A3BAA078}" srcOrd="1" destOrd="0" parTransId="{15507F74-6D2D-4D1F-B732-F35948F5E0C3}" sibTransId="{9E8A1021-1A0D-483E-9E30-81AC078E5541}"/>
    <dgm:cxn modelId="{8351D6D6-A4BA-424D-B4BA-D68140C701FA}" type="presOf" srcId="{BB7E874F-4D88-45D4-9C54-7659FAEBE0F2}" destId="{E94DE943-868B-4B63-B110-DA575ACF78A3}" srcOrd="0" destOrd="0" presId="urn:microsoft.com/office/officeart/2008/layout/LinedList"/>
    <dgm:cxn modelId="{79707018-A5B1-403A-954B-3B1DC067D8B4}" srcId="{94A16D98-960B-41EE-AE78-B303D5D62A04}" destId="{2DC16055-CD13-4515-AB97-5F83B8631AD1}" srcOrd="4" destOrd="0" parTransId="{6055AA7C-9870-403D-A2DD-C052ACFC7E69}" sibTransId="{4B110164-C5E3-4580-BEA1-0009B3DD744A}"/>
    <dgm:cxn modelId="{B64CA06D-1439-4759-A46E-2EF1F7CBF334}" type="presOf" srcId="{94A16D98-960B-41EE-AE78-B303D5D62A04}" destId="{D36506E2-6B7C-4C82-B3B8-9C7F469C9D3D}" srcOrd="0" destOrd="0" presId="urn:microsoft.com/office/officeart/2008/layout/LinedList"/>
    <dgm:cxn modelId="{76D48825-5179-4934-86D4-E84937F7BCDA}" type="presOf" srcId="{2DC16055-CD13-4515-AB97-5F83B8631AD1}" destId="{D9C3ABCB-31AE-430E-A694-063F95CE743C}" srcOrd="0" destOrd="0" presId="urn:microsoft.com/office/officeart/2008/layout/LinedList"/>
    <dgm:cxn modelId="{591C22FE-4024-4F51-BB4C-279DE59287FD}" type="presOf" srcId="{1AA108FC-AA9B-4306-92EE-A90300420C15}" destId="{529B259E-F4F3-4FCD-B118-9F3154ED5690}" srcOrd="0" destOrd="0" presId="urn:microsoft.com/office/officeart/2008/layout/LinedList"/>
    <dgm:cxn modelId="{2FFDF636-657D-4B10-95BF-ED0DEB585BF2}" type="presOf" srcId="{DAF5132C-A21F-48B6-B6A7-841E5B121CB3}" destId="{FE5D8203-8F1C-473F-8D1F-8CE7F1174F5D}" srcOrd="0" destOrd="0" presId="urn:microsoft.com/office/officeart/2008/layout/LinedList"/>
    <dgm:cxn modelId="{5758A4E3-DFD8-4FC2-B1A2-7FDAE563B613}" srcId="{94A16D98-960B-41EE-AE78-B303D5D62A04}" destId="{BB7E874F-4D88-45D4-9C54-7659FAEBE0F2}" srcOrd="6" destOrd="0" parTransId="{D5A16CF4-C8D6-4C03-B5CE-8DFC7D3EF63D}" sibTransId="{8B2C8F71-8C1A-4360-9057-8C2F14F7F73A}"/>
    <dgm:cxn modelId="{7C9CC3BB-8A4B-415D-9C3A-F5E87A526135}" type="presOf" srcId="{B4F1FEE8-8F01-49BF-8508-0F46A3BAA078}" destId="{2D2EDC5B-885E-4650-B01B-741A30B34055}" srcOrd="0" destOrd="0" presId="urn:microsoft.com/office/officeart/2008/layout/LinedList"/>
    <dgm:cxn modelId="{0FE9B287-F96A-4F87-8EE0-CD159141A058}" type="presOf" srcId="{F29C62F5-86BB-48B1-B749-6325C7C3A55F}" destId="{47EFB14E-922D-4557-9C7F-5EE7574B4ED4}" srcOrd="0" destOrd="0" presId="urn:microsoft.com/office/officeart/2008/layout/LinedList"/>
    <dgm:cxn modelId="{0295D1AE-0359-4C2D-BA71-B26325B2EBB5}" srcId="{94A16D98-960B-41EE-AE78-B303D5D62A04}" destId="{F29C62F5-86BB-48B1-B749-6325C7C3A55F}" srcOrd="0" destOrd="0" parTransId="{ACD6E0D1-362E-4E21-A8BA-3E5A9109F38F}" sibTransId="{2E4AA708-75D4-4BD4-924D-6A47C54B2E02}"/>
    <dgm:cxn modelId="{E7486882-7907-4154-BE8A-F76E700C77EB}" srcId="{94A16D98-960B-41EE-AE78-B303D5D62A04}" destId="{CE61A363-7E1A-42C0-B4FC-63DB7BF38424}" srcOrd="2" destOrd="0" parTransId="{85395CA5-C64C-4539-AECF-8888784879B4}" sibTransId="{97EBD804-64C0-4C3D-99DB-C0E2441300C5}"/>
    <dgm:cxn modelId="{A5727FD4-6380-46F6-B6D1-A629D080A195}" type="presOf" srcId="{CE61A363-7E1A-42C0-B4FC-63DB7BF38424}" destId="{869A7532-8EDD-4DB5-8D9E-82F144F37F32}" srcOrd="0" destOrd="0" presId="urn:microsoft.com/office/officeart/2008/layout/LinedList"/>
    <dgm:cxn modelId="{E5E8B0F0-0AA3-4BAA-9A3E-2FD5C1C464F3}" type="presParOf" srcId="{D36506E2-6B7C-4C82-B3B8-9C7F469C9D3D}" destId="{3242DD7B-1AF1-4DAE-9BB7-688F7E9DCEA7}" srcOrd="0" destOrd="0" presId="urn:microsoft.com/office/officeart/2008/layout/LinedList"/>
    <dgm:cxn modelId="{658E78A8-6403-4715-9890-A2695DB15C7A}" type="presParOf" srcId="{D36506E2-6B7C-4C82-B3B8-9C7F469C9D3D}" destId="{F58FCF4A-9456-4A79-A825-A1B6D9CBD34C}" srcOrd="1" destOrd="0" presId="urn:microsoft.com/office/officeart/2008/layout/LinedList"/>
    <dgm:cxn modelId="{BA5E8663-5705-4719-B2D4-322D42A20AD5}" type="presParOf" srcId="{F58FCF4A-9456-4A79-A825-A1B6D9CBD34C}" destId="{47EFB14E-922D-4557-9C7F-5EE7574B4ED4}" srcOrd="0" destOrd="0" presId="urn:microsoft.com/office/officeart/2008/layout/LinedList"/>
    <dgm:cxn modelId="{B7237D56-8BDA-4D09-AAE1-685F6719DD1D}" type="presParOf" srcId="{F58FCF4A-9456-4A79-A825-A1B6D9CBD34C}" destId="{7945CE8A-DCAC-44EA-8F9D-0F7F47978B12}" srcOrd="1" destOrd="0" presId="urn:microsoft.com/office/officeart/2008/layout/LinedList"/>
    <dgm:cxn modelId="{B6B1B70A-AC4C-4FAA-974F-A8BBFB1CF0D5}" type="presParOf" srcId="{D36506E2-6B7C-4C82-B3B8-9C7F469C9D3D}" destId="{55653ADB-91F6-4241-9B92-48C9B22EB703}" srcOrd="2" destOrd="0" presId="urn:microsoft.com/office/officeart/2008/layout/LinedList"/>
    <dgm:cxn modelId="{66094420-FE81-4DD9-9BB4-29185AF2145E}" type="presParOf" srcId="{D36506E2-6B7C-4C82-B3B8-9C7F469C9D3D}" destId="{F8878B9A-57A9-47D8-A044-02688757F6D3}" srcOrd="3" destOrd="0" presId="urn:microsoft.com/office/officeart/2008/layout/LinedList"/>
    <dgm:cxn modelId="{9E734947-0AAD-455F-8C77-211660B54D00}" type="presParOf" srcId="{F8878B9A-57A9-47D8-A044-02688757F6D3}" destId="{2D2EDC5B-885E-4650-B01B-741A30B34055}" srcOrd="0" destOrd="0" presId="urn:microsoft.com/office/officeart/2008/layout/LinedList"/>
    <dgm:cxn modelId="{E2A34B7E-14B6-43AD-B6ED-9852D4D9732C}" type="presParOf" srcId="{F8878B9A-57A9-47D8-A044-02688757F6D3}" destId="{CC29F4F0-F88C-496D-8489-2F278A1A44BA}" srcOrd="1" destOrd="0" presId="urn:microsoft.com/office/officeart/2008/layout/LinedList"/>
    <dgm:cxn modelId="{19BBC240-C49A-495F-9909-4D5590D7FDEA}" type="presParOf" srcId="{D36506E2-6B7C-4C82-B3B8-9C7F469C9D3D}" destId="{BFB48967-161D-4496-B34D-AE2835D5D273}" srcOrd="4" destOrd="0" presId="urn:microsoft.com/office/officeart/2008/layout/LinedList"/>
    <dgm:cxn modelId="{3BF9CD60-2C53-425D-8B2E-C8E42031C40C}" type="presParOf" srcId="{D36506E2-6B7C-4C82-B3B8-9C7F469C9D3D}" destId="{A58EAC95-0B91-4E88-9B62-8104C6216781}" srcOrd="5" destOrd="0" presId="urn:microsoft.com/office/officeart/2008/layout/LinedList"/>
    <dgm:cxn modelId="{D20A1774-F51B-4084-8E33-54648626D8FF}" type="presParOf" srcId="{A58EAC95-0B91-4E88-9B62-8104C6216781}" destId="{869A7532-8EDD-4DB5-8D9E-82F144F37F32}" srcOrd="0" destOrd="0" presId="urn:microsoft.com/office/officeart/2008/layout/LinedList"/>
    <dgm:cxn modelId="{E2D7BF6E-B08A-4EDE-8439-8126DD9590F2}" type="presParOf" srcId="{A58EAC95-0B91-4E88-9B62-8104C6216781}" destId="{78E7F1E2-7C95-4F02-9047-327B2BE9E171}" srcOrd="1" destOrd="0" presId="urn:microsoft.com/office/officeart/2008/layout/LinedList"/>
    <dgm:cxn modelId="{43DE898E-6D26-44FF-AEDF-ECB0FCC48E35}" type="presParOf" srcId="{D36506E2-6B7C-4C82-B3B8-9C7F469C9D3D}" destId="{5FB03F4F-7927-4C54-B415-11D20A63FA13}" srcOrd="6" destOrd="0" presId="urn:microsoft.com/office/officeart/2008/layout/LinedList"/>
    <dgm:cxn modelId="{1E198741-CC1D-43C3-BE33-C62C3D77B93C}" type="presParOf" srcId="{D36506E2-6B7C-4C82-B3B8-9C7F469C9D3D}" destId="{B1D51F5E-100E-4476-87BD-A1BE68A3876C}" srcOrd="7" destOrd="0" presId="urn:microsoft.com/office/officeart/2008/layout/LinedList"/>
    <dgm:cxn modelId="{F4770BBC-3604-44EE-B52A-11A54CB82EDF}" type="presParOf" srcId="{B1D51F5E-100E-4476-87BD-A1BE68A3876C}" destId="{FE5D8203-8F1C-473F-8D1F-8CE7F1174F5D}" srcOrd="0" destOrd="0" presId="urn:microsoft.com/office/officeart/2008/layout/LinedList"/>
    <dgm:cxn modelId="{10C0E50E-084C-4F18-A202-4584E3D14959}" type="presParOf" srcId="{B1D51F5E-100E-4476-87BD-A1BE68A3876C}" destId="{4D936E73-1FC2-4A7E-B5E6-88F27D8FAA05}" srcOrd="1" destOrd="0" presId="urn:microsoft.com/office/officeart/2008/layout/LinedList"/>
    <dgm:cxn modelId="{8EBDB2F5-4CE5-4D31-B1AD-1D86AEA13DBB}" type="presParOf" srcId="{D36506E2-6B7C-4C82-B3B8-9C7F469C9D3D}" destId="{E0B1AA5B-306B-45C0-9189-65324BB5BAA9}" srcOrd="8" destOrd="0" presId="urn:microsoft.com/office/officeart/2008/layout/LinedList"/>
    <dgm:cxn modelId="{E11B5BCD-F03E-4052-AA55-FAAF616A358C}" type="presParOf" srcId="{D36506E2-6B7C-4C82-B3B8-9C7F469C9D3D}" destId="{A10489A1-007D-4DF6-AD70-B643742C17B5}" srcOrd="9" destOrd="0" presId="urn:microsoft.com/office/officeart/2008/layout/LinedList"/>
    <dgm:cxn modelId="{D7FB74B5-B94B-4A3A-8F79-3BA6BB0DA311}" type="presParOf" srcId="{A10489A1-007D-4DF6-AD70-B643742C17B5}" destId="{D9C3ABCB-31AE-430E-A694-063F95CE743C}" srcOrd="0" destOrd="0" presId="urn:microsoft.com/office/officeart/2008/layout/LinedList"/>
    <dgm:cxn modelId="{107E4CA3-9160-48C4-A10E-D2C02B93830F}" type="presParOf" srcId="{A10489A1-007D-4DF6-AD70-B643742C17B5}" destId="{B8F65BCF-0D04-450A-9837-DF8A88EE85D4}" srcOrd="1" destOrd="0" presId="urn:microsoft.com/office/officeart/2008/layout/LinedList"/>
    <dgm:cxn modelId="{CB6712AF-EFA3-4BEC-A06C-794BC7C11F65}" type="presParOf" srcId="{D36506E2-6B7C-4C82-B3B8-9C7F469C9D3D}" destId="{7B9F200C-1879-4C88-9AE7-7B964564A23F}" srcOrd="10" destOrd="0" presId="urn:microsoft.com/office/officeart/2008/layout/LinedList"/>
    <dgm:cxn modelId="{1069E664-5EB5-4E7D-8783-9265EEC03AC8}" type="presParOf" srcId="{D36506E2-6B7C-4C82-B3B8-9C7F469C9D3D}" destId="{306732F7-4AFD-4D2E-9399-2D103689DDC9}" srcOrd="11" destOrd="0" presId="urn:microsoft.com/office/officeart/2008/layout/LinedList"/>
    <dgm:cxn modelId="{D4C82F11-CCD9-4384-94C4-FE2E372DED98}" type="presParOf" srcId="{306732F7-4AFD-4D2E-9399-2D103689DDC9}" destId="{529B259E-F4F3-4FCD-B118-9F3154ED5690}" srcOrd="0" destOrd="0" presId="urn:microsoft.com/office/officeart/2008/layout/LinedList"/>
    <dgm:cxn modelId="{3DFC88DE-F2F7-435B-956E-5573A399253C}" type="presParOf" srcId="{306732F7-4AFD-4D2E-9399-2D103689DDC9}" destId="{D4D1F116-6DC3-4985-81EC-A218C468F868}" srcOrd="1" destOrd="0" presId="urn:microsoft.com/office/officeart/2008/layout/LinedList"/>
    <dgm:cxn modelId="{4A9BE417-35C0-438B-AF2E-DE3353822CBF}" type="presParOf" srcId="{D36506E2-6B7C-4C82-B3B8-9C7F469C9D3D}" destId="{91227EC3-2656-43E0-BD9F-40D6B59DE890}" srcOrd="12" destOrd="0" presId="urn:microsoft.com/office/officeart/2008/layout/LinedList"/>
    <dgm:cxn modelId="{5D34CE60-D807-4911-BE60-B77CE75CA1C7}" type="presParOf" srcId="{D36506E2-6B7C-4C82-B3B8-9C7F469C9D3D}" destId="{8FEF4DC7-EB36-4821-A2D7-85ABB7FFAD87}" srcOrd="13" destOrd="0" presId="urn:microsoft.com/office/officeart/2008/layout/LinedList"/>
    <dgm:cxn modelId="{68BB3BEF-A111-4EEF-95D0-4309D734E641}" type="presParOf" srcId="{8FEF4DC7-EB36-4821-A2D7-85ABB7FFAD87}" destId="{E94DE943-868B-4B63-B110-DA575ACF78A3}" srcOrd="0" destOrd="0" presId="urn:microsoft.com/office/officeart/2008/layout/LinedList"/>
    <dgm:cxn modelId="{A42973B2-A76B-413C-8A66-EAF08A4D4ADE}" type="presParOf" srcId="{8FEF4DC7-EB36-4821-A2D7-85ABB7FFAD87}" destId="{6894B380-2459-457A-B785-2BE19FA1463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3E6B1B-7738-4814-AA25-90AE5116E9F2}" type="doc">
      <dgm:prSet loTypeId="urn:microsoft.com/office/officeart/2005/8/layout/process5" loCatId="process" qsTypeId="urn:microsoft.com/office/officeart/2005/8/quickstyle/simple2" qsCatId="simple" csTypeId="urn:microsoft.com/office/officeart/2005/8/colors/colorful2" csCatId="colorful" phldr="1"/>
      <dgm:spPr/>
      <dgm:t>
        <a:bodyPr/>
        <a:lstStyle/>
        <a:p>
          <a:endParaRPr lang="en-US"/>
        </a:p>
      </dgm:t>
    </dgm:pt>
    <dgm:pt modelId="{3C4739C6-ECB4-4FC7-9D81-1FB20FA4FA50}">
      <dgm:prSet/>
      <dgm:spPr/>
      <dgm:t>
        <a:bodyPr/>
        <a:lstStyle/>
        <a:p>
          <a:r>
            <a:rPr lang="es-SV"/>
            <a:t>Sea E un experimento aleatorio y A un suceso de E. Cuando realizamos el experimento puede ser que el suceso A ocurra o no.</a:t>
          </a:r>
          <a:endParaRPr lang="en-US"/>
        </a:p>
      </dgm:t>
    </dgm:pt>
    <dgm:pt modelId="{0643CC89-A165-44E4-A8AF-8A952F4C61B7}" type="parTrans" cxnId="{F67B940F-A9B6-48B4-92BB-04A7A6F374BC}">
      <dgm:prSet/>
      <dgm:spPr/>
      <dgm:t>
        <a:bodyPr/>
        <a:lstStyle/>
        <a:p>
          <a:endParaRPr lang="en-US"/>
        </a:p>
      </dgm:t>
    </dgm:pt>
    <dgm:pt modelId="{A602CD9D-240F-4244-92C0-EC120D6BC3CA}" type="sibTrans" cxnId="{F67B940F-A9B6-48B4-92BB-04A7A6F374BC}">
      <dgm:prSet/>
      <dgm:spPr/>
      <dgm:t>
        <a:bodyPr/>
        <a:lstStyle/>
        <a:p>
          <a:endParaRPr lang="en-US"/>
        </a:p>
      </dgm:t>
    </dgm:pt>
    <dgm:pt modelId="{C4CCE96C-CBE8-4B3F-966C-3828FA6D44F3}">
      <dgm:prSet/>
      <dgm:spPr/>
      <dgm:t>
        <a:bodyPr/>
        <a:lstStyle/>
        <a:p>
          <a:r>
            <a:rPr lang="es-SV"/>
            <a:t>Decimos que A ocurrió si el resultado es uno de los puntos de A</a:t>
          </a:r>
          <a:endParaRPr lang="en-US"/>
        </a:p>
      </dgm:t>
    </dgm:pt>
    <dgm:pt modelId="{3D1CBEB7-D279-4427-A407-B3785DF04EA7}" type="parTrans" cxnId="{52283912-FE63-4A45-9A5D-1E8FD8D37A5A}">
      <dgm:prSet/>
      <dgm:spPr/>
      <dgm:t>
        <a:bodyPr/>
        <a:lstStyle/>
        <a:p>
          <a:endParaRPr lang="en-US"/>
        </a:p>
      </dgm:t>
    </dgm:pt>
    <dgm:pt modelId="{9ACC9123-89C4-48A6-A5B4-3380EEC67438}" type="sibTrans" cxnId="{52283912-FE63-4A45-9A5D-1E8FD8D37A5A}">
      <dgm:prSet/>
      <dgm:spPr/>
      <dgm:t>
        <a:bodyPr/>
        <a:lstStyle/>
        <a:p>
          <a:endParaRPr lang="en-US"/>
        </a:p>
      </dgm:t>
    </dgm:pt>
    <dgm:pt modelId="{AF9B4A00-BE04-4755-9020-4D3C8D22BC14}">
      <dgm:prSet/>
      <dgm:spPr/>
      <dgm:t>
        <a:bodyPr/>
        <a:lstStyle/>
        <a:p>
          <a:r>
            <a:rPr lang="es-SV"/>
            <a:t>Si el resultado no es ninguno de los puntos A decimos que A no ocurrió.</a:t>
          </a:r>
          <a:endParaRPr lang="en-US"/>
        </a:p>
      </dgm:t>
    </dgm:pt>
    <dgm:pt modelId="{4FA2A8EC-AF62-4926-90F7-F83589A6C1B1}" type="parTrans" cxnId="{48564097-667F-40FF-8A52-5B8DBD896CA4}">
      <dgm:prSet/>
      <dgm:spPr/>
      <dgm:t>
        <a:bodyPr/>
        <a:lstStyle/>
        <a:p>
          <a:endParaRPr lang="en-US"/>
        </a:p>
      </dgm:t>
    </dgm:pt>
    <dgm:pt modelId="{0444EA66-99F1-466E-B64E-C7AAAD6C84EA}" type="sibTrans" cxnId="{48564097-667F-40FF-8A52-5B8DBD896CA4}">
      <dgm:prSet/>
      <dgm:spPr/>
      <dgm:t>
        <a:bodyPr/>
        <a:lstStyle/>
        <a:p>
          <a:endParaRPr lang="en-US"/>
        </a:p>
      </dgm:t>
    </dgm:pt>
    <dgm:pt modelId="{4EC7ADB4-E6F4-4F3F-BE6F-C02EB7BC714B}" type="pres">
      <dgm:prSet presAssocID="{343E6B1B-7738-4814-AA25-90AE5116E9F2}" presName="diagram" presStyleCnt="0">
        <dgm:presLayoutVars>
          <dgm:dir/>
          <dgm:resizeHandles val="exact"/>
        </dgm:presLayoutVars>
      </dgm:prSet>
      <dgm:spPr/>
      <dgm:t>
        <a:bodyPr/>
        <a:lstStyle/>
        <a:p>
          <a:endParaRPr lang="es-ES"/>
        </a:p>
      </dgm:t>
    </dgm:pt>
    <dgm:pt modelId="{D0B4970E-A638-4922-9D20-CA77D817D737}" type="pres">
      <dgm:prSet presAssocID="{3C4739C6-ECB4-4FC7-9D81-1FB20FA4FA50}" presName="node" presStyleLbl="node1" presStyleIdx="0" presStyleCnt="3">
        <dgm:presLayoutVars>
          <dgm:bulletEnabled val="1"/>
        </dgm:presLayoutVars>
      </dgm:prSet>
      <dgm:spPr/>
      <dgm:t>
        <a:bodyPr/>
        <a:lstStyle/>
        <a:p>
          <a:endParaRPr lang="es-ES"/>
        </a:p>
      </dgm:t>
    </dgm:pt>
    <dgm:pt modelId="{944ED35F-8464-47A2-9C8D-21BF71295AD4}" type="pres">
      <dgm:prSet presAssocID="{A602CD9D-240F-4244-92C0-EC120D6BC3CA}" presName="sibTrans" presStyleLbl="sibTrans2D1" presStyleIdx="0" presStyleCnt="2"/>
      <dgm:spPr/>
      <dgm:t>
        <a:bodyPr/>
        <a:lstStyle/>
        <a:p>
          <a:endParaRPr lang="es-ES"/>
        </a:p>
      </dgm:t>
    </dgm:pt>
    <dgm:pt modelId="{7B9A5476-857F-438C-A259-794FC4254ACA}" type="pres">
      <dgm:prSet presAssocID="{A602CD9D-240F-4244-92C0-EC120D6BC3CA}" presName="connectorText" presStyleLbl="sibTrans2D1" presStyleIdx="0" presStyleCnt="2"/>
      <dgm:spPr/>
      <dgm:t>
        <a:bodyPr/>
        <a:lstStyle/>
        <a:p>
          <a:endParaRPr lang="es-ES"/>
        </a:p>
      </dgm:t>
    </dgm:pt>
    <dgm:pt modelId="{AFFF7065-FD1A-452B-AAD9-0339D8ECC816}" type="pres">
      <dgm:prSet presAssocID="{C4CCE96C-CBE8-4B3F-966C-3828FA6D44F3}" presName="node" presStyleLbl="node1" presStyleIdx="1" presStyleCnt="3">
        <dgm:presLayoutVars>
          <dgm:bulletEnabled val="1"/>
        </dgm:presLayoutVars>
      </dgm:prSet>
      <dgm:spPr/>
      <dgm:t>
        <a:bodyPr/>
        <a:lstStyle/>
        <a:p>
          <a:endParaRPr lang="es-ES"/>
        </a:p>
      </dgm:t>
    </dgm:pt>
    <dgm:pt modelId="{5C56EB2E-1875-459E-9698-B66AF12478F8}" type="pres">
      <dgm:prSet presAssocID="{9ACC9123-89C4-48A6-A5B4-3380EEC67438}" presName="sibTrans" presStyleLbl="sibTrans2D1" presStyleIdx="1" presStyleCnt="2"/>
      <dgm:spPr/>
      <dgm:t>
        <a:bodyPr/>
        <a:lstStyle/>
        <a:p>
          <a:endParaRPr lang="es-ES"/>
        </a:p>
      </dgm:t>
    </dgm:pt>
    <dgm:pt modelId="{14A3F7AC-94BB-4FAC-9DDF-A7581809BF0D}" type="pres">
      <dgm:prSet presAssocID="{9ACC9123-89C4-48A6-A5B4-3380EEC67438}" presName="connectorText" presStyleLbl="sibTrans2D1" presStyleIdx="1" presStyleCnt="2"/>
      <dgm:spPr/>
      <dgm:t>
        <a:bodyPr/>
        <a:lstStyle/>
        <a:p>
          <a:endParaRPr lang="es-ES"/>
        </a:p>
      </dgm:t>
    </dgm:pt>
    <dgm:pt modelId="{057B5BE2-FDA8-4240-BB09-8CCCA721BABA}" type="pres">
      <dgm:prSet presAssocID="{AF9B4A00-BE04-4755-9020-4D3C8D22BC14}" presName="node" presStyleLbl="node1" presStyleIdx="2" presStyleCnt="3">
        <dgm:presLayoutVars>
          <dgm:bulletEnabled val="1"/>
        </dgm:presLayoutVars>
      </dgm:prSet>
      <dgm:spPr/>
      <dgm:t>
        <a:bodyPr/>
        <a:lstStyle/>
        <a:p>
          <a:endParaRPr lang="es-ES"/>
        </a:p>
      </dgm:t>
    </dgm:pt>
  </dgm:ptLst>
  <dgm:cxnLst>
    <dgm:cxn modelId="{838878F6-D8EA-4B26-B8A5-33C300A24436}" type="presOf" srcId="{A602CD9D-240F-4244-92C0-EC120D6BC3CA}" destId="{944ED35F-8464-47A2-9C8D-21BF71295AD4}" srcOrd="0" destOrd="0" presId="urn:microsoft.com/office/officeart/2005/8/layout/process5"/>
    <dgm:cxn modelId="{26DDD04B-6E9F-40EB-B31E-ED7DD0F93015}" type="presOf" srcId="{3C4739C6-ECB4-4FC7-9D81-1FB20FA4FA50}" destId="{D0B4970E-A638-4922-9D20-CA77D817D737}" srcOrd="0" destOrd="0" presId="urn:microsoft.com/office/officeart/2005/8/layout/process5"/>
    <dgm:cxn modelId="{7D0DD380-B90E-4C36-AAB0-C6BAD33ECACC}" type="presOf" srcId="{9ACC9123-89C4-48A6-A5B4-3380EEC67438}" destId="{14A3F7AC-94BB-4FAC-9DDF-A7581809BF0D}" srcOrd="1" destOrd="0" presId="urn:microsoft.com/office/officeart/2005/8/layout/process5"/>
    <dgm:cxn modelId="{6DDC60D2-12C5-4E01-901B-67464375DEEC}" type="presOf" srcId="{9ACC9123-89C4-48A6-A5B4-3380EEC67438}" destId="{5C56EB2E-1875-459E-9698-B66AF12478F8}" srcOrd="0" destOrd="0" presId="urn:microsoft.com/office/officeart/2005/8/layout/process5"/>
    <dgm:cxn modelId="{B5E3D8F2-4262-4512-BD9C-DEB043D37EFD}" type="presOf" srcId="{AF9B4A00-BE04-4755-9020-4D3C8D22BC14}" destId="{057B5BE2-FDA8-4240-BB09-8CCCA721BABA}" srcOrd="0" destOrd="0" presId="urn:microsoft.com/office/officeart/2005/8/layout/process5"/>
    <dgm:cxn modelId="{F67B940F-A9B6-48B4-92BB-04A7A6F374BC}" srcId="{343E6B1B-7738-4814-AA25-90AE5116E9F2}" destId="{3C4739C6-ECB4-4FC7-9D81-1FB20FA4FA50}" srcOrd="0" destOrd="0" parTransId="{0643CC89-A165-44E4-A8AF-8A952F4C61B7}" sibTransId="{A602CD9D-240F-4244-92C0-EC120D6BC3CA}"/>
    <dgm:cxn modelId="{6E0FCB8E-7335-4BB5-919A-816A4F31E108}" type="presOf" srcId="{C4CCE96C-CBE8-4B3F-966C-3828FA6D44F3}" destId="{AFFF7065-FD1A-452B-AAD9-0339D8ECC816}" srcOrd="0" destOrd="0" presId="urn:microsoft.com/office/officeart/2005/8/layout/process5"/>
    <dgm:cxn modelId="{F2545F8E-9A39-4276-A81C-FF40F5E1DA36}" type="presOf" srcId="{343E6B1B-7738-4814-AA25-90AE5116E9F2}" destId="{4EC7ADB4-E6F4-4F3F-BE6F-C02EB7BC714B}" srcOrd="0" destOrd="0" presId="urn:microsoft.com/office/officeart/2005/8/layout/process5"/>
    <dgm:cxn modelId="{52283912-FE63-4A45-9A5D-1E8FD8D37A5A}" srcId="{343E6B1B-7738-4814-AA25-90AE5116E9F2}" destId="{C4CCE96C-CBE8-4B3F-966C-3828FA6D44F3}" srcOrd="1" destOrd="0" parTransId="{3D1CBEB7-D279-4427-A407-B3785DF04EA7}" sibTransId="{9ACC9123-89C4-48A6-A5B4-3380EEC67438}"/>
    <dgm:cxn modelId="{C950874B-C7B2-4248-9E25-5BBC2260B2F2}" type="presOf" srcId="{A602CD9D-240F-4244-92C0-EC120D6BC3CA}" destId="{7B9A5476-857F-438C-A259-794FC4254ACA}" srcOrd="1" destOrd="0" presId="urn:microsoft.com/office/officeart/2005/8/layout/process5"/>
    <dgm:cxn modelId="{48564097-667F-40FF-8A52-5B8DBD896CA4}" srcId="{343E6B1B-7738-4814-AA25-90AE5116E9F2}" destId="{AF9B4A00-BE04-4755-9020-4D3C8D22BC14}" srcOrd="2" destOrd="0" parTransId="{4FA2A8EC-AF62-4926-90F7-F83589A6C1B1}" sibTransId="{0444EA66-99F1-466E-B64E-C7AAAD6C84EA}"/>
    <dgm:cxn modelId="{9FC7910B-A4EA-4A14-A091-1F3C74C86B95}" type="presParOf" srcId="{4EC7ADB4-E6F4-4F3F-BE6F-C02EB7BC714B}" destId="{D0B4970E-A638-4922-9D20-CA77D817D737}" srcOrd="0" destOrd="0" presId="urn:microsoft.com/office/officeart/2005/8/layout/process5"/>
    <dgm:cxn modelId="{7A2E5D6C-8929-4F52-9CEB-92B2E6E1E61B}" type="presParOf" srcId="{4EC7ADB4-E6F4-4F3F-BE6F-C02EB7BC714B}" destId="{944ED35F-8464-47A2-9C8D-21BF71295AD4}" srcOrd="1" destOrd="0" presId="urn:microsoft.com/office/officeart/2005/8/layout/process5"/>
    <dgm:cxn modelId="{908E28F0-C5CF-4D17-9C66-8BB9B1A832B3}" type="presParOf" srcId="{944ED35F-8464-47A2-9C8D-21BF71295AD4}" destId="{7B9A5476-857F-438C-A259-794FC4254ACA}" srcOrd="0" destOrd="0" presId="urn:microsoft.com/office/officeart/2005/8/layout/process5"/>
    <dgm:cxn modelId="{59D7CB16-DF62-4C87-A39E-4C87E3EF32D9}" type="presParOf" srcId="{4EC7ADB4-E6F4-4F3F-BE6F-C02EB7BC714B}" destId="{AFFF7065-FD1A-452B-AAD9-0339D8ECC816}" srcOrd="2" destOrd="0" presId="urn:microsoft.com/office/officeart/2005/8/layout/process5"/>
    <dgm:cxn modelId="{2384B0C2-4107-4689-ABF1-3DF3DA6FD169}" type="presParOf" srcId="{4EC7ADB4-E6F4-4F3F-BE6F-C02EB7BC714B}" destId="{5C56EB2E-1875-459E-9698-B66AF12478F8}" srcOrd="3" destOrd="0" presId="urn:microsoft.com/office/officeart/2005/8/layout/process5"/>
    <dgm:cxn modelId="{97E17458-D757-40A5-99C2-F6837C6142EA}" type="presParOf" srcId="{5C56EB2E-1875-459E-9698-B66AF12478F8}" destId="{14A3F7AC-94BB-4FAC-9DDF-A7581809BF0D}" srcOrd="0" destOrd="0" presId="urn:microsoft.com/office/officeart/2005/8/layout/process5"/>
    <dgm:cxn modelId="{79E63B88-52F8-4946-B452-C9A790051E6D}" type="presParOf" srcId="{4EC7ADB4-E6F4-4F3F-BE6F-C02EB7BC714B}" destId="{057B5BE2-FDA8-4240-BB09-8CCCA721BABA}"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2E4CAF-CE96-4732-82BE-57D64EE40164}"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418A089-7148-446A-AD79-F52C72CCE15C}">
      <dgm:prSet/>
      <dgm:spPr/>
      <dgm:t>
        <a:bodyPr/>
        <a:lstStyle/>
        <a:p>
          <a:pPr>
            <a:lnSpc>
              <a:spcPct val="100000"/>
            </a:lnSpc>
          </a:pPr>
          <a:r>
            <a:rPr lang="es-SV"/>
            <a:t>Empíricamente (mediante frecuencia relativa).</a:t>
          </a:r>
          <a:endParaRPr lang="en-US"/>
        </a:p>
      </dgm:t>
    </dgm:pt>
    <dgm:pt modelId="{92431D65-214D-4722-9D8C-DB1CFD305C20}" type="parTrans" cxnId="{A864F76D-CF40-4B97-908E-A908618649AC}">
      <dgm:prSet/>
      <dgm:spPr/>
      <dgm:t>
        <a:bodyPr/>
        <a:lstStyle/>
        <a:p>
          <a:endParaRPr lang="en-US"/>
        </a:p>
      </dgm:t>
    </dgm:pt>
    <dgm:pt modelId="{9213BDC9-5502-4629-B9B5-76652BEAD0AC}" type="sibTrans" cxnId="{A864F76D-CF40-4B97-908E-A908618649AC}">
      <dgm:prSet/>
      <dgm:spPr/>
      <dgm:t>
        <a:bodyPr/>
        <a:lstStyle/>
        <a:p>
          <a:endParaRPr lang="en-US"/>
        </a:p>
      </dgm:t>
    </dgm:pt>
    <dgm:pt modelId="{39ABDB5C-AC55-4794-A5AA-0203EB935E03}">
      <dgm:prSet/>
      <dgm:spPr/>
      <dgm:t>
        <a:bodyPr/>
        <a:lstStyle/>
        <a:p>
          <a:pPr>
            <a:lnSpc>
              <a:spcPct val="100000"/>
            </a:lnSpc>
          </a:pPr>
          <a:r>
            <a:rPr lang="es-SV"/>
            <a:t>Probabilidad clásica de Laplace o a priori.</a:t>
          </a:r>
          <a:endParaRPr lang="en-US"/>
        </a:p>
      </dgm:t>
    </dgm:pt>
    <dgm:pt modelId="{5F57EE5A-8E7F-4348-BBD7-9964F7CE08D7}" type="parTrans" cxnId="{694BF258-4D2A-4C79-A4F3-0061696090D1}">
      <dgm:prSet/>
      <dgm:spPr/>
      <dgm:t>
        <a:bodyPr/>
        <a:lstStyle/>
        <a:p>
          <a:endParaRPr lang="en-US"/>
        </a:p>
      </dgm:t>
    </dgm:pt>
    <dgm:pt modelId="{D9642506-80F9-4A50-8D5C-55F37BA4BC1C}" type="sibTrans" cxnId="{694BF258-4D2A-4C79-A4F3-0061696090D1}">
      <dgm:prSet/>
      <dgm:spPr/>
      <dgm:t>
        <a:bodyPr/>
        <a:lstStyle/>
        <a:p>
          <a:endParaRPr lang="en-US"/>
        </a:p>
      </dgm:t>
    </dgm:pt>
    <dgm:pt modelId="{7F6984BD-BB47-4325-B0FC-75738B801D43}">
      <dgm:prSet/>
      <dgm:spPr/>
      <dgm:t>
        <a:bodyPr/>
        <a:lstStyle/>
        <a:p>
          <a:pPr>
            <a:lnSpc>
              <a:spcPct val="100000"/>
            </a:lnSpc>
          </a:pPr>
          <a:r>
            <a:rPr lang="es-SV"/>
            <a:t>Probabilidad subjetiva.</a:t>
          </a:r>
          <a:endParaRPr lang="en-US"/>
        </a:p>
      </dgm:t>
    </dgm:pt>
    <dgm:pt modelId="{F9D5BC11-B779-4C63-B875-89EA24872F22}" type="parTrans" cxnId="{32C31CFC-750E-4959-B1DF-5967838C98C6}">
      <dgm:prSet/>
      <dgm:spPr/>
      <dgm:t>
        <a:bodyPr/>
        <a:lstStyle/>
        <a:p>
          <a:endParaRPr lang="en-US"/>
        </a:p>
      </dgm:t>
    </dgm:pt>
    <dgm:pt modelId="{6D93272E-1817-4F79-BFDF-8B14D83BEBAF}" type="sibTrans" cxnId="{32C31CFC-750E-4959-B1DF-5967838C98C6}">
      <dgm:prSet/>
      <dgm:spPr/>
      <dgm:t>
        <a:bodyPr/>
        <a:lstStyle/>
        <a:p>
          <a:endParaRPr lang="en-US"/>
        </a:p>
      </dgm:t>
    </dgm:pt>
    <dgm:pt modelId="{BDE2DB83-ACF5-4C15-AEFA-AF7FA4BBA59D}" type="pres">
      <dgm:prSet presAssocID="{652E4CAF-CE96-4732-82BE-57D64EE40164}" presName="root" presStyleCnt="0">
        <dgm:presLayoutVars>
          <dgm:dir/>
          <dgm:resizeHandles val="exact"/>
        </dgm:presLayoutVars>
      </dgm:prSet>
      <dgm:spPr/>
      <dgm:t>
        <a:bodyPr/>
        <a:lstStyle/>
        <a:p>
          <a:endParaRPr lang="es-ES"/>
        </a:p>
      </dgm:t>
    </dgm:pt>
    <dgm:pt modelId="{E8F3A2A3-778F-4585-BCDB-C4B503517F39}" type="pres">
      <dgm:prSet presAssocID="{B418A089-7148-446A-AD79-F52C72CCE15C}" presName="compNode" presStyleCnt="0"/>
      <dgm:spPr/>
    </dgm:pt>
    <dgm:pt modelId="{9E91DCFB-8A02-48B6-BB4F-9FF4FB60C274}" type="pres">
      <dgm:prSet presAssocID="{B418A089-7148-446A-AD79-F52C72CCE15C}" presName="bgRect" presStyleLbl="bgShp" presStyleIdx="0" presStyleCnt="3"/>
      <dgm:spPr/>
    </dgm:pt>
    <dgm:pt modelId="{BFAD531E-AC0F-4E73-834E-476D8E08093E}" type="pres">
      <dgm:prSet presAssocID="{B418A089-7148-446A-AD79-F52C72CCE15C}" presName="iconRect" presStyleLbl="node1" presStyleIdx="0" presStyleCnt="3"/>
      <dgm:spPr>
        <a:ln>
          <a:noFill/>
        </a:ln>
      </dgm:spPr>
      <dgm:t>
        <a:bodyPr/>
        <a:lstStyle/>
        <a:p>
          <a:endParaRPr lang="es-ES"/>
        </a:p>
      </dgm:t>
      <dgm:extLst/>
    </dgm:pt>
    <dgm:pt modelId="{EB73D303-3404-44DB-AE1F-0FF14E19F496}" type="pres">
      <dgm:prSet presAssocID="{B418A089-7148-446A-AD79-F52C72CCE15C}" presName="spaceRect" presStyleCnt="0"/>
      <dgm:spPr/>
    </dgm:pt>
    <dgm:pt modelId="{B228E5D5-661C-4C47-89CE-780F53A768D9}" type="pres">
      <dgm:prSet presAssocID="{B418A089-7148-446A-AD79-F52C72CCE15C}" presName="parTx" presStyleLbl="revTx" presStyleIdx="0" presStyleCnt="3">
        <dgm:presLayoutVars>
          <dgm:chMax val="0"/>
          <dgm:chPref val="0"/>
        </dgm:presLayoutVars>
      </dgm:prSet>
      <dgm:spPr/>
      <dgm:t>
        <a:bodyPr/>
        <a:lstStyle/>
        <a:p>
          <a:endParaRPr lang="es-ES"/>
        </a:p>
      </dgm:t>
    </dgm:pt>
    <dgm:pt modelId="{4E8B06EB-1B28-4ECA-8E07-48E11D5C783A}" type="pres">
      <dgm:prSet presAssocID="{9213BDC9-5502-4629-B9B5-76652BEAD0AC}" presName="sibTrans" presStyleCnt="0"/>
      <dgm:spPr/>
    </dgm:pt>
    <dgm:pt modelId="{A5884B0E-ED79-4419-AC9B-A1DD9672EB25}" type="pres">
      <dgm:prSet presAssocID="{39ABDB5C-AC55-4794-A5AA-0203EB935E03}" presName="compNode" presStyleCnt="0"/>
      <dgm:spPr/>
    </dgm:pt>
    <dgm:pt modelId="{C9497F84-9C25-4132-80E8-F14D94692A93}" type="pres">
      <dgm:prSet presAssocID="{39ABDB5C-AC55-4794-A5AA-0203EB935E03}" presName="bgRect" presStyleLbl="bgShp" presStyleIdx="1" presStyleCnt="3"/>
      <dgm:spPr/>
    </dgm:pt>
    <dgm:pt modelId="{D70CADC6-8975-46B2-95A6-736C5FFCD507}" type="pres">
      <dgm:prSet presAssocID="{39ABDB5C-AC55-4794-A5AA-0203EB935E03}" presName="iconRect" presStyleLbl="node1" presStyleIdx="1" presStyleCnt="3"/>
      <dgm:spPr>
        <a:ln>
          <a:noFill/>
        </a:ln>
      </dgm:spPr>
      <dgm:t>
        <a:bodyPr/>
        <a:lstStyle/>
        <a:p>
          <a:endParaRPr lang="es-ES"/>
        </a:p>
      </dgm:t>
      <dgm:extLst/>
    </dgm:pt>
    <dgm:pt modelId="{5477937F-54B7-46BC-8C28-133211B4164D}" type="pres">
      <dgm:prSet presAssocID="{39ABDB5C-AC55-4794-A5AA-0203EB935E03}" presName="spaceRect" presStyleCnt="0"/>
      <dgm:spPr/>
    </dgm:pt>
    <dgm:pt modelId="{F565FABC-B559-43EB-9780-4E02972A6148}" type="pres">
      <dgm:prSet presAssocID="{39ABDB5C-AC55-4794-A5AA-0203EB935E03}" presName="parTx" presStyleLbl="revTx" presStyleIdx="1" presStyleCnt="3">
        <dgm:presLayoutVars>
          <dgm:chMax val="0"/>
          <dgm:chPref val="0"/>
        </dgm:presLayoutVars>
      </dgm:prSet>
      <dgm:spPr/>
      <dgm:t>
        <a:bodyPr/>
        <a:lstStyle/>
        <a:p>
          <a:endParaRPr lang="es-ES"/>
        </a:p>
      </dgm:t>
    </dgm:pt>
    <dgm:pt modelId="{C70ACF66-D5D5-4318-BBCB-DA95C82B58A7}" type="pres">
      <dgm:prSet presAssocID="{D9642506-80F9-4A50-8D5C-55F37BA4BC1C}" presName="sibTrans" presStyleCnt="0"/>
      <dgm:spPr/>
    </dgm:pt>
    <dgm:pt modelId="{4DC468DD-B3B1-4C2E-9D91-08F265657A4B}" type="pres">
      <dgm:prSet presAssocID="{7F6984BD-BB47-4325-B0FC-75738B801D43}" presName="compNode" presStyleCnt="0"/>
      <dgm:spPr/>
    </dgm:pt>
    <dgm:pt modelId="{9D367C12-771D-471F-9E38-50ECA74D2073}" type="pres">
      <dgm:prSet presAssocID="{7F6984BD-BB47-4325-B0FC-75738B801D43}" presName="bgRect" presStyleLbl="bgShp" presStyleIdx="2" presStyleCnt="3"/>
      <dgm:spPr/>
    </dgm:pt>
    <dgm:pt modelId="{D88AAD75-F799-4463-A534-0EB3DF691959}" type="pres">
      <dgm:prSet presAssocID="{7F6984BD-BB47-4325-B0FC-75738B801D43}" presName="iconRect" presStyleLbl="node1" presStyleIdx="2" presStyleCnt="3"/>
      <dgm:spPr>
        <a:ln>
          <a:noFill/>
        </a:ln>
      </dgm:spPr>
      <dgm:t>
        <a:bodyPr/>
        <a:lstStyle/>
        <a:p>
          <a:endParaRPr lang="es-ES"/>
        </a:p>
      </dgm:t>
      <dgm:extLst/>
    </dgm:pt>
    <dgm:pt modelId="{FA329215-2BD6-4CBC-AAB6-0038847E70D9}" type="pres">
      <dgm:prSet presAssocID="{7F6984BD-BB47-4325-B0FC-75738B801D43}" presName="spaceRect" presStyleCnt="0"/>
      <dgm:spPr/>
    </dgm:pt>
    <dgm:pt modelId="{9F240A74-D9B6-4FD2-9AF2-AAAB10F6A90A}" type="pres">
      <dgm:prSet presAssocID="{7F6984BD-BB47-4325-B0FC-75738B801D43}" presName="parTx" presStyleLbl="revTx" presStyleIdx="2" presStyleCnt="3">
        <dgm:presLayoutVars>
          <dgm:chMax val="0"/>
          <dgm:chPref val="0"/>
        </dgm:presLayoutVars>
      </dgm:prSet>
      <dgm:spPr/>
      <dgm:t>
        <a:bodyPr/>
        <a:lstStyle/>
        <a:p>
          <a:endParaRPr lang="es-ES"/>
        </a:p>
      </dgm:t>
    </dgm:pt>
  </dgm:ptLst>
  <dgm:cxnLst>
    <dgm:cxn modelId="{A864F76D-CF40-4B97-908E-A908618649AC}" srcId="{652E4CAF-CE96-4732-82BE-57D64EE40164}" destId="{B418A089-7148-446A-AD79-F52C72CCE15C}" srcOrd="0" destOrd="0" parTransId="{92431D65-214D-4722-9D8C-DB1CFD305C20}" sibTransId="{9213BDC9-5502-4629-B9B5-76652BEAD0AC}"/>
    <dgm:cxn modelId="{4372D9AF-AD82-47A0-B4A3-B8FAFA96F0D3}" type="presOf" srcId="{39ABDB5C-AC55-4794-A5AA-0203EB935E03}" destId="{F565FABC-B559-43EB-9780-4E02972A6148}" srcOrd="0" destOrd="0" presId="urn:microsoft.com/office/officeart/2018/2/layout/IconVerticalSolidList"/>
    <dgm:cxn modelId="{694BF258-4D2A-4C79-A4F3-0061696090D1}" srcId="{652E4CAF-CE96-4732-82BE-57D64EE40164}" destId="{39ABDB5C-AC55-4794-A5AA-0203EB935E03}" srcOrd="1" destOrd="0" parTransId="{5F57EE5A-8E7F-4348-BBD7-9964F7CE08D7}" sibTransId="{D9642506-80F9-4A50-8D5C-55F37BA4BC1C}"/>
    <dgm:cxn modelId="{9C898143-7D31-43A7-BA3E-DB8D796EE832}" type="presOf" srcId="{652E4CAF-CE96-4732-82BE-57D64EE40164}" destId="{BDE2DB83-ACF5-4C15-AEFA-AF7FA4BBA59D}" srcOrd="0" destOrd="0" presId="urn:microsoft.com/office/officeart/2018/2/layout/IconVerticalSolidList"/>
    <dgm:cxn modelId="{32C31CFC-750E-4959-B1DF-5967838C98C6}" srcId="{652E4CAF-CE96-4732-82BE-57D64EE40164}" destId="{7F6984BD-BB47-4325-B0FC-75738B801D43}" srcOrd="2" destOrd="0" parTransId="{F9D5BC11-B779-4C63-B875-89EA24872F22}" sibTransId="{6D93272E-1817-4F79-BFDF-8B14D83BEBAF}"/>
    <dgm:cxn modelId="{DEC16747-11ED-46AF-A675-F28B35099016}" type="presOf" srcId="{7F6984BD-BB47-4325-B0FC-75738B801D43}" destId="{9F240A74-D9B6-4FD2-9AF2-AAAB10F6A90A}" srcOrd="0" destOrd="0" presId="urn:microsoft.com/office/officeart/2018/2/layout/IconVerticalSolidList"/>
    <dgm:cxn modelId="{57A531A5-35E0-4F51-948D-D92CC63CC488}" type="presOf" srcId="{B418A089-7148-446A-AD79-F52C72CCE15C}" destId="{B228E5D5-661C-4C47-89CE-780F53A768D9}" srcOrd="0" destOrd="0" presId="urn:microsoft.com/office/officeart/2018/2/layout/IconVerticalSolidList"/>
    <dgm:cxn modelId="{8EC1E61D-07E4-428B-88E4-F7BA0815DB83}" type="presParOf" srcId="{BDE2DB83-ACF5-4C15-AEFA-AF7FA4BBA59D}" destId="{E8F3A2A3-778F-4585-BCDB-C4B503517F39}" srcOrd="0" destOrd="0" presId="urn:microsoft.com/office/officeart/2018/2/layout/IconVerticalSolidList"/>
    <dgm:cxn modelId="{0440451A-0601-4A4D-BA2A-49F990268677}" type="presParOf" srcId="{E8F3A2A3-778F-4585-BCDB-C4B503517F39}" destId="{9E91DCFB-8A02-48B6-BB4F-9FF4FB60C274}" srcOrd="0" destOrd="0" presId="urn:microsoft.com/office/officeart/2018/2/layout/IconVerticalSolidList"/>
    <dgm:cxn modelId="{15315B91-38D9-4772-B956-0BF4889E9808}" type="presParOf" srcId="{E8F3A2A3-778F-4585-BCDB-C4B503517F39}" destId="{BFAD531E-AC0F-4E73-834E-476D8E08093E}" srcOrd="1" destOrd="0" presId="urn:microsoft.com/office/officeart/2018/2/layout/IconVerticalSolidList"/>
    <dgm:cxn modelId="{EB965999-E6BB-4ED0-88C9-876D5A79D420}" type="presParOf" srcId="{E8F3A2A3-778F-4585-BCDB-C4B503517F39}" destId="{EB73D303-3404-44DB-AE1F-0FF14E19F496}" srcOrd="2" destOrd="0" presId="urn:microsoft.com/office/officeart/2018/2/layout/IconVerticalSolidList"/>
    <dgm:cxn modelId="{AC97156D-6F5E-4279-8AC5-8B29AA66E435}" type="presParOf" srcId="{E8F3A2A3-778F-4585-BCDB-C4B503517F39}" destId="{B228E5D5-661C-4C47-89CE-780F53A768D9}" srcOrd="3" destOrd="0" presId="urn:microsoft.com/office/officeart/2018/2/layout/IconVerticalSolidList"/>
    <dgm:cxn modelId="{75453F58-D79F-4966-912D-E906ECE10C97}" type="presParOf" srcId="{BDE2DB83-ACF5-4C15-AEFA-AF7FA4BBA59D}" destId="{4E8B06EB-1B28-4ECA-8E07-48E11D5C783A}" srcOrd="1" destOrd="0" presId="urn:microsoft.com/office/officeart/2018/2/layout/IconVerticalSolidList"/>
    <dgm:cxn modelId="{96C3B3F5-4B3A-4425-A520-6C4033207C6F}" type="presParOf" srcId="{BDE2DB83-ACF5-4C15-AEFA-AF7FA4BBA59D}" destId="{A5884B0E-ED79-4419-AC9B-A1DD9672EB25}" srcOrd="2" destOrd="0" presId="urn:microsoft.com/office/officeart/2018/2/layout/IconVerticalSolidList"/>
    <dgm:cxn modelId="{60968688-75E9-4C73-B83B-62C78BEEF8A6}" type="presParOf" srcId="{A5884B0E-ED79-4419-AC9B-A1DD9672EB25}" destId="{C9497F84-9C25-4132-80E8-F14D94692A93}" srcOrd="0" destOrd="0" presId="urn:microsoft.com/office/officeart/2018/2/layout/IconVerticalSolidList"/>
    <dgm:cxn modelId="{95E54EE8-E37C-43B7-AB18-E3F5CA08F883}" type="presParOf" srcId="{A5884B0E-ED79-4419-AC9B-A1DD9672EB25}" destId="{D70CADC6-8975-46B2-95A6-736C5FFCD507}" srcOrd="1" destOrd="0" presId="urn:microsoft.com/office/officeart/2018/2/layout/IconVerticalSolidList"/>
    <dgm:cxn modelId="{7A5C67B7-4A64-4A96-B016-9374E2C1E294}" type="presParOf" srcId="{A5884B0E-ED79-4419-AC9B-A1DD9672EB25}" destId="{5477937F-54B7-46BC-8C28-133211B4164D}" srcOrd="2" destOrd="0" presId="urn:microsoft.com/office/officeart/2018/2/layout/IconVerticalSolidList"/>
    <dgm:cxn modelId="{B025EC93-44D4-40E8-AE4D-F0703545B3FB}" type="presParOf" srcId="{A5884B0E-ED79-4419-AC9B-A1DD9672EB25}" destId="{F565FABC-B559-43EB-9780-4E02972A6148}" srcOrd="3" destOrd="0" presId="urn:microsoft.com/office/officeart/2018/2/layout/IconVerticalSolidList"/>
    <dgm:cxn modelId="{65FBFCA5-8A0F-458B-BCCE-9E7649400560}" type="presParOf" srcId="{BDE2DB83-ACF5-4C15-AEFA-AF7FA4BBA59D}" destId="{C70ACF66-D5D5-4318-BBCB-DA95C82B58A7}" srcOrd="3" destOrd="0" presId="urn:microsoft.com/office/officeart/2018/2/layout/IconVerticalSolidList"/>
    <dgm:cxn modelId="{1EB6DBFB-2F68-41AF-91F8-F850090562C8}" type="presParOf" srcId="{BDE2DB83-ACF5-4C15-AEFA-AF7FA4BBA59D}" destId="{4DC468DD-B3B1-4C2E-9D91-08F265657A4B}" srcOrd="4" destOrd="0" presId="urn:microsoft.com/office/officeart/2018/2/layout/IconVerticalSolidList"/>
    <dgm:cxn modelId="{EB4139C4-80BC-4DEE-AD64-0B29B042619C}" type="presParOf" srcId="{4DC468DD-B3B1-4C2E-9D91-08F265657A4B}" destId="{9D367C12-771D-471F-9E38-50ECA74D2073}" srcOrd="0" destOrd="0" presId="urn:microsoft.com/office/officeart/2018/2/layout/IconVerticalSolidList"/>
    <dgm:cxn modelId="{48B2A97B-65AE-497B-B2E4-77FE31CFE5F8}" type="presParOf" srcId="{4DC468DD-B3B1-4C2E-9D91-08F265657A4B}" destId="{D88AAD75-F799-4463-A534-0EB3DF691959}" srcOrd="1" destOrd="0" presId="urn:microsoft.com/office/officeart/2018/2/layout/IconVerticalSolidList"/>
    <dgm:cxn modelId="{FE87425C-4970-453E-A03B-14F85ED6972C}" type="presParOf" srcId="{4DC468DD-B3B1-4C2E-9D91-08F265657A4B}" destId="{FA329215-2BD6-4CBC-AAB6-0038847E70D9}" srcOrd="2" destOrd="0" presId="urn:microsoft.com/office/officeart/2018/2/layout/IconVerticalSolidList"/>
    <dgm:cxn modelId="{57E5F0D0-2864-44C2-ADE9-512B2625E6B3}" type="presParOf" srcId="{4DC468DD-B3B1-4C2E-9D91-08F265657A4B}" destId="{9F240A74-D9B6-4FD2-9AF2-AAAB10F6A90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42DD7B-1AF1-4DAE-9BB7-688F7E9DCEA7}">
      <dsp:nvSpPr>
        <dsp:cNvPr id="0" name=""/>
        <dsp:cNvSpPr/>
      </dsp:nvSpPr>
      <dsp:spPr>
        <a:xfrm>
          <a:off x="0" y="675"/>
          <a:ext cx="51753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EFB14E-922D-4557-9C7F-5EE7574B4ED4}">
      <dsp:nvSpPr>
        <dsp:cNvPr id="0" name=""/>
        <dsp:cNvSpPr/>
      </dsp:nvSpPr>
      <dsp:spPr>
        <a:xfrm>
          <a:off x="0" y="675"/>
          <a:ext cx="517538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s-SV" sz="2200" kern="1200"/>
            <a:t>PROBABILIDADES.</a:t>
          </a:r>
          <a:endParaRPr lang="en-US" sz="2200" kern="1200"/>
        </a:p>
      </dsp:txBody>
      <dsp:txXfrm>
        <a:off x="0" y="675"/>
        <a:ext cx="5175384" cy="790684"/>
      </dsp:txXfrm>
    </dsp:sp>
    <dsp:sp modelId="{55653ADB-91F6-4241-9B92-48C9B22EB703}">
      <dsp:nvSpPr>
        <dsp:cNvPr id="0" name=""/>
        <dsp:cNvSpPr/>
      </dsp:nvSpPr>
      <dsp:spPr>
        <a:xfrm>
          <a:off x="0" y="791359"/>
          <a:ext cx="517538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2EDC5B-885E-4650-B01B-741A30B34055}">
      <dsp:nvSpPr>
        <dsp:cNvPr id="0" name=""/>
        <dsp:cNvSpPr/>
      </dsp:nvSpPr>
      <dsp:spPr>
        <a:xfrm>
          <a:off x="0" y="791359"/>
          <a:ext cx="517538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s-MX" sz="2200" kern="1200"/>
            <a:t>Fenómeno aleatorio y experimento aleatorio.</a:t>
          </a:r>
          <a:endParaRPr lang="en-US" sz="2200" kern="1200"/>
        </a:p>
      </dsp:txBody>
      <dsp:txXfrm>
        <a:off x="0" y="791359"/>
        <a:ext cx="5175384" cy="790684"/>
      </dsp:txXfrm>
    </dsp:sp>
    <dsp:sp modelId="{BFB48967-161D-4496-B34D-AE2835D5D273}">
      <dsp:nvSpPr>
        <dsp:cNvPr id="0" name=""/>
        <dsp:cNvSpPr/>
      </dsp:nvSpPr>
      <dsp:spPr>
        <a:xfrm>
          <a:off x="0" y="1582044"/>
          <a:ext cx="5175384"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9A7532-8EDD-4DB5-8D9E-82F144F37F32}">
      <dsp:nvSpPr>
        <dsp:cNvPr id="0" name=""/>
        <dsp:cNvSpPr/>
      </dsp:nvSpPr>
      <dsp:spPr>
        <a:xfrm>
          <a:off x="0" y="1582044"/>
          <a:ext cx="517538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s-MX" sz="2200" kern="1200"/>
            <a:t>Espacio muestral y evento del espacio muestral.</a:t>
          </a:r>
          <a:endParaRPr lang="en-US" sz="2200" kern="1200"/>
        </a:p>
      </dsp:txBody>
      <dsp:txXfrm>
        <a:off x="0" y="1582044"/>
        <a:ext cx="5175384" cy="790684"/>
      </dsp:txXfrm>
    </dsp:sp>
    <dsp:sp modelId="{5FB03F4F-7927-4C54-B415-11D20A63FA13}">
      <dsp:nvSpPr>
        <dsp:cNvPr id="0" name=""/>
        <dsp:cNvSpPr/>
      </dsp:nvSpPr>
      <dsp:spPr>
        <a:xfrm>
          <a:off x="0" y="2372728"/>
          <a:ext cx="5175384"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5D8203-8F1C-473F-8D1F-8CE7F1174F5D}">
      <dsp:nvSpPr>
        <dsp:cNvPr id="0" name=""/>
        <dsp:cNvSpPr/>
      </dsp:nvSpPr>
      <dsp:spPr>
        <a:xfrm>
          <a:off x="0" y="2372728"/>
          <a:ext cx="517538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s-MX" sz="2200" kern="1200"/>
            <a:t>Sucesos mutuamente excluyentes y complementarios.</a:t>
          </a:r>
          <a:endParaRPr lang="en-US" sz="2200" kern="1200"/>
        </a:p>
      </dsp:txBody>
      <dsp:txXfrm>
        <a:off x="0" y="2372728"/>
        <a:ext cx="5175384" cy="790684"/>
      </dsp:txXfrm>
    </dsp:sp>
    <dsp:sp modelId="{E0B1AA5B-306B-45C0-9189-65324BB5BAA9}">
      <dsp:nvSpPr>
        <dsp:cNvPr id="0" name=""/>
        <dsp:cNvSpPr/>
      </dsp:nvSpPr>
      <dsp:spPr>
        <a:xfrm>
          <a:off x="0" y="3163412"/>
          <a:ext cx="5175384"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C3ABCB-31AE-430E-A694-063F95CE743C}">
      <dsp:nvSpPr>
        <dsp:cNvPr id="0" name=""/>
        <dsp:cNvSpPr/>
      </dsp:nvSpPr>
      <dsp:spPr>
        <a:xfrm>
          <a:off x="0" y="3163412"/>
          <a:ext cx="517538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s-MX" sz="2200" kern="1200"/>
            <a:t>Probabilidad de un suceso.</a:t>
          </a:r>
          <a:endParaRPr lang="en-US" sz="2200" kern="1200"/>
        </a:p>
      </dsp:txBody>
      <dsp:txXfrm>
        <a:off x="0" y="3163412"/>
        <a:ext cx="5175384" cy="790684"/>
      </dsp:txXfrm>
    </dsp:sp>
    <dsp:sp modelId="{7B9F200C-1879-4C88-9AE7-7B964564A23F}">
      <dsp:nvSpPr>
        <dsp:cNvPr id="0" name=""/>
        <dsp:cNvSpPr/>
      </dsp:nvSpPr>
      <dsp:spPr>
        <a:xfrm>
          <a:off x="0" y="3954096"/>
          <a:ext cx="51753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9B259E-F4F3-4FCD-B118-9F3154ED5690}">
      <dsp:nvSpPr>
        <dsp:cNvPr id="0" name=""/>
        <dsp:cNvSpPr/>
      </dsp:nvSpPr>
      <dsp:spPr>
        <a:xfrm>
          <a:off x="0" y="3954096"/>
          <a:ext cx="517538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s-MX" sz="2200" kern="1200"/>
            <a:t>Probabilidad condicional.</a:t>
          </a:r>
          <a:endParaRPr lang="en-US" sz="2200" kern="1200"/>
        </a:p>
      </dsp:txBody>
      <dsp:txXfrm>
        <a:off x="0" y="3954096"/>
        <a:ext cx="5175384" cy="790684"/>
      </dsp:txXfrm>
    </dsp:sp>
    <dsp:sp modelId="{91227EC3-2656-43E0-BD9F-40D6B59DE890}">
      <dsp:nvSpPr>
        <dsp:cNvPr id="0" name=""/>
        <dsp:cNvSpPr/>
      </dsp:nvSpPr>
      <dsp:spPr>
        <a:xfrm>
          <a:off x="0" y="4744781"/>
          <a:ext cx="517538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4DE943-868B-4B63-B110-DA575ACF78A3}">
      <dsp:nvSpPr>
        <dsp:cNvPr id="0" name=""/>
        <dsp:cNvSpPr/>
      </dsp:nvSpPr>
      <dsp:spPr>
        <a:xfrm>
          <a:off x="0" y="4744781"/>
          <a:ext cx="5175384"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s-MX" sz="2200" kern="1200"/>
            <a:t>Probabilidad total y regla de Bayes </a:t>
          </a:r>
          <a:endParaRPr lang="en-US" sz="2200" kern="1200"/>
        </a:p>
      </dsp:txBody>
      <dsp:txXfrm>
        <a:off x="0" y="4744781"/>
        <a:ext cx="5175384" cy="790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B4970E-A638-4922-9D20-CA77D817D737}">
      <dsp:nvSpPr>
        <dsp:cNvPr id="0" name=""/>
        <dsp:cNvSpPr/>
      </dsp:nvSpPr>
      <dsp:spPr>
        <a:xfrm>
          <a:off x="680844" y="665"/>
          <a:ext cx="2718754" cy="163125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SV" sz="1700" kern="1200"/>
            <a:t>Sea E un experimento aleatorio y A un suceso de E. Cuando realizamos el experimento puede ser que el suceso A ocurra o no.</a:t>
          </a:r>
          <a:endParaRPr lang="en-US" sz="1700" kern="1200"/>
        </a:p>
      </dsp:txBody>
      <dsp:txXfrm>
        <a:off x="728622" y="48443"/>
        <a:ext cx="2623198" cy="1535696"/>
      </dsp:txXfrm>
    </dsp:sp>
    <dsp:sp modelId="{944ED35F-8464-47A2-9C8D-21BF71295AD4}">
      <dsp:nvSpPr>
        <dsp:cNvPr id="0" name=""/>
        <dsp:cNvSpPr/>
      </dsp:nvSpPr>
      <dsp:spPr>
        <a:xfrm>
          <a:off x="3638849" y="479165"/>
          <a:ext cx="576376" cy="674251"/>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a:off x="3638849" y="614015"/>
        <a:ext cx="403463" cy="404551"/>
      </dsp:txXfrm>
    </dsp:sp>
    <dsp:sp modelId="{AFFF7065-FD1A-452B-AAD9-0339D8ECC816}">
      <dsp:nvSpPr>
        <dsp:cNvPr id="0" name=""/>
        <dsp:cNvSpPr/>
      </dsp:nvSpPr>
      <dsp:spPr>
        <a:xfrm>
          <a:off x="4487100" y="665"/>
          <a:ext cx="2718754" cy="1631252"/>
        </a:xfrm>
        <a:prstGeom prst="roundRect">
          <a:avLst>
            <a:gd name="adj" fmla="val 10000"/>
          </a:avLst>
        </a:prstGeom>
        <a:solidFill>
          <a:schemeClr val="accent2">
            <a:hueOff val="-727682"/>
            <a:satOff val="-41964"/>
            <a:lumOff val="4314"/>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SV" sz="1700" kern="1200"/>
            <a:t>Decimos que A ocurrió si el resultado es uno de los puntos de A</a:t>
          </a:r>
          <a:endParaRPr lang="en-US" sz="1700" kern="1200"/>
        </a:p>
      </dsp:txBody>
      <dsp:txXfrm>
        <a:off x="4534878" y="48443"/>
        <a:ext cx="2623198" cy="1535696"/>
      </dsp:txXfrm>
    </dsp:sp>
    <dsp:sp modelId="{5C56EB2E-1875-459E-9698-B66AF12478F8}">
      <dsp:nvSpPr>
        <dsp:cNvPr id="0" name=""/>
        <dsp:cNvSpPr/>
      </dsp:nvSpPr>
      <dsp:spPr>
        <a:xfrm rot="5400000">
          <a:off x="5558290" y="1822230"/>
          <a:ext cx="576376" cy="674251"/>
        </a:xfrm>
        <a:prstGeom prst="rightArrow">
          <a:avLst>
            <a:gd name="adj1" fmla="val 60000"/>
            <a:gd name="adj2" fmla="val 50000"/>
          </a:avLst>
        </a:prstGeom>
        <a:solidFill>
          <a:schemeClr val="accent2">
            <a:hueOff val="-1455363"/>
            <a:satOff val="-83928"/>
            <a:lumOff val="8628"/>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5644203" y="1871168"/>
        <a:ext cx="404551" cy="403463"/>
      </dsp:txXfrm>
    </dsp:sp>
    <dsp:sp modelId="{057B5BE2-FDA8-4240-BB09-8CCCA721BABA}">
      <dsp:nvSpPr>
        <dsp:cNvPr id="0" name=""/>
        <dsp:cNvSpPr/>
      </dsp:nvSpPr>
      <dsp:spPr>
        <a:xfrm>
          <a:off x="4487100" y="2719419"/>
          <a:ext cx="2718754" cy="1631252"/>
        </a:xfrm>
        <a:prstGeom prst="roundRect">
          <a:avLst>
            <a:gd name="adj" fmla="val 10000"/>
          </a:avLst>
        </a:prstGeom>
        <a:solidFill>
          <a:schemeClr val="accent2">
            <a:hueOff val="-1455363"/>
            <a:satOff val="-83928"/>
            <a:lumOff val="86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SV" sz="1700" kern="1200"/>
            <a:t>Si el resultado no es ninguno de los puntos A decimos que A no ocurrió.</a:t>
          </a:r>
          <a:endParaRPr lang="en-US" sz="1700" kern="1200"/>
        </a:p>
      </dsp:txBody>
      <dsp:txXfrm>
        <a:off x="4534878" y="2767197"/>
        <a:ext cx="2623198" cy="15356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91DCFB-8A02-48B6-BB4F-9FF4FB60C274}">
      <dsp:nvSpPr>
        <dsp:cNvPr id="0" name=""/>
        <dsp:cNvSpPr/>
      </dsp:nvSpPr>
      <dsp:spPr>
        <a:xfrm>
          <a:off x="0" y="536"/>
          <a:ext cx="5176536" cy="12551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AD531E-AC0F-4E73-834E-476D8E08093E}">
      <dsp:nvSpPr>
        <dsp:cNvPr id="0" name=""/>
        <dsp:cNvSpPr/>
      </dsp:nvSpPr>
      <dsp:spPr>
        <a:xfrm>
          <a:off x="379672" y="282937"/>
          <a:ext cx="690314" cy="690314"/>
        </a:xfrm>
        <a:prstGeom prst="rect">
          <a:avLst/>
        </a:prstGeom>
        <a:solidFill>
          <a:schemeClr val="accent2">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28E5D5-661C-4C47-89CE-780F53A768D9}">
      <dsp:nvSpPr>
        <dsp:cNvPr id="0" name=""/>
        <dsp:cNvSpPr/>
      </dsp:nvSpPr>
      <dsp:spPr>
        <a:xfrm>
          <a:off x="1449660" y="536"/>
          <a:ext cx="3726875" cy="1255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833" tIns="132833" rIns="132833" bIns="132833" numCol="1" spcCol="1270" anchor="ctr" anchorCtr="0">
          <a:noAutofit/>
        </a:bodyPr>
        <a:lstStyle/>
        <a:p>
          <a:pPr lvl="0" algn="l" defTabSz="1111250">
            <a:lnSpc>
              <a:spcPct val="100000"/>
            </a:lnSpc>
            <a:spcBef>
              <a:spcPct val="0"/>
            </a:spcBef>
            <a:spcAft>
              <a:spcPct val="35000"/>
            </a:spcAft>
          </a:pPr>
          <a:r>
            <a:rPr lang="es-SV" sz="2500" kern="1200"/>
            <a:t>Empíricamente (mediante frecuencia relativa).</a:t>
          </a:r>
          <a:endParaRPr lang="en-US" sz="2500" kern="1200"/>
        </a:p>
      </dsp:txBody>
      <dsp:txXfrm>
        <a:off x="1449660" y="536"/>
        <a:ext cx="3726875" cy="1255116"/>
      </dsp:txXfrm>
    </dsp:sp>
    <dsp:sp modelId="{C9497F84-9C25-4132-80E8-F14D94692A93}">
      <dsp:nvSpPr>
        <dsp:cNvPr id="0" name=""/>
        <dsp:cNvSpPr/>
      </dsp:nvSpPr>
      <dsp:spPr>
        <a:xfrm>
          <a:off x="0" y="1569432"/>
          <a:ext cx="5176536" cy="12551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0CADC6-8975-46B2-95A6-736C5FFCD507}">
      <dsp:nvSpPr>
        <dsp:cNvPr id="0" name=""/>
        <dsp:cNvSpPr/>
      </dsp:nvSpPr>
      <dsp:spPr>
        <a:xfrm>
          <a:off x="379672" y="1851833"/>
          <a:ext cx="690314" cy="690314"/>
        </a:xfrm>
        <a:prstGeom prst="rect">
          <a:avLst/>
        </a:prstGeom>
        <a:solidFill>
          <a:schemeClr val="accent2">
            <a:hueOff val="-727682"/>
            <a:satOff val="-41964"/>
            <a:lumOff val="4314"/>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65FABC-B559-43EB-9780-4E02972A6148}">
      <dsp:nvSpPr>
        <dsp:cNvPr id="0" name=""/>
        <dsp:cNvSpPr/>
      </dsp:nvSpPr>
      <dsp:spPr>
        <a:xfrm>
          <a:off x="1449660" y="1569432"/>
          <a:ext cx="3726875" cy="1255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833" tIns="132833" rIns="132833" bIns="132833" numCol="1" spcCol="1270" anchor="ctr" anchorCtr="0">
          <a:noAutofit/>
        </a:bodyPr>
        <a:lstStyle/>
        <a:p>
          <a:pPr lvl="0" algn="l" defTabSz="1111250">
            <a:lnSpc>
              <a:spcPct val="100000"/>
            </a:lnSpc>
            <a:spcBef>
              <a:spcPct val="0"/>
            </a:spcBef>
            <a:spcAft>
              <a:spcPct val="35000"/>
            </a:spcAft>
          </a:pPr>
          <a:r>
            <a:rPr lang="es-SV" sz="2500" kern="1200"/>
            <a:t>Probabilidad clásica de Laplace o a priori.</a:t>
          </a:r>
          <a:endParaRPr lang="en-US" sz="2500" kern="1200"/>
        </a:p>
      </dsp:txBody>
      <dsp:txXfrm>
        <a:off x="1449660" y="1569432"/>
        <a:ext cx="3726875" cy="1255116"/>
      </dsp:txXfrm>
    </dsp:sp>
    <dsp:sp modelId="{9D367C12-771D-471F-9E38-50ECA74D2073}">
      <dsp:nvSpPr>
        <dsp:cNvPr id="0" name=""/>
        <dsp:cNvSpPr/>
      </dsp:nvSpPr>
      <dsp:spPr>
        <a:xfrm>
          <a:off x="0" y="3138328"/>
          <a:ext cx="5176536" cy="12551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AAD75-F799-4463-A534-0EB3DF691959}">
      <dsp:nvSpPr>
        <dsp:cNvPr id="0" name=""/>
        <dsp:cNvSpPr/>
      </dsp:nvSpPr>
      <dsp:spPr>
        <a:xfrm>
          <a:off x="379672" y="3420730"/>
          <a:ext cx="690314" cy="690314"/>
        </a:xfrm>
        <a:prstGeom prst="rect">
          <a:avLst/>
        </a:prstGeom>
        <a:solidFill>
          <a:schemeClr val="accent2">
            <a:hueOff val="-1455363"/>
            <a:satOff val="-83928"/>
            <a:lumOff val="8628"/>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240A74-D9B6-4FD2-9AF2-AAAB10F6A90A}">
      <dsp:nvSpPr>
        <dsp:cNvPr id="0" name=""/>
        <dsp:cNvSpPr/>
      </dsp:nvSpPr>
      <dsp:spPr>
        <a:xfrm>
          <a:off x="1449660" y="3138328"/>
          <a:ext cx="3726875" cy="1255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833" tIns="132833" rIns="132833" bIns="132833" numCol="1" spcCol="1270" anchor="ctr" anchorCtr="0">
          <a:noAutofit/>
        </a:bodyPr>
        <a:lstStyle/>
        <a:p>
          <a:pPr lvl="0" algn="l" defTabSz="1111250">
            <a:lnSpc>
              <a:spcPct val="100000"/>
            </a:lnSpc>
            <a:spcBef>
              <a:spcPct val="0"/>
            </a:spcBef>
            <a:spcAft>
              <a:spcPct val="35000"/>
            </a:spcAft>
          </a:pPr>
          <a:r>
            <a:rPr lang="es-SV" sz="2500" kern="1200"/>
            <a:t>Probabilidad subjetiva.</a:t>
          </a:r>
          <a:endParaRPr lang="en-US" sz="2500" kern="1200"/>
        </a:p>
      </dsp:txBody>
      <dsp:txXfrm>
        <a:off x="1449660" y="3138328"/>
        <a:ext cx="3726875" cy="125511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28F8329D-E22A-4D3D-9786-7ED89D44BE78}" type="datetimeFigureOut">
              <a:rPr lang="en-US" smtClean="0"/>
              <a:t>5/6/2026</a:t>
            </a:fld>
            <a:endParaRPr lang="en-US"/>
          </a:p>
        </p:txBody>
      </p:sp>
      <p:sp>
        <p:nvSpPr>
          <p:cNvPr id="4" name="Marcador de pie de página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Marcador de número de diapositiva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4A3C8C26-69BF-4CA4-B5ED-EEB381AA000B}" type="slidenum">
              <a:rPr lang="en-US" smtClean="0"/>
              <a:t>‹Nº›</a:t>
            </a:fld>
            <a:endParaRPr lang="en-US"/>
          </a:p>
        </p:txBody>
      </p:sp>
    </p:spTree>
    <p:extLst>
      <p:ext uri="{BB962C8B-B14F-4D97-AF65-F5344CB8AC3E}">
        <p14:creationId xmlns:p14="http://schemas.microsoft.com/office/powerpoint/2010/main" val="25286674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9107B469-6375-4B31-9E8D-F0F5D1F96C44}" type="datetimeFigureOut">
              <a:rPr lang="es-SV" smtClean="0"/>
              <a:t>6/5/2026</a:t>
            </a:fld>
            <a:endParaRPr lang="es-SV"/>
          </a:p>
        </p:txBody>
      </p:sp>
      <p:sp>
        <p:nvSpPr>
          <p:cNvPr id="4" name="Marcador de imagen de diapositiva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79CFB16-7B83-48BD-9148-02186C72AF1D}" type="slidenum">
              <a:rPr lang="es-SV" smtClean="0"/>
              <a:t>‹Nº›</a:t>
            </a:fld>
            <a:endParaRPr lang="es-SV"/>
          </a:p>
        </p:txBody>
      </p:sp>
    </p:spTree>
    <p:extLst>
      <p:ext uri="{BB962C8B-B14F-4D97-AF65-F5344CB8AC3E}">
        <p14:creationId xmlns:p14="http://schemas.microsoft.com/office/powerpoint/2010/main" val="185917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031843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15124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462786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09895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B5F6883-5435-47D5-880C-1B4DF04FBDCC}" type="datetimeFigureOut">
              <a:rPr lang="es-SV" smtClean="0"/>
              <a:pPr/>
              <a:t>6/5/2026</a:t>
            </a:fld>
            <a:endParaRPr lang="es-SV"/>
          </a:p>
        </p:txBody>
      </p:sp>
      <p:sp>
        <p:nvSpPr>
          <p:cNvPr id="8" name="Footer Placeholder 7"/>
          <p:cNvSpPr>
            <a:spLocks noGrp="1"/>
          </p:cNvSpPr>
          <p:nvPr>
            <p:ph type="ftr" sz="quarter" idx="11"/>
          </p:nvPr>
        </p:nvSpPr>
        <p:spPr/>
        <p:txBody>
          <a:bodyPr/>
          <a:lstStyle/>
          <a:p>
            <a:endParaRPr lang="es-SV"/>
          </a:p>
        </p:txBody>
      </p:sp>
      <p:sp>
        <p:nvSpPr>
          <p:cNvPr id="9" name="Slide Number Placeholder 8"/>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426516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B5F6883-5435-47D5-880C-1B4DF04FBDCC}" type="datetimeFigureOut">
              <a:rPr lang="es-SV" smtClean="0"/>
              <a:pPr/>
              <a:t>6/5/2026</a:t>
            </a:fld>
            <a:endParaRPr lang="es-SV"/>
          </a:p>
        </p:txBody>
      </p:sp>
      <p:sp>
        <p:nvSpPr>
          <p:cNvPr id="4" name="Footer Placeholder 3"/>
          <p:cNvSpPr>
            <a:spLocks noGrp="1"/>
          </p:cNvSpPr>
          <p:nvPr>
            <p:ph type="ftr" sz="quarter" idx="11"/>
          </p:nvPr>
        </p:nvSpPr>
        <p:spPr/>
        <p:txBody>
          <a:bodyPr/>
          <a:lstStyle/>
          <a:p>
            <a:endParaRPr lang="es-SV"/>
          </a:p>
        </p:txBody>
      </p:sp>
      <p:sp>
        <p:nvSpPr>
          <p:cNvPr id="5" name="Slide Number Placeholder 4"/>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171242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5F6883-5435-47D5-880C-1B4DF04FBDCC}" type="datetimeFigureOut">
              <a:rPr lang="es-SV" smtClean="0"/>
              <a:pPr/>
              <a:t>6/5/2026</a:t>
            </a:fld>
            <a:endParaRPr lang="es-SV"/>
          </a:p>
        </p:txBody>
      </p:sp>
      <p:sp>
        <p:nvSpPr>
          <p:cNvPr id="3" name="Footer Placeholder 2"/>
          <p:cNvSpPr>
            <a:spLocks noGrp="1"/>
          </p:cNvSpPr>
          <p:nvPr>
            <p:ph type="ftr" sz="quarter" idx="11"/>
          </p:nvPr>
        </p:nvSpPr>
        <p:spPr/>
        <p:txBody>
          <a:bodyPr/>
          <a:lstStyle/>
          <a:p>
            <a:endParaRPr lang="es-SV"/>
          </a:p>
        </p:txBody>
      </p:sp>
      <p:sp>
        <p:nvSpPr>
          <p:cNvPr id="4" name="Slide Number Placeholder 3"/>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355737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100746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B5F6883-5435-47D5-880C-1B4DF04FBDCC}" type="datetimeFigureOut">
              <a:rPr lang="es-SV" smtClean="0"/>
              <a:pPr/>
              <a:t>6/5/2026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1899889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1081124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5F6883-5435-47D5-880C-1B4DF04FBDCC}" type="datetimeFigureOut">
              <a:rPr lang="es-SV" smtClean="0"/>
              <a:pPr/>
              <a:t>6/5/2026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081552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5F6883-5435-47D5-880C-1B4DF04FBDCC}" type="datetimeFigureOut">
              <a:rPr lang="es-SV" smtClean="0"/>
              <a:pPr/>
              <a:t>6/5/2026</a:t>
            </a:fld>
            <a:endParaRPr lang="es-SV"/>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SV"/>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022E58-9AF6-4173-9FFF-BFAAE1D0EF7D}" type="slidenum">
              <a:rPr lang="es-SV" smtClean="0"/>
              <a:pPr/>
              <a:t>‹Nº›</a:t>
            </a:fld>
            <a:endParaRPr lang="es-SV"/>
          </a:p>
        </p:txBody>
      </p:sp>
    </p:spTree>
    <p:extLst>
      <p:ext uri="{BB962C8B-B14F-4D97-AF65-F5344CB8AC3E}">
        <p14:creationId xmlns:p14="http://schemas.microsoft.com/office/powerpoint/2010/main" val="1668435252"/>
      </p:ext>
    </p:extLst>
  </p:cSld>
  <p:clrMap bg1="dk1" tx1="lt1" bg2="dk2" tx2="lt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7905BA41-EE6E-4F80-8636-447F22DD729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 name="1 Título"/>
          <p:cNvSpPr>
            <a:spLocks noGrp="1"/>
          </p:cNvSpPr>
          <p:nvPr>
            <p:ph type="ctrTitle"/>
          </p:nvPr>
        </p:nvSpPr>
        <p:spPr>
          <a:xfrm>
            <a:off x="1386349" y="3331291"/>
            <a:ext cx="6371303" cy="1338302"/>
          </a:xfrm>
        </p:spPr>
        <p:txBody>
          <a:bodyPr anchor="b">
            <a:normAutofit/>
          </a:bodyPr>
          <a:lstStyle/>
          <a:p>
            <a:r>
              <a:rPr lang="es-MX" sz="3800">
                <a:solidFill>
                  <a:srgbClr val="FFFFFF"/>
                </a:solidFill>
              </a:rPr>
              <a:t>Universidad centroamericana </a:t>
            </a:r>
            <a:br>
              <a:rPr lang="es-MX" sz="3800">
                <a:solidFill>
                  <a:srgbClr val="FFFFFF"/>
                </a:solidFill>
              </a:rPr>
            </a:br>
            <a:r>
              <a:rPr lang="es-MX" sz="3800">
                <a:solidFill>
                  <a:srgbClr val="FFFFFF"/>
                </a:solidFill>
              </a:rPr>
              <a:t>“José Simeón Cañas” </a:t>
            </a:r>
            <a:endParaRPr lang="es-SV" sz="3800">
              <a:solidFill>
                <a:srgbClr val="FFFFFF"/>
              </a:solidFill>
            </a:endParaRPr>
          </a:p>
        </p:txBody>
      </p:sp>
      <p:sp>
        <p:nvSpPr>
          <p:cNvPr id="3" name="2 Subtítulo"/>
          <p:cNvSpPr>
            <a:spLocks noGrp="1"/>
          </p:cNvSpPr>
          <p:nvPr>
            <p:ph type="subTitle" idx="1"/>
          </p:nvPr>
        </p:nvSpPr>
        <p:spPr>
          <a:xfrm>
            <a:off x="1386349" y="4801389"/>
            <a:ext cx="6371303" cy="678004"/>
          </a:xfrm>
        </p:spPr>
        <p:txBody>
          <a:bodyPr>
            <a:normAutofit/>
          </a:bodyPr>
          <a:lstStyle/>
          <a:p>
            <a:r>
              <a:rPr lang="es-ES" i="1" dirty="0">
                <a:solidFill>
                  <a:srgbClr val="FFFFFF"/>
                </a:solidFill>
              </a:rPr>
              <a:t>Probabilidad y Estadística para Ciencia de Datos</a:t>
            </a:r>
          </a:p>
        </p:txBody>
      </p:sp>
      <p:sp>
        <p:nvSpPr>
          <p:cNvPr id="75" name="Oval 74">
            <a:extLst>
              <a:ext uri="{FF2B5EF4-FFF2-40B4-BE49-F238E27FC236}">
                <a16:creationId xmlns:a16="http://schemas.microsoft.com/office/drawing/2014/main" id="{CD7549B2-EE05-4558-8C64-AC46755F2B2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4918" y="614414"/>
            <a:ext cx="2174164" cy="2174164"/>
          </a:xfrm>
          <a:prstGeom prst="ellipse">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pic>
        <p:nvPicPr>
          <p:cNvPr id="1028" name="Picture 4" descr="Resultado de imagen para uca mafi"/>
          <p:cNvPicPr>
            <a:picLocks noChangeAspect="1" noChangeArrowheads="1"/>
          </p:cNvPicPr>
          <p:nvPr/>
        </p:nvPicPr>
        <p:blipFill rotWithShape="1">
          <a:blip r:embed="rId2">
            <a:extLst>
              <a:ext uri="{28A0092B-C50C-407E-A947-70E740481C1C}">
                <a14:useLocalDpi xmlns:a14="http://schemas.microsoft.com/office/drawing/2010/main" val="0"/>
              </a:ext>
            </a:extLst>
          </a:blip>
          <a:srcRect l="-197" t="2731" r="73469" b="-2731"/>
          <a:stretch/>
        </p:blipFill>
        <p:spPr bwMode="auto">
          <a:xfrm>
            <a:off x="3992455" y="1113926"/>
            <a:ext cx="943066" cy="117514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2915816" y="2842482"/>
            <a:ext cx="309634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s-SV" dirty="0"/>
              <a:t>MODULO </a:t>
            </a:r>
            <a:r>
              <a:rPr lang="es-SV" dirty="0" smtClean="0"/>
              <a:t>3</a:t>
            </a:r>
            <a:endParaRPr lang="es-SV"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476250" y="640823"/>
            <a:ext cx="2563994" cy="5583148"/>
          </a:xfrm>
        </p:spPr>
        <p:txBody>
          <a:bodyPr anchor="ctr">
            <a:normAutofit/>
          </a:bodyPr>
          <a:lstStyle/>
          <a:p>
            <a:r>
              <a:rPr lang="es-MX" sz="4300"/>
              <a:t>Conceptos básicos</a:t>
            </a:r>
            <a:endParaRPr lang="es-SV" sz="43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 name="csX0" fmla="*/ 0 w 5410200"/>
              <a:gd name="csY0" fmla="*/ 0 h 13716"/>
              <a:gd name="csX1" fmla="*/ 622173 w 5410200"/>
              <a:gd name="csY1" fmla="*/ 0 h 13716"/>
              <a:gd name="csX2" fmla="*/ 1136142 w 5410200"/>
              <a:gd name="csY2" fmla="*/ 0 h 13716"/>
              <a:gd name="csX3" fmla="*/ 1920621 w 5410200"/>
              <a:gd name="csY3" fmla="*/ 0 h 13716"/>
              <a:gd name="csX4" fmla="*/ 2542794 w 5410200"/>
              <a:gd name="csY4" fmla="*/ 0 h 13716"/>
              <a:gd name="csX5" fmla="*/ 3164967 w 5410200"/>
              <a:gd name="csY5" fmla="*/ 0 h 13716"/>
              <a:gd name="csX6" fmla="*/ 3949446 w 5410200"/>
              <a:gd name="csY6" fmla="*/ 0 h 13716"/>
              <a:gd name="csX7" fmla="*/ 4517517 w 5410200"/>
              <a:gd name="csY7" fmla="*/ 0 h 13716"/>
              <a:gd name="csX8" fmla="*/ 5410200 w 5410200"/>
              <a:gd name="csY8" fmla="*/ 0 h 13716"/>
              <a:gd name="csX9" fmla="*/ 5410200 w 5410200"/>
              <a:gd name="csY9" fmla="*/ 13716 h 13716"/>
              <a:gd name="csX10" fmla="*/ 4842129 w 5410200"/>
              <a:gd name="csY10" fmla="*/ 13716 h 13716"/>
              <a:gd name="csX11" fmla="*/ 4165854 w 5410200"/>
              <a:gd name="csY11" fmla="*/ 13716 h 13716"/>
              <a:gd name="csX12" fmla="*/ 3543681 w 5410200"/>
              <a:gd name="csY12" fmla="*/ 13716 h 13716"/>
              <a:gd name="csX13" fmla="*/ 2759202 w 5410200"/>
              <a:gd name="csY13" fmla="*/ 13716 h 13716"/>
              <a:gd name="csX14" fmla="*/ 1974723 w 5410200"/>
              <a:gd name="csY14" fmla="*/ 13716 h 13716"/>
              <a:gd name="csX15" fmla="*/ 1406652 w 5410200"/>
              <a:gd name="csY15" fmla="*/ 13716 h 13716"/>
              <a:gd name="csX16" fmla="*/ 730377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76940" y="8795"/>
                  <a:pt x="295530" y="-3818"/>
                  <a:pt x="568071" y="0"/>
                </a:cubicBezTo>
                <a:cubicBezTo>
                  <a:pt x="821049" y="-7814"/>
                  <a:pt x="977778" y="-9274"/>
                  <a:pt x="1298448" y="0"/>
                </a:cubicBezTo>
                <a:cubicBezTo>
                  <a:pt x="1590381" y="13044"/>
                  <a:pt x="1630605" y="-28"/>
                  <a:pt x="1920621" y="0"/>
                </a:cubicBezTo>
                <a:cubicBezTo>
                  <a:pt x="2206035" y="10386"/>
                  <a:pt x="2357755" y="-28028"/>
                  <a:pt x="2488692" y="0"/>
                </a:cubicBezTo>
                <a:cubicBezTo>
                  <a:pt x="2633521" y="25625"/>
                  <a:pt x="3022777" y="-45440"/>
                  <a:pt x="3219069" y="0"/>
                </a:cubicBezTo>
                <a:cubicBezTo>
                  <a:pt x="3460337" y="63290"/>
                  <a:pt x="3645640" y="26494"/>
                  <a:pt x="3895344" y="0"/>
                </a:cubicBezTo>
                <a:cubicBezTo>
                  <a:pt x="4126339" y="-535"/>
                  <a:pt x="4382665" y="-55222"/>
                  <a:pt x="4571619" y="0"/>
                </a:cubicBezTo>
                <a:cubicBezTo>
                  <a:pt x="4776405" y="-816"/>
                  <a:pt x="5201098" y="-43036"/>
                  <a:pt x="5410200" y="0"/>
                </a:cubicBezTo>
                <a:cubicBezTo>
                  <a:pt x="5409052" y="2649"/>
                  <a:pt x="5410186" y="9063"/>
                  <a:pt x="5410200" y="13716"/>
                </a:cubicBezTo>
                <a:cubicBezTo>
                  <a:pt x="5133704" y="5182"/>
                  <a:pt x="5123444" y="31477"/>
                  <a:pt x="4842129" y="13716"/>
                </a:cubicBezTo>
                <a:cubicBezTo>
                  <a:pt x="4568650" y="-219"/>
                  <a:pt x="4447390" y="8221"/>
                  <a:pt x="4328160" y="13716"/>
                </a:cubicBezTo>
                <a:cubicBezTo>
                  <a:pt x="4227436" y="28078"/>
                  <a:pt x="3754725" y="-2253"/>
                  <a:pt x="3597783" y="13716"/>
                </a:cubicBezTo>
                <a:cubicBezTo>
                  <a:pt x="3459353" y="10223"/>
                  <a:pt x="3317740" y="47315"/>
                  <a:pt x="3029712" y="13716"/>
                </a:cubicBezTo>
                <a:cubicBezTo>
                  <a:pt x="2766446" y="5245"/>
                  <a:pt x="2645518" y="35922"/>
                  <a:pt x="2299335" y="13716"/>
                </a:cubicBezTo>
                <a:cubicBezTo>
                  <a:pt x="1977844" y="23735"/>
                  <a:pt x="1781583" y="-1801"/>
                  <a:pt x="1514856" y="13716"/>
                </a:cubicBezTo>
                <a:cubicBezTo>
                  <a:pt x="1212648" y="18781"/>
                  <a:pt x="1087880" y="-4407"/>
                  <a:pt x="892683" y="13716"/>
                </a:cubicBezTo>
                <a:cubicBezTo>
                  <a:pt x="745769" y="11772"/>
                  <a:pt x="183254" y="-32062"/>
                  <a:pt x="0" y="13716"/>
                </a:cubicBezTo>
                <a:cubicBezTo>
                  <a:pt x="-907" y="9799"/>
                  <a:pt x="-75" y="7151"/>
                  <a:pt x="0" y="0"/>
                </a:cubicBezTo>
                <a:close/>
              </a:path>
              <a:path w="5410200" h="13716" stroke="0" extrusionOk="0">
                <a:moveTo>
                  <a:pt x="0" y="0"/>
                </a:moveTo>
                <a:cubicBezTo>
                  <a:pt x="269468" y="-22806"/>
                  <a:pt x="392563" y="4840"/>
                  <a:pt x="622173" y="0"/>
                </a:cubicBezTo>
                <a:cubicBezTo>
                  <a:pt x="884216" y="-2196"/>
                  <a:pt x="1034637" y="7784"/>
                  <a:pt x="1136142" y="0"/>
                </a:cubicBezTo>
                <a:cubicBezTo>
                  <a:pt x="1204956" y="5920"/>
                  <a:pt x="1559779" y="-61408"/>
                  <a:pt x="1920621" y="0"/>
                </a:cubicBezTo>
                <a:cubicBezTo>
                  <a:pt x="2280250" y="-18581"/>
                  <a:pt x="2372470" y="4128"/>
                  <a:pt x="2542794" y="0"/>
                </a:cubicBezTo>
                <a:cubicBezTo>
                  <a:pt x="2688150" y="-17189"/>
                  <a:pt x="2885478" y="-51412"/>
                  <a:pt x="3164967" y="0"/>
                </a:cubicBezTo>
                <a:cubicBezTo>
                  <a:pt x="3470933" y="16143"/>
                  <a:pt x="3588003" y="-4313"/>
                  <a:pt x="3949446" y="0"/>
                </a:cubicBezTo>
                <a:cubicBezTo>
                  <a:pt x="4331172" y="1470"/>
                  <a:pt x="4289286" y="5331"/>
                  <a:pt x="4517517" y="0"/>
                </a:cubicBezTo>
                <a:cubicBezTo>
                  <a:pt x="4736577" y="41911"/>
                  <a:pt x="5141868" y="443"/>
                  <a:pt x="5410200" y="0"/>
                </a:cubicBezTo>
                <a:cubicBezTo>
                  <a:pt x="5410845" y="2936"/>
                  <a:pt x="5409877" y="9829"/>
                  <a:pt x="5410200" y="13716"/>
                </a:cubicBezTo>
                <a:cubicBezTo>
                  <a:pt x="5130880" y="48304"/>
                  <a:pt x="5008082" y="-27188"/>
                  <a:pt x="4842129" y="13716"/>
                </a:cubicBezTo>
                <a:cubicBezTo>
                  <a:pt x="4629232" y="38478"/>
                  <a:pt x="4430159" y="43872"/>
                  <a:pt x="4165854" y="13716"/>
                </a:cubicBezTo>
                <a:cubicBezTo>
                  <a:pt x="3880517" y="17026"/>
                  <a:pt x="3820863" y="-12209"/>
                  <a:pt x="3543681" y="13716"/>
                </a:cubicBezTo>
                <a:cubicBezTo>
                  <a:pt x="3267577" y="39687"/>
                  <a:pt x="3047131" y="-8774"/>
                  <a:pt x="2759202" y="13716"/>
                </a:cubicBezTo>
                <a:cubicBezTo>
                  <a:pt x="2418778" y="17929"/>
                  <a:pt x="2206820" y="-35095"/>
                  <a:pt x="1974723" y="13716"/>
                </a:cubicBezTo>
                <a:cubicBezTo>
                  <a:pt x="1740429" y="35710"/>
                  <a:pt x="1599301" y="34493"/>
                  <a:pt x="1406652" y="13716"/>
                </a:cubicBezTo>
                <a:cubicBezTo>
                  <a:pt x="1196601" y="3966"/>
                  <a:pt x="938578" y="38717"/>
                  <a:pt x="730377" y="13716"/>
                </a:cubicBezTo>
                <a:cubicBezTo>
                  <a:pt x="524173" y="26651"/>
                  <a:pt x="336004" y="-17469"/>
                  <a:pt x="0" y="13716"/>
                </a:cubicBezTo>
                <a:cubicBezTo>
                  <a:pt x="-377" y="9245"/>
                  <a:pt x="1157" y="3819"/>
                  <a:pt x="0" y="0"/>
                </a:cubicBezTo>
                <a:close/>
              </a:path>
              <a:path w="5410200" h="13716" fill="none" stroke="0" extrusionOk="0">
                <a:moveTo>
                  <a:pt x="0" y="0"/>
                </a:moveTo>
                <a:cubicBezTo>
                  <a:pt x="148438" y="-27720"/>
                  <a:pt x="315263" y="-14841"/>
                  <a:pt x="568071" y="0"/>
                </a:cubicBezTo>
                <a:cubicBezTo>
                  <a:pt x="840209" y="21288"/>
                  <a:pt x="982180" y="-6281"/>
                  <a:pt x="1298448" y="0"/>
                </a:cubicBezTo>
                <a:cubicBezTo>
                  <a:pt x="1577021" y="13763"/>
                  <a:pt x="1630910" y="1060"/>
                  <a:pt x="1920621" y="0"/>
                </a:cubicBezTo>
                <a:cubicBezTo>
                  <a:pt x="2200928" y="-1340"/>
                  <a:pt x="2382869" y="-10369"/>
                  <a:pt x="2488692" y="0"/>
                </a:cubicBezTo>
                <a:cubicBezTo>
                  <a:pt x="2620356" y="20061"/>
                  <a:pt x="3042766" y="-74691"/>
                  <a:pt x="3219069" y="0"/>
                </a:cubicBezTo>
                <a:cubicBezTo>
                  <a:pt x="3395755" y="31704"/>
                  <a:pt x="3646717" y="33546"/>
                  <a:pt x="3895344" y="0"/>
                </a:cubicBezTo>
                <a:cubicBezTo>
                  <a:pt x="4131847" y="-43416"/>
                  <a:pt x="4371681" y="11418"/>
                  <a:pt x="4571619" y="0"/>
                </a:cubicBezTo>
                <a:cubicBezTo>
                  <a:pt x="4799447" y="47677"/>
                  <a:pt x="5212547" y="1562"/>
                  <a:pt x="5410200" y="0"/>
                </a:cubicBezTo>
                <a:cubicBezTo>
                  <a:pt x="5408905" y="2744"/>
                  <a:pt x="5410401" y="9950"/>
                  <a:pt x="5410200" y="13716"/>
                </a:cubicBezTo>
                <a:cubicBezTo>
                  <a:pt x="5139576" y="2947"/>
                  <a:pt x="5122299" y="33775"/>
                  <a:pt x="4842129" y="13716"/>
                </a:cubicBezTo>
                <a:cubicBezTo>
                  <a:pt x="4566356" y="6655"/>
                  <a:pt x="4456854" y="15426"/>
                  <a:pt x="4328160" y="13716"/>
                </a:cubicBezTo>
                <a:cubicBezTo>
                  <a:pt x="4234703" y="-822"/>
                  <a:pt x="3768176" y="-16062"/>
                  <a:pt x="3597783" y="13716"/>
                </a:cubicBezTo>
                <a:cubicBezTo>
                  <a:pt x="3430303" y="10148"/>
                  <a:pt x="3287506" y="20215"/>
                  <a:pt x="3029712" y="13716"/>
                </a:cubicBezTo>
                <a:cubicBezTo>
                  <a:pt x="2742636" y="-2421"/>
                  <a:pt x="2637847" y="18109"/>
                  <a:pt x="2299335" y="13716"/>
                </a:cubicBezTo>
                <a:cubicBezTo>
                  <a:pt x="1959433" y="-7861"/>
                  <a:pt x="1779456" y="37101"/>
                  <a:pt x="1514856" y="13716"/>
                </a:cubicBezTo>
                <a:cubicBezTo>
                  <a:pt x="1212431" y="31797"/>
                  <a:pt x="1086601" y="7282"/>
                  <a:pt x="892683" y="13716"/>
                </a:cubicBezTo>
                <a:cubicBezTo>
                  <a:pt x="721500" y="45800"/>
                  <a:pt x="194249" y="-29802"/>
                  <a:pt x="0" y="13716"/>
                </a:cubicBezTo>
                <a:cubicBezTo>
                  <a:pt x="-508" y="9800"/>
                  <a:pt x="-280" y="682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2 Marcador de contenido">
            <a:extLst>
              <a:ext uri="{FF2B5EF4-FFF2-40B4-BE49-F238E27FC236}">
                <a16:creationId xmlns:a16="http://schemas.microsoft.com/office/drawing/2014/main" id="{F468EF64-6553-4368-8E3F-26E9D090ACC5}"/>
              </a:ext>
            </a:extLst>
          </p:cNvPr>
          <p:cNvGraphicFramePr>
            <a:graphicFrameLocks noGrp="1"/>
          </p:cNvGraphicFramePr>
          <p:nvPr>
            <p:ph idx="1"/>
            <p:extLst>
              <p:ext uri="{D42A27DB-BD31-4B8C-83A1-F6EECF244321}">
                <p14:modId xmlns:p14="http://schemas.microsoft.com/office/powerpoint/2010/main" val="1649958685"/>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3019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59AB4C8-9178-4F7A-8404-6890510B59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1 Título"/>
          <p:cNvSpPr>
            <a:spLocks noGrp="1"/>
          </p:cNvSpPr>
          <p:nvPr>
            <p:ph type="ctrTitle"/>
          </p:nvPr>
        </p:nvSpPr>
        <p:spPr>
          <a:xfrm>
            <a:off x="479160" y="457201"/>
            <a:ext cx="8182230" cy="1832654"/>
          </a:xfrm>
        </p:spPr>
        <p:txBody>
          <a:bodyPr anchor="b">
            <a:normAutofit/>
          </a:bodyPr>
          <a:lstStyle/>
          <a:p>
            <a:r>
              <a:rPr lang="es-SV" sz="5700"/>
              <a:t>Probabilidades </a:t>
            </a:r>
          </a:p>
        </p:txBody>
      </p:sp>
      <p:sp>
        <p:nvSpPr>
          <p:cNvPr id="3" name="2 Subtítulo"/>
          <p:cNvSpPr>
            <a:spLocks noGrp="1"/>
          </p:cNvSpPr>
          <p:nvPr>
            <p:ph type="subTitle" idx="1"/>
          </p:nvPr>
        </p:nvSpPr>
        <p:spPr>
          <a:xfrm>
            <a:off x="479160" y="2419141"/>
            <a:ext cx="8182233" cy="552659"/>
          </a:xfrm>
        </p:spPr>
        <p:txBody>
          <a:bodyPr anchor="t">
            <a:normAutofit/>
          </a:bodyPr>
          <a:lstStyle/>
          <a:p>
            <a:r>
              <a:rPr lang="es-SV" sz="1300" i="1"/>
              <a:t>“Deléitate asimismo en Jehová,</a:t>
            </a:r>
            <a:br>
              <a:rPr lang="es-SV" sz="1300" i="1"/>
            </a:br>
            <a:r>
              <a:rPr lang="es-SV" sz="1300" i="1"/>
              <a:t>Y él te concederá las peticiones de tu corazón. Encomienda a Jehová tu camino, Y confía en él; y él hará”. </a:t>
            </a:r>
            <a:r>
              <a:rPr lang="es-SV" sz="1300"/>
              <a:t>Salmos 37:4-5</a:t>
            </a:r>
          </a:p>
        </p:txBody>
      </p:sp>
      <p:sp>
        <p:nvSpPr>
          <p:cNvPr id="18"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2343912"/>
            <a:ext cx="3429000" cy="18288"/>
          </a:xfrm>
          <a:custGeom>
            <a:avLst/>
            <a:gdLst>
              <a:gd name="csX0" fmla="*/ 0 w 3429000"/>
              <a:gd name="csY0" fmla="*/ 0 h 18288"/>
              <a:gd name="csX1" fmla="*/ 685800 w 3429000"/>
              <a:gd name="csY1" fmla="*/ 0 h 18288"/>
              <a:gd name="csX2" fmla="*/ 1371600 w 3429000"/>
              <a:gd name="csY2" fmla="*/ 0 h 18288"/>
              <a:gd name="csX3" fmla="*/ 2057400 w 3429000"/>
              <a:gd name="csY3" fmla="*/ 0 h 18288"/>
              <a:gd name="csX4" fmla="*/ 2674620 w 3429000"/>
              <a:gd name="csY4" fmla="*/ 0 h 18288"/>
              <a:gd name="csX5" fmla="*/ 3429000 w 3429000"/>
              <a:gd name="csY5" fmla="*/ 0 h 18288"/>
              <a:gd name="csX6" fmla="*/ 3429000 w 3429000"/>
              <a:gd name="csY6" fmla="*/ 18288 h 18288"/>
              <a:gd name="csX7" fmla="*/ 2811780 w 3429000"/>
              <a:gd name="csY7" fmla="*/ 18288 h 18288"/>
              <a:gd name="csX8" fmla="*/ 2228850 w 3429000"/>
              <a:gd name="csY8" fmla="*/ 18288 h 18288"/>
              <a:gd name="csX9" fmla="*/ 1543050 w 3429000"/>
              <a:gd name="csY9" fmla="*/ 18288 h 18288"/>
              <a:gd name="csX10" fmla="*/ 925830 w 3429000"/>
              <a:gd name="csY10" fmla="*/ 18288 h 18288"/>
              <a:gd name="csX11" fmla="*/ 0 w 3429000"/>
              <a:gd name="csY11" fmla="*/ 18288 h 18288"/>
              <a:gd name="csX12" fmla="*/ 0 w 3429000"/>
              <a:gd name="csY12" fmla="*/ 0 h 18288"/>
              <a:gd name="csX0" fmla="*/ 0 w 3429000"/>
              <a:gd name="csY0" fmla="*/ 0 h 18288"/>
              <a:gd name="csX1" fmla="*/ 617220 w 3429000"/>
              <a:gd name="csY1" fmla="*/ 0 h 18288"/>
              <a:gd name="csX2" fmla="*/ 1200150 w 3429000"/>
              <a:gd name="csY2" fmla="*/ 0 h 18288"/>
              <a:gd name="csX3" fmla="*/ 1817370 w 3429000"/>
              <a:gd name="csY3" fmla="*/ 0 h 18288"/>
              <a:gd name="csX4" fmla="*/ 2503170 w 3429000"/>
              <a:gd name="csY4" fmla="*/ 0 h 18288"/>
              <a:gd name="csX5" fmla="*/ 3429000 w 3429000"/>
              <a:gd name="csY5" fmla="*/ 0 h 18288"/>
              <a:gd name="csX6" fmla="*/ 3429000 w 3429000"/>
              <a:gd name="csY6" fmla="*/ 18288 h 18288"/>
              <a:gd name="csX7" fmla="*/ 2743200 w 3429000"/>
              <a:gd name="csY7" fmla="*/ 18288 h 18288"/>
              <a:gd name="csX8" fmla="*/ 1988820 w 3429000"/>
              <a:gd name="csY8" fmla="*/ 18288 h 18288"/>
              <a:gd name="csX9" fmla="*/ 1405890 w 3429000"/>
              <a:gd name="csY9" fmla="*/ 18288 h 18288"/>
              <a:gd name="csX10" fmla="*/ 651510 w 3429000"/>
              <a:gd name="csY10" fmla="*/ 18288 h 18288"/>
              <a:gd name="csX11" fmla="*/ 0 w 3429000"/>
              <a:gd name="csY11" fmla="*/ 18288 h 18288"/>
              <a:gd name="csX12" fmla="*/ 0 w 342900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29000" h="18288" fill="none" extrusionOk="0">
                <a:moveTo>
                  <a:pt x="0" y="0"/>
                </a:moveTo>
                <a:cubicBezTo>
                  <a:pt x="207705" y="23860"/>
                  <a:pt x="509323" y="68036"/>
                  <a:pt x="685800" y="0"/>
                </a:cubicBezTo>
                <a:cubicBezTo>
                  <a:pt x="881422" y="-43910"/>
                  <a:pt x="1129204" y="-58858"/>
                  <a:pt x="1371600" y="0"/>
                </a:cubicBezTo>
                <a:cubicBezTo>
                  <a:pt x="1611115" y="-12848"/>
                  <a:pt x="1887211" y="-6418"/>
                  <a:pt x="2057400" y="0"/>
                </a:cubicBezTo>
                <a:cubicBezTo>
                  <a:pt x="2233905" y="-53439"/>
                  <a:pt x="2400311" y="-9735"/>
                  <a:pt x="2674620" y="0"/>
                </a:cubicBezTo>
                <a:cubicBezTo>
                  <a:pt x="2899369" y="50175"/>
                  <a:pt x="3197952" y="-27603"/>
                  <a:pt x="3429000" y="0"/>
                </a:cubicBezTo>
                <a:cubicBezTo>
                  <a:pt x="3428966" y="4844"/>
                  <a:pt x="3428590" y="11009"/>
                  <a:pt x="3429000" y="18288"/>
                </a:cubicBezTo>
                <a:cubicBezTo>
                  <a:pt x="3212354" y="28872"/>
                  <a:pt x="3083619" y="-836"/>
                  <a:pt x="2811780" y="18288"/>
                </a:cubicBezTo>
                <a:cubicBezTo>
                  <a:pt x="2533576" y="25058"/>
                  <a:pt x="2477440" y="20531"/>
                  <a:pt x="2228850" y="18288"/>
                </a:cubicBezTo>
                <a:cubicBezTo>
                  <a:pt x="2003657" y="-1843"/>
                  <a:pt x="1810789" y="18294"/>
                  <a:pt x="1543050" y="18288"/>
                </a:cubicBezTo>
                <a:cubicBezTo>
                  <a:pt x="1286635" y="-21162"/>
                  <a:pt x="1189418" y="22290"/>
                  <a:pt x="925830" y="18288"/>
                </a:cubicBezTo>
                <a:cubicBezTo>
                  <a:pt x="678389" y="-2387"/>
                  <a:pt x="367033" y="43234"/>
                  <a:pt x="0" y="18288"/>
                </a:cubicBezTo>
                <a:cubicBezTo>
                  <a:pt x="-649" y="11698"/>
                  <a:pt x="663" y="5413"/>
                  <a:pt x="0" y="0"/>
                </a:cubicBezTo>
                <a:close/>
              </a:path>
              <a:path w="3429000" h="18288" stroke="0" extrusionOk="0">
                <a:moveTo>
                  <a:pt x="0" y="0"/>
                </a:moveTo>
                <a:cubicBezTo>
                  <a:pt x="169914" y="-16656"/>
                  <a:pt x="469790" y="-24030"/>
                  <a:pt x="617220" y="0"/>
                </a:cubicBezTo>
                <a:cubicBezTo>
                  <a:pt x="786601" y="24467"/>
                  <a:pt x="1085311" y="15192"/>
                  <a:pt x="1200150" y="0"/>
                </a:cubicBezTo>
                <a:cubicBezTo>
                  <a:pt x="1340195" y="-5060"/>
                  <a:pt x="1552999" y="41254"/>
                  <a:pt x="1817370" y="0"/>
                </a:cubicBezTo>
                <a:cubicBezTo>
                  <a:pt x="2086739" y="-377"/>
                  <a:pt x="2228603" y="31972"/>
                  <a:pt x="2503170" y="0"/>
                </a:cubicBezTo>
                <a:cubicBezTo>
                  <a:pt x="2794334" y="-14173"/>
                  <a:pt x="3002837" y="-13310"/>
                  <a:pt x="3429000" y="0"/>
                </a:cubicBezTo>
                <a:cubicBezTo>
                  <a:pt x="3428475" y="5049"/>
                  <a:pt x="3429193" y="12044"/>
                  <a:pt x="3429000" y="18288"/>
                </a:cubicBezTo>
                <a:cubicBezTo>
                  <a:pt x="3101445" y="-3440"/>
                  <a:pt x="2879434" y="34023"/>
                  <a:pt x="2743200" y="18288"/>
                </a:cubicBezTo>
                <a:cubicBezTo>
                  <a:pt x="2609544" y="13915"/>
                  <a:pt x="2334178" y="48649"/>
                  <a:pt x="1988820" y="18288"/>
                </a:cubicBezTo>
                <a:cubicBezTo>
                  <a:pt x="1620184" y="18423"/>
                  <a:pt x="1586822" y="-1871"/>
                  <a:pt x="1405890" y="18288"/>
                </a:cubicBezTo>
                <a:cubicBezTo>
                  <a:pt x="1266239" y="28547"/>
                  <a:pt x="867500" y="15208"/>
                  <a:pt x="651510" y="18288"/>
                </a:cubicBezTo>
                <a:cubicBezTo>
                  <a:pt x="445459" y="40105"/>
                  <a:pt x="119818" y="-23744"/>
                  <a:pt x="0" y="18288"/>
                </a:cubicBezTo>
                <a:cubicBezTo>
                  <a:pt x="-39" y="12511"/>
                  <a:pt x="-381" y="8039"/>
                  <a:pt x="0" y="0"/>
                </a:cubicBezTo>
                <a:close/>
              </a:path>
              <a:path w="3429000" h="18288" fill="none" stroke="0" extrusionOk="0">
                <a:moveTo>
                  <a:pt x="0" y="0"/>
                </a:moveTo>
                <a:cubicBezTo>
                  <a:pt x="199661" y="29771"/>
                  <a:pt x="488726" y="20925"/>
                  <a:pt x="685800" y="0"/>
                </a:cubicBezTo>
                <a:cubicBezTo>
                  <a:pt x="835372" y="-29710"/>
                  <a:pt x="1088413" y="6369"/>
                  <a:pt x="1371600" y="0"/>
                </a:cubicBezTo>
                <a:cubicBezTo>
                  <a:pt x="1631865" y="6637"/>
                  <a:pt x="1839907" y="52251"/>
                  <a:pt x="2057400" y="0"/>
                </a:cubicBezTo>
                <a:cubicBezTo>
                  <a:pt x="2266442" y="-8132"/>
                  <a:pt x="2461070" y="-4034"/>
                  <a:pt x="2674620" y="0"/>
                </a:cubicBezTo>
                <a:cubicBezTo>
                  <a:pt x="2940120" y="30498"/>
                  <a:pt x="3202681" y="-54357"/>
                  <a:pt x="3429000" y="0"/>
                </a:cubicBezTo>
                <a:cubicBezTo>
                  <a:pt x="3429314" y="4158"/>
                  <a:pt x="3428021" y="12539"/>
                  <a:pt x="3429000" y="18288"/>
                </a:cubicBezTo>
                <a:cubicBezTo>
                  <a:pt x="3250522" y="56023"/>
                  <a:pt x="3056248" y="-1557"/>
                  <a:pt x="2811780" y="18288"/>
                </a:cubicBezTo>
                <a:cubicBezTo>
                  <a:pt x="2534418" y="26558"/>
                  <a:pt x="2483107" y="19890"/>
                  <a:pt x="2228850" y="18288"/>
                </a:cubicBezTo>
                <a:cubicBezTo>
                  <a:pt x="1996093" y="-20362"/>
                  <a:pt x="1790611" y="35096"/>
                  <a:pt x="1543050" y="18288"/>
                </a:cubicBezTo>
                <a:cubicBezTo>
                  <a:pt x="1276188" y="-29727"/>
                  <a:pt x="1196665" y="1050"/>
                  <a:pt x="925830" y="18288"/>
                </a:cubicBezTo>
                <a:cubicBezTo>
                  <a:pt x="718623" y="61416"/>
                  <a:pt x="374628" y="25039"/>
                  <a:pt x="0" y="18288"/>
                </a:cubicBezTo>
                <a:cubicBezTo>
                  <a:pt x="20" y="11469"/>
                  <a:pt x="-29" y="515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2727557108">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ídeo 4">
            <a:extLst>
              <a:ext uri="{FF2B5EF4-FFF2-40B4-BE49-F238E27FC236}">
                <a16:creationId xmlns:a16="http://schemas.microsoft.com/office/drawing/2014/main" id="{E68C0E74-B770-45C7-9218-5D50F6DF5F92}"/>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24786" b="-1"/>
          <a:stretch/>
        </p:blipFill>
        <p:spPr>
          <a:xfrm>
            <a:off x="2496399" y="3124200"/>
            <a:ext cx="4148915" cy="3102864"/>
          </a:xfrm>
          <a:prstGeom prst="rect">
            <a:avLst/>
          </a:prstGeom>
        </p:spPr>
      </p:pic>
    </p:spTree>
    <p:extLst>
      <p:ext uri="{BB962C8B-B14F-4D97-AF65-F5344CB8AC3E}">
        <p14:creationId xmlns:p14="http://schemas.microsoft.com/office/powerpoint/2010/main" val="240683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6" name="Slide Background Fill">
            <a:extLst>
              <a:ext uri="{FF2B5EF4-FFF2-40B4-BE49-F238E27FC236}">
                <a16:creationId xmlns:a16="http://schemas.microsoft.com/office/drawing/2014/main" id="{953EC90C-082B-4667-A29F-E4E4D515AA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Color Cover">
            <a:extLst>
              <a:ext uri="{FF2B5EF4-FFF2-40B4-BE49-F238E27FC236}">
                <a16:creationId xmlns:a16="http://schemas.microsoft.com/office/drawing/2014/main" id="{E99FF883-3EBA-49CC-8D77-1EE69E1826E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78" name="Group 138">
            <a:extLst>
              <a:ext uri="{FF2B5EF4-FFF2-40B4-BE49-F238E27FC236}">
                <a16:creationId xmlns:a16="http://schemas.microsoft.com/office/drawing/2014/main" id="{F690C4ED-5E67-4827-AED1-DEC2B100A4D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16" y="-2"/>
            <a:ext cx="2601176" cy="6858000"/>
            <a:chOff x="651279" y="598259"/>
            <a:chExt cx="10889442" cy="5680742"/>
          </a:xfrm>
        </p:grpSpPr>
        <p:sp>
          <p:nvSpPr>
            <p:cNvPr id="140" name="Color">
              <a:extLst>
                <a:ext uri="{FF2B5EF4-FFF2-40B4-BE49-F238E27FC236}">
                  <a16:creationId xmlns:a16="http://schemas.microsoft.com/office/drawing/2014/main" id="{316B1774-E483-4832-A4C7-1277F99283E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9" name="Color">
              <a:extLst>
                <a:ext uri="{FF2B5EF4-FFF2-40B4-BE49-F238E27FC236}">
                  <a16:creationId xmlns:a16="http://schemas.microsoft.com/office/drawing/2014/main" id="{CE4BA6BE-9BF5-4DFA-8E3F-C49023E5380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3" name="Group 142">
            <a:extLst>
              <a:ext uri="{FF2B5EF4-FFF2-40B4-BE49-F238E27FC236}">
                <a16:creationId xmlns:a16="http://schemas.microsoft.com/office/drawing/2014/main" id="{E27AF472-EAE3-4572-AB69-B92BD10DBC6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1717" cy="6858000"/>
            <a:chOff x="0" y="0"/>
            <a:chExt cx="12188952" cy="6858000"/>
          </a:xfrm>
        </p:grpSpPr>
        <p:sp>
          <p:nvSpPr>
            <p:cNvPr id="144" name="Freeform: Shape 143">
              <a:extLst>
                <a:ext uri="{FF2B5EF4-FFF2-40B4-BE49-F238E27FC236}">
                  <a16:creationId xmlns:a16="http://schemas.microsoft.com/office/drawing/2014/main" id="{BF4DB9D2-6215-420C-874C-82EADF8C6C7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Freeform: Shape 144">
              <a:extLst>
                <a:ext uri="{FF2B5EF4-FFF2-40B4-BE49-F238E27FC236}">
                  <a16:creationId xmlns:a16="http://schemas.microsoft.com/office/drawing/2014/main" id="{1F003139-C97C-44FA-B139-32E4DFDCE9C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Freeform: Shape 145">
              <a:extLst>
                <a:ext uri="{FF2B5EF4-FFF2-40B4-BE49-F238E27FC236}">
                  <a16:creationId xmlns:a16="http://schemas.microsoft.com/office/drawing/2014/main" id="{5CE4DD6E-8CEA-45EE-B630-DBC22144D88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reeform: Shape 146">
              <a:extLst>
                <a:ext uri="{FF2B5EF4-FFF2-40B4-BE49-F238E27FC236}">
                  <a16:creationId xmlns:a16="http://schemas.microsoft.com/office/drawing/2014/main" id="{A4372F7F-AA3C-470B-AA61-7C35B7722C9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Freeform: Shape 147">
              <a:extLst>
                <a:ext uri="{FF2B5EF4-FFF2-40B4-BE49-F238E27FC236}">
                  <a16:creationId xmlns:a16="http://schemas.microsoft.com/office/drawing/2014/main" id="{34B605BF-D199-43DD-9328-E99F2ADFC6F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Freeform: Shape 148">
              <a:extLst>
                <a:ext uri="{FF2B5EF4-FFF2-40B4-BE49-F238E27FC236}">
                  <a16:creationId xmlns:a16="http://schemas.microsoft.com/office/drawing/2014/main" id="{E5D42A77-7336-4A35-8922-8098A16AA27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Freeform: Shape 149">
              <a:extLst>
                <a:ext uri="{FF2B5EF4-FFF2-40B4-BE49-F238E27FC236}">
                  <a16:creationId xmlns:a16="http://schemas.microsoft.com/office/drawing/2014/main" id="{7401EE7D-B85D-4C10-AB8C-71884EFB112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1 Título"/>
          <p:cNvSpPr>
            <a:spLocks noGrp="1"/>
          </p:cNvSpPr>
          <p:nvPr>
            <p:ph type="title"/>
          </p:nvPr>
        </p:nvSpPr>
        <p:spPr>
          <a:xfrm rot="16200000">
            <a:off x="-878525" y="1793158"/>
            <a:ext cx="4471415" cy="3097947"/>
          </a:xfrm>
        </p:spPr>
        <p:txBody>
          <a:bodyPr vert="horz" lIns="91440" tIns="45720" rIns="91440" bIns="45720" rtlCol="0" anchor="ctr">
            <a:normAutofit/>
          </a:bodyPr>
          <a:lstStyle/>
          <a:p>
            <a:r>
              <a:rPr lang="en-US" sz="4200" dirty="0" err="1">
                <a:solidFill>
                  <a:schemeClr val="bg1"/>
                </a:solidFill>
              </a:rPr>
              <a:t>Fundamentos</a:t>
            </a:r>
            <a:r>
              <a:rPr lang="en-US" sz="4200" dirty="0">
                <a:solidFill>
                  <a:schemeClr val="bg1"/>
                </a:solidFill>
              </a:rPr>
              <a:t> de </a:t>
            </a:r>
            <a:r>
              <a:rPr lang="en-US" sz="4200" dirty="0" err="1">
                <a:solidFill>
                  <a:schemeClr val="bg1"/>
                </a:solidFill>
              </a:rPr>
              <a:t>Probabilidades</a:t>
            </a:r>
            <a:r>
              <a:rPr lang="en-US" sz="4200" dirty="0">
                <a:solidFill>
                  <a:schemeClr val="bg1"/>
                </a:solidFill>
              </a:rPr>
              <a:t> </a:t>
            </a:r>
          </a:p>
        </p:txBody>
      </p:sp>
      <p:sp>
        <p:nvSpPr>
          <p:cNvPr id="3" name="2 Marcador de contenido"/>
          <p:cNvSpPr>
            <a:spLocks noGrp="1"/>
          </p:cNvSpPr>
          <p:nvPr>
            <p:ph sz="half" idx="1"/>
          </p:nvPr>
        </p:nvSpPr>
        <p:spPr>
          <a:xfrm>
            <a:off x="3210005" y="546341"/>
            <a:ext cx="5446778" cy="2435076"/>
          </a:xfrm>
        </p:spPr>
        <p:txBody>
          <a:bodyPr vert="horz" lIns="91440" tIns="45720" rIns="91440" bIns="45720" rtlCol="0" anchor="ctr">
            <a:normAutofit/>
          </a:bodyPr>
          <a:lstStyle/>
          <a:p>
            <a:pPr marL="0" indent="0" algn="just">
              <a:buNone/>
            </a:pPr>
            <a:r>
              <a:rPr lang="en-US" sz="1600" dirty="0">
                <a:solidFill>
                  <a:schemeClr val="tx2"/>
                </a:solidFill>
              </a:rPr>
              <a:t>Antes de </a:t>
            </a:r>
            <a:r>
              <a:rPr lang="en-US" sz="1600" dirty="0" err="1">
                <a:solidFill>
                  <a:schemeClr val="tx2"/>
                </a:solidFill>
              </a:rPr>
              <a:t>dar</a:t>
            </a:r>
            <a:r>
              <a:rPr lang="en-US" sz="1600" dirty="0">
                <a:solidFill>
                  <a:schemeClr val="tx2"/>
                </a:solidFill>
              </a:rPr>
              <a:t> </a:t>
            </a:r>
            <a:r>
              <a:rPr lang="en-US" sz="1600" dirty="0" err="1">
                <a:solidFill>
                  <a:schemeClr val="tx2"/>
                </a:solidFill>
              </a:rPr>
              <a:t>una</a:t>
            </a:r>
            <a:r>
              <a:rPr lang="en-US" sz="1600" dirty="0">
                <a:solidFill>
                  <a:schemeClr val="tx2"/>
                </a:solidFill>
              </a:rPr>
              <a:t> </a:t>
            </a:r>
            <a:r>
              <a:rPr lang="en-US" sz="1600" dirty="0" err="1">
                <a:solidFill>
                  <a:schemeClr val="tx2"/>
                </a:solidFill>
              </a:rPr>
              <a:t>definición</a:t>
            </a:r>
            <a:r>
              <a:rPr lang="en-US" sz="1600" dirty="0">
                <a:solidFill>
                  <a:schemeClr val="tx2"/>
                </a:solidFill>
              </a:rPr>
              <a:t> </a:t>
            </a:r>
            <a:r>
              <a:rPr lang="en-US" sz="1600" dirty="0" err="1">
                <a:solidFill>
                  <a:schemeClr val="tx2"/>
                </a:solidFill>
              </a:rPr>
              <a:t>sobre</a:t>
            </a:r>
            <a:r>
              <a:rPr lang="en-US" sz="1600" dirty="0">
                <a:solidFill>
                  <a:schemeClr val="tx2"/>
                </a:solidFill>
              </a:rPr>
              <a:t> </a:t>
            </a:r>
            <a:r>
              <a:rPr lang="en-US" sz="1600" dirty="0" err="1">
                <a:solidFill>
                  <a:schemeClr val="tx2"/>
                </a:solidFill>
              </a:rPr>
              <a:t>probabilidades</a:t>
            </a:r>
            <a:r>
              <a:rPr lang="en-US" sz="1600" dirty="0">
                <a:solidFill>
                  <a:schemeClr val="tx2"/>
                </a:solidFill>
              </a:rPr>
              <a:t>, </a:t>
            </a:r>
            <a:r>
              <a:rPr lang="en-US" sz="1600" dirty="0" err="1">
                <a:solidFill>
                  <a:schemeClr val="tx2"/>
                </a:solidFill>
              </a:rPr>
              <a:t>recordemos</a:t>
            </a:r>
            <a:r>
              <a:rPr lang="en-US" sz="1600" dirty="0">
                <a:solidFill>
                  <a:schemeClr val="tx2"/>
                </a:solidFill>
              </a:rPr>
              <a:t> que </a:t>
            </a:r>
            <a:r>
              <a:rPr lang="en-US" sz="1600" dirty="0" err="1">
                <a:solidFill>
                  <a:schemeClr val="tx2"/>
                </a:solidFill>
              </a:rPr>
              <a:t>en</a:t>
            </a:r>
            <a:r>
              <a:rPr lang="en-US" sz="1600" dirty="0">
                <a:solidFill>
                  <a:schemeClr val="tx2"/>
                </a:solidFill>
              </a:rPr>
              <a:t> el </a:t>
            </a:r>
            <a:r>
              <a:rPr lang="en-US" sz="1600" dirty="0" err="1">
                <a:solidFill>
                  <a:schemeClr val="tx2"/>
                </a:solidFill>
              </a:rPr>
              <a:t>mundo</a:t>
            </a:r>
            <a:r>
              <a:rPr lang="en-US" sz="1600" dirty="0">
                <a:solidFill>
                  <a:schemeClr val="tx2"/>
                </a:solidFill>
              </a:rPr>
              <a:t> real </a:t>
            </a:r>
            <a:r>
              <a:rPr lang="en-US" sz="1600" dirty="0" err="1">
                <a:solidFill>
                  <a:schemeClr val="tx2"/>
                </a:solidFill>
              </a:rPr>
              <a:t>existen</a:t>
            </a:r>
            <a:r>
              <a:rPr lang="en-US" sz="1600" dirty="0">
                <a:solidFill>
                  <a:schemeClr val="tx2"/>
                </a:solidFill>
              </a:rPr>
              <a:t> </a:t>
            </a:r>
            <a:r>
              <a:rPr lang="en-US" sz="1600" dirty="0" err="1">
                <a:solidFill>
                  <a:schemeClr val="tx2"/>
                </a:solidFill>
              </a:rPr>
              <a:t>fenómenos</a:t>
            </a:r>
            <a:r>
              <a:rPr lang="en-US" sz="1600" dirty="0">
                <a:solidFill>
                  <a:schemeClr val="tx2"/>
                </a:solidFill>
              </a:rPr>
              <a:t> </a:t>
            </a:r>
            <a:r>
              <a:rPr lang="en-US" sz="1600" dirty="0" err="1">
                <a:solidFill>
                  <a:schemeClr val="tx2"/>
                </a:solidFill>
              </a:rPr>
              <a:t>regidos</a:t>
            </a:r>
            <a:r>
              <a:rPr lang="en-US" sz="1600" dirty="0">
                <a:solidFill>
                  <a:schemeClr val="tx2"/>
                </a:solidFill>
              </a:rPr>
              <a:t> </a:t>
            </a:r>
            <a:r>
              <a:rPr lang="en-US" sz="1600" dirty="0" err="1">
                <a:solidFill>
                  <a:schemeClr val="tx2"/>
                </a:solidFill>
              </a:rPr>
              <a:t>por</a:t>
            </a:r>
            <a:r>
              <a:rPr lang="en-US" sz="1600" dirty="0">
                <a:solidFill>
                  <a:schemeClr val="tx2"/>
                </a:solidFill>
              </a:rPr>
              <a:t> </a:t>
            </a:r>
            <a:r>
              <a:rPr lang="en-US" sz="1600" dirty="0" err="1">
                <a:solidFill>
                  <a:schemeClr val="tx2"/>
                </a:solidFill>
              </a:rPr>
              <a:t>leyes</a:t>
            </a:r>
            <a:r>
              <a:rPr lang="en-US" sz="1600" dirty="0">
                <a:solidFill>
                  <a:schemeClr val="tx2"/>
                </a:solidFill>
              </a:rPr>
              <a:t> </a:t>
            </a:r>
            <a:r>
              <a:rPr lang="en-US" sz="1600" dirty="0" err="1">
                <a:solidFill>
                  <a:schemeClr val="tx2"/>
                </a:solidFill>
              </a:rPr>
              <a:t>determinadas</a:t>
            </a:r>
            <a:r>
              <a:rPr lang="en-US" sz="1600" dirty="0">
                <a:solidFill>
                  <a:schemeClr val="tx2"/>
                </a:solidFill>
              </a:rPr>
              <a:t>, </a:t>
            </a:r>
            <a:r>
              <a:rPr lang="en-US" sz="1600" dirty="0" err="1">
                <a:solidFill>
                  <a:schemeClr val="tx2"/>
                </a:solidFill>
              </a:rPr>
              <a:t>es</a:t>
            </a:r>
            <a:r>
              <a:rPr lang="en-US" sz="1600" dirty="0">
                <a:solidFill>
                  <a:schemeClr val="tx2"/>
                </a:solidFill>
              </a:rPr>
              <a:t> </a:t>
            </a:r>
            <a:r>
              <a:rPr lang="en-US" sz="1600" dirty="0" err="1">
                <a:solidFill>
                  <a:schemeClr val="tx2"/>
                </a:solidFill>
              </a:rPr>
              <a:t>decir</a:t>
            </a:r>
            <a:r>
              <a:rPr lang="en-US" sz="1600" dirty="0">
                <a:solidFill>
                  <a:schemeClr val="tx2"/>
                </a:solidFill>
              </a:rPr>
              <a:t>, </a:t>
            </a:r>
            <a:r>
              <a:rPr lang="en-US" sz="1600" dirty="0" err="1">
                <a:solidFill>
                  <a:schemeClr val="tx2"/>
                </a:solidFill>
              </a:rPr>
              <a:t>bajo</a:t>
            </a:r>
            <a:r>
              <a:rPr lang="en-US" sz="1600" dirty="0">
                <a:solidFill>
                  <a:schemeClr val="tx2"/>
                </a:solidFill>
              </a:rPr>
              <a:t> </a:t>
            </a:r>
            <a:r>
              <a:rPr lang="en-US" sz="1600" dirty="0" err="1">
                <a:solidFill>
                  <a:schemeClr val="tx2"/>
                </a:solidFill>
              </a:rPr>
              <a:t>condiciones</a:t>
            </a:r>
            <a:r>
              <a:rPr lang="en-US" sz="1600" dirty="0">
                <a:solidFill>
                  <a:schemeClr val="tx2"/>
                </a:solidFill>
              </a:rPr>
              <a:t> </a:t>
            </a:r>
            <a:r>
              <a:rPr lang="en-US" sz="1600" dirty="0" err="1">
                <a:solidFill>
                  <a:schemeClr val="tx2"/>
                </a:solidFill>
              </a:rPr>
              <a:t>ya</a:t>
            </a:r>
            <a:r>
              <a:rPr lang="en-US" sz="1600" dirty="0">
                <a:solidFill>
                  <a:schemeClr val="tx2"/>
                </a:solidFill>
              </a:rPr>
              <a:t> </a:t>
            </a:r>
            <a:r>
              <a:rPr lang="en-US" sz="1600" dirty="0" err="1">
                <a:solidFill>
                  <a:schemeClr val="tx2"/>
                </a:solidFill>
              </a:rPr>
              <a:t>preestablecidas</a:t>
            </a:r>
            <a:r>
              <a:rPr lang="en-US" sz="1600" dirty="0">
                <a:solidFill>
                  <a:schemeClr val="tx2"/>
                </a:solidFill>
              </a:rPr>
              <a:t>. </a:t>
            </a:r>
            <a:r>
              <a:rPr lang="en-US" sz="1600" dirty="0" err="1">
                <a:solidFill>
                  <a:schemeClr val="tx2"/>
                </a:solidFill>
              </a:rPr>
              <a:t>En</a:t>
            </a:r>
            <a:r>
              <a:rPr lang="en-US" sz="1600" dirty="0">
                <a:solidFill>
                  <a:schemeClr val="tx2"/>
                </a:solidFill>
              </a:rPr>
              <a:t> </a:t>
            </a:r>
            <a:r>
              <a:rPr lang="en-US" sz="1600" dirty="0" err="1">
                <a:solidFill>
                  <a:schemeClr val="tx2"/>
                </a:solidFill>
              </a:rPr>
              <a:t>estos</a:t>
            </a:r>
            <a:r>
              <a:rPr lang="en-US" sz="1600" dirty="0">
                <a:solidFill>
                  <a:schemeClr val="tx2"/>
                </a:solidFill>
              </a:rPr>
              <a:t> </a:t>
            </a:r>
            <a:r>
              <a:rPr lang="en-US" sz="1600" dirty="0" err="1">
                <a:solidFill>
                  <a:schemeClr val="tx2"/>
                </a:solidFill>
              </a:rPr>
              <a:t>casos</a:t>
            </a:r>
            <a:r>
              <a:rPr lang="en-US" sz="1600" dirty="0">
                <a:solidFill>
                  <a:schemeClr val="tx2"/>
                </a:solidFill>
              </a:rPr>
              <a:t>, el </a:t>
            </a:r>
            <a:r>
              <a:rPr lang="en-US" sz="1600" dirty="0" err="1">
                <a:solidFill>
                  <a:schemeClr val="tx2"/>
                </a:solidFill>
              </a:rPr>
              <a:t>resultado</a:t>
            </a:r>
            <a:r>
              <a:rPr lang="en-US" sz="1600" dirty="0">
                <a:solidFill>
                  <a:schemeClr val="tx2"/>
                </a:solidFill>
              </a:rPr>
              <a:t> </a:t>
            </a:r>
            <a:r>
              <a:rPr lang="en-US" sz="1600" dirty="0" err="1">
                <a:solidFill>
                  <a:schemeClr val="tx2"/>
                </a:solidFill>
              </a:rPr>
              <a:t>esta</a:t>
            </a:r>
            <a:r>
              <a:rPr lang="en-US" sz="1600" dirty="0">
                <a:solidFill>
                  <a:schemeClr val="tx2"/>
                </a:solidFill>
              </a:rPr>
              <a:t> dado y </a:t>
            </a:r>
            <a:r>
              <a:rPr lang="en-US" sz="1600" dirty="0" err="1">
                <a:solidFill>
                  <a:schemeClr val="tx2"/>
                </a:solidFill>
              </a:rPr>
              <a:t>por</a:t>
            </a:r>
            <a:r>
              <a:rPr lang="en-US" sz="1600" dirty="0">
                <a:solidFill>
                  <a:schemeClr val="tx2"/>
                </a:solidFill>
              </a:rPr>
              <a:t> </a:t>
            </a:r>
            <a:r>
              <a:rPr lang="en-US" sz="1600" dirty="0" err="1">
                <a:solidFill>
                  <a:schemeClr val="tx2"/>
                </a:solidFill>
              </a:rPr>
              <a:t>ende</a:t>
            </a:r>
            <a:r>
              <a:rPr lang="en-US" sz="1600" dirty="0">
                <a:solidFill>
                  <a:schemeClr val="tx2"/>
                </a:solidFill>
              </a:rPr>
              <a:t> </a:t>
            </a:r>
            <a:r>
              <a:rPr lang="en-US" sz="1600" dirty="0" err="1">
                <a:solidFill>
                  <a:schemeClr val="tx2"/>
                </a:solidFill>
              </a:rPr>
              <a:t>es</a:t>
            </a:r>
            <a:r>
              <a:rPr lang="en-US" sz="1600" dirty="0">
                <a:solidFill>
                  <a:schemeClr val="tx2"/>
                </a:solidFill>
              </a:rPr>
              <a:t> </a:t>
            </a:r>
            <a:r>
              <a:rPr lang="en-US" sz="1600" dirty="0" err="1">
                <a:solidFill>
                  <a:schemeClr val="tx2"/>
                </a:solidFill>
              </a:rPr>
              <a:t>predecible</a:t>
            </a:r>
            <a:r>
              <a:rPr lang="en-US" sz="1600" dirty="0">
                <a:solidFill>
                  <a:schemeClr val="tx2"/>
                </a:solidFill>
              </a:rPr>
              <a:t>, salvo </a:t>
            </a:r>
            <a:r>
              <a:rPr lang="en-US" sz="1600" dirty="0" err="1">
                <a:solidFill>
                  <a:schemeClr val="tx2"/>
                </a:solidFill>
              </a:rPr>
              <a:t>por</a:t>
            </a:r>
            <a:r>
              <a:rPr lang="en-US" sz="1600" dirty="0">
                <a:solidFill>
                  <a:schemeClr val="tx2"/>
                </a:solidFill>
              </a:rPr>
              <a:t> </a:t>
            </a:r>
            <a:r>
              <a:rPr lang="en-US" sz="1600" dirty="0" err="1">
                <a:solidFill>
                  <a:schemeClr val="tx2"/>
                </a:solidFill>
              </a:rPr>
              <a:t>errores</a:t>
            </a:r>
            <a:r>
              <a:rPr lang="en-US" sz="1600" dirty="0">
                <a:solidFill>
                  <a:schemeClr val="tx2"/>
                </a:solidFill>
              </a:rPr>
              <a:t> de </a:t>
            </a:r>
            <a:r>
              <a:rPr lang="en-US" sz="1600" dirty="0" err="1">
                <a:solidFill>
                  <a:schemeClr val="tx2"/>
                </a:solidFill>
              </a:rPr>
              <a:t>medida</a:t>
            </a:r>
            <a:r>
              <a:rPr lang="en-US" sz="1600" dirty="0">
                <a:solidFill>
                  <a:schemeClr val="tx2"/>
                </a:solidFill>
              </a:rPr>
              <a:t> </a:t>
            </a:r>
            <a:r>
              <a:rPr lang="en-US" sz="1600" dirty="0" err="1">
                <a:solidFill>
                  <a:schemeClr val="tx2"/>
                </a:solidFill>
              </a:rPr>
              <a:t>estos</a:t>
            </a:r>
            <a:r>
              <a:rPr lang="en-US" sz="1600" dirty="0">
                <a:solidFill>
                  <a:schemeClr val="tx2"/>
                </a:solidFill>
              </a:rPr>
              <a:t> no se </a:t>
            </a:r>
            <a:r>
              <a:rPr lang="en-US" sz="1600" dirty="0" err="1">
                <a:solidFill>
                  <a:schemeClr val="tx2"/>
                </a:solidFill>
              </a:rPr>
              <a:t>pueden</a:t>
            </a:r>
            <a:r>
              <a:rPr lang="en-US" sz="1600" dirty="0">
                <a:solidFill>
                  <a:schemeClr val="tx2"/>
                </a:solidFill>
              </a:rPr>
              <a:t> </a:t>
            </a:r>
            <a:r>
              <a:rPr lang="en-US" sz="1600" dirty="0" err="1">
                <a:solidFill>
                  <a:schemeClr val="tx2"/>
                </a:solidFill>
              </a:rPr>
              <a:t>predecir</a:t>
            </a:r>
            <a:r>
              <a:rPr lang="en-US" sz="1600" dirty="0">
                <a:solidFill>
                  <a:schemeClr val="tx2"/>
                </a:solidFill>
              </a:rPr>
              <a:t>; a </a:t>
            </a:r>
            <a:r>
              <a:rPr lang="en-US" sz="1600" dirty="0" err="1">
                <a:solidFill>
                  <a:schemeClr val="tx2"/>
                </a:solidFill>
              </a:rPr>
              <a:t>estos</a:t>
            </a:r>
            <a:r>
              <a:rPr lang="en-US" sz="1600" dirty="0">
                <a:solidFill>
                  <a:schemeClr val="tx2"/>
                </a:solidFill>
              </a:rPr>
              <a:t> </a:t>
            </a:r>
            <a:r>
              <a:rPr lang="en-US" sz="1600" dirty="0" err="1">
                <a:solidFill>
                  <a:schemeClr val="tx2"/>
                </a:solidFill>
              </a:rPr>
              <a:t>fenómenos</a:t>
            </a:r>
            <a:r>
              <a:rPr lang="en-US" sz="1600" dirty="0">
                <a:solidFill>
                  <a:schemeClr val="tx2"/>
                </a:solidFill>
              </a:rPr>
              <a:t> se les </a:t>
            </a:r>
            <a:r>
              <a:rPr lang="en-US" sz="1600" dirty="0" err="1">
                <a:solidFill>
                  <a:schemeClr val="tx2"/>
                </a:solidFill>
              </a:rPr>
              <a:t>designa</a:t>
            </a:r>
            <a:r>
              <a:rPr lang="en-US" sz="1600" dirty="0">
                <a:solidFill>
                  <a:schemeClr val="tx2"/>
                </a:solidFill>
              </a:rPr>
              <a:t> el </a:t>
            </a:r>
            <a:r>
              <a:rPr lang="en-US" sz="1600" dirty="0" err="1">
                <a:solidFill>
                  <a:schemeClr val="tx2"/>
                </a:solidFill>
              </a:rPr>
              <a:t>nombre</a:t>
            </a:r>
            <a:r>
              <a:rPr lang="en-US" sz="1600" dirty="0">
                <a:solidFill>
                  <a:schemeClr val="tx2"/>
                </a:solidFill>
              </a:rPr>
              <a:t> de…</a:t>
            </a:r>
          </a:p>
          <a:p>
            <a:pPr marL="0" indent="0" algn="just">
              <a:buNone/>
            </a:pPr>
            <a:r>
              <a:rPr lang="en-US" sz="1600" dirty="0" err="1">
                <a:solidFill>
                  <a:schemeClr val="tx2"/>
                </a:solidFill>
              </a:rPr>
              <a:t>Frente</a:t>
            </a:r>
            <a:r>
              <a:rPr lang="en-US" sz="1600" dirty="0">
                <a:solidFill>
                  <a:schemeClr val="tx2"/>
                </a:solidFill>
              </a:rPr>
              <a:t> a ese </a:t>
            </a:r>
            <a:r>
              <a:rPr lang="en-US" sz="1600" dirty="0" err="1">
                <a:solidFill>
                  <a:schemeClr val="tx2"/>
                </a:solidFill>
              </a:rPr>
              <a:t>fenómeno</a:t>
            </a:r>
            <a:r>
              <a:rPr lang="en-US" sz="1600" dirty="0">
                <a:solidFill>
                  <a:schemeClr val="tx2"/>
                </a:solidFill>
              </a:rPr>
              <a:t> </a:t>
            </a:r>
            <a:r>
              <a:rPr lang="en-US" sz="1600" dirty="0" err="1">
                <a:solidFill>
                  <a:schemeClr val="tx2"/>
                </a:solidFill>
              </a:rPr>
              <a:t>definido</a:t>
            </a:r>
            <a:r>
              <a:rPr lang="en-US" sz="1600" dirty="0">
                <a:solidFill>
                  <a:schemeClr val="tx2"/>
                </a:solidFill>
              </a:rPr>
              <a:t> </a:t>
            </a:r>
            <a:r>
              <a:rPr lang="en-US" sz="1600" dirty="0" err="1">
                <a:solidFill>
                  <a:schemeClr val="tx2"/>
                </a:solidFill>
              </a:rPr>
              <a:t>existen</a:t>
            </a:r>
            <a:r>
              <a:rPr lang="en-US" sz="1600" dirty="0">
                <a:solidFill>
                  <a:schemeClr val="tx2"/>
                </a:solidFill>
              </a:rPr>
              <a:t> </a:t>
            </a:r>
            <a:r>
              <a:rPr lang="en-US" sz="1600" dirty="0" err="1">
                <a:solidFill>
                  <a:schemeClr val="tx2"/>
                </a:solidFill>
              </a:rPr>
              <a:t>muchos</a:t>
            </a:r>
            <a:r>
              <a:rPr lang="en-US" sz="1600" dirty="0">
                <a:solidFill>
                  <a:schemeClr val="tx2"/>
                </a:solidFill>
              </a:rPr>
              <a:t> </a:t>
            </a:r>
            <a:r>
              <a:rPr lang="en-US" sz="1600" dirty="0" err="1">
                <a:solidFill>
                  <a:schemeClr val="tx2"/>
                </a:solidFill>
              </a:rPr>
              <a:t>fenómenos</a:t>
            </a:r>
            <a:r>
              <a:rPr lang="en-US" sz="1600" dirty="0">
                <a:solidFill>
                  <a:schemeClr val="tx2"/>
                </a:solidFill>
              </a:rPr>
              <a:t> que no </a:t>
            </a:r>
            <a:r>
              <a:rPr lang="en-US" sz="1600" dirty="0" err="1">
                <a:solidFill>
                  <a:schemeClr val="tx2"/>
                </a:solidFill>
              </a:rPr>
              <a:t>siguen</a:t>
            </a:r>
            <a:r>
              <a:rPr lang="en-US" sz="1600" dirty="0">
                <a:solidFill>
                  <a:schemeClr val="tx2"/>
                </a:solidFill>
              </a:rPr>
              <a:t> </a:t>
            </a:r>
            <a:r>
              <a:rPr lang="en-US" sz="1600" dirty="0" err="1">
                <a:solidFill>
                  <a:schemeClr val="tx2"/>
                </a:solidFill>
              </a:rPr>
              <a:t>leyes</a:t>
            </a:r>
            <a:r>
              <a:rPr lang="en-US" sz="1600" dirty="0">
                <a:solidFill>
                  <a:schemeClr val="tx2"/>
                </a:solidFill>
              </a:rPr>
              <a:t> </a:t>
            </a:r>
            <a:r>
              <a:rPr lang="en-US" sz="1600" dirty="0" err="1">
                <a:solidFill>
                  <a:schemeClr val="tx2"/>
                </a:solidFill>
              </a:rPr>
              <a:t>deterministas</a:t>
            </a:r>
            <a:r>
              <a:rPr lang="en-US" sz="1600" dirty="0">
                <a:solidFill>
                  <a:schemeClr val="tx2"/>
                </a:solidFill>
              </a:rPr>
              <a:t>, a </a:t>
            </a:r>
            <a:r>
              <a:rPr lang="en-US" sz="1600" dirty="0" err="1">
                <a:solidFill>
                  <a:schemeClr val="tx2"/>
                </a:solidFill>
              </a:rPr>
              <a:t>estos</a:t>
            </a:r>
            <a:r>
              <a:rPr lang="en-US" sz="1600" dirty="0">
                <a:solidFill>
                  <a:schemeClr val="tx2"/>
                </a:solidFill>
              </a:rPr>
              <a:t> se les define </a:t>
            </a:r>
            <a:r>
              <a:rPr lang="en-US" sz="1600" dirty="0" err="1">
                <a:solidFill>
                  <a:schemeClr val="tx2"/>
                </a:solidFill>
              </a:rPr>
              <a:t>como</a:t>
            </a:r>
            <a:r>
              <a:rPr lang="en-US" sz="1600" dirty="0">
                <a:solidFill>
                  <a:schemeClr val="tx2"/>
                </a:solidFill>
              </a:rPr>
              <a:t> </a:t>
            </a:r>
            <a:r>
              <a:rPr lang="en-US" sz="1600" dirty="0" err="1">
                <a:solidFill>
                  <a:schemeClr val="tx2"/>
                </a:solidFill>
              </a:rPr>
              <a:t>fenómenos</a:t>
            </a:r>
            <a:r>
              <a:rPr lang="en-US" sz="1600" dirty="0">
                <a:solidFill>
                  <a:schemeClr val="tx2"/>
                </a:solidFill>
              </a:rPr>
              <a:t> </a:t>
            </a:r>
            <a:r>
              <a:rPr lang="en-US" sz="1600" dirty="0" err="1">
                <a:solidFill>
                  <a:schemeClr val="tx2"/>
                </a:solidFill>
              </a:rPr>
              <a:t>estocásticos</a:t>
            </a:r>
            <a:r>
              <a:rPr lang="en-US" sz="1600" dirty="0">
                <a:solidFill>
                  <a:schemeClr val="tx2"/>
                </a:solidFill>
              </a:rPr>
              <a:t> o …</a:t>
            </a:r>
          </a:p>
          <a:p>
            <a:pPr marL="82296"/>
            <a:endParaRPr lang="en-US" sz="1600" dirty="0">
              <a:solidFill>
                <a:schemeClr val="tx2"/>
              </a:solidFill>
            </a:endParaRPr>
          </a:p>
        </p:txBody>
      </p:sp>
      <p:pic>
        <p:nvPicPr>
          <p:cNvPr id="3074" name="Picture 2" descr="Resultado de imagen para probabilidades"/>
          <p:cNvPicPr>
            <a:picLocks noChangeAspect="1" noChangeArrowheads="1"/>
          </p:cNvPicPr>
          <p:nvPr/>
        </p:nvPicPr>
        <p:blipFill rotWithShape="1">
          <a:blip r:embed="rId2">
            <a:extLst>
              <a:ext uri="{28A0092B-C50C-407E-A947-70E740481C1C}">
                <a14:useLocalDpi xmlns:a14="http://schemas.microsoft.com/office/drawing/2010/main" val="0"/>
              </a:ext>
            </a:extLst>
          </a:blip>
          <a:srcRect l="1612"/>
          <a:stretch/>
        </p:blipFill>
        <p:spPr bwMode="auto">
          <a:xfrm>
            <a:off x="3210008" y="3128501"/>
            <a:ext cx="5446779" cy="3450269"/>
          </a:xfrm>
          <a:prstGeom prst="rect">
            <a:avLst/>
          </a:prstGeom>
          <a:solidFill>
            <a:srgbClr val="FFFFFF"/>
          </a:solidFill>
        </p:spPr>
      </p:pic>
    </p:spTree>
    <p:extLst>
      <p:ext uri="{BB962C8B-B14F-4D97-AF65-F5344CB8AC3E}">
        <p14:creationId xmlns:p14="http://schemas.microsoft.com/office/powerpoint/2010/main" val="3914148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968570">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6A63241-7843-4BC7-A77C-FFBF203FDAC1}"/>
              </a:ext>
            </a:extLst>
          </p:cNvPr>
          <p:cNvSpPr>
            <a:spLocks noGrp="1"/>
          </p:cNvSpPr>
          <p:nvPr>
            <p:ph type="title"/>
          </p:nvPr>
        </p:nvSpPr>
        <p:spPr>
          <a:xfrm>
            <a:off x="393192" y="491260"/>
            <a:ext cx="4945641" cy="1625210"/>
          </a:xfrm>
        </p:spPr>
        <p:txBody>
          <a:bodyPr vert="horz" lIns="91440" tIns="45720" rIns="91440" bIns="45720" rtlCol="0" anchor="ctr">
            <a:normAutofit/>
          </a:bodyPr>
          <a:lstStyle/>
          <a:p>
            <a:r>
              <a:rPr lang="en-US">
                <a:solidFill>
                  <a:srgbClr val="FFFFFF"/>
                </a:solidFill>
              </a:rPr>
              <a:t>Probabilidades </a:t>
            </a:r>
          </a:p>
        </p:txBody>
      </p:sp>
      <p:pic>
        <p:nvPicPr>
          <p:cNvPr id="1028" name="Picture 4" descr="Cuidado con el uso de las probabilidades en la inversión!">
            <a:extLst>
              <a:ext uri="{FF2B5EF4-FFF2-40B4-BE49-F238E27FC236}">
                <a16:creationId xmlns:a16="http://schemas.microsoft.com/office/drawing/2014/main" id="{3587AA77-8778-4264-BD05-BBFF68DCCF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290" r="1372" b="-2"/>
          <a:stretch/>
        </p:blipFill>
        <p:spPr bwMode="auto">
          <a:xfrm>
            <a:off x="245660" y="2454903"/>
            <a:ext cx="5293729" cy="4080254"/>
          </a:xfrm>
          <a:prstGeom prst="rect">
            <a:avLst/>
          </a:prstGeom>
          <a:solidFill>
            <a:srgbClr val="FFFFFF"/>
          </a:solidFill>
        </p:spPr>
      </p:pic>
      <p:sp>
        <p:nvSpPr>
          <p:cNvPr id="75" name="Rectangle 74">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7731" y="321732"/>
            <a:ext cx="323497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7F6E16BA-6547-45D2-8C9A-0FC0D96C20F2}"/>
              </a:ext>
            </a:extLst>
          </p:cNvPr>
          <p:cNvSpPr>
            <a:spLocks noGrp="1"/>
          </p:cNvSpPr>
          <p:nvPr>
            <p:ph sz="half" idx="1"/>
          </p:nvPr>
        </p:nvSpPr>
        <p:spPr>
          <a:xfrm>
            <a:off x="5686922" y="917724"/>
            <a:ext cx="3211418" cy="5391595"/>
          </a:xfrm>
        </p:spPr>
        <p:txBody>
          <a:bodyPr vert="horz" lIns="91440" tIns="45720" rIns="91440" bIns="45720" rtlCol="0" anchor="ctr">
            <a:normAutofit/>
          </a:bodyPr>
          <a:lstStyle/>
          <a:p>
            <a:pPr marL="0" indent="0" algn="just">
              <a:buNone/>
            </a:pPr>
            <a:r>
              <a:rPr lang="en-US" sz="1700" dirty="0" err="1">
                <a:solidFill>
                  <a:srgbClr val="FFFFFF"/>
                </a:solidFill>
              </a:rPr>
              <a:t>Ahora</a:t>
            </a:r>
            <a:r>
              <a:rPr lang="en-US" sz="1700" dirty="0">
                <a:solidFill>
                  <a:srgbClr val="FFFFFF"/>
                </a:solidFill>
              </a:rPr>
              <a:t> </a:t>
            </a:r>
            <a:r>
              <a:rPr lang="en-US" sz="1700" dirty="0" err="1">
                <a:solidFill>
                  <a:srgbClr val="FFFFFF"/>
                </a:solidFill>
              </a:rPr>
              <a:t>si</a:t>
            </a:r>
            <a:r>
              <a:rPr lang="en-US" sz="1700" dirty="0">
                <a:solidFill>
                  <a:srgbClr val="FFFFFF"/>
                </a:solidFill>
              </a:rPr>
              <a:t> decimos que las </a:t>
            </a:r>
            <a:r>
              <a:rPr lang="en-US" sz="1700" dirty="0" err="1">
                <a:solidFill>
                  <a:srgbClr val="FFFFFF"/>
                </a:solidFill>
              </a:rPr>
              <a:t>probabilidades</a:t>
            </a:r>
            <a:r>
              <a:rPr lang="en-US" sz="1700" dirty="0">
                <a:solidFill>
                  <a:srgbClr val="FFFFFF"/>
                </a:solidFill>
              </a:rPr>
              <a:t> son: </a:t>
            </a:r>
          </a:p>
          <a:p>
            <a:pPr marL="0" indent="0" algn="just">
              <a:buNone/>
            </a:pPr>
            <a:r>
              <a:rPr lang="en-US" sz="1700" dirty="0">
                <a:solidFill>
                  <a:srgbClr val="FFFFFF"/>
                </a:solidFill>
              </a:rPr>
              <a:t>Rama de la </a:t>
            </a:r>
            <a:r>
              <a:rPr lang="en-US" sz="1700" dirty="0" err="1">
                <a:solidFill>
                  <a:srgbClr val="FFFFFF"/>
                </a:solidFill>
              </a:rPr>
              <a:t>matemática</a:t>
            </a:r>
            <a:r>
              <a:rPr lang="en-US" sz="1700" dirty="0">
                <a:solidFill>
                  <a:srgbClr val="FFFFFF"/>
                </a:solidFill>
              </a:rPr>
              <a:t> que </a:t>
            </a:r>
            <a:r>
              <a:rPr lang="en-US" sz="1700" dirty="0" err="1">
                <a:solidFill>
                  <a:srgbClr val="FFFFFF"/>
                </a:solidFill>
              </a:rPr>
              <a:t>estudia</a:t>
            </a:r>
            <a:r>
              <a:rPr lang="en-US" sz="1700" dirty="0">
                <a:solidFill>
                  <a:srgbClr val="FFFFFF"/>
                </a:solidFill>
              </a:rPr>
              <a:t> los </a:t>
            </a:r>
            <a:r>
              <a:rPr lang="en-US" sz="1700" dirty="0" err="1">
                <a:solidFill>
                  <a:srgbClr val="FFFFFF"/>
                </a:solidFill>
              </a:rPr>
              <a:t>fenómenos</a:t>
            </a:r>
            <a:r>
              <a:rPr lang="en-US" sz="1700" dirty="0">
                <a:solidFill>
                  <a:srgbClr val="FFFFFF"/>
                </a:solidFill>
              </a:rPr>
              <a:t> </a:t>
            </a:r>
            <a:r>
              <a:rPr lang="en-US" sz="1700" dirty="0" err="1">
                <a:solidFill>
                  <a:srgbClr val="FFFFFF"/>
                </a:solidFill>
              </a:rPr>
              <a:t>aleatorios</a:t>
            </a:r>
            <a:r>
              <a:rPr lang="en-US" sz="1700" dirty="0">
                <a:solidFill>
                  <a:srgbClr val="FFFFFF"/>
                </a:solidFill>
              </a:rPr>
              <a:t>.</a:t>
            </a:r>
          </a:p>
          <a:p>
            <a:pPr marL="0" indent="0" algn="just">
              <a:buNone/>
            </a:pPr>
            <a:r>
              <a:rPr lang="en-US" sz="1700" dirty="0">
                <a:solidFill>
                  <a:srgbClr val="FFFFFF"/>
                </a:solidFill>
              </a:rPr>
              <a:t>Una </a:t>
            </a:r>
            <a:r>
              <a:rPr lang="en-US" sz="1700" dirty="0" err="1">
                <a:solidFill>
                  <a:srgbClr val="FFFFFF"/>
                </a:solidFill>
              </a:rPr>
              <a:t>probabilidad</a:t>
            </a:r>
            <a:r>
              <a:rPr lang="en-US" sz="1700" dirty="0">
                <a:solidFill>
                  <a:srgbClr val="FFFFFF"/>
                </a:solidFill>
              </a:rPr>
              <a:t> es un valor </a:t>
            </a:r>
            <a:r>
              <a:rPr lang="en-US" sz="1700" dirty="0" err="1">
                <a:solidFill>
                  <a:srgbClr val="FFFFFF"/>
                </a:solidFill>
              </a:rPr>
              <a:t>numérico</a:t>
            </a:r>
            <a:r>
              <a:rPr lang="en-US" sz="1700" dirty="0">
                <a:solidFill>
                  <a:srgbClr val="FFFFFF"/>
                </a:solidFill>
              </a:rPr>
              <a:t> que </a:t>
            </a:r>
            <a:r>
              <a:rPr lang="en-US" sz="1700" dirty="0" err="1">
                <a:solidFill>
                  <a:srgbClr val="FFFFFF"/>
                </a:solidFill>
              </a:rPr>
              <a:t>representa</a:t>
            </a:r>
            <a:r>
              <a:rPr lang="en-US" sz="1700" dirty="0">
                <a:solidFill>
                  <a:srgbClr val="FFFFFF"/>
                </a:solidFill>
              </a:rPr>
              <a:t> la </a:t>
            </a:r>
            <a:r>
              <a:rPr lang="en-US" sz="1700" dirty="0" err="1">
                <a:solidFill>
                  <a:srgbClr val="FFFFFF"/>
                </a:solidFill>
              </a:rPr>
              <a:t>oportunidad</a:t>
            </a:r>
            <a:r>
              <a:rPr lang="en-US" sz="1700" dirty="0">
                <a:solidFill>
                  <a:srgbClr val="FFFFFF"/>
                </a:solidFill>
              </a:rPr>
              <a:t> o </a:t>
            </a:r>
            <a:r>
              <a:rPr lang="en-US" sz="1700" dirty="0" err="1">
                <a:solidFill>
                  <a:srgbClr val="FFFFFF"/>
                </a:solidFill>
              </a:rPr>
              <a:t>posibilidad</a:t>
            </a:r>
            <a:r>
              <a:rPr lang="en-US" sz="1700" dirty="0">
                <a:solidFill>
                  <a:srgbClr val="FFFFFF"/>
                </a:solidFill>
              </a:rPr>
              <a:t> de que un </a:t>
            </a:r>
            <a:r>
              <a:rPr lang="en-US" sz="1700" dirty="0" err="1">
                <a:solidFill>
                  <a:srgbClr val="FFFFFF"/>
                </a:solidFill>
              </a:rPr>
              <a:t>evento</a:t>
            </a:r>
            <a:r>
              <a:rPr lang="en-US" sz="1700" dirty="0">
                <a:solidFill>
                  <a:srgbClr val="FFFFFF"/>
                </a:solidFill>
              </a:rPr>
              <a:t> </a:t>
            </a:r>
            <a:r>
              <a:rPr lang="en-US" sz="1700" dirty="0" err="1">
                <a:solidFill>
                  <a:srgbClr val="FFFFFF"/>
                </a:solidFill>
              </a:rPr>
              <a:t>en</a:t>
            </a:r>
            <a:r>
              <a:rPr lang="en-US" sz="1700" dirty="0">
                <a:solidFill>
                  <a:srgbClr val="FFFFFF"/>
                </a:solidFill>
              </a:rPr>
              <a:t> particular </a:t>
            </a:r>
            <a:r>
              <a:rPr lang="en-US" sz="1700" dirty="0" err="1">
                <a:solidFill>
                  <a:srgbClr val="FFFFFF"/>
                </a:solidFill>
              </a:rPr>
              <a:t>ocurra</a:t>
            </a:r>
            <a:r>
              <a:rPr lang="en-US" sz="1700" dirty="0">
                <a:solidFill>
                  <a:srgbClr val="FFFFFF"/>
                </a:solidFill>
              </a:rPr>
              <a:t>.</a:t>
            </a:r>
          </a:p>
          <a:p>
            <a:pPr marL="82296"/>
            <a:endParaRPr lang="en-US" sz="1700" dirty="0">
              <a:solidFill>
                <a:srgbClr val="FFFFFF"/>
              </a:solidFill>
            </a:endParaRPr>
          </a:p>
          <a:p>
            <a:pPr marL="0"/>
            <a:endParaRPr lang="en-US" sz="1700" dirty="0">
              <a:solidFill>
                <a:srgbClr val="FFFFFF"/>
              </a:solidFill>
            </a:endParaRPr>
          </a:p>
        </p:txBody>
      </p:sp>
    </p:spTree>
    <p:extLst>
      <p:ext uri="{BB962C8B-B14F-4D97-AF65-F5344CB8AC3E}">
        <p14:creationId xmlns:p14="http://schemas.microsoft.com/office/powerpoint/2010/main" val="1139241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0" name="Rectangle 70">
            <a:extLst>
              <a:ext uri="{FF2B5EF4-FFF2-40B4-BE49-F238E27FC236}">
                <a16:creationId xmlns:a16="http://schemas.microsoft.com/office/drawing/2014/main" id="{201CC55D-ED54-4C5C-95E6-10947BD110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442170" y="856180"/>
            <a:ext cx="3420438" cy="1128068"/>
          </a:xfrm>
        </p:spPr>
        <p:txBody>
          <a:bodyPr vert="horz" lIns="91440" tIns="45720" rIns="91440" bIns="45720" rtlCol="0" anchor="ctr">
            <a:normAutofit/>
          </a:bodyPr>
          <a:lstStyle/>
          <a:p>
            <a:r>
              <a:rPr lang="en-US" sz="3500"/>
              <a:t>Fenómeno aleatorio </a:t>
            </a:r>
          </a:p>
        </p:txBody>
      </p:sp>
      <p:grpSp>
        <p:nvGrpSpPr>
          <p:cNvPr id="4101" name="Group 72">
            <a:extLst>
              <a:ext uri="{FF2B5EF4-FFF2-40B4-BE49-F238E27FC236}">
                <a16:creationId xmlns:a16="http://schemas.microsoft.com/office/drawing/2014/main" id="{1DE889C7-FAD6-4397-98E2-05D50348445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266396" cy="673460"/>
            <a:chOff x="0" y="823811"/>
            <a:chExt cx="355196" cy="673460"/>
          </a:xfrm>
        </p:grpSpPr>
        <p:sp>
          <p:nvSpPr>
            <p:cNvPr id="74" name="Rectangle 73">
              <a:extLst>
                <a:ext uri="{FF2B5EF4-FFF2-40B4-BE49-F238E27FC236}">
                  <a16:creationId xmlns:a16="http://schemas.microsoft.com/office/drawing/2014/main" id="{F399A70F-F8CD-4992-9EF5-6CF15472E73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48F4FEDC-6D80-458C-A665-075D9B9500F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a:extLst>
              <a:ext uri="{FF2B5EF4-FFF2-40B4-BE49-F238E27FC236}">
                <a16:creationId xmlns:a16="http://schemas.microsoft.com/office/drawing/2014/main" id="{3873B707-463F-40B0-8227-E8CC6C67EB2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98813" y="2090569"/>
            <a:ext cx="32232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Marcador de contenido"/>
          <p:cNvSpPr>
            <a:spLocks noGrp="1"/>
          </p:cNvSpPr>
          <p:nvPr>
            <p:ph sz="half" idx="1"/>
          </p:nvPr>
        </p:nvSpPr>
        <p:spPr>
          <a:xfrm>
            <a:off x="302504" y="2244179"/>
            <a:ext cx="3742869" cy="3979585"/>
          </a:xfrm>
        </p:spPr>
        <p:txBody>
          <a:bodyPr vert="horz" lIns="91440" tIns="45720" rIns="91440" bIns="45720" rtlCol="0" anchor="ctr">
            <a:normAutofit lnSpcReduction="10000"/>
          </a:bodyPr>
          <a:lstStyle/>
          <a:p>
            <a:pPr marL="0" indent="0" algn="just">
              <a:buNone/>
            </a:pPr>
            <a:r>
              <a:rPr lang="en-US" dirty="0" err="1"/>
              <a:t>Aquel</a:t>
            </a:r>
            <a:r>
              <a:rPr lang="en-US" dirty="0"/>
              <a:t> </a:t>
            </a:r>
            <a:r>
              <a:rPr lang="en-US" dirty="0" err="1"/>
              <a:t>fenómeno</a:t>
            </a:r>
            <a:r>
              <a:rPr lang="en-US" dirty="0"/>
              <a:t> que no es </a:t>
            </a:r>
            <a:r>
              <a:rPr lang="en-US" dirty="0" err="1"/>
              <a:t>posible</a:t>
            </a:r>
            <a:r>
              <a:rPr lang="en-US" dirty="0"/>
              <a:t> </a:t>
            </a:r>
            <a:r>
              <a:rPr lang="en-US" dirty="0" err="1"/>
              <a:t>predecir</a:t>
            </a:r>
            <a:r>
              <a:rPr lang="en-US" dirty="0"/>
              <a:t> al 100%. </a:t>
            </a:r>
            <a:r>
              <a:rPr lang="en-US" dirty="0" err="1"/>
              <a:t>En</a:t>
            </a:r>
            <a:r>
              <a:rPr lang="en-US" dirty="0"/>
              <a:t> </a:t>
            </a:r>
            <a:r>
              <a:rPr lang="en-US" dirty="0" err="1"/>
              <a:t>otras</a:t>
            </a:r>
            <a:r>
              <a:rPr lang="en-US" dirty="0"/>
              <a:t> palabras, se dice que </a:t>
            </a:r>
            <a:r>
              <a:rPr lang="en-US" dirty="0" err="1"/>
              <a:t>si</a:t>
            </a:r>
            <a:r>
              <a:rPr lang="en-US" dirty="0"/>
              <a:t> </a:t>
            </a:r>
            <a:r>
              <a:rPr lang="en-US" dirty="0" err="1"/>
              <a:t>puede</a:t>
            </a:r>
            <a:r>
              <a:rPr lang="en-US" dirty="0"/>
              <a:t> </a:t>
            </a:r>
            <a:r>
              <a:rPr lang="en-US" dirty="0" err="1"/>
              <a:t>dar</a:t>
            </a:r>
            <a:r>
              <a:rPr lang="en-US" dirty="0"/>
              <a:t> </a:t>
            </a:r>
            <a:r>
              <a:rPr lang="en-US" dirty="0" err="1"/>
              <a:t>lugar</a:t>
            </a:r>
            <a:r>
              <a:rPr lang="en-US" dirty="0"/>
              <a:t> a </a:t>
            </a:r>
            <a:r>
              <a:rPr lang="en-US" dirty="0" err="1"/>
              <a:t>varios</a:t>
            </a:r>
            <a:r>
              <a:rPr lang="en-US" dirty="0"/>
              <a:t> </a:t>
            </a:r>
            <a:r>
              <a:rPr lang="en-US" dirty="0" err="1"/>
              <a:t>resultados</a:t>
            </a:r>
            <a:r>
              <a:rPr lang="en-US" dirty="0"/>
              <a:t>, sin que </a:t>
            </a:r>
            <a:r>
              <a:rPr lang="en-US" dirty="0" err="1"/>
              <a:t>pueda</a:t>
            </a:r>
            <a:r>
              <a:rPr lang="en-US" dirty="0"/>
              <a:t> ser </a:t>
            </a:r>
            <a:r>
              <a:rPr lang="en-US" dirty="0" err="1"/>
              <a:t>posible</a:t>
            </a:r>
            <a:r>
              <a:rPr lang="en-US" dirty="0"/>
              <a:t> </a:t>
            </a:r>
            <a:r>
              <a:rPr lang="en-US" dirty="0" err="1"/>
              <a:t>decir</a:t>
            </a:r>
            <a:r>
              <a:rPr lang="en-US" dirty="0"/>
              <a:t> con </a:t>
            </a:r>
            <a:r>
              <a:rPr lang="en-US" dirty="0" err="1"/>
              <a:t>certeza</a:t>
            </a:r>
            <a:r>
              <a:rPr lang="en-US" dirty="0"/>
              <a:t> los </a:t>
            </a:r>
            <a:r>
              <a:rPr lang="en-US" dirty="0" err="1"/>
              <a:t>resultados</a:t>
            </a:r>
            <a:r>
              <a:rPr lang="en-US" dirty="0"/>
              <a:t> del </a:t>
            </a:r>
            <a:r>
              <a:rPr lang="en-US" dirty="0" err="1"/>
              <a:t>mismo</a:t>
            </a:r>
            <a:r>
              <a:rPr lang="en-US" dirty="0"/>
              <a:t> se </a:t>
            </a:r>
            <a:r>
              <a:rPr lang="en-US" dirty="0" err="1"/>
              <a:t>esta</a:t>
            </a:r>
            <a:r>
              <a:rPr lang="en-US" dirty="0"/>
              <a:t> ante un </a:t>
            </a:r>
            <a:r>
              <a:rPr lang="en-US" dirty="0" err="1"/>
              <a:t>fenómeno</a:t>
            </a:r>
            <a:r>
              <a:rPr lang="en-US" dirty="0"/>
              <a:t> </a:t>
            </a:r>
            <a:r>
              <a:rPr lang="en-US" dirty="0" err="1"/>
              <a:t>aleatorio</a:t>
            </a:r>
            <a:r>
              <a:rPr lang="en-US" dirty="0"/>
              <a:t>.</a:t>
            </a:r>
          </a:p>
          <a:p>
            <a:pPr marL="82296"/>
            <a:endParaRPr lang="en-US" sz="1700" dirty="0"/>
          </a:p>
        </p:txBody>
      </p:sp>
      <p:sp>
        <p:nvSpPr>
          <p:cNvPr id="79" name="Rectangle 78">
            <a:extLst>
              <a:ext uri="{FF2B5EF4-FFF2-40B4-BE49-F238E27FC236}">
                <a16:creationId xmlns:a16="http://schemas.microsoft.com/office/drawing/2014/main" id="{C13237C8-E62C-4F0D-A318-BD6FB6C2D1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9C9EAEA-39D0-4B0E-A0EB-51E7B26740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513853"/>
            <a:ext cx="4507025"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Resultado de imagen para fenomeno aleatorio"/>
          <p:cNvPicPr>
            <a:picLocks noChangeAspect="1" noChangeArrowheads="1"/>
          </p:cNvPicPr>
          <p:nvPr/>
        </p:nvPicPr>
        <p:blipFill rotWithShape="1">
          <a:blip r:embed="rId2">
            <a:extLst>
              <a:ext uri="{28A0092B-C50C-407E-A947-70E740481C1C}">
                <a14:useLocalDpi xmlns:a14="http://schemas.microsoft.com/office/drawing/2010/main" val="0"/>
              </a:ext>
            </a:extLst>
          </a:blip>
          <a:srcRect r="7542" b="-2"/>
          <a:stretch/>
        </p:blipFill>
        <p:spPr bwMode="auto">
          <a:xfrm>
            <a:off x="4483341" y="799352"/>
            <a:ext cx="4069057" cy="5259296"/>
          </a:xfrm>
          <a:prstGeom prst="rect">
            <a:avLst/>
          </a:prstGeom>
          <a:solidFill>
            <a:srgbClr val="FFFFFF"/>
          </a:solidFill>
        </p:spPr>
      </p:pic>
    </p:spTree>
    <p:extLst>
      <p:ext uri="{BB962C8B-B14F-4D97-AF65-F5344CB8AC3E}">
        <p14:creationId xmlns:p14="http://schemas.microsoft.com/office/powerpoint/2010/main" val="3814987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4" name="Rectangle 70">
            <a:extLst>
              <a:ext uri="{FF2B5EF4-FFF2-40B4-BE49-F238E27FC236}">
                <a16:creationId xmlns:a16="http://schemas.microsoft.com/office/drawing/2014/main" id="{E45B1D5C-0827-4AF0-8186-11FC5A8B8B9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6950931" y="2023110"/>
            <a:ext cx="1852218" cy="2846070"/>
          </a:xfrm>
        </p:spPr>
        <p:txBody>
          <a:bodyPr vert="horz" lIns="91440" tIns="45720" rIns="91440" bIns="45720" rtlCol="0" anchor="ctr">
            <a:normAutofit/>
          </a:bodyPr>
          <a:lstStyle/>
          <a:p>
            <a:r>
              <a:rPr lang="en-US" sz="2500"/>
              <a:t>Experimento aleatorio</a:t>
            </a:r>
          </a:p>
        </p:txBody>
      </p:sp>
      <p:sp>
        <p:nvSpPr>
          <p:cNvPr id="3" name="2 Marcador de contenido"/>
          <p:cNvSpPr>
            <a:spLocks noGrp="1"/>
          </p:cNvSpPr>
          <p:nvPr>
            <p:ph sz="half" idx="1"/>
          </p:nvPr>
        </p:nvSpPr>
        <p:spPr>
          <a:xfrm>
            <a:off x="6950930" y="4322217"/>
            <a:ext cx="2085565" cy="1942431"/>
          </a:xfrm>
        </p:spPr>
        <p:txBody>
          <a:bodyPr vert="horz" lIns="91440" tIns="45720" rIns="91440" bIns="45720" rtlCol="0">
            <a:normAutofit/>
          </a:bodyPr>
          <a:lstStyle/>
          <a:p>
            <a:pPr marL="0" indent="0" algn="just">
              <a:buNone/>
            </a:pPr>
            <a:r>
              <a:rPr lang="en-US" sz="2000" dirty="0" err="1"/>
              <a:t>Estudio</a:t>
            </a:r>
            <a:r>
              <a:rPr lang="en-US" sz="2000" dirty="0"/>
              <a:t> de un </a:t>
            </a:r>
            <a:r>
              <a:rPr lang="en-US" sz="2000" dirty="0" err="1"/>
              <a:t>fenómeno</a:t>
            </a:r>
            <a:r>
              <a:rPr lang="en-US" sz="2000" dirty="0"/>
              <a:t> </a:t>
            </a:r>
            <a:r>
              <a:rPr lang="en-US" sz="2000" dirty="0" err="1"/>
              <a:t>aleatorio</a:t>
            </a:r>
            <a:r>
              <a:rPr lang="en-US" sz="2000" dirty="0"/>
              <a:t> </a:t>
            </a:r>
            <a:r>
              <a:rPr lang="en-US" sz="2000" dirty="0" err="1"/>
              <a:t>provocado</a:t>
            </a:r>
            <a:r>
              <a:rPr lang="en-US" sz="2000" dirty="0"/>
              <a:t> </a:t>
            </a:r>
            <a:r>
              <a:rPr lang="en-US" sz="2000" dirty="0" err="1"/>
              <a:t>por</a:t>
            </a:r>
            <a:r>
              <a:rPr lang="en-US" sz="2000" dirty="0"/>
              <a:t> </a:t>
            </a:r>
            <a:r>
              <a:rPr lang="en-US" sz="2000" dirty="0" err="1"/>
              <a:t>nuestros</a:t>
            </a:r>
            <a:r>
              <a:rPr lang="en-US" sz="2000" dirty="0"/>
              <a:t> </a:t>
            </a:r>
            <a:r>
              <a:rPr lang="en-US" sz="2000" dirty="0" err="1"/>
              <a:t>mismo</a:t>
            </a:r>
            <a:r>
              <a:rPr lang="en-US" sz="2000" dirty="0"/>
              <a:t> </a:t>
            </a:r>
            <a:r>
              <a:rPr lang="en-US" sz="2000" dirty="0" err="1"/>
              <a:t>experimentos</a:t>
            </a:r>
            <a:r>
              <a:rPr lang="en-US" sz="2000" dirty="0"/>
              <a:t>.</a:t>
            </a:r>
          </a:p>
        </p:txBody>
      </p:sp>
      <p:sp>
        <p:nvSpPr>
          <p:cNvPr id="5125" name="Rectangle 72">
            <a:extLst>
              <a:ext uri="{FF2B5EF4-FFF2-40B4-BE49-F238E27FC236}">
                <a16:creationId xmlns:a16="http://schemas.microsoft.com/office/drawing/2014/main" id="{99413ED5-9ED4-4772-BCE4-2BCAE6B12E3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61045" y="245695"/>
            <a:ext cx="1715478" cy="643756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6" name="Rectangle 74">
            <a:extLst>
              <a:ext uri="{FF2B5EF4-FFF2-40B4-BE49-F238E27FC236}">
                <a16:creationId xmlns:a16="http://schemas.microsoft.com/office/drawing/2014/main" id="{04357C93-F0CB-4A1C-8F77-4E90637898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563" y="664308"/>
            <a:ext cx="6061974"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Resultado de imagen para experimento aleatorio"/>
          <p:cNvPicPr>
            <a:picLocks noChangeAspect="1" noChangeArrowheads="1"/>
          </p:cNvPicPr>
          <p:nvPr/>
        </p:nvPicPr>
        <p:blipFill rotWithShape="1">
          <a:blip r:embed="rId2">
            <a:extLst>
              <a:ext uri="{28A0092B-C50C-407E-A947-70E740481C1C}">
                <a14:useLocalDpi xmlns:a14="http://schemas.microsoft.com/office/drawing/2010/main" val="0"/>
              </a:ext>
            </a:extLst>
          </a:blip>
          <a:srcRect r="4807" b="-3"/>
          <a:stretch/>
        </p:blipFill>
        <p:spPr bwMode="auto">
          <a:xfrm>
            <a:off x="408928" y="858525"/>
            <a:ext cx="5706228" cy="5211906"/>
          </a:xfrm>
          <a:prstGeom prst="rect">
            <a:avLst/>
          </a:prstGeom>
          <a:solidFill>
            <a:srgbClr val="FFFFFF"/>
          </a:solidFill>
        </p:spPr>
      </p:pic>
      <p:sp>
        <p:nvSpPr>
          <p:cNvPr id="77" name="Rectangle 76">
            <a:extLst>
              <a:ext uri="{FF2B5EF4-FFF2-40B4-BE49-F238E27FC236}">
                <a16:creationId xmlns:a16="http://schemas.microsoft.com/office/drawing/2014/main" id="{90F533E9-6690-41A8-A372-4C6C622D02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747951" y="3411145"/>
            <a:ext cx="1719072"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347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360759" y="3752849"/>
            <a:ext cx="2468166" cy="2452687"/>
          </a:xfrm>
        </p:spPr>
        <p:txBody>
          <a:bodyPr vert="horz" lIns="91440" tIns="45720" rIns="91440" bIns="45720" rtlCol="0" anchor="ctr">
            <a:normAutofit/>
          </a:bodyPr>
          <a:lstStyle/>
          <a:p>
            <a:r>
              <a:rPr lang="en-US" sz="3100"/>
              <a:t>Espacio muestral </a:t>
            </a:r>
          </a:p>
        </p:txBody>
      </p:sp>
      <p:pic>
        <p:nvPicPr>
          <p:cNvPr id="6146" name="Picture 2" descr="Resultado de imagen para espacio muestral"/>
          <p:cNvPicPr>
            <a:picLocks noChangeAspect="1" noChangeArrowheads="1"/>
          </p:cNvPicPr>
          <p:nvPr/>
        </p:nvPicPr>
        <p:blipFill rotWithShape="1">
          <a:blip r:embed="rId2">
            <a:extLst>
              <a:ext uri="{28A0092B-C50C-407E-A947-70E740481C1C}">
                <a14:useLocalDpi xmlns:a14="http://schemas.microsoft.com/office/drawing/2010/main" val="0"/>
              </a:ext>
            </a:extLst>
          </a:blip>
          <a:srcRect t="6078" b="7121"/>
          <a:stretch/>
        </p:blipFill>
        <p:spPr bwMode="auto">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solidFill>
            <a:srgbClr val="FFFFFF"/>
          </a:solidFill>
        </p:spPr>
      </p:pic>
      <p:sp>
        <p:nvSpPr>
          <p:cNvPr id="3" name="2 Marcador de contenido"/>
          <p:cNvSpPr>
            <a:spLocks noGrp="1"/>
          </p:cNvSpPr>
          <p:nvPr>
            <p:ph sz="half" idx="1"/>
          </p:nvPr>
        </p:nvSpPr>
        <p:spPr>
          <a:xfrm>
            <a:off x="3167986" y="3752850"/>
            <a:ext cx="5614060" cy="2452687"/>
          </a:xfrm>
        </p:spPr>
        <p:txBody>
          <a:bodyPr vert="horz" lIns="91440" tIns="45720" rIns="91440" bIns="45720" rtlCol="0" anchor="ctr">
            <a:normAutofit/>
          </a:bodyPr>
          <a:lstStyle/>
          <a:p>
            <a:pPr marL="0" indent="0">
              <a:buNone/>
            </a:pPr>
            <a:r>
              <a:rPr lang="en-US" sz="1600" dirty="0"/>
              <a:t>Un </a:t>
            </a:r>
            <a:r>
              <a:rPr lang="en-US" sz="1600" dirty="0" err="1"/>
              <a:t>espacio</a:t>
            </a:r>
            <a:r>
              <a:rPr lang="en-US" sz="1600" dirty="0"/>
              <a:t> </a:t>
            </a:r>
            <a:r>
              <a:rPr lang="en-US" sz="1600" dirty="0" err="1"/>
              <a:t>muestral</a:t>
            </a:r>
            <a:r>
              <a:rPr lang="en-US" sz="1600" dirty="0"/>
              <a:t> </a:t>
            </a:r>
            <a:r>
              <a:rPr lang="en-US" sz="1600" dirty="0" err="1"/>
              <a:t>asociado</a:t>
            </a:r>
            <a:r>
              <a:rPr lang="en-US" sz="1600" dirty="0"/>
              <a:t> a un </a:t>
            </a:r>
            <a:r>
              <a:rPr lang="en-US" sz="1600" dirty="0" err="1"/>
              <a:t>experimento</a:t>
            </a:r>
            <a:r>
              <a:rPr lang="en-US" sz="1600" dirty="0"/>
              <a:t> </a:t>
            </a:r>
            <a:r>
              <a:rPr lang="en-US" sz="1600" dirty="0" err="1"/>
              <a:t>aleatorio</a:t>
            </a:r>
            <a:r>
              <a:rPr lang="en-US" sz="1600" dirty="0"/>
              <a:t>, </a:t>
            </a:r>
            <a:r>
              <a:rPr lang="en-US" sz="1600" dirty="0" err="1"/>
              <a:t>es</a:t>
            </a:r>
            <a:r>
              <a:rPr lang="en-US" sz="1600" dirty="0"/>
              <a:t> el </a:t>
            </a:r>
            <a:r>
              <a:rPr lang="en-US" sz="1600" dirty="0" err="1"/>
              <a:t>conjunto</a:t>
            </a:r>
            <a:r>
              <a:rPr lang="en-US" sz="1600" dirty="0"/>
              <a:t> de </a:t>
            </a:r>
            <a:r>
              <a:rPr lang="en-US" sz="1600" dirty="0" err="1"/>
              <a:t>resultados</a:t>
            </a:r>
            <a:r>
              <a:rPr lang="en-US" sz="1600" dirty="0"/>
              <a:t> </a:t>
            </a:r>
            <a:r>
              <a:rPr lang="en-US" sz="1600" dirty="0" err="1"/>
              <a:t>posibles</a:t>
            </a:r>
            <a:r>
              <a:rPr lang="en-US" sz="1600" dirty="0"/>
              <a:t> </a:t>
            </a:r>
            <a:r>
              <a:rPr lang="en-US" sz="1600" dirty="0" err="1"/>
              <a:t>diferentes</a:t>
            </a:r>
            <a:r>
              <a:rPr lang="en-US" sz="1600" dirty="0"/>
              <a:t> de </a:t>
            </a:r>
            <a:r>
              <a:rPr lang="en-US" sz="1600" dirty="0" err="1"/>
              <a:t>dicho</a:t>
            </a:r>
            <a:r>
              <a:rPr lang="en-US" sz="1600" dirty="0"/>
              <a:t> </a:t>
            </a:r>
            <a:r>
              <a:rPr lang="en-US" sz="1600" dirty="0" err="1"/>
              <a:t>experimento</a:t>
            </a:r>
            <a:r>
              <a:rPr lang="en-US" sz="1600" dirty="0"/>
              <a:t>.</a:t>
            </a:r>
          </a:p>
        </p:txBody>
      </p:sp>
    </p:spTree>
    <p:extLst>
      <p:ext uri="{BB962C8B-B14F-4D97-AF65-F5344CB8AC3E}">
        <p14:creationId xmlns:p14="http://schemas.microsoft.com/office/powerpoint/2010/main" val="1758221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A1473A6-3F22-483E-8A30-80B9D2B1459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AA1375E3-3E53-4D75-BAB7-E5929BFCB25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00762" y="563918"/>
            <a:ext cx="3089954" cy="5978614"/>
            <a:chOff x="7513372" y="803186"/>
            <a:chExt cx="4163968" cy="5978614"/>
          </a:xfrm>
        </p:grpSpPr>
        <p:sp>
          <p:nvSpPr>
            <p:cNvPr id="13" name="Freeform 6">
              <a:extLst>
                <a:ext uri="{FF2B5EF4-FFF2-40B4-BE49-F238E27FC236}">
                  <a16:creationId xmlns:a16="http://schemas.microsoft.com/office/drawing/2014/main" id="{0BBEEF67-3DDF-46CF-8CD5-EA5F0E4FB07D}"/>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
              <a:extLst>
                <a:ext uri="{FF2B5EF4-FFF2-40B4-BE49-F238E27FC236}">
                  <a16:creationId xmlns:a16="http://schemas.microsoft.com/office/drawing/2014/main" id="{8FAC1C95-F817-487C-B8B2-CF141FBB1C2E}"/>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8">
              <a:extLst>
                <a:ext uri="{FF2B5EF4-FFF2-40B4-BE49-F238E27FC236}">
                  <a16:creationId xmlns:a16="http://schemas.microsoft.com/office/drawing/2014/main" id="{C2C5363A-D941-4AA1-8D38-D7E44A1E2E01}"/>
                </a:ext>
                <a:ext uri="{C183D7F6-B498-43B3-948B-1728B52AA6E4}">
                  <adec:decorative xmlns:adec="http://schemas.microsoft.com/office/drawing/2017/decorative" xmlns="" val="1"/>
                </a:ext>
              </a:extLst>
            </p:cNvPr>
            <p:cNvSpPr>
              <a:spLocks noChangeArrowheads="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1 Título"/>
          <p:cNvSpPr>
            <a:spLocks noGrp="1"/>
          </p:cNvSpPr>
          <p:nvPr>
            <p:ph type="title"/>
          </p:nvPr>
        </p:nvSpPr>
        <p:spPr>
          <a:xfrm>
            <a:off x="823851" y="885651"/>
            <a:ext cx="2422352" cy="4624603"/>
          </a:xfrm>
        </p:spPr>
        <p:txBody>
          <a:bodyPr>
            <a:normAutofit/>
          </a:bodyPr>
          <a:lstStyle/>
          <a:p>
            <a:r>
              <a:rPr lang="es-SV">
                <a:solidFill>
                  <a:srgbClr val="FFFFFF"/>
                </a:solidFill>
              </a:rPr>
              <a:t>Suceso o evento</a:t>
            </a:r>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3734031" y="885651"/>
                <a:ext cx="4893915" cy="5783709"/>
              </a:xfrm>
            </p:spPr>
            <p:txBody>
              <a:bodyPr anchor="ctr">
                <a:normAutofit/>
              </a:bodyPr>
              <a:lstStyle/>
              <a:p>
                <a:pPr marL="82296" indent="0" algn="just">
                  <a:buNone/>
                </a:pPr>
                <a:r>
                  <a:rPr lang="es-SV" sz="2100" dirty="0"/>
                  <a:t>Es un subconjunto del espacio muestral. Dicho subconjunto corresponde a la cuestión de que tenga o no tenga respuesta después de realizado el experimento.</a:t>
                </a:r>
              </a:p>
              <a:p>
                <a:pPr marL="0" indent="0">
                  <a:buNone/>
                </a:pPr>
                <a:r>
                  <a:rPr lang="es-SV" sz="2100" dirty="0"/>
                  <a:t>Ejemplo: </a:t>
                </a:r>
              </a:p>
              <a:p>
                <a:pPr marL="0" indent="0">
                  <a:buNone/>
                </a:pPr>
                <a14:m>
                  <m:oMathPara xmlns:m="http://schemas.openxmlformats.org/officeDocument/2006/math">
                    <m:oMathParaPr>
                      <m:jc m:val="left"/>
                    </m:oMathParaPr>
                    <m:oMath xmlns:m="http://schemas.openxmlformats.org/officeDocument/2006/math">
                      <m:sSub>
                        <m:sSubPr>
                          <m:ctrlPr>
                            <a:rPr lang="es-SV" sz="2100" i="1">
                              <a:latin typeface="Cambria Math" panose="02040503050406030204" pitchFamily="18" charset="0"/>
                            </a:rPr>
                          </m:ctrlPr>
                        </m:sSubPr>
                        <m:e>
                          <m:r>
                            <a:rPr lang="es-SV" sz="2100" i="1">
                              <a:latin typeface="Cambria Math" panose="02040503050406030204" pitchFamily="18" charset="0"/>
                            </a:rPr>
                            <m:t>Ɛ</m:t>
                          </m:r>
                        </m:e>
                        <m:sub>
                          <m:r>
                            <a:rPr lang="es-SV" sz="2100" i="1">
                              <a:latin typeface="Cambria Math" panose="02040503050406030204" pitchFamily="18" charset="0"/>
                            </a:rPr>
                            <m:t>1</m:t>
                          </m:r>
                        </m:sub>
                      </m:sSub>
                      <m:r>
                        <a:rPr lang="es-SV" sz="2100" i="1">
                          <a:latin typeface="Cambria Math" panose="02040503050406030204" pitchFamily="18" charset="0"/>
                        </a:rPr>
                        <m:t>:</m:t>
                      </m:r>
                      <m:r>
                        <a:rPr lang="es-SV" sz="2100" i="1">
                          <a:latin typeface="Cambria Math" panose="02040503050406030204" pitchFamily="18" charset="0"/>
                        </a:rPr>
                        <m:t>𝐿𝑎𝑛𝑧𝑎𝑚𝑜𝑠</m:t>
                      </m:r>
                      <m:r>
                        <a:rPr lang="es-SV" sz="2100" i="1">
                          <a:latin typeface="Cambria Math" panose="02040503050406030204" pitchFamily="18" charset="0"/>
                        </a:rPr>
                        <m:t> </m:t>
                      </m:r>
                      <m:r>
                        <a:rPr lang="es-SV" sz="2100" b="0" i="1">
                          <a:latin typeface="Cambria Math" panose="02040503050406030204" pitchFamily="18" charset="0"/>
                        </a:rPr>
                        <m:t>𝑢𝑛𝑎</m:t>
                      </m:r>
                      <m:r>
                        <a:rPr lang="es-SV" sz="2100" b="0" i="1">
                          <a:latin typeface="Cambria Math" panose="02040503050406030204" pitchFamily="18" charset="0"/>
                        </a:rPr>
                        <m:t> </m:t>
                      </m:r>
                      <m:r>
                        <a:rPr lang="es-SV" sz="2100" b="0" i="1">
                          <a:latin typeface="Cambria Math" panose="02040503050406030204" pitchFamily="18" charset="0"/>
                        </a:rPr>
                        <m:t>𝑚𝑜𝑛𝑒𝑑𝑎</m:t>
                      </m:r>
                      <m:r>
                        <a:rPr lang="es-SV" sz="2100" b="0" i="1">
                          <a:latin typeface="Cambria Math" panose="02040503050406030204" pitchFamily="18" charset="0"/>
                        </a:rPr>
                        <m:t> </m:t>
                      </m:r>
                      <m:r>
                        <a:rPr lang="es-SV" sz="2100" b="0" i="1">
                          <a:latin typeface="Cambria Math" panose="02040503050406030204" pitchFamily="18" charset="0"/>
                        </a:rPr>
                        <m:t>𝑑𝑜𝑠</m:t>
                      </m:r>
                      <m:r>
                        <a:rPr lang="es-SV" sz="2100" b="0" i="1">
                          <a:latin typeface="Cambria Math" panose="02040503050406030204" pitchFamily="18" charset="0"/>
                        </a:rPr>
                        <m:t> </m:t>
                      </m:r>
                      <m:r>
                        <a:rPr lang="es-SV" sz="2100" b="0" i="1">
                          <a:latin typeface="Cambria Math" panose="02040503050406030204" pitchFamily="18" charset="0"/>
                        </a:rPr>
                        <m:t>𝑣𝑒𝑐𝑒𝑠</m:t>
                      </m:r>
                      <m:r>
                        <a:rPr lang="es-SV" sz="2100" b="0" i="1">
                          <a:latin typeface="Cambria Math" panose="02040503050406030204" pitchFamily="18" charset="0"/>
                        </a:rPr>
                        <m:t> </m:t>
                      </m:r>
                    </m:oMath>
                  </m:oMathPara>
                </a14:m>
                <a:endParaRPr lang="es-SV" sz="2100" b="0" dirty="0"/>
              </a:p>
              <a:p>
                <a:pPr marL="0" indent="0">
                  <a:buNone/>
                </a:pPr>
                <a:r>
                  <a:rPr lang="es-SV" sz="2100" dirty="0"/>
                  <a:t>Sean los siguientes sucesos:</a:t>
                </a:r>
              </a:p>
              <a:p>
                <a:r>
                  <a:rPr lang="es-SV" sz="2100" dirty="0"/>
                  <a:t>A: El resultado es al menos una cara		</a:t>
                </a:r>
              </a:p>
              <a:p>
                <a:r>
                  <a:rPr lang="es-SV" sz="2100" dirty="0"/>
                  <a:t>B: El resultado son dos caras	</a:t>
                </a:r>
              </a:p>
              <a:p>
                <a:pPr marL="0" indent="0">
                  <a:buNone/>
                </a:pPr>
                <a:endParaRPr lang="es-SV" sz="2100" dirty="0"/>
              </a:p>
              <a:p>
                <a:r>
                  <a:rPr lang="es-SV" sz="2100" dirty="0"/>
                  <a:t>C: El resultado son dos águilas	</a:t>
                </a:r>
              </a:p>
              <a:p>
                <a:endParaRPr lang="es-SV" sz="2100" dirty="0"/>
              </a:p>
              <a:p>
                <a:r>
                  <a:rPr lang="es-SV" sz="2100" dirty="0"/>
                  <a:t>D: El resultado no es cara ni águila	</a:t>
                </a:r>
              </a:p>
              <a:p>
                <a:pPr marL="0" indent="0">
                  <a:buNone/>
                </a:pPr>
                <a:endParaRPr lang="es-SV" sz="2100" dirty="0"/>
              </a:p>
              <a:p>
                <a:pPr marL="0" indent="0">
                  <a:buNone/>
                </a:pPr>
                <a:endParaRPr lang="es-SV" sz="21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3734031" y="885651"/>
                <a:ext cx="4893915" cy="5783709"/>
              </a:xfrm>
              <a:blipFill>
                <a:blip r:embed="rId2"/>
                <a:stretch>
                  <a:fillRect l="-1496" t="-5269" r="-1621"/>
                </a:stretch>
              </a:blipFill>
            </p:spPr>
            <p:txBody>
              <a:bodyPr/>
              <a:lstStyle/>
              <a:p>
                <a:r>
                  <a:rPr lang="en-US">
                    <a:noFill/>
                  </a:rPr>
                  <a:t> </a:t>
                </a:r>
              </a:p>
            </p:txBody>
          </p:sp>
        </mc:Fallback>
      </mc:AlternateContent>
    </p:spTree>
    <p:extLst>
      <p:ext uri="{BB962C8B-B14F-4D97-AF65-F5344CB8AC3E}">
        <p14:creationId xmlns:p14="http://schemas.microsoft.com/office/powerpoint/2010/main" val="3017755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EC2D2C2-1761-4B94-8627-5E85F3AF7B7C}"/>
              </a:ext>
            </a:extLst>
          </p:cNvPr>
          <p:cNvPicPr>
            <a:picLocks noChangeAspect="1"/>
          </p:cNvPicPr>
          <p:nvPr/>
        </p:nvPicPr>
        <p:blipFill rotWithShape="1">
          <a:blip r:embed="rId2">
            <a:duotone>
              <a:prstClr val="black"/>
              <a:schemeClr val="tx2">
                <a:tint val="45000"/>
                <a:satMod val="400000"/>
              </a:schemeClr>
            </a:duotone>
            <a:alphaModFix amt="25000"/>
          </a:blip>
          <a:srcRect l="17969" r="4364" b="-1"/>
          <a:stretch/>
        </p:blipFill>
        <p:spPr>
          <a:xfrm>
            <a:off x="20" y="10"/>
            <a:ext cx="9143980" cy="6857990"/>
          </a:xfrm>
          <a:prstGeom prst="rect">
            <a:avLst/>
          </a:prstGeom>
        </p:spPr>
      </p:pic>
      <p:sp>
        <p:nvSpPr>
          <p:cNvPr id="2" name="Título 1"/>
          <p:cNvSpPr>
            <a:spLocks noGrp="1"/>
          </p:cNvSpPr>
          <p:nvPr>
            <p:ph type="title"/>
          </p:nvPr>
        </p:nvSpPr>
        <p:spPr>
          <a:xfrm>
            <a:off x="628650" y="365125"/>
            <a:ext cx="7886700" cy="1325563"/>
          </a:xfrm>
        </p:spPr>
        <p:txBody>
          <a:bodyPr>
            <a:normAutofit/>
          </a:bodyPr>
          <a:lstStyle/>
          <a:p>
            <a:r>
              <a:rPr lang="es-SV" dirty="0"/>
              <a:t>Ocurrencia de un suceso</a:t>
            </a:r>
          </a:p>
        </p:txBody>
      </p:sp>
      <p:graphicFrame>
        <p:nvGraphicFramePr>
          <p:cNvPr id="5" name="Marcador de contenido 2">
            <a:extLst>
              <a:ext uri="{FF2B5EF4-FFF2-40B4-BE49-F238E27FC236}">
                <a16:creationId xmlns:a16="http://schemas.microsoft.com/office/drawing/2014/main" id="{C092B2EF-5311-43DA-9F7A-A31FF37498A9}"/>
              </a:ext>
            </a:extLst>
          </p:cNvPr>
          <p:cNvGraphicFramePr>
            <a:graphicFrameLocks noGrp="1"/>
          </p:cNvGraphicFramePr>
          <p:nvPr>
            <p:ph idx="1"/>
            <p:extLst>
              <p:ext uri="{D42A27DB-BD31-4B8C-83A1-F6EECF244321}">
                <p14:modId xmlns:p14="http://schemas.microsoft.com/office/powerpoint/2010/main" val="12871666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1316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594C3E">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1 Título"/>
          <p:cNvSpPr>
            <a:spLocks noGrp="1"/>
          </p:cNvSpPr>
          <p:nvPr>
            <p:ph type="title"/>
          </p:nvPr>
        </p:nvSpPr>
        <p:spPr>
          <a:xfrm>
            <a:off x="393192" y="491260"/>
            <a:ext cx="4945641" cy="1625210"/>
          </a:xfrm>
        </p:spPr>
        <p:txBody>
          <a:bodyPr>
            <a:normAutofit/>
          </a:bodyPr>
          <a:lstStyle/>
          <a:p>
            <a:r>
              <a:rPr lang="es-SV" sz="4100">
                <a:solidFill>
                  <a:srgbClr val="FFFFFF"/>
                </a:solidFill>
              </a:rPr>
              <a:t>Sucesos mutuamente excluyentes</a:t>
            </a:r>
          </a:p>
        </p:txBody>
      </p:sp>
      <p:pic>
        <p:nvPicPr>
          <p:cNvPr id="4" name="Imagen 3"/>
          <p:cNvPicPr/>
          <p:nvPr/>
        </p:nvPicPr>
        <p:blipFill rotWithShape="1">
          <a:blip r:embed="rId2">
            <a:extLst>
              <a:ext uri="{28A0092B-C50C-407E-A947-70E740481C1C}">
                <a14:useLocalDpi xmlns:a14="http://schemas.microsoft.com/office/drawing/2010/main" val="0"/>
              </a:ext>
            </a:extLst>
          </a:blip>
          <a:srcRect l="4593" r="8806" b="1"/>
          <a:stretch/>
        </p:blipFill>
        <p:spPr bwMode="auto">
          <a:xfrm>
            <a:off x="245660" y="2454903"/>
            <a:ext cx="5293729" cy="4080254"/>
          </a:xfrm>
          <a:prstGeom prst="rect">
            <a:avLst/>
          </a:prstGeom>
          <a:noFill/>
        </p:spPr>
      </p:pic>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7731" y="321732"/>
            <a:ext cx="323497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2 Marcador de contenido"/>
          <p:cNvSpPr>
            <a:spLocks noGrp="1"/>
          </p:cNvSpPr>
          <p:nvPr>
            <p:ph idx="1"/>
          </p:nvPr>
        </p:nvSpPr>
        <p:spPr>
          <a:xfrm>
            <a:off x="6021989" y="917725"/>
            <a:ext cx="2568554" cy="4852362"/>
          </a:xfrm>
        </p:spPr>
        <p:txBody>
          <a:bodyPr anchor="ctr">
            <a:normAutofit/>
          </a:bodyPr>
          <a:lstStyle/>
          <a:p>
            <a:pPr marL="82296" indent="0" algn="just">
              <a:buNone/>
            </a:pPr>
            <a:r>
              <a:rPr lang="es-SV" sz="2000" dirty="0">
                <a:solidFill>
                  <a:srgbClr val="FFFFFF"/>
                </a:solidFill>
              </a:rPr>
              <a:t>Dos sucesos A y B, son mutuamente excluyentes si la ocurrencia de uno de ellos imposibilita la ocurrencia del otro. Es decir, no pueden ocurrir a la vez.</a:t>
            </a:r>
          </a:p>
          <a:p>
            <a:pPr marL="82296" indent="0" algn="just">
              <a:buNone/>
            </a:pPr>
            <a:endParaRPr lang="es-SV" sz="2000" dirty="0">
              <a:solidFill>
                <a:srgbClr val="FFFFFF"/>
              </a:solidFill>
            </a:endParaRPr>
          </a:p>
          <a:p>
            <a:pPr algn="just"/>
            <a:r>
              <a:rPr lang="es-SV" sz="2000" dirty="0">
                <a:solidFill>
                  <a:srgbClr val="FFFFFF"/>
                </a:solidFill>
              </a:rPr>
              <a:t>A y B son mutuamente excluyentes</a:t>
            </a:r>
          </a:p>
          <a:p>
            <a:pPr algn="just"/>
            <a:r>
              <a:rPr lang="es-SV" sz="2000" dirty="0">
                <a:solidFill>
                  <a:srgbClr val="FFFFFF"/>
                </a:solidFill>
              </a:rPr>
              <a:t>Ø es excluyente con cualquier otro.</a:t>
            </a:r>
          </a:p>
          <a:p>
            <a:pPr marL="82296" indent="0" algn="just">
              <a:buNone/>
            </a:pPr>
            <a:endParaRPr lang="es-SV" sz="2000" dirty="0">
              <a:solidFill>
                <a:srgbClr val="FFFFFF"/>
              </a:solidFill>
            </a:endParaRPr>
          </a:p>
          <a:p>
            <a:pPr marL="82296" indent="0">
              <a:buNone/>
            </a:pPr>
            <a:endParaRPr lang="es-SV" sz="1400" dirty="0">
              <a:solidFill>
                <a:srgbClr val="FFFFFF"/>
              </a:solidFill>
            </a:endParaRPr>
          </a:p>
        </p:txBody>
      </p:sp>
    </p:spTree>
    <p:extLst>
      <p:ext uri="{BB962C8B-B14F-4D97-AF65-F5344CB8AC3E}">
        <p14:creationId xmlns:p14="http://schemas.microsoft.com/office/powerpoint/2010/main" val="2188741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45515C">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1 Título"/>
          <p:cNvSpPr>
            <a:spLocks noGrp="1"/>
          </p:cNvSpPr>
          <p:nvPr>
            <p:ph type="title"/>
          </p:nvPr>
        </p:nvSpPr>
        <p:spPr>
          <a:xfrm>
            <a:off x="393192" y="491260"/>
            <a:ext cx="4945641" cy="1625210"/>
          </a:xfrm>
        </p:spPr>
        <p:txBody>
          <a:bodyPr>
            <a:normAutofit/>
          </a:bodyPr>
          <a:lstStyle/>
          <a:p>
            <a:r>
              <a:rPr lang="es-SV">
                <a:solidFill>
                  <a:srgbClr val="FFFFFF"/>
                </a:solidFill>
              </a:rPr>
              <a:t>Sucesos complementarios </a:t>
            </a:r>
          </a:p>
        </p:txBody>
      </p:sp>
      <p:pic>
        <p:nvPicPr>
          <p:cNvPr id="4" name="Imagen 3"/>
          <p:cNvPicPr/>
          <p:nvPr/>
        </p:nvPicPr>
        <p:blipFill rotWithShape="1">
          <a:blip r:embed="rId2" cstate="print">
            <a:extLst>
              <a:ext uri="{28A0092B-C50C-407E-A947-70E740481C1C}">
                <a14:useLocalDpi xmlns:a14="http://schemas.microsoft.com/office/drawing/2010/main" val="0"/>
              </a:ext>
            </a:extLst>
          </a:blip>
          <a:srcRect l="5930" r="8444" b="3"/>
          <a:stretch/>
        </p:blipFill>
        <p:spPr bwMode="auto">
          <a:xfrm>
            <a:off x="245660" y="2454903"/>
            <a:ext cx="5293729" cy="4080254"/>
          </a:xfrm>
          <a:prstGeom prst="rect">
            <a:avLst/>
          </a:prstGeom>
          <a:noFill/>
        </p:spPr>
      </p:pic>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7731" y="321732"/>
            <a:ext cx="323497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5686922" y="917724"/>
                <a:ext cx="3211418" cy="5247579"/>
              </a:xfrm>
            </p:spPr>
            <p:txBody>
              <a:bodyPr anchor="ctr">
                <a:normAutofit/>
              </a:bodyPr>
              <a:lstStyle/>
              <a:p>
                <a:pPr marL="82296" indent="0">
                  <a:buNone/>
                </a:pPr>
                <a:r>
                  <a:rPr lang="es-SV" sz="2000" dirty="0">
                    <a:solidFill>
                      <a:srgbClr val="FFFFFF"/>
                    </a:solidFill>
                  </a:rPr>
                  <a:t>Dos sucesos son complementarios si:</a:t>
                </a:r>
              </a:p>
              <a:p>
                <a:r>
                  <a:rPr lang="es-SV" sz="2000" dirty="0">
                    <a:solidFill>
                      <a:srgbClr val="FFFFFF"/>
                    </a:solidFill>
                  </a:rPr>
                  <a:t>Son mutuamente excluyentes.</a:t>
                </a:r>
              </a:p>
              <a:p>
                <a:r>
                  <a:rPr lang="es-SV" sz="2000" dirty="0">
                    <a:solidFill>
                      <a:srgbClr val="FFFFFF"/>
                    </a:solidFill>
                  </a:rPr>
                  <a:t>Su unión reproduce todo el espacio muestral.</a:t>
                </a:r>
              </a:p>
              <a:p>
                <a:pPr lvl="0"/>
                <a:r>
                  <a:rPr lang="es-SV" sz="2000" dirty="0">
                    <a:solidFill>
                      <a:srgbClr val="FFFFFF"/>
                    </a:solidFill>
                  </a:rPr>
                  <a:t>A y B son mutuamente excluyentes       </a:t>
                </a:r>
                <a14:m>
                  <m:oMath xmlns:m="http://schemas.openxmlformats.org/officeDocument/2006/math">
                    <m:r>
                      <a:rPr lang="es-SV" sz="2000" i="1">
                        <a:solidFill>
                          <a:srgbClr val="FFFFFF"/>
                        </a:solidFill>
                        <a:latin typeface="Cambria Math" panose="02040503050406030204" pitchFamily="18" charset="0"/>
                      </a:rPr>
                      <m:t>𝐴</m:t>
                    </m:r>
                    <m:r>
                      <a:rPr lang="es-SV" sz="2000" i="1">
                        <a:solidFill>
                          <a:srgbClr val="FFFFFF"/>
                        </a:solidFill>
                        <a:latin typeface="Cambria Math" panose="02040503050406030204" pitchFamily="18" charset="0"/>
                      </a:rPr>
                      <m:t>∪</m:t>
                    </m:r>
                    <m:r>
                      <a:rPr lang="es-SV" sz="2000" i="1">
                        <a:solidFill>
                          <a:srgbClr val="FFFFFF"/>
                        </a:solidFill>
                        <a:latin typeface="Cambria Math" panose="02040503050406030204" pitchFamily="18" charset="0"/>
                      </a:rPr>
                      <m:t>𝐵</m:t>
                    </m:r>
                    <m:r>
                      <a:rPr lang="es-SV" sz="2000" i="1">
                        <a:solidFill>
                          <a:srgbClr val="FFFFFF"/>
                        </a:solidFill>
                        <a:latin typeface="Cambria Math" panose="02040503050406030204" pitchFamily="18" charset="0"/>
                      </a:rPr>
                      <m:t>=</m:t>
                    </m:r>
                    <m:r>
                      <a:rPr lang="es-SV" sz="2000" i="1">
                        <a:solidFill>
                          <a:srgbClr val="FFFFFF"/>
                        </a:solidFill>
                        <a:latin typeface="Cambria Math" panose="02040503050406030204" pitchFamily="18" charset="0"/>
                      </a:rPr>
                      <m:t>𝑆</m:t>
                    </m:r>
                  </m:oMath>
                </a14:m>
                <a:endParaRPr lang="es-SV" sz="2000" dirty="0">
                  <a:solidFill>
                    <a:srgbClr val="FFFFFF"/>
                  </a:solidFill>
                </a:endParaRPr>
              </a:p>
              <a:p>
                <a:r>
                  <a:rPr lang="es-SV" sz="2000" dirty="0">
                    <a:solidFill>
                      <a:srgbClr val="FFFFFF"/>
                    </a:solidFill>
                  </a:rPr>
                  <a:t> A y  B son complementarios</a:t>
                </a:r>
              </a:p>
              <a:p>
                <a:pPr lvl="0"/>
                <a:r>
                  <a:rPr lang="es-SV" sz="2000" dirty="0">
                    <a:solidFill>
                      <a:srgbClr val="FFFFFF"/>
                    </a:solidFill>
                  </a:rPr>
                  <a:t>S y Ø son complementarios</a:t>
                </a:r>
              </a:p>
              <a:p>
                <a:pPr lvl="0"/>
                <a:r>
                  <a:rPr lang="es-SV" sz="2000" dirty="0">
                    <a:solidFill>
                      <a:srgbClr val="FFFFFF"/>
                    </a:solidFill>
                  </a:rPr>
                  <a:t>S y Ø son mutuamente excluyentes</a:t>
                </a:r>
              </a:p>
              <a:p>
                <a:pPr marL="0" indent="0">
                  <a:buNone/>
                </a:pPr>
                <a:endParaRPr lang="es-SV" sz="1300" dirty="0">
                  <a:solidFill>
                    <a:srgbClr val="FFFFFF"/>
                  </a:solidFill>
                </a:endParaRPr>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5686922" y="917724"/>
                <a:ext cx="3211418" cy="5247579"/>
              </a:xfrm>
              <a:blipFill>
                <a:blip r:embed="rId3"/>
                <a:stretch>
                  <a:fillRect l="-1708"/>
                </a:stretch>
              </a:blipFill>
            </p:spPr>
            <p:txBody>
              <a:bodyPr/>
              <a:lstStyle/>
              <a:p>
                <a:r>
                  <a:rPr lang="es-SV">
                    <a:noFill/>
                  </a:rPr>
                  <a:t> </a:t>
                </a:r>
              </a:p>
            </p:txBody>
          </p:sp>
        </mc:Fallback>
      </mc:AlternateContent>
    </p:spTree>
    <p:extLst>
      <p:ext uri="{BB962C8B-B14F-4D97-AF65-F5344CB8AC3E}">
        <p14:creationId xmlns:p14="http://schemas.microsoft.com/office/powerpoint/2010/main" val="333855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3973321" y="329184"/>
            <a:ext cx="4688333" cy="1783080"/>
          </a:xfrm>
        </p:spPr>
        <p:txBody>
          <a:bodyPr anchor="b">
            <a:normAutofit/>
          </a:bodyPr>
          <a:lstStyle/>
          <a:p>
            <a:r>
              <a:rPr lang="es-SV" sz="4700"/>
              <a:t>Probabilidad de un suceso A</a:t>
            </a:r>
          </a:p>
        </p:txBody>
      </p:sp>
      <p:pic>
        <p:nvPicPr>
          <p:cNvPr id="5" name="Picture 4" descr="Dos dados girando en el aire">
            <a:extLst>
              <a:ext uri="{FF2B5EF4-FFF2-40B4-BE49-F238E27FC236}">
                <a16:creationId xmlns:a16="http://schemas.microsoft.com/office/drawing/2014/main" id="{9ADF4FEB-BD40-4D07-9FEC-F80DBC219F8F}"/>
              </a:ext>
            </a:extLst>
          </p:cNvPr>
          <p:cNvPicPr>
            <a:picLocks noChangeAspect="1"/>
          </p:cNvPicPr>
          <p:nvPr/>
        </p:nvPicPr>
        <p:blipFill rotWithShape="1">
          <a:blip r:embed="rId2"/>
          <a:srcRect l="33511" r="32236" b="-2"/>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 name="csX0" fmla="*/ 0 w 3182692"/>
              <a:gd name="csY0" fmla="*/ 0 h 18288"/>
              <a:gd name="csX1" fmla="*/ 572885 w 3182692"/>
              <a:gd name="csY1" fmla="*/ 0 h 18288"/>
              <a:gd name="csX2" fmla="*/ 1113942 w 3182692"/>
              <a:gd name="csY2" fmla="*/ 0 h 18288"/>
              <a:gd name="csX3" fmla="*/ 1686827 w 3182692"/>
              <a:gd name="csY3" fmla="*/ 0 h 18288"/>
              <a:gd name="csX4" fmla="*/ 2323365 w 3182692"/>
              <a:gd name="csY4" fmla="*/ 0 h 18288"/>
              <a:gd name="csX5" fmla="*/ 3182692 w 3182692"/>
              <a:gd name="csY5" fmla="*/ 0 h 18288"/>
              <a:gd name="csX6" fmla="*/ 3182692 w 3182692"/>
              <a:gd name="csY6" fmla="*/ 18288 h 18288"/>
              <a:gd name="csX7" fmla="*/ 2546154 w 3182692"/>
              <a:gd name="csY7" fmla="*/ 18288 h 18288"/>
              <a:gd name="csX8" fmla="*/ 1845961 w 3182692"/>
              <a:gd name="csY8" fmla="*/ 18288 h 18288"/>
              <a:gd name="csX9" fmla="*/ 1304904 w 3182692"/>
              <a:gd name="csY9" fmla="*/ 18288 h 18288"/>
              <a:gd name="csX10" fmla="*/ 604711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3635896" y="2706624"/>
                <a:ext cx="5400599" cy="3483864"/>
              </a:xfrm>
            </p:spPr>
            <p:txBody>
              <a:bodyPr>
                <a:normAutofit/>
              </a:bodyPr>
              <a:lstStyle/>
              <a:p>
                <a:pPr marL="82296" indent="0">
                  <a:buNone/>
                </a:pPr>
                <a:r>
                  <a:rPr lang="es-SV" sz="1600" dirty="0"/>
                  <a:t>Es un número real comprendido entre cero y uno, que indica el grado de ocurrencia de tal suceso.</a:t>
                </a:r>
              </a:p>
              <a:p>
                <a:pPr marL="82296" indent="0">
                  <a:buNone/>
                </a:pPr>
                <a:endParaRPr lang="es-SV" sz="1600" dirty="0"/>
              </a:p>
              <a:p>
                <a:pPr marL="0" indent="0">
                  <a:buNone/>
                </a:pPr>
                <a14:m>
                  <m:oMathPara xmlns:m="http://schemas.openxmlformats.org/officeDocument/2006/math">
                    <m:oMathParaPr>
                      <m:jc m:val="centerGroup"/>
                    </m:oMathParaPr>
                    <m:oMath xmlns:m="http://schemas.openxmlformats.org/officeDocument/2006/math">
                      <m:r>
                        <a:rPr lang="es-SV" sz="1600" i="1">
                          <a:latin typeface="Cambria Math" panose="02040503050406030204" pitchFamily="18" charset="0"/>
                        </a:rPr>
                        <m:t>0≤</m:t>
                      </m:r>
                      <m:r>
                        <a:rPr lang="es-SV" sz="1600" i="1">
                          <a:latin typeface="Cambria Math" panose="02040503050406030204" pitchFamily="18" charset="0"/>
                        </a:rPr>
                        <m:t>𝑃</m:t>
                      </m:r>
                      <m:d>
                        <m:dPr>
                          <m:ctrlPr>
                            <a:rPr lang="es-SV" sz="1600" i="1">
                              <a:latin typeface="Cambria Math" panose="02040503050406030204" pitchFamily="18" charset="0"/>
                            </a:rPr>
                          </m:ctrlPr>
                        </m:dPr>
                        <m:e>
                          <m:r>
                            <a:rPr lang="es-SV" sz="1600" i="1">
                              <a:latin typeface="Cambria Math" panose="02040503050406030204" pitchFamily="18" charset="0"/>
                            </a:rPr>
                            <m:t>𝐴</m:t>
                          </m:r>
                        </m:e>
                      </m:d>
                      <m:r>
                        <a:rPr lang="es-SV" sz="1600" i="1">
                          <a:latin typeface="Cambria Math" panose="02040503050406030204" pitchFamily="18" charset="0"/>
                        </a:rPr>
                        <m:t>≤1;  </m:t>
                      </m:r>
                      <m:r>
                        <a:rPr lang="es-SV" sz="1600" i="1">
                          <a:latin typeface="Cambria Math" panose="02040503050406030204" pitchFamily="18" charset="0"/>
                        </a:rPr>
                        <m:t>𝐴</m:t>
                      </m:r>
                      <m:r>
                        <a:rPr lang="es-SV" sz="1600" i="1">
                          <a:latin typeface="Cambria Math" panose="02040503050406030204" pitchFamily="18" charset="0"/>
                        </a:rPr>
                        <m:t> </m:t>
                      </m:r>
                      <m:r>
                        <a:rPr lang="es-SV" sz="1600" i="1">
                          <a:latin typeface="Cambria Math" panose="02040503050406030204" pitchFamily="18" charset="0"/>
                        </a:rPr>
                        <m:t>𝑐</m:t>
                      </m:r>
                      <m:r>
                        <a:rPr lang="es-SV" sz="1600" i="1">
                          <a:latin typeface="Cambria Math" panose="02040503050406030204" pitchFamily="18" charset="0"/>
                        </a:rPr>
                        <m:t> </m:t>
                      </m:r>
                      <m:r>
                        <a:rPr lang="es-SV" sz="1600" i="1">
                          <a:latin typeface="Cambria Math" panose="02040503050406030204" pitchFamily="18" charset="0"/>
                        </a:rPr>
                        <m:t>𝑆</m:t>
                      </m:r>
                    </m:oMath>
                  </m:oMathPara>
                </a14:m>
                <a:endParaRPr lang="es-SV" sz="1600" dirty="0"/>
              </a:p>
              <a:p>
                <a:pPr marL="0" indent="0">
                  <a:buNone/>
                </a:pPr>
                <a:endParaRPr lang="es-SV" sz="1600" dirty="0"/>
              </a:p>
              <a:p>
                <a:pPr marL="0" indent="0">
                  <a:buNone/>
                </a:pPr>
                <a:r>
                  <a:rPr lang="es-SV" sz="1600" dirty="0"/>
                  <a:t>¿Cómo calculamos P(A)?</a:t>
                </a:r>
              </a:p>
              <a:p>
                <a:pPr marL="0" indent="0">
                  <a:buNone/>
                </a:pPr>
                <a:r>
                  <a:rPr lang="es-SV" sz="1600" dirty="0"/>
                  <a:t>Para el caso de n dado normal se calcularía:</a:t>
                </a:r>
              </a:p>
              <a:p>
                <a:pPr marL="0" indent="0">
                  <a:buNone/>
                </a:pPr>
                <a:r>
                  <a:rPr lang="es-SV" sz="1600" dirty="0"/>
                  <a:t>S= {1, 2, 3, 4, 5, 6}</a:t>
                </a:r>
              </a:p>
              <a:p>
                <a:pPr marL="0" indent="0">
                  <a:buNone/>
                </a:pPr>
                <a:r>
                  <a:rPr lang="es-SV" sz="1600" dirty="0"/>
                  <a:t>A= {1,3,5}</a:t>
                </a:r>
              </a:p>
              <a:p>
                <a:pPr marL="0" indent="0">
                  <a:buNone/>
                </a:pPr>
                <a14:m>
                  <m:oMathPara xmlns:m="http://schemas.openxmlformats.org/officeDocument/2006/math">
                    <m:oMathParaPr>
                      <m:jc m:val="centerGroup"/>
                    </m:oMathParaPr>
                    <m:oMath xmlns:m="http://schemas.openxmlformats.org/officeDocument/2006/math">
                      <m:r>
                        <a:rPr lang="es-SV" sz="1600" i="1">
                          <a:latin typeface="Cambria Math" panose="02040503050406030204" pitchFamily="18" charset="0"/>
                        </a:rPr>
                        <m:t>𝑃</m:t>
                      </m:r>
                      <m:d>
                        <m:dPr>
                          <m:ctrlPr>
                            <a:rPr lang="es-SV" sz="1600" i="1">
                              <a:latin typeface="Cambria Math" panose="02040503050406030204" pitchFamily="18" charset="0"/>
                            </a:rPr>
                          </m:ctrlPr>
                        </m:dPr>
                        <m:e>
                          <m:r>
                            <a:rPr lang="es-SV" sz="1600" i="1">
                              <a:latin typeface="Cambria Math" panose="02040503050406030204" pitchFamily="18" charset="0"/>
                            </a:rPr>
                            <m:t>𝐴</m:t>
                          </m:r>
                        </m:e>
                      </m:d>
                      <m:r>
                        <a:rPr lang="es-SV" sz="1600" i="1">
                          <a:latin typeface="Cambria Math" panose="02040503050406030204" pitchFamily="18" charset="0"/>
                        </a:rPr>
                        <m:t>=</m:t>
                      </m:r>
                      <m:f>
                        <m:fPr>
                          <m:ctrlPr>
                            <a:rPr lang="es-SV" sz="1600" i="1">
                              <a:latin typeface="Cambria Math" panose="02040503050406030204" pitchFamily="18" charset="0"/>
                            </a:rPr>
                          </m:ctrlPr>
                        </m:fPr>
                        <m:num>
                          <m:r>
                            <a:rPr lang="es-SV" sz="1600" i="1">
                              <a:latin typeface="Cambria Math" panose="02040503050406030204" pitchFamily="18" charset="0"/>
                            </a:rPr>
                            <m:t>#(</m:t>
                          </m:r>
                          <m:r>
                            <a:rPr lang="es-SV" sz="1600" i="1">
                              <a:latin typeface="Cambria Math" panose="02040503050406030204" pitchFamily="18" charset="0"/>
                            </a:rPr>
                            <m:t>𝐴</m:t>
                          </m:r>
                          <m:r>
                            <a:rPr lang="es-SV" sz="1600" i="1">
                              <a:latin typeface="Cambria Math" panose="02040503050406030204" pitchFamily="18" charset="0"/>
                            </a:rPr>
                            <m:t>)</m:t>
                          </m:r>
                        </m:num>
                        <m:den>
                          <m:r>
                            <a:rPr lang="es-SV" sz="1600" i="1">
                              <a:latin typeface="Cambria Math" panose="02040503050406030204" pitchFamily="18" charset="0"/>
                            </a:rPr>
                            <m:t>#(</m:t>
                          </m:r>
                          <m:r>
                            <a:rPr lang="es-SV" sz="1600" i="1">
                              <a:latin typeface="Cambria Math" panose="02040503050406030204" pitchFamily="18" charset="0"/>
                            </a:rPr>
                            <m:t>𝑆</m:t>
                          </m:r>
                          <m:r>
                            <a:rPr lang="es-SV" sz="1600" i="1">
                              <a:latin typeface="Cambria Math" panose="02040503050406030204" pitchFamily="18" charset="0"/>
                            </a:rPr>
                            <m:t>)</m:t>
                          </m:r>
                        </m:den>
                      </m:f>
                      <m:r>
                        <a:rPr lang="es-SV" sz="1600" i="1">
                          <a:latin typeface="Cambria Math" panose="02040503050406030204" pitchFamily="18" charset="0"/>
                        </a:rPr>
                        <m:t>=</m:t>
                      </m:r>
                      <m:f>
                        <m:fPr>
                          <m:ctrlPr>
                            <a:rPr lang="es-SV" sz="1600" i="1">
                              <a:latin typeface="Cambria Math" panose="02040503050406030204" pitchFamily="18" charset="0"/>
                            </a:rPr>
                          </m:ctrlPr>
                        </m:fPr>
                        <m:num>
                          <m:r>
                            <a:rPr lang="es-SV" sz="1600" i="1">
                              <a:latin typeface="Cambria Math" panose="02040503050406030204" pitchFamily="18" charset="0"/>
                            </a:rPr>
                            <m:t>3</m:t>
                          </m:r>
                        </m:num>
                        <m:den>
                          <m:r>
                            <a:rPr lang="es-SV" sz="1600" i="1">
                              <a:latin typeface="Cambria Math" panose="02040503050406030204" pitchFamily="18" charset="0"/>
                            </a:rPr>
                            <m:t>6</m:t>
                          </m:r>
                        </m:den>
                      </m:f>
                      <m:r>
                        <a:rPr lang="es-SV" sz="1600" i="1">
                          <a:latin typeface="Cambria Math" panose="02040503050406030204" pitchFamily="18" charset="0"/>
                        </a:rPr>
                        <m:t>=0.5</m:t>
                      </m:r>
                    </m:oMath>
                  </m:oMathPara>
                </a14:m>
                <a:endParaRPr lang="es-SV" sz="1600" dirty="0"/>
              </a:p>
              <a:p>
                <a:pPr marL="82296" indent="0">
                  <a:buNone/>
                </a:pPr>
                <a:endParaRPr lang="es-SV" sz="16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3635896" y="2706624"/>
                <a:ext cx="5400599" cy="3483864"/>
              </a:xfrm>
              <a:blipFill>
                <a:blip r:embed="rId3"/>
                <a:stretch>
                  <a:fillRect l="-564" t="-1224"/>
                </a:stretch>
              </a:blipFill>
            </p:spPr>
            <p:txBody>
              <a:bodyPr/>
              <a:lstStyle/>
              <a:p>
                <a:r>
                  <a:rPr lang="es-SV">
                    <a:noFill/>
                  </a:rPr>
                  <a:t> </a:t>
                </a:r>
              </a:p>
            </p:txBody>
          </p:sp>
        </mc:Fallback>
      </mc:AlternateContent>
    </p:spTree>
    <p:extLst>
      <p:ext uri="{BB962C8B-B14F-4D97-AF65-F5344CB8AC3E}">
        <p14:creationId xmlns:p14="http://schemas.microsoft.com/office/powerpoint/2010/main" val="648182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5F8F676-C15D-4586-8D95-5F3A6F4041DB}"/>
              </a:ext>
            </a:extLst>
          </p:cNvPr>
          <p:cNvPicPr>
            <a:picLocks noChangeAspect="1"/>
          </p:cNvPicPr>
          <p:nvPr/>
        </p:nvPicPr>
        <p:blipFill rotWithShape="1">
          <a:blip r:embed="rId2"/>
          <a:srcRect r="20000"/>
          <a:stretch/>
        </p:blipFill>
        <p:spPr>
          <a:xfrm>
            <a:off x="-1" y="10"/>
            <a:ext cx="9143999" cy="6857990"/>
          </a:xfrm>
          <a:prstGeom prst="rect">
            <a:avLst/>
          </a:prstGeom>
        </p:spPr>
      </p:pic>
      <p:sp>
        <p:nvSpPr>
          <p:cNvPr id="17" name="Rectangle 16">
            <a:extLst>
              <a:ext uri="{FF2B5EF4-FFF2-40B4-BE49-F238E27FC236}">
                <a16:creationId xmlns:a16="http://schemas.microsoft.com/office/drawing/2014/main" id="{2B566528-1B12-4246-9431-5C2D7D08116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0" y="0"/>
            <a:ext cx="6099049"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1 Título"/>
          <p:cNvSpPr>
            <a:spLocks noGrp="1"/>
          </p:cNvSpPr>
          <p:nvPr>
            <p:ph type="title"/>
          </p:nvPr>
        </p:nvSpPr>
        <p:spPr>
          <a:xfrm>
            <a:off x="3484863" y="321734"/>
            <a:ext cx="5176536" cy="1135737"/>
          </a:xfrm>
        </p:spPr>
        <p:txBody>
          <a:bodyPr>
            <a:normAutofit/>
          </a:bodyPr>
          <a:lstStyle/>
          <a:p>
            <a:r>
              <a:rPr lang="es-SV" sz="3100"/>
              <a:t>Formas de calcular la probabilidad de un suceso.</a:t>
            </a:r>
          </a:p>
        </p:txBody>
      </p:sp>
      <p:grpSp>
        <p:nvGrpSpPr>
          <p:cNvPr id="19" name="Group 18">
            <a:extLst>
              <a:ext uri="{FF2B5EF4-FFF2-40B4-BE49-F238E27FC236}">
                <a16:creationId xmlns:a16="http://schemas.microsoft.com/office/drawing/2014/main" id="{07EAA094-9CF6-4695-958A-33D9BCAA947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713128"/>
            <a:ext cx="801651" cy="2126625"/>
            <a:chOff x="10918968" y="713127"/>
            <a:chExt cx="1273032" cy="2532832"/>
          </a:xfrm>
        </p:grpSpPr>
        <p:sp>
          <p:nvSpPr>
            <p:cNvPr id="20" name="Rectangle 19">
              <a:extLst>
                <a:ext uri="{FF2B5EF4-FFF2-40B4-BE49-F238E27FC236}">
                  <a16:creationId xmlns:a16="http://schemas.microsoft.com/office/drawing/2014/main" id="{2E80C965-DB6D-4F81-9E9E-B027384D0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A580F890-B085-4E95-96AA-55AEBEC5CE6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Isosceles Triangle 22">
            <a:extLst>
              <a:ext uri="{FF2B5EF4-FFF2-40B4-BE49-F238E27FC236}">
                <a16:creationId xmlns:a16="http://schemas.microsoft.com/office/drawing/2014/main" id="{D3F51FEB-38FB-4F6C-9F7B-2F2AFAB6546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754938" y="5230015"/>
            <a:ext cx="2017580" cy="760545"/>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E547BA6-BAE0-43BB-A7CA-60F69CE252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398182" y="5789405"/>
            <a:ext cx="485578" cy="364184"/>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2 Marcador de contenido">
            <a:extLst>
              <a:ext uri="{FF2B5EF4-FFF2-40B4-BE49-F238E27FC236}">
                <a16:creationId xmlns:a16="http://schemas.microsoft.com/office/drawing/2014/main" id="{9BE19628-79F7-465C-92C9-202C335EADDD}"/>
              </a:ext>
            </a:extLst>
          </p:cNvPr>
          <p:cNvGraphicFramePr>
            <a:graphicFrameLocks noGrp="1"/>
          </p:cNvGraphicFramePr>
          <p:nvPr>
            <p:ph idx="1"/>
            <p:extLst>
              <p:ext uri="{D42A27DB-BD31-4B8C-83A1-F6EECF244321}">
                <p14:modId xmlns:p14="http://schemas.microsoft.com/office/powerpoint/2010/main" val="2548296465"/>
              </p:ext>
            </p:extLst>
          </p:nvPr>
        </p:nvGraphicFramePr>
        <p:xfrm>
          <a:off x="3484863" y="1782981"/>
          <a:ext cx="5176536" cy="43939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7148999"/>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6623" y="900814"/>
            <a:ext cx="569713"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8327" y="633165"/>
            <a:ext cx="36199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965" y="636723"/>
            <a:ext cx="3000047"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p:cNvSpPr>
            <a:spLocks noGrp="1"/>
          </p:cNvSpPr>
          <p:nvPr>
            <p:ph type="title"/>
          </p:nvPr>
        </p:nvSpPr>
        <p:spPr>
          <a:xfrm>
            <a:off x="701154" y="982272"/>
            <a:ext cx="2541314" cy="4560970"/>
          </a:xfrm>
        </p:spPr>
        <p:txBody>
          <a:bodyPr>
            <a:normAutofit/>
          </a:bodyPr>
          <a:lstStyle/>
          <a:p>
            <a:r>
              <a:rPr lang="es-SV" sz="3500">
                <a:solidFill>
                  <a:srgbClr val="FFFFFF"/>
                </a:solidFill>
              </a:rPr>
              <a:t>Probabilidad clásica de Laplace (a priori)</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76336" y="1352302"/>
            <a:ext cx="499169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916396" y="1719618"/>
                <a:ext cx="4461623" cy="4334629"/>
              </a:xfrm>
            </p:spPr>
            <p:txBody>
              <a:bodyPr anchor="ctr">
                <a:normAutofit/>
              </a:bodyPr>
              <a:lstStyle/>
              <a:p>
                <a:pPr marL="0" indent="0" algn="just">
                  <a:buNone/>
                </a:pPr>
                <a:r>
                  <a:rPr lang="es-SV" sz="2100" dirty="0">
                    <a:solidFill>
                      <a:srgbClr val="FEFFFF"/>
                    </a:solidFill>
                  </a:rPr>
                  <a:t>(Para espacios </a:t>
                </a:r>
                <a:r>
                  <a:rPr lang="es-SV" sz="2100" dirty="0" err="1">
                    <a:solidFill>
                      <a:srgbClr val="FEFFFF"/>
                    </a:solidFill>
                  </a:rPr>
                  <a:t>muestrales</a:t>
                </a:r>
                <a:r>
                  <a:rPr lang="es-SV" sz="2100" dirty="0">
                    <a:solidFill>
                      <a:srgbClr val="FEFFFF"/>
                    </a:solidFill>
                  </a:rPr>
                  <a:t> X probables) todos los puntos de S tienen la misma probabilidad.</a:t>
                </a:r>
              </a:p>
              <a:p>
                <a:pPr marL="0" indent="0" algn="just">
                  <a:buNone/>
                </a:pPr>
                <a:r>
                  <a:rPr lang="es-SV" sz="2100" dirty="0">
                    <a:solidFill>
                      <a:srgbClr val="FEFFFF"/>
                    </a:solidFill>
                  </a:rPr>
                  <a:t>La probabilidad de un seceso A se calcula como un cociente:</a:t>
                </a:r>
              </a:p>
              <a:p>
                <a:pPr marL="0" indent="0" algn="just">
                  <a:buNone/>
                </a:pPr>
                <a14:m>
                  <m:oMathPara xmlns:m="http://schemas.openxmlformats.org/officeDocument/2006/math">
                    <m:oMathParaPr>
                      <m:jc m:val="centerGroup"/>
                    </m:oMathParaPr>
                    <m:oMath xmlns:m="http://schemas.openxmlformats.org/officeDocument/2006/math">
                      <m:r>
                        <a:rPr lang="es-SV" sz="2100" i="1">
                          <a:solidFill>
                            <a:srgbClr val="FEFFFF"/>
                          </a:solidFill>
                          <a:latin typeface="Cambria Math"/>
                        </a:rPr>
                        <m:t>𝑃</m:t>
                      </m:r>
                      <m:d>
                        <m:dPr>
                          <m:ctrlPr>
                            <a:rPr lang="es-SV" sz="2100" i="1">
                              <a:solidFill>
                                <a:srgbClr val="FEFFFF"/>
                              </a:solidFill>
                              <a:latin typeface="Cambria Math" panose="02040503050406030204" pitchFamily="18" charset="0"/>
                            </a:rPr>
                          </m:ctrlPr>
                        </m:dPr>
                        <m:e>
                          <m:r>
                            <a:rPr lang="es-SV" sz="2100" i="1">
                              <a:solidFill>
                                <a:srgbClr val="FEFFFF"/>
                              </a:solidFill>
                              <a:latin typeface="Cambria Math"/>
                            </a:rPr>
                            <m:t>𝐴</m:t>
                          </m:r>
                        </m:e>
                      </m:d>
                      <m:r>
                        <a:rPr lang="es-SV" sz="2100" i="1">
                          <a:solidFill>
                            <a:srgbClr val="FEFFFF"/>
                          </a:solidFill>
                          <a:latin typeface="Cambria Math"/>
                        </a:rPr>
                        <m:t>=</m:t>
                      </m:r>
                      <m:f>
                        <m:fPr>
                          <m:ctrlPr>
                            <a:rPr lang="es-SV" sz="2100" i="1">
                              <a:solidFill>
                                <a:srgbClr val="FEFFFF"/>
                              </a:solidFill>
                              <a:latin typeface="Cambria Math" panose="02040503050406030204" pitchFamily="18" charset="0"/>
                            </a:rPr>
                          </m:ctrlPr>
                        </m:fPr>
                        <m:num>
                          <m:r>
                            <a:rPr lang="es-SV" sz="2100" i="1">
                              <a:solidFill>
                                <a:srgbClr val="FEFFFF"/>
                              </a:solidFill>
                              <a:latin typeface="Cambria Math"/>
                            </a:rPr>
                            <m:t>#(</m:t>
                          </m:r>
                          <m:r>
                            <a:rPr lang="es-SV" sz="2100" i="1">
                              <a:solidFill>
                                <a:srgbClr val="FEFFFF"/>
                              </a:solidFill>
                              <a:latin typeface="Cambria Math"/>
                            </a:rPr>
                            <m:t>𝐴</m:t>
                          </m:r>
                          <m:r>
                            <a:rPr lang="es-SV" sz="2100" i="1">
                              <a:solidFill>
                                <a:srgbClr val="FEFFFF"/>
                              </a:solidFill>
                              <a:latin typeface="Cambria Math"/>
                            </a:rPr>
                            <m:t>)</m:t>
                          </m:r>
                        </m:num>
                        <m:den>
                          <m:r>
                            <a:rPr lang="es-SV" sz="2100" i="1">
                              <a:solidFill>
                                <a:srgbClr val="FEFFFF"/>
                              </a:solidFill>
                              <a:latin typeface="Cambria Math"/>
                            </a:rPr>
                            <m:t>#(</m:t>
                          </m:r>
                          <m:r>
                            <a:rPr lang="es-SV" sz="2100" i="1">
                              <a:solidFill>
                                <a:srgbClr val="FEFFFF"/>
                              </a:solidFill>
                              <a:latin typeface="Cambria Math"/>
                            </a:rPr>
                            <m:t>𝑆</m:t>
                          </m:r>
                          <m:r>
                            <a:rPr lang="es-SV" sz="2100" i="1">
                              <a:solidFill>
                                <a:srgbClr val="FEFFFF"/>
                              </a:solidFill>
                              <a:latin typeface="Cambria Math"/>
                            </a:rPr>
                            <m:t>)</m:t>
                          </m:r>
                        </m:den>
                      </m:f>
                    </m:oMath>
                  </m:oMathPara>
                </a14:m>
                <a:endParaRPr lang="es-SV" sz="2100" dirty="0">
                  <a:solidFill>
                    <a:srgbClr val="FEFFFF"/>
                  </a:solidFill>
                </a:endParaRPr>
              </a:p>
              <a:p>
                <a:pPr marL="0" indent="0" algn="just">
                  <a:buNone/>
                </a:pPr>
                <a:endParaRPr lang="es-SV" sz="2100" dirty="0">
                  <a:solidFill>
                    <a:srgbClr val="FEFFFF"/>
                  </a:solidFill>
                </a:endParaRPr>
              </a:p>
              <a:p>
                <a:pPr marL="0" indent="0" algn="just">
                  <a:buNone/>
                </a:pPr>
                <a:r>
                  <a:rPr lang="es-SV" sz="2100" dirty="0">
                    <a:solidFill>
                      <a:srgbClr val="FEFFFF"/>
                    </a:solidFill>
                  </a:rPr>
                  <a:t>Ejemplo: Lanza un dado normal ¿Cuál es la probabilidad de obtener un número mayor que 3?</a:t>
                </a:r>
              </a:p>
              <a:p>
                <a:pPr marL="0" indent="0">
                  <a:buNone/>
                </a:pPr>
                <a:endParaRPr lang="es-SV" sz="2100" dirty="0">
                  <a:solidFill>
                    <a:srgbClr val="FEFFFF"/>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916396" y="1719618"/>
                <a:ext cx="4461623" cy="4334629"/>
              </a:xfrm>
              <a:blipFill>
                <a:blip r:embed="rId2"/>
                <a:stretch>
                  <a:fillRect l="-1639" r="-1639"/>
                </a:stretch>
              </a:blipFill>
            </p:spPr>
            <p:txBody>
              <a:bodyPr/>
              <a:lstStyle/>
              <a:p>
                <a:r>
                  <a:rPr lang="en-US">
                    <a:noFill/>
                  </a:rPr>
                  <a:t> </a:t>
                </a:r>
              </a:p>
            </p:txBody>
          </p:sp>
        </mc:Fallback>
      </mc:AlternateContent>
    </p:spTree>
    <p:extLst>
      <p:ext uri="{BB962C8B-B14F-4D97-AF65-F5344CB8AC3E}">
        <p14:creationId xmlns:p14="http://schemas.microsoft.com/office/powerpoint/2010/main" val="1070784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594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393192" y="516804"/>
            <a:ext cx="4945641" cy="1625210"/>
          </a:xfrm>
        </p:spPr>
        <p:txBody>
          <a:bodyPr>
            <a:normAutofit/>
          </a:bodyPr>
          <a:lstStyle/>
          <a:p>
            <a:r>
              <a:rPr lang="es-SV">
                <a:solidFill>
                  <a:srgbClr val="FFFFFF"/>
                </a:solidFill>
              </a:rPr>
              <a:t>Propiedades básicas de la probabilidad</a:t>
            </a:r>
          </a:p>
        </p:txBody>
      </p:sp>
      <p:sp>
        <p:nvSpPr>
          <p:cNvPr id="11" name="Rectangle 10">
            <a:extLst>
              <a:ext uri="{FF2B5EF4-FFF2-40B4-BE49-F238E27FC236}">
                <a16:creationId xmlns:a16="http://schemas.microsoft.com/office/drawing/2014/main" id="{36D30126-6314-4A93-B27E-5C66CF7819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6888" y="2432305"/>
            <a:ext cx="5292501"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p:cNvPicPr/>
          <p:nvPr/>
        </p:nvPicPr>
        <p:blipFill>
          <a:blip r:embed="rId2" cstate="print">
            <a:extLst>
              <a:ext uri="{28A0092B-C50C-407E-A947-70E740481C1C}">
                <a14:useLocalDpi xmlns:a14="http://schemas.microsoft.com/office/drawing/2010/main" val="0"/>
              </a:ext>
            </a:extLst>
          </a:blip>
          <a:stretch>
            <a:fillRect/>
          </a:stretch>
        </p:blipFill>
        <p:spPr bwMode="auto">
          <a:xfrm>
            <a:off x="425058" y="2836697"/>
            <a:ext cx="4934932" cy="3294066"/>
          </a:xfrm>
          <a:prstGeom prst="rect">
            <a:avLst/>
          </a:prstGeom>
          <a:noFill/>
        </p:spPr>
      </p:pic>
      <p:sp>
        <p:nvSpPr>
          <p:cNvPr id="13" name="Rectangle 12">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5686922" y="917725"/>
                <a:ext cx="3210190" cy="4852362"/>
              </a:xfrm>
            </p:spPr>
            <p:txBody>
              <a:bodyPr anchor="ctr">
                <a:normAutofit/>
              </a:bodyPr>
              <a:lstStyle/>
              <a:p>
                <a:pPr marL="0" indent="0">
                  <a:buNone/>
                </a:pPr>
                <a:r>
                  <a:rPr lang="es-SV" sz="2000" dirty="0">
                    <a:solidFill>
                      <a:srgbClr val="FFFFFF"/>
                    </a:solidFill>
                  </a:rPr>
                  <a:t>S es un espacio muestral asociado a un E, A y B sucesos de S. La probabilidad de los sucesos tienen las siguientes propiedades:</a:t>
                </a:r>
              </a:p>
              <a:p>
                <a:pPr marL="0" indent="0">
                  <a:buNone/>
                </a:pPr>
                <a14:m>
                  <m:oMathPara xmlns:m="http://schemas.openxmlformats.org/officeDocument/2006/math">
                    <m:oMathParaPr>
                      <m:jc m:val="centerGroup"/>
                    </m:oMathParaPr>
                    <m:oMath xmlns:m="http://schemas.openxmlformats.org/officeDocument/2006/math">
                      <m:r>
                        <a:rPr lang="es-SV" sz="2000" i="1">
                          <a:solidFill>
                            <a:srgbClr val="FFFFFF"/>
                          </a:solidFill>
                          <a:latin typeface="Cambria Math"/>
                        </a:rPr>
                        <m:t>0≤</m:t>
                      </m:r>
                      <m:r>
                        <a:rPr lang="es-SV" sz="2000" i="1">
                          <a:solidFill>
                            <a:srgbClr val="FFFFFF"/>
                          </a:solidFill>
                          <a:latin typeface="Cambria Math"/>
                        </a:rPr>
                        <m:t>𝑃</m:t>
                      </m:r>
                      <m:d>
                        <m:dPr>
                          <m:ctrlPr>
                            <a:rPr lang="es-SV" sz="2000" i="1">
                              <a:solidFill>
                                <a:srgbClr val="FFFFFF"/>
                              </a:solidFill>
                              <a:latin typeface="Cambria Math" panose="02040503050406030204" pitchFamily="18" charset="0"/>
                            </a:rPr>
                          </m:ctrlPr>
                        </m:dPr>
                        <m:e>
                          <m:r>
                            <a:rPr lang="es-SV" sz="2000" i="1">
                              <a:solidFill>
                                <a:srgbClr val="FFFFFF"/>
                              </a:solidFill>
                              <a:latin typeface="Cambria Math"/>
                            </a:rPr>
                            <m:t>𝐴</m:t>
                          </m:r>
                        </m:e>
                      </m:d>
                      <m:r>
                        <a:rPr lang="es-SV" sz="2000" i="1">
                          <a:solidFill>
                            <a:srgbClr val="FFFFFF"/>
                          </a:solidFill>
                          <a:latin typeface="Cambria Math"/>
                        </a:rPr>
                        <m:t>≤1</m:t>
                      </m:r>
                    </m:oMath>
                  </m:oMathPara>
                </a14:m>
                <a:endParaRPr lang="es-SV" sz="2000" dirty="0">
                  <a:solidFill>
                    <a:srgbClr val="FFFFFF"/>
                  </a:solidFill>
                </a:endParaRPr>
              </a:p>
              <a:p>
                <a:pPr marL="0" indent="0">
                  <a:buNone/>
                </a:pPr>
                <a14:m>
                  <m:oMathPara xmlns:m="http://schemas.openxmlformats.org/officeDocument/2006/math">
                    <m:oMathParaPr>
                      <m:jc m:val="centerGroup"/>
                    </m:oMathParaPr>
                    <m:oMath xmlns:m="http://schemas.openxmlformats.org/officeDocument/2006/math">
                      <m:r>
                        <a:rPr lang="es-SV" sz="2000" i="1">
                          <a:solidFill>
                            <a:srgbClr val="FFFFFF"/>
                          </a:solidFill>
                          <a:latin typeface="Cambria Math"/>
                        </a:rPr>
                        <m:t>𝑃</m:t>
                      </m:r>
                      <m:d>
                        <m:dPr>
                          <m:ctrlPr>
                            <a:rPr lang="es-SV" sz="2000" i="1">
                              <a:solidFill>
                                <a:srgbClr val="FFFFFF"/>
                              </a:solidFill>
                              <a:latin typeface="Cambria Math" panose="02040503050406030204" pitchFamily="18" charset="0"/>
                            </a:rPr>
                          </m:ctrlPr>
                        </m:dPr>
                        <m:e>
                          <m:r>
                            <a:rPr lang="es-SV" sz="2000" i="1">
                              <a:solidFill>
                                <a:srgbClr val="FFFFFF"/>
                              </a:solidFill>
                              <a:latin typeface="Cambria Math"/>
                            </a:rPr>
                            <m:t>𝑆</m:t>
                          </m:r>
                        </m:e>
                      </m:d>
                      <m:r>
                        <a:rPr lang="es-SV" sz="2000" i="1">
                          <a:solidFill>
                            <a:srgbClr val="FFFFFF"/>
                          </a:solidFill>
                          <a:latin typeface="Cambria Math"/>
                        </a:rPr>
                        <m:t>=1 ;</m:t>
                      </m:r>
                      <m:r>
                        <a:rPr lang="es-SV" sz="2000" i="1">
                          <a:solidFill>
                            <a:srgbClr val="FFFFFF"/>
                          </a:solidFill>
                          <a:latin typeface="Cambria Math"/>
                        </a:rPr>
                        <m:t>𝑃</m:t>
                      </m:r>
                      <m:d>
                        <m:dPr>
                          <m:ctrlPr>
                            <a:rPr lang="es-SV" sz="2000" i="1">
                              <a:solidFill>
                                <a:srgbClr val="FFFFFF"/>
                              </a:solidFill>
                              <a:latin typeface="Cambria Math" panose="02040503050406030204" pitchFamily="18" charset="0"/>
                            </a:rPr>
                          </m:ctrlPr>
                        </m:dPr>
                        <m:e>
                          <m:r>
                            <a:rPr lang="es-SV" sz="2000" i="1">
                              <a:solidFill>
                                <a:srgbClr val="FFFFFF"/>
                              </a:solidFill>
                              <a:latin typeface="Cambria Math"/>
                            </a:rPr>
                            <m:t>∅</m:t>
                          </m:r>
                        </m:e>
                      </m:d>
                      <m:r>
                        <a:rPr lang="es-SV" sz="2000" i="1">
                          <a:solidFill>
                            <a:srgbClr val="FFFFFF"/>
                          </a:solidFill>
                          <a:latin typeface="Cambria Math"/>
                        </a:rPr>
                        <m:t>=0</m:t>
                      </m:r>
                    </m:oMath>
                  </m:oMathPara>
                </a14:m>
                <a:endParaRPr lang="es-SV" sz="2000" dirty="0">
                  <a:solidFill>
                    <a:srgbClr val="FFFFFF"/>
                  </a:solidFill>
                </a:endParaRPr>
              </a:p>
              <a:p>
                <a:pPr marL="0" indent="0">
                  <a:buNone/>
                </a:pPr>
                <a:r>
                  <a:rPr lang="es-SV" sz="2000" dirty="0">
                    <a:solidFill>
                      <a:srgbClr val="FFFFFF"/>
                    </a:solidFill>
                  </a:rPr>
                  <a:t>Si A y B son mutuamente excluyentes, entonces la probabilidad </a:t>
                </a:r>
                <a:endParaRPr lang="es-SV" sz="2000" i="1" dirty="0">
                  <a:solidFill>
                    <a:srgbClr val="FFFFFF"/>
                  </a:solidFill>
                </a:endParaRPr>
              </a:p>
              <a:p>
                <a:pPr marL="0" indent="0">
                  <a:buNone/>
                </a:pPr>
                <a:endParaRPr lang="es-SV" sz="2000" i="1" dirty="0">
                  <a:solidFill>
                    <a:srgbClr val="FFFFFF"/>
                  </a:solidFill>
                </a:endParaRPr>
              </a:p>
              <a:p>
                <a:pPr marL="0" indent="0">
                  <a:buNone/>
                </a:pPr>
                <a:endParaRPr lang="es-SV" sz="2000" i="1" dirty="0">
                  <a:solidFill>
                    <a:srgbClr val="FFFFFF"/>
                  </a:solidFill>
                </a:endParaRPr>
              </a:p>
              <a:p>
                <a:pPr marL="0" indent="0">
                  <a:buNone/>
                </a:pPr>
                <a14:m>
                  <m:oMathPara xmlns:m="http://schemas.openxmlformats.org/officeDocument/2006/math">
                    <m:oMathParaPr>
                      <m:jc m:val="centerGroup"/>
                    </m:oMathParaPr>
                    <m:oMath xmlns:m="http://schemas.openxmlformats.org/officeDocument/2006/math">
                      <m:r>
                        <a:rPr lang="es-SV" sz="2000" i="1">
                          <a:solidFill>
                            <a:srgbClr val="FFFFFF"/>
                          </a:solidFill>
                          <a:latin typeface="Cambria Math"/>
                        </a:rPr>
                        <m:t>𝑃</m:t>
                      </m:r>
                      <m:d>
                        <m:dPr>
                          <m:ctrlPr>
                            <a:rPr lang="es-SV" sz="2000" i="1">
                              <a:solidFill>
                                <a:srgbClr val="FFFFFF"/>
                              </a:solidFill>
                              <a:latin typeface="Cambria Math" panose="02040503050406030204" pitchFamily="18" charset="0"/>
                            </a:rPr>
                          </m:ctrlPr>
                        </m:dPr>
                        <m:e>
                          <m:r>
                            <a:rPr lang="es-SV" sz="2000" i="1">
                              <a:solidFill>
                                <a:srgbClr val="FFFFFF"/>
                              </a:solidFill>
                              <a:latin typeface="Cambria Math"/>
                            </a:rPr>
                            <m:t>𝐴</m:t>
                          </m:r>
                          <m:r>
                            <a:rPr lang="es-SV" sz="2000" i="1">
                              <a:solidFill>
                                <a:srgbClr val="FFFFFF"/>
                              </a:solidFill>
                              <a:latin typeface="Cambria Math"/>
                            </a:rPr>
                            <m:t>∪</m:t>
                          </m:r>
                          <m:r>
                            <a:rPr lang="es-SV" sz="2000" i="1">
                              <a:solidFill>
                                <a:srgbClr val="FFFFFF"/>
                              </a:solidFill>
                              <a:latin typeface="Cambria Math"/>
                            </a:rPr>
                            <m:t>𝐵</m:t>
                          </m:r>
                        </m:e>
                      </m:d>
                      <m:r>
                        <a:rPr lang="es-SV" sz="2000" i="1">
                          <a:solidFill>
                            <a:srgbClr val="FFFFFF"/>
                          </a:solidFill>
                          <a:latin typeface="Cambria Math"/>
                        </a:rPr>
                        <m:t>=</m:t>
                      </m:r>
                      <m:r>
                        <a:rPr lang="es-SV" sz="2000" i="1">
                          <a:solidFill>
                            <a:srgbClr val="FFFFFF"/>
                          </a:solidFill>
                          <a:latin typeface="Cambria Math"/>
                        </a:rPr>
                        <m:t>𝑃</m:t>
                      </m:r>
                      <m:d>
                        <m:dPr>
                          <m:ctrlPr>
                            <a:rPr lang="es-SV" sz="2000" i="1">
                              <a:solidFill>
                                <a:srgbClr val="FFFFFF"/>
                              </a:solidFill>
                              <a:latin typeface="Cambria Math" panose="02040503050406030204" pitchFamily="18" charset="0"/>
                            </a:rPr>
                          </m:ctrlPr>
                        </m:dPr>
                        <m:e>
                          <m:r>
                            <a:rPr lang="es-SV" sz="2000" i="1">
                              <a:solidFill>
                                <a:srgbClr val="FFFFFF"/>
                              </a:solidFill>
                              <a:latin typeface="Cambria Math"/>
                            </a:rPr>
                            <m:t>𝐴</m:t>
                          </m:r>
                        </m:e>
                      </m:d>
                      <m:r>
                        <a:rPr lang="es-SV" sz="2000" i="1">
                          <a:solidFill>
                            <a:srgbClr val="FFFFFF"/>
                          </a:solidFill>
                          <a:latin typeface="Cambria Math"/>
                        </a:rPr>
                        <m:t>+</m:t>
                      </m:r>
                      <m:r>
                        <a:rPr lang="es-SV" sz="2000" i="1">
                          <a:solidFill>
                            <a:srgbClr val="FFFFFF"/>
                          </a:solidFill>
                          <a:latin typeface="Cambria Math"/>
                        </a:rPr>
                        <m:t>𝑃</m:t>
                      </m:r>
                      <m:d>
                        <m:dPr>
                          <m:ctrlPr>
                            <a:rPr lang="es-SV" sz="2000" i="1">
                              <a:solidFill>
                                <a:srgbClr val="FFFFFF"/>
                              </a:solidFill>
                              <a:latin typeface="Cambria Math" panose="02040503050406030204" pitchFamily="18" charset="0"/>
                            </a:rPr>
                          </m:ctrlPr>
                        </m:dPr>
                        <m:e>
                          <m:r>
                            <a:rPr lang="es-SV" sz="2000" i="1">
                              <a:solidFill>
                                <a:srgbClr val="FFFFFF"/>
                              </a:solidFill>
                              <a:latin typeface="Cambria Math"/>
                            </a:rPr>
                            <m:t>𝐵</m:t>
                          </m:r>
                        </m:e>
                      </m:d>
                    </m:oMath>
                  </m:oMathPara>
                </a14:m>
                <a:endParaRPr lang="es-SV" sz="2000" dirty="0">
                  <a:solidFill>
                    <a:srgbClr val="FFFFFF"/>
                  </a:solidFill>
                </a:endParaRPr>
              </a:p>
              <a:p>
                <a:endParaRPr lang="es-SV" sz="1400" dirty="0">
                  <a:solidFill>
                    <a:srgbClr val="FFFFFF"/>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5686922" y="917725"/>
                <a:ext cx="3210190" cy="4852362"/>
              </a:xfrm>
              <a:blipFill>
                <a:blip r:embed="rId3"/>
                <a:stretch>
                  <a:fillRect l="-2087" r="-2846"/>
                </a:stretch>
              </a:blipFill>
            </p:spPr>
            <p:txBody>
              <a:bodyPr/>
              <a:lstStyle/>
              <a:p>
                <a:r>
                  <a:rPr lang="es-SV">
                    <a:noFill/>
                  </a:rPr>
                  <a:t> </a:t>
                </a:r>
              </a:p>
            </p:txBody>
          </p:sp>
        </mc:Fallback>
      </mc:AlternateContent>
    </p:spTree>
    <p:extLst>
      <p:ext uri="{BB962C8B-B14F-4D97-AF65-F5344CB8AC3E}">
        <p14:creationId xmlns:p14="http://schemas.microsoft.com/office/powerpoint/2010/main" val="3508928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584D40">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393192" y="491260"/>
            <a:ext cx="4945641" cy="1625210"/>
          </a:xfrm>
        </p:spPr>
        <p:txBody>
          <a:bodyPr>
            <a:normAutofit/>
          </a:bodyPr>
          <a:lstStyle/>
          <a:p>
            <a:r>
              <a:rPr lang="es-SV">
                <a:solidFill>
                  <a:srgbClr val="FFFFFF"/>
                </a:solidFill>
              </a:rPr>
              <a:t>Probabilidad complementaria </a:t>
            </a:r>
          </a:p>
        </p:txBody>
      </p:sp>
      <p:pic>
        <p:nvPicPr>
          <p:cNvPr id="4" name="Imagen 3"/>
          <p:cNvPicPr/>
          <p:nvPr/>
        </p:nvPicPr>
        <p:blipFill rotWithShape="1">
          <a:blip r:embed="rId2">
            <a:extLst>
              <a:ext uri="{28A0092B-C50C-407E-A947-70E740481C1C}">
                <a14:useLocalDpi xmlns:a14="http://schemas.microsoft.com/office/drawing/2010/main" val="0"/>
              </a:ext>
            </a:extLst>
          </a:blip>
          <a:srcRect r="17291"/>
          <a:stretch/>
        </p:blipFill>
        <p:spPr bwMode="auto">
          <a:xfrm>
            <a:off x="245660" y="2454903"/>
            <a:ext cx="5293729" cy="4080254"/>
          </a:xfrm>
          <a:prstGeom prst="rect">
            <a:avLst/>
          </a:prstGeom>
          <a:noFill/>
        </p:spPr>
      </p:pic>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7731" y="321732"/>
            <a:ext cx="323497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6021989" y="917725"/>
                <a:ext cx="2568554" cy="4852362"/>
              </a:xfrm>
            </p:spPr>
            <p:txBody>
              <a:bodyPr anchor="ctr">
                <a:normAutofit/>
              </a:bodyPr>
              <a:lstStyle/>
              <a:p>
                <a:pPr marL="0" indent="0">
                  <a:buNone/>
                </a:pPr>
                <a14:m>
                  <m:oMathPara xmlns:m="http://schemas.openxmlformats.org/officeDocument/2006/math">
                    <m:oMathParaPr>
                      <m:jc m:val="centerGroup"/>
                    </m:oMathParaPr>
                    <m:oMath xmlns:m="http://schemas.openxmlformats.org/officeDocument/2006/math">
                      <m:r>
                        <a:rPr lang="es-SV" sz="2400" i="1">
                          <a:solidFill>
                            <a:srgbClr val="FFFFFF"/>
                          </a:solidFill>
                          <a:latin typeface="Cambria Math"/>
                        </a:rPr>
                        <m:t>𝑃</m:t>
                      </m:r>
                      <m:d>
                        <m:dPr>
                          <m:ctrlPr>
                            <a:rPr lang="es-SV" sz="2400" i="1">
                              <a:solidFill>
                                <a:srgbClr val="FFFFFF"/>
                              </a:solidFill>
                              <a:latin typeface="Cambria Math" panose="02040503050406030204" pitchFamily="18" charset="0"/>
                            </a:rPr>
                          </m:ctrlPr>
                        </m:dPr>
                        <m:e>
                          <m:r>
                            <a:rPr lang="es-SV" sz="2400" i="1">
                              <a:solidFill>
                                <a:srgbClr val="FFFFFF"/>
                              </a:solidFill>
                              <a:latin typeface="Cambria Math"/>
                            </a:rPr>
                            <m:t>𝐴</m:t>
                          </m:r>
                        </m:e>
                      </m:d>
                      <m:r>
                        <a:rPr lang="es-SV" sz="2400" i="1">
                          <a:solidFill>
                            <a:srgbClr val="FFFFFF"/>
                          </a:solidFill>
                          <a:latin typeface="Cambria Math"/>
                        </a:rPr>
                        <m:t>+</m:t>
                      </m:r>
                      <m:r>
                        <a:rPr lang="es-SV" sz="2400" i="1">
                          <a:solidFill>
                            <a:srgbClr val="FFFFFF"/>
                          </a:solidFill>
                          <a:latin typeface="Cambria Math"/>
                        </a:rPr>
                        <m:t>𝑃</m:t>
                      </m:r>
                      <m:d>
                        <m:dPr>
                          <m:ctrlPr>
                            <a:rPr lang="es-SV" sz="2400" i="1">
                              <a:solidFill>
                                <a:srgbClr val="FFFFFF"/>
                              </a:solidFill>
                              <a:latin typeface="Cambria Math" panose="02040503050406030204" pitchFamily="18" charset="0"/>
                            </a:rPr>
                          </m:ctrlPr>
                        </m:dPr>
                        <m:e>
                          <m:sSup>
                            <m:sSupPr>
                              <m:ctrlPr>
                                <a:rPr lang="es-SV" sz="2400" i="1">
                                  <a:solidFill>
                                    <a:srgbClr val="FFFFFF"/>
                                  </a:solidFill>
                                  <a:latin typeface="Cambria Math" panose="02040503050406030204" pitchFamily="18" charset="0"/>
                                </a:rPr>
                              </m:ctrlPr>
                            </m:sSupPr>
                            <m:e>
                              <m:r>
                                <a:rPr lang="es-SV" sz="2400" i="1">
                                  <a:solidFill>
                                    <a:srgbClr val="FFFFFF"/>
                                  </a:solidFill>
                                  <a:latin typeface="Cambria Math"/>
                                </a:rPr>
                                <m:t>𝐴</m:t>
                              </m:r>
                            </m:e>
                            <m:sup>
                              <m:r>
                                <a:rPr lang="es-SV" sz="2400" i="1">
                                  <a:solidFill>
                                    <a:srgbClr val="FFFFFF"/>
                                  </a:solidFill>
                                  <a:latin typeface="Cambria Math"/>
                                </a:rPr>
                                <m:t>′</m:t>
                              </m:r>
                            </m:sup>
                          </m:sSup>
                        </m:e>
                      </m:d>
                      <m:r>
                        <a:rPr lang="es-SV" sz="2400" i="1">
                          <a:solidFill>
                            <a:srgbClr val="FFFFFF"/>
                          </a:solidFill>
                          <a:latin typeface="Cambria Math"/>
                        </a:rPr>
                        <m:t>=1</m:t>
                      </m:r>
                    </m:oMath>
                  </m:oMathPara>
                </a14:m>
                <a:endParaRPr lang="es-SV" sz="2400" dirty="0">
                  <a:solidFill>
                    <a:srgbClr val="FFFFFF"/>
                  </a:solidFill>
                </a:endParaRPr>
              </a:p>
              <a:p>
                <a:pPr marL="0" indent="0">
                  <a:buNone/>
                </a:pPr>
                <a:endParaRPr lang="es-SV" sz="1700" dirty="0">
                  <a:solidFill>
                    <a:srgbClr val="FFFFFF"/>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6021989" y="917725"/>
                <a:ext cx="2568554" cy="4852362"/>
              </a:xfrm>
              <a:blipFill>
                <a:blip r:embed="rId3"/>
                <a:stretch>
                  <a:fillRect/>
                </a:stretch>
              </a:blipFill>
            </p:spPr>
            <p:txBody>
              <a:bodyPr/>
              <a:lstStyle/>
              <a:p>
                <a:r>
                  <a:rPr lang="es-SV">
                    <a:noFill/>
                  </a:rPr>
                  <a:t> </a:t>
                </a:r>
              </a:p>
            </p:txBody>
          </p:sp>
        </mc:Fallback>
      </mc:AlternateContent>
    </p:spTree>
    <p:extLst>
      <p:ext uri="{BB962C8B-B14F-4D97-AF65-F5344CB8AC3E}">
        <p14:creationId xmlns:p14="http://schemas.microsoft.com/office/powerpoint/2010/main" val="117891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554A3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393192" y="491260"/>
            <a:ext cx="4945641" cy="1625210"/>
          </a:xfrm>
        </p:spPr>
        <p:txBody>
          <a:bodyPr>
            <a:normAutofit/>
          </a:bodyPr>
          <a:lstStyle/>
          <a:p>
            <a:r>
              <a:rPr lang="es-SV" dirty="0">
                <a:solidFill>
                  <a:srgbClr val="FFFFFF"/>
                </a:solidFill>
              </a:rPr>
              <a:t>Probabilidad de A y no B</a:t>
            </a:r>
          </a:p>
        </p:txBody>
      </p:sp>
      <p:pic>
        <p:nvPicPr>
          <p:cNvPr id="4" name="Imagen 3"/>
          <p:cNvPicPr/>
          <p:nvPr/>
        </p:nvPicPr>
        <p:blipFill rotWithShape="1">
          <a:blip r:embed="rId2" cstate="print">
            <a:extLst>
              <a:ext uri="{28A0092B-C50C-407E-A947-70E740481C1C}">
                <a14:useLocalDpi xmlns:a14="http://schemas.microsoft.com/office/drawing/2010/main" val="0"/>
              </a:ext>
            </a:extLst>
          </a:blip>
          <a:srcRect l="1118" r="16172"/>
          <a:stretch/>
        </p:blipFill>
        <p:spPr bwMode="auto">
          <a:xfrm>
            <a:off x="245660" y="2454903"/>
            <a:ext cx="5293729" cy="4080254"/>
          </a:xfrm>
          <a:prstGeom prst="rect">
            <a:avLst/>
          </a:prstGeom>
          <a:noFill/>
        </p:spPr>
      </p:pic>
      <p:sp>
        <p:nvSpPr>
          <p:cNvPr id="7"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7731" y="321732"/>
            <a:ext cx="323497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5686922" y="3284983"/>
                <a:ext cx="3211417" cy="2485103"/>
              </a:xfrm>
            </p:spPr>
            <p:txBody>
              <a:bodyPr anchor="ctr">
                <a:normAutofit fontScale="70000" lnSpcReduction="20000"/>
              </a:bodyPr>
              <a:lstStyle/>
              <a:p>
                <a:pPr marL="0" indent="0">
                  <a:buNone/>
                </a:pPr>
                <a:r>
                  <a:rPr lang="es-SV" sz="3200" dirty="0">
                    <a:solidFill>
                      <a:srgbClr val="FFFFFF"/>
                    </a:solidFill>
                  </a:rPr>
                  <a:t>Sean A y B sucesos cualesquiera de S:</a:t>
                </a:r>
              </a:p>
              <a:p>
                <a:pPr marL="0" indent="0">
                  <a:buNone/>
                </a:pPr>
                <a:r>
                  <a:rPr lang="es-SV" sz="3200" dirty="0">
                    <a:solidFill>
                      <a:srgbClr val="FFFFFF"/>
                    </a:solidFill>
                  </a:rPr>
                  <a:t>Entonces: la probabilidad de A y no B es</a:t>
                </a:r>
              </a:p>
              <a:p>
                <a:pPr marL="0" indent="0">
                  <a:buNone/>
                </a:pPr>
                <a:endParaRPr lang="es-SV" sz="1700" i="1" dirty="0">
                  <a:solidFill>
                    <a:srgbClr val="FFFFFF"/>
                  </a:solidFill>
                  <a:latin typeface="Cambria Math"/>
                </a:endParaRPr>
              </a:p>
              <a:p>
                <a:pPr marL="0" indent="0">
                  <a:buNone/>
                </a:pPr>
                <a:endParaRPr lang="es-SV" sz="1700" i="1" dirty="0">
                  <a:solidFill>
                    <a:srgbClr val="FFFFFF"/>
                  </a:solidFill>
                  <a:latin typeface="Cambria Math"/>
                </a:endParaRPr>
              </a:p>
              <a:p>
                <a:pPr marL="0" indent="0">
                  <a:buNone/>
                </a:pPr>
                <a:endParaRPr lang="es-SV" sz="1700" i="1" dirty="0">
                  <a:solidFill>
                    <a:srgbClr val="FFFFFF"/>
                  </a:solidFill>
                  <a:latin typeface="Cambria Math"/>
                </a:endParaRPr>
              </a:p>
              <a:p>
                <a:pPr marL="0" indent="0">
                  <a:buNone/>
                </a:pPr>
                <a:endParaRPr lang="es-SV" sz="1700" i="1" dirty="0">
                  <a:solidFill>
                    <a:srgbClr val="FFFFFF"/>
                  </a:solidFill>
                  <a:latin typeface="Cambria Math"/>
                </a:endParaRPr>
              </a:p>
              <a:p>
                <a:pPr marL="0" indent="0">
                  <a:buNone/>
                </a:pPr>
                <a14:m>
                  <m:oMathPara xmlns:m="http://schemas.openxmlformats.org/officeDocument/2006/math">
                    <m:oMathParaPr>
                      <m:jc m:val="centerGroup"/>
                    </m:oMathParaPr>
                    <m:oMath xmlns:m="http://schemas.openxmlformats.org/officeDocument/2006/math">
                      <m:r>
                        <a:rPr lang="es-SV" sz="2600" i="1">
                          <a:solidFill>
                            <a:srgbClr val="FFFFFF"/>
                          </a:solidFill>
                          <a:latin typeface="Cambria Math"/>
                        </a:rPr>
                        <m:t>𝑃</m:t>
                      </m:r>
                      <m:d>
                        <m:dPr>
                          <m:ctrlPr>
                            <a:rPr lang="es-SV" sz="2600" i="1">
                              <a:solidFill>
                                <a:srgbClr val="FFFFFF"/>
                              </a:solidFill>
                              <a:latin typeface="Cambria Math" panose="02040503050406030204" pitchFamily="18" charset="0"/>
                            </a:rPr>
                          </m:ctrlPr>
                        </m:dPr>
                        <m:e>
                          <m:r>
                            <a:rPr lang="es-SV" sz="2600" i="1">
                              <a:solidFill>
                                <a:srgbClr val="FFFFFF"/>
                              </a:solidFill>
                              <a:latin typeface="Cambria Math"/>
                            </a:rPr>
                            <m:t>𝐴</m:t>
                          </m:r>
                          <m:r>
                            <a:rPr lang="es-SV" sz="2600" i="1">
                              <a:solidFill>
                                <a:srgbClr val="FFFFFF"/>
                              </a:solidFill>
                              <a:latin typeface="Cambria Math"/>
                            </a:rPr>
                            <m:t>∩</m:t>
                          </m:r>
                          <m:sSup>
                            <m:sSupPr>
                              <m:ctrlPr>
                                <a:rPr lang="es-SV" sz="2600" i="1">
                                  <a:solidFill>
                                    <a:srgbClr val="FFFFFF"/>
                                  </a:solidFill>
                                  <a:latin typeface="Cambria Math" panose="02040503050406030204" pitchFamily="18" charset="0"/>
                                </a:rPr>
                              </m:ctrlPr>
                            </m:sSupPr>
                            <m:e>
                              <m:r>
                                <a:rPr lang="es-SV" sz="2600" i="1">
                                  <a:solidFill>
                                    <a:srgbClr val="FFFFFF"/>
                                  </a:solidFill>
                                  <a:latin typeface="Cambria Math"/>
                                </a:rPr>
                                <m:t>𝐵</m:t>
                              </m:r>
                            </m:e>
                            <m:sup>
                              <m:r>
                                <a:rPr lang="es-SV" sz="2600" i="1">
                                  <a:solidFill>
                                    <a:srgbClr val="FFFFFF"/>
                                  </a:solidFill>
                                  <a:latin typeface="Cambria Math"/>
                                </a:rPr>
                                <m:t>′</m:t>
                              </m:r>
                            </m:sup>
                          </m:sSup>
                        </m:e>
                      </m:d>
                      <m:r>
                        <a:rPr lang="es-SV" sz="2600" i="1">
                          <a:solidFill>
                            <a:srgbClr val="FFFFFF"/>
                          </a:solidFill>
                          <a:latin typeface="Cambria Math"/>
                        </a:rPr>
                        <m:t>=</m:t>
                      </m:r>
                      <m:r>
                        <a:rPr lang="es-SV" sz="2600" i="1">
                          <a:solidFill>
                            <a:srgbClr val="FFFFFF"/>
                          </a:solidFill>
                          <a:latin typeface="Cambria Math"/>
                        </a:rPr>
                        <m:t>𝑃</m:t>
                      </m:r>
                      <m:d>
                        <m:dPr>
                          <m:ctrlPr>
                            <a:rPr lang="es-SV" sz="2600" i="1">
                              <a:solidFill>
                                <a:srgbClr val="FFFFFF"/>
                              </a:solidFill>
                              <a:latin typeface="Cambria Math" panose="02040503050406030204" pitchFamily="18" charset="0"/>
                            </a:rPr>
                          </m:ctrlPr>
                        </m:dPr>
                        <m:e>
                          <m:r>
                            <a:rPr lang="es-SV" sz="2600" i="1">
                              <a:solidFill>
                                <a:srgbClr val="FFFFFF"/>
                              </a:solidFill>
                              <a:latin typeface="Cambria Math"/>
                            </a:rPr>
                            <m:t>𝐴</m:t>
                          </m:r>
                        </m:e>
                      </m:d>
                      <m:r>
                        <a:rPr lang="es-SV" sz="2600" i="1">
                          <a:solidFill>
                            <a:srgbClr val="FFFFFF"/>
                          </a:solidFill>
                          <a:latin typeface="Cambria Math"/>
                        </a:rPr>
                        <m:t>−</m:t>
                      </m:r>
                      <m:r>
                        <a:rPr lang="es-SV" sz="2600" i="1">
                          <a:solidFill>
                            <a:srgbClr val="FFFFFF"/>
                          </a:solidFill>
                          <a:latin typeface="Cambria Math"/>
                        </a:rPr>
                        <m:t>𝑃</m:t>
                      </m:r>
                      <m:d>
                        <m:dPr>
                          <m:ctrlPr>
                            <a:rPr lang="es-SV" sz="2600" i="1">
                              <a:solidFill>
                                <a:srgbClr val="FFFFFF"/>
                              </a:solidFill>
                              <a:latin typeface="Cambria Math" panose="02040503050406030204" pitchFamily="18" charset="0"/>
                            </a:rPr>
                          </m:ctrlPr>
                        </m:dPr>
                        <m:e>
                          <m:r>
                            <a:rPr lang="es-SV" sz="2600" i="1">
                              <a:solidFill>
                                <a:srgbClr val="FFFFFF"/>
                              </a:solidFill>
                              <a:latin typeface="Cambria Math"/>
                            </a:rPr>
                            <m:t>𝐴</m:t>
                          </m:r>
                          <m:r>
                            <a:rPr lang="es-SV" sz="2600" i="1">
                              <a:solidFill>
                                <a:srgbClr val="FFFFFF"/>
                              </a:solidFill>
                              <a:latin typeface="Cambria Math"/>
                            </a:rPr>
                            <m:t>∩</m:t>
                          </m:r>
                          <m:r>
                            <a:rPr lang="es-SV" sz="2600" i="1">
                              <a:solidFill>
                                <a:srgbClr val="FFFFFF"/>
                              </a:solidFill>
                              <a:latin typeface="Cambria Math"/>
                            </a:rPr>
                            <m:t>𝐵</m:t>
                          </m:r>
                        </m:e>
                      </m:d>
                    </m:oMath>
                  </m:oMathPara>
                </a14:m>
                <a:endParaRPr lang="es-SV" sz="2600" dirty="0">
                  <a:solidFill>
                    <a:srgbClr val="FFFFFF"/>
                  </a:solidFill>
                </a:endParaRPr>
              </a:p>
              <a:p>
                <a:pPr marL="0" indent="0">
                  <a:buNone/>
                </a:pPr>
                <a:endParaRPr lang="es-SV" sz="1700" dirty="0">
                  <a:solidFill>
                    <a:srgbClr val="FFFFFF"/>
                  </a:solidFill>
                </a:endParaRPr>
              </a:p>
              <a:p>
                <a:pPr marL="0" indent="0">
                  <a:buNone/>
                </a:pPr>
                <a:endParaRPr lang="es-SV" sz="1700" dirty="0">
                  <a:solidFill>
                    <a:srgbClr val="FFFFFF"/>
                  </a:solidFill>
                </a:endParaRPr>
              </a:p>
              <a:p>
                <a:pPr marL="0" indent="0">
                  <a:buNone/>
                </a:pPr>
                <a:endParaRPr lang="es-SV" sz="1700" i="1" dirty="0">
                  <a:solidFill>
                    <a:srgbClr val="FFFFFF"/>
                  </a:solidFill>
                  <a:latin typeface="Cambria Math"/>
                </a:endParaRPr>
              </a:p>
              <a:p>
                <a:pPr marL="0" indent="0">
                  <a:buNone/>
                </a:pPr>
                <a:endParaRPr lang="es-SV" sz="1700" i="1" dirty="0">
                  <a:solidFill>
                    <a:srgbClr val="FFFFFF"/>
                  </a:solidFill>
                  <a:latin typeface="Cambria Math"/>
                </a:endParaRPr>
              </a:p>
              <a:p>
                <a:pPr marL="0" indent="0">
                  <a:buNone/>
                </a:pPr>
                <a:endParaRPr lang="es-SV" sz="1700" i="1" dirty="0">
                  <a:solidFill>
                    <a:srgbClr val="FFFFFF"/>
                  </a:solidFill>
                  <a:latin typeface="Cambria Math"/>
                </a:endParaRPr>
              </a:p>
              <a:p>
                <a:pPr marL="0" indent="0">
                  <a:buNone/>
                </a:pPr>
                <a:endParaRPr lang="es-SV" sz="1700" dirty="0">
                  <a:solidFill>
                    <a:srgbClr val="FFFFFF"/>
                  </a:solidFill>
                </a:endParaRPr>
              </a:p>
              <a:p>
                <a:pPr marL="0" indent="0">
                  <a:buNone/>
                </a:pPr>
                <a:endParaRPr lang="es-SV" sz="1700" dirty="0">
                  <a:solidFill>
                    <a:srgbClr val="FFFFFF"/>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5686922" y="3284983"/>
                <a:ext cx="3211417" cy="2485103"/>
              </a:xfrm>
              <a:blipFill>
                <a:blip r:embed="rId3"/>
                <a:stretch>
                  <a:fillRect l="-2467" t="-39951"/>
                </a:stretch>
              </a:blipFill>
            </p:spPr>
            <p:txBody>
              <a:bodyPr/>
              <a:lstStyle/>
              <a:p>
                <a:r>
                  <a:rPr lang="es-SV">
                    <a:noFill/>
                  </a:rPr>
                  <a:t> </a:t>
                </a:r>
              </a:p>
            </p:txBody>
          </p:sp>
        </mc:Fallback>
      </mc:AlternateContent>
    </p:spTree>
    <p:extLst>
      <p:ext uri="{BB962C8B-B14F-4D97-AF65-F5344CB8AC3E}">
        <p14:creationId xmlns:p14="http://schemas.microsoft.com/office/powerpoint/2010/main" val="2813820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544A3E">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393192" y="491260"/>
            <a:ext cx="4945641" cy="1625210"/>
          </a:xfrm>
        </p:spPr>
        <p:txBody>
          <a:bodyPr>
            <a:normAutofit/>
          </a:bodyPr>
          <a:lstStyle/>
          <a:p>
            <a:r>
              <a:rPr lang="es-SV">
                <a:solidFill>
                  <a:srgbClr val="FFFFFF"/>
                </a:solidFill>
              </a:rPr>
              <a:t>Probabilidad de no A y B</a:t>
            </a:r>
          </a:p>
        </p:txBody>
      </p:sp>
      <p:pic>
        <p:nvPicPr>
          <p:cNvPr id="4" name="Imagen 3"/>
          <p:cNvPicPr/>
          <p:nvPr/>
        </p:nvPicPr>
        <p:blipFill rotWithShape="1">
          <a:blip r:embed="rId2" cstate="print">
            <a:extLst>
              <a:ext uri="{28A0092B-C50C-407E-A947-70E740481C1C}">
                <a14:useLocalDpi xmlns:a14="http://schemas.microsoft.com/office/drawing/2010/main" val="0"/>
              </a:ext>
            </a:extLst>
          </a:blip>
          <a:srcRect l="6369" r="11246"/>
          <a:stretch/>
        </p:blipFill>
        <p:spPr bwMode="auto">
          <a:xfrm>
            <a:off x="245660" y="2454903"/>
            <a:ext cx="5293729" cy="4080254"/>
          </a:xfrm>
          <a:prstGeom prst="rect">
            <a:avLst/>
          </a:prstGeom>
          <a:noFill/>
        </p:spPr>
      </p:pic>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7731" y="321732"/>
            <a:ext cx="323497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5667732" y="917725"/>
                <a:ext cx="3083076" cy="4852362"/>
              </a:xfrm>
            </p:spPr>
            <p:txBody>
              <a:bodyPr anchor="ctr">
                <a:normAutofit/>
              </a:bodyPr>
              <a:lstStyle/>
              <a:p>
                <a:pPr marL="0" indent="0">
                  <a:buNone/>
                </a:pPr>
                <a14:m>
                  <m:oMathPara xmlns:m="http://schemas.openxmlformats.org/officeDocument/2006/math">
                    <m:oMathParaPr>
                      <m:jc m:val="centerGroup"/>
                    </m:oMathParaPr>
                    <m:oMath xmlns:m="http://schemas.openxmlformats.org/officeDocument/2006/math">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sSup>
                            <m:sSupPr>
                              <m:ctrlPr>
                                <a:rPr lang="es-SV" sz="1700" i="1">
                                  <a:solidFill>
                                    <a:srgbClr val="FFFFFF"/>
                                  </a:solidFill>
                                  <a:latin typeface="Cambria Math" panose="02040503050406030204" pitchFamily="18" charset="0"/>
                                </a:rPr>
                              </m:ctrlPr>
                            </m:sSupPr>
                            <m:e>
                              <m:r>
                                <a:rPr lang="es-SV" sz="1700" i="1">
                                  <a:solidFill>
                                    <a:srgbClr val="FFFFFF"/>
                                  </a:solidFill>
                                  <a:latin typeface="Cambria Math"/>
                                </a:rPr>
                                <m:t>𝐴</m:t>
                              </m:r>
                            </m:e>
                            <m:sup>
                              <m:r>
                                <a:rPr lang="es-SV" sz="1700" i="1">
                                  <a:solidFill>
                                    <a:srgbClr val="FFFFFF"/>
                                  </a:solidFill>
                                  <a:latin typeface="Cambria Math"/>
                                </a:rPr>
                                <m:t>′</m:t>
                              </m:r>
                            </m:sup>
                          </m:sSup>
                          <m:r>
                            <a:rPr lang="es-SV" sz="1700" i="1">
                              <a:solidFill>
                                <a:srgbClr val="FFFFFF"/>
                              </a:solidFill>
                              <a:latin typeface="Cambria Math"/>
                            </a:rPr>
                            <m:t>∩</m:t>
                          </m:r>
                          <m:r>
                            <a:rPr lang="es-SV" sz="1700" i="1">
                              <a:solidFill>
                                <a:srgbClr val="FFFFFF"/>
                              </a:solidFill>
                              <a:latin typeface="Cambria Math"/>
                            </a:rPr>
                            <m:t>𝐵</m:t>
                          </m:r>
                        </m:e>
                      </m:d>
                      <m:r>
                        <a:rPr lang="es-SV" sz="1700" i="1">
                          <a:solidFill>
                            <a:srgbClr val="FFFFFF"/>
                          </a:solidFill>
                          <a:latin typeface="Cambria Math"/>
                        </a:rPr>
                        <m:t>=</m:t>
                      </m:r>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𝐵</m:t>
                          </m:r>
                        </m:e>
                      </m:d>
                      <m:r>
                        <a:rPr lang="es-SV" sz="1700" i="1">
                          <a:solidFill>
                            <a:srgbClr val="FFFFFF"/>
                          </a:solidFill>
                          <a:latin typeface="Cambria Math"/>
                        </a:rPr>
                        <m:t>−</m:t>
                      </m:r>
                      <m:r>
                        <a:rPr lang="es-SV" sz="1700" i="1">
                          <a:solidFill>
                            <a:srgbClr val="FFFFFF"/>
                          </a:solidFill>
                          <a:latin typeface="Cambria Math"/>
                        </a:rPr>
                        <m:t>𝑃</m:t>
                      </m:r>
                      <m:r>
                        <a:rPr lang="es-SV" sz="1700" i="1">
                          <a:solidFill>
                            <a:srgbClr val="FFFFFF"/>
                          </a:solidFill>
                          <a:latin typeface="Cambria Math"/>
                        </a:rPr>
                        <m:t>(</m:t>
                      </m:r>
                      <m:r>
                        <a:rPr lang="es-SV" sz="1700" i="1">
                          <a:solidFill>
                            <a:srgbClr val="FFFFFF"/>
                          </a:solidFill>
                          <a:latin typeface="Cambria Math"/>
                        </a:rPr>
                        <m:t>𝐴</m:t>
                      </m:r>
                      <m:r>
                        <a:rPr lang="es-SV" sz="1700" i="1">
                          <a:solidFill>
                            <a:srgbClr val="FFFFFF"/>
                          </a:solidFill>
                          <a:latin typeface="Cambria Math"/>
                        </a:rPr>
                        <m:t>∩</m:t>
                      </m:r>
                      <m:r>
                        <a:rPr lang="es-SV" sz="1700" i="1">
                          <a:solidFill>
                            <a:srgbClr val="FFFFFF"/>
                          </a:solidFill>
                          <a:latin typeface="Cambria Math"/>
                        </a:rPr>
                        <m:t>𝐵</m:t>
                      </m:r>
                      <m:r>
                        <a:rPr lang="es-SV" sz="1700" i="1">
                          <a:solidFill>
                            <a:srgbClr val="FFFFFF"/>
                          </a:solidFill>
                          <a:latin typeface="Cambria Math"/>
                        </a:rPr>
                        <m:t>)</m:t>
                      </m:r>
                    </m:oMath>
                  </m:oMathPara>
                </a14:m>
                <a:endParaRPr lang="es-SV" sz="1700" dirty="0">
                  <a:solidFill>
                    <a:srgbClr val="FFFFFF"/>
                  </a:solidFill>
                </a:endParaRPr>
              </a:p>
              <a:p>
                <a:pPr marL="0" indent="0">
                  <a:buNone/>
                </a:pPr>
                <a:endParaRPr lang="es-SV" sz="1700" dirty="0">
                  <a:solidFill>
                    <a:srgbClr val="FFFFFF"/>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5667732" y="917725"/>
                <a:ext cx="3083076" cy="4852362"/>
              </a:xfrm>
              <a:blipFill>
                <a:blip r:embed="rId3"/>
                <a:stretch>
                  <a:fillRect/>
                </a:stretch>
              </a:blipFill>
            </p:spPr>
            <p:txBody>
              <a:bodyPr/>
              <a:lstStyle/>
              <a:p>
                <a:r>
                  <a:rPr lang="es-SV">
                    <a:noFill/>
                  </a:rPr>
                  <a:t> </a:t>
                </a:r>
              </a:p>
            </p:txBody>
          </p:sp>
        </mc:Fallback>
      </mc:AlternateContent>
    </p:spTree>
    <p:extLst>
      <p:ext uri="{BB962C8B-B14F-4D97-AF65-F5344CB8AC3E}">
        <p14:creationId xmlns:p14="http://schemas.microsoft.com/office/powerpoint/2010/main" val="3145412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393192" y="491260"/>
            <a:ext cx="4945641" cy="1625210"/>
          </a:xfrm>
        </p:spPr>
        <p:txBody>
          <a:bodyPr>
            <a:normAutofit/>
          </a:bodyPr>
          <a:lstStyle/>
          <a:p>
            <a:r>
              <a:rPr lang="es-SV">
                <a:solidFill>
                  <a:srgbClr val="FFFFFF"/>
                </a:solidFill>
              </a:rPr>
              <a:t>Probabilidad de A ó B ó ambos</a:t>
            </a:r>
          </a:p>
        </p:txBody>
      </p:sp>
      <p:pic>
        <p:nvPicPr>
          <p:cNvPr id="7" name="Imagen 6"/>
          <p:cNvPicPr/>
          <p:nvPr/>
        </p:nvPicPr>
        <p:blipFill rotWithShape="1">
          <a:blip r:embed="rId2" cstate="print">
            <a:extLst>
              <a:ext uri="{28A0092B-C50C-407E-A947-70E740481C1C}">
                <a14:useLocalDpi xmlns:a14="http://schemas.microsoft.com/office/drawing/2010/main" val="0"/>
              </a:ext>
            </a:extLst>
          </a:blip>
          <a:srcRect l="7214" r="5622"/>
          <a:stretch/>
        </p:blipFill>
        <p:spPr bwMode="auto">
          <a:xfrm>
            <a:off x="245660" y="2454903"/>
            <a:ext cx="5293729" cy="4080254"/>
          </a:xfrm>
          <a:prstGeom prst="rect">
            <a:avLst/>
          </a:prstGeom>
          <a:noFill/>
        </p:spPr>
      </p:pic>
      <p:sp>
        <p:nvSpPr>
          <p:cNvPr id="14" name="Rectangle 13">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7731" y="321732"/>
            <a:ext cx="323497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5539389" y="917725"/>
                <a:ext cx="3234970" cy="4852362"/>
              </a:xfrm>
            </p:spPr>
            <p:txBody>
              <a:bodyPr anchor="ctr">
                <a:normAutofit/>
              </a:bodyPr>
              <a:lstStyle/>
              <a:p>
                <a:pPr marL="0" indent="0">
                  <a:buNone/>
                </a:pPr>
                <a14:m>
                  <m:oMathPara xmlns:m="http://schemas.openxmlformats.org/officeDocument/2006/math">
                    <m:oMathParaPr>
                      <m:jc m:val="centerGroup"/>
                    </m:oMathParaPr>
                    <m:oMath xmlns:m="http://schemas.openxmlformats.org/officeDocument/2006/math">
                      <m:r>
                        <a:rPr lang="es-SV" sz="1400" i="1">
                          <a:solidFill>
                            <a:srgbClr val="FFFFFF"/>
                          </a:solidFill>
                          <a:latin typeface="Cambria Math"/>
                        </a:rPr>
                        <m:t>𝑃</m:t>
                      </m:r>
                      <m:d>
                        <m:dPr>
                          <m:ctrlPr>
                            <a:rPr lang="es-SV" sz="1400" i="1">
                              <a:solidFill>
                                <a:srgbClr val="FFFFFF"/>
                              </a:solidFill>
                              <a:latin typeface="Cambria Math" panose="02040503050406030204" pitchFamily="18" charset="0"/>
                            </a:rPr>
                          </m:ctrlPr>
                        </m:dPr>
                        <m:e>
                          <m:r>
                            <a:rPr lang="es-SV" sz="1400" i="1">
                              <a:solidFill>
                                <a:srgbClr val="FFFFFF"/>
                              </a:solidFill>
                              <a:latin typeface="Cambria Math"/>
                            </a:rPr>
                            <m:t>𝐴</m:t>
                          </m:r>
                          <m:r>
                            <a:rPr lang="es-SV" sz="1400" i="1">
                              <a:solidFill>
                                <a:srgbClr val="FFFFFF"/>
                              </a:solidFill>
                              <a:latin typeface="Cambria Math"/>
                            </a:rPr>
                            <m:t>∪</m:t>
                          </m:r>
                          <m:r>
                            <a:rPr lang="es-SV" sz="1400" i="1">
                              <a:solidFill>
                                <a:srgbClr val="FFFFFF"/>
                              </a:solidFill>
                              <a:latin typeface="Cambria Math"/>
                            </a:rPr>
                            <m:t>𝐵</m:t>
                          </m:r>
                        </m:e>
                      </m:d>
                      <m:r>
                        <a:rPr lang="es-SV" sz="1400" i="1">
                          <a:solidFill>
                            <a:srgbClr val="FFFFFF"/>
                          </a:solidFill>
                          <a:latin typeface="Cambria Math"/>
                        </a:rPr>
                        <m:t>=</m:t>
                      </m:r>
                      <m:r>
                        <a:rPr lang="es-SV" sz="1400" i="1">
                          <a:solidFill>
                            <a:srgbClr val="FFFFFF"/>
                          </a:solidFill>
                          <a:latin typeface="Cambria Math"/>
                        </a:rPr>
                        <m:t>𝑃</m:t>
                      </m:r>
                      <m:d>
                        <m:dPr>
                          <m:ctrlPr>
                            <a:rPr lang="es-SV" sz="1400" i="1">
                              <a:solidFill>
                                <a:srgbClr val="FFFFFF"/>
                              </a:solidFill>
                              <a:latin typeface="Cambria Math" panose="02040503050406030204" pitchFamily="18" charset="0"/>
                            </a:rPr>
                          </m:ctrlPr>
                        </m:dPr>
                        <m:e>
                          <m:r>
                            <a:rPr lang="es-SV" sz="1400" i="1">
                              <a:solidFill>
                                <a:srgbClr val="FFFFFF"/>
                              </a:solidFill>
                              <a:latin typeface="Cambria Math"/>
                            </a:rPr>
                            <m:t>𝐴</m:t>
                          </m:r>
                        </m:e>
                      </m:d>
                      <m:r>
                        <a:rPr lang="es-SV" sz="1400" i="1">
                          <a:solidFill>
                            <a:srgbClr val="FFFFFF"/>
                          </a:solidFill>
                          <a:latin typeface="Cambria Math"/>
                        </a:rPr>
                        <m:t>+</m:t>
                      </m:r>
                      <m:r>
                        <a:rPr lang="es-SV" sz="1400" i="1">
                          <a:solidFill>
                            <a:srgbClr val="FFFFFF"/>
                          </a:solidFill>
                          <a:latin typeface="Cambria Math"/>
                        </a:rPr>
                        <m:t>𝑃</m:t>
                      </m:r>
                      <m:d>
                        <m:dPr>
                          <m:ctrlPr>
                            <a:rPr lang="es-SV" sz="1400" i="1">
                              <a:solidFill>
                                <a:srgbClr val="FFFFFF"/>
                              </a:solidFill>
                              <a:latin typeface="Cambria Math" panose="02040503050406030204" pitchFamily="18" charset="0"/>
                            </a:rPr>
                          </m:ctrlPr>
                        </m:dPr>
                        <m:e>
                          <m:r>
                            <a:rPr lang="es-SV" sz="1400" i="1">
                              <a:solidFill>
                                <a:srgbClr val="FFFFFF"/>
                              </a:solidFill>
                              <a:latin typeface="Cambria Math"/>
                            </a:rPr>
                            <m:t>𝐵</m:t>
                          </m:r>
                        </m:e>
                      </m:d>
                      <m:r>
                        <a:rPr lang="es-SV" sz="1400" i="1">
                          <a:solidFill>
                            <a:srgbClr val="FFFFFF"/>
                          </a:solidFill>
                          <a:latin typeface="Cambria Math"/>
                        </a:rPr>
                        <m:t>−</m:t>
                      </m:r>
                      <m:r>
                        <a:rPr lang="es-SV" sz="1400" i="1">
                          <a:solidFill>
                            <a:srgbClr val="FFFFFF"/>
                          </a:solidFill>
                          <a:latin typeface="Cambria Math"/>
                        </a:rPr>
                        <m:t>𝑃</m:t>
                      </m:r>
                      <m:d>
                        <m:dPr>
                          <m:ctrlPr>
                            <a:rPr lang="es-SV" sz="1400" i="1">
                              <a:solidFill>
                                <a:srgbClr val="FFFFFF"/>
                              </a:solidFill>
                              <a:latin typeface="Cambria Math" panose="02040503050406030204" pitchFamily="18" charset="0"/>
                            </a:rPr>
                          </m:ctrlPr>
                        </m:dPr>
                        <m:e>
                          <m:r>
                            <a:rPr lang="es-SV" sz="1400" i="1">
                              <a:solidFill>
                                <a:srgbClr val="FFFFFF"/>
                              </a:solidFill>
                              <a:latin typeface="Cambria Math"/>
                            </a:rPr>
                            <m:t>𝐴</m:t>
                          </m:r>
                          <m:r>
                            <a:rPr lang="es-SV" sz="1400" i="1">
                              <a:solidFill>
                                <a:srgbClr val="FFFFFF"/>
                              </a:solidFill>
                              <a:latin typeface="Cambria Math"/>
                            </a:rPr>
                            <m:t>∩</m:t>
                          </m:r>
                          <m:r>
                            <a:rPr lang="es-SV" sz="1400" i="1">
                              <a:solidFill>
                                <a:srgbClr val="FFFFFF"/>
                              </a:solidFill>
                              <a:latin typeface="Cambria Math"/>
                            </a:rPr>
                            <m:t>𝐵</m:t>
                          </m:r>
                        </m:e>
                      </m:d>
                    </m:oMath>
                  </m:oMathPara>
                </a14:m>
                <a:endParaRPr lang="es-SV" sz="1700" dirty="0">
                  <a:solidFill>
                    <a:srgbClr val="FFFFFF"/>
                  </a:solidFill>
                </a:endParaRPr>
              </a:p>
              <a:p>
                <a:pPr marL="0" indent="0">
                  <a:buNone/>
                </a:pPr>
                <a:endParaRPr lang="es-SV" sz="1700" dirty="0">
                  <a:solidFill>
                    <a:srgbClr val="FFFFFF"/>
                  </a:solidFill>
                </a:endParaRPr>
              </a:p>
              <a:p>
                <a:pPr marL="0" indent="0">
                  <a:buNone/>
                </a:pPr>
                <a:endParaRPr lang="es-SV" sz="1700" dirty="0">
                  <a:solidFill>
                    <a:srgbClr val="FFFFFF"/>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5539389" y="917725"/>
                <a:ext cx="3234970" cy="4852362"/>
              </a:xfrm>
              <a:blipFill>
                <a:blip r:embed="rId3"/>
                <a:stretch>
                  <a:fillRect/>
                </a:stretch>
              </a:blipFill>
            </p:spPr>
            <p:txBody>
              <a:bodyPr/>
              <a:lstStyle/>
              <a:p>
                <a:r>
                  <a:rPr lang="es-SV">
                    <a:noFill/>
                  </a:rPr>
                  <a:t> </a:t>
                </a:r>
              </a:p>
            </p:txBody>
          </p:sp>
        </mc:Fallback>
      </mc:AlternateContent>
    </p:spTree>
    <p:extLst>
      <p:ext uri="{BB962C8B-B14F-4D97-AF65-F5344CB8AC3E}">
        <p14:creationId xmlns:p14="http://schemas.microsoft.com/office/powerpoint/2010/main" val="3842531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rgbClr val="52483C">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393192" y="491260"/>
            <a:ext cx="4945641" cy="1625210"/>
          </a:xfrm>
        </p:spPr>
        <p:txBody>
          <a:bodyPr>
            <a:normAutofit/>
          </a:bodyPr>
          <a:lstStyle/>
          <a:p>
            <a:r>
              <a:rPr lang="es-SV" sz="4100">
                <a:solidFill>
                  <a:srgbClr val="FFFFFF"/>
                </a:solidFill>
              </a:rPr>
              <a:t>Nota: La probabilidad c se puede generalizar.</a:t>
            </a:r>
          </a:p>
        </p:txBody>
      </p:sp>
      <p:pic>
        <p:nvPicPr>
          <p:cNvPr id="4" name="Imagen 3"/>
          <p:cNvPicPr/>
          <p:nvPr/>
        </p:nvPicPr>
        <p:blipFill rotWithShape="1">
          <a:blip r:embed="rId2" cstate="print">
            <a:extLst>
              <a:ext uri="{28A0092B-C50C-407E-A947-70E740481C1C}">
                <a14:useLocalDpi xmlns:a14="http://schemas.microsoft.com/office/drawing/2010/main" val="0"/>
              </a:ext>
            </a:extLst>
          </a:blip>
          <a:srcRect l="5199" r="12092"/>
          <a:stretch/>
        </p:blipFill>
        <p:spPr bwMode="auto">
          <a:xfrm>
            <a:off x="245660" y="2454903"/>
            <a:ext cx="5293729" cy="4080254"/>
          </a:xfrm>
          <a:prstGeom prst="rect">
            <a:avLst/>
          </a:prstGeom>
          <a:noFill/>
        </p:spPr>
      </p:pic>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7731" y="321732"/>
            <a:ext cx="323497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5801526" y="1002818"/>
                <a:ext cx="3234970" cy="4852362"/>
              </a:xfrm>
            </p:spPr>
            <p:txBody>
              <a:bodyPr anchor="ctr">
                <a:normAutofit/>
              </a:bodyPr>
              <a:lstStyle/>
              <a:p>
                <a:pPr marL="0" indent="0">
                  <a:buNone/>
                </a:pPr>
                <a14:m>
                  <m:oMathPara xmlns:m="http://schemas.openxmlformats.org/officeDocument/2006/math">
                    <m:oMathParaPr>
                      <m:jc m:val="centerGroup"/>
                    </m:oMathParaPr>
                    <m:oMath xmlns:m="http://schemas.openxmlformats.org/officeDocument/2006/math">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𝐴</m:t>
                          </m:r>
                          <m:r>
                            <a:rPr lang="es-SV" sz="1700" i="1">
                              <a:solidFill>
                                <a:srgbClr val="FFFFFF"/>
                              </a:solidFill>
                              <a:latin typeface="Cambria Math"/>
                            </a:rPr>
                            <m:t>∪</m:t>
                          </m:r>
                          <m:r>
                            <a:rPr lang="es-SV" sz="1700" i="1">
                              <a:solidFill>
                                <a:srgbClr val="FFFFFF"/>
                              </a:solidFill>
                              <a:latin typeface="Cambria Math"/>
                            </a:rPr>
                            <m:t>𝐵</m:t>
                          </m:r>
                          <m:r>
                            <a:rPr lang="es-SV" sz="1700" i="1">
                              <a:solidFill>
                                <a:srgbClr val="FFFFFF"/>
                              </a:solidFill>
                              <a:latin typeface="Cambria Math"/>
                            </a:rPr>
                            <m:t>∪</m:t>
                          </m:r>
                          <m:r>
                            <a:rPr lang="es-SV" sz="1700" i="1">
                              <a:solidFill>
                                <a:srgbClr val="FFFFFF"/>
                              </a:solidFill>
                              <a:latin typeface="Cambria Math"/>
                            </a:rPr>
                            <m:t>𝐶</m:t>
                          </m:r>
                        </m:e>
                      </m:d>
                      <m:r>
                        <a:rPr lang="es-SV" sz="1700" i="1">
                          <a:solidFill>
                            <a:srgbClr val="FFFFFF"/>
                          </a:solidFill>
                          <a:latin typeface="Cambria Math"/>
                        </a:rPr>
                        <m:t>=</m:t>
                      </m:r>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𝐴</m:t>
                          </m:r>
                        </m:e>
                      </m:d>
                      <m:r>
                        <a:rPr lang="es-SV" sz="1700" i="1">
                          <a:solidFill>
                            <a:srgbClr val="FFFFFF"/>
                          </a:solidFill>
                          <a:latin typeface="Cambria Math"/>
                        </a:rPr>
                        <m:t>+</m:t>
                      </m:r>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𝐵</m:t>
                          </m:r>
                        </m:e>
                      </m:d>
                      <m:r>
                        <a:rPr lang="es-SV" sz="1700" i="1">
                          <a:solidFill>
                            <a:srgbClr val="FFFFFF"/>
                          </a:solidFill>
                          <a:latin typeface="Cambria Math"/>
                        </a:rPr>
                        <m:t>+</m:t>
                      </m:r>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𝐶</m:t>
                          </m:r>
                        </m:e>
                      </m:d>
                      <m:r>
                        <a:rPr lang="es-SV" sz="1700" i="1">
                          <a:solidFill>
                            <a:srgbClr val="FFFFFF"/>
                          </a:solidFill>
                          <a:latin typeface="Cambria Math"/>
                        </a:rPr>
                        <m:t>−</m:t>
                      </m:r>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𝐴</m:t>
                          </m:r>
                          <m:r>
                            <a:rPr lang="es-SV" sz="1700" i="1">
                              <a:solidFill>
                                <a:srgbClr val="FFFFFF"/>
                              </a:solidFill>
                              <a:latin typeface="Cambria Math"/>
                            </a:rPr>
                            <m:t>∩</m:t>
                          </m:r>
                          <m:r>
                            <a:rPr lang="es-SV" sz="1700" i="1">
                              <a:solidFill>
                                <a:srgbClr val="FFFFFF"/>
                              </a:solidFill>
                              <a:latin typeface="Cambria Math"/>
                            </a:rPr>
                            <m:t>𝐵</m:t>
                          </m:r>
                        </m:e>
                      </m:d>
                      <m:r>
                        <a:rPr lang="es-SV" sz="1700" i="1">
                          <a:solidFill>
                            <a:srgbClr val="FFFFFF"/>
                          </a:solidFill>
                          <a:latin typeface="Cambria Math"/>
                        </a:rPr>
                        <m:t>−</m:t>
                      </m:r>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𝐴</m:t>
                          </m:r>
                          <m:r>
                            <a:rPr lang="es-SV" sz="1700" i="1">
                              <a:solidFill>
                                <a:srgbClr val="FFFFFF"/>
                              </a:solidFill>
                              <a:latin typeface="Cambria Math"/>
                            </a:rPr>
                            <m:t>∩</m:t>
                          </m:r>
                          <m:r>
                            <a:rPr lang="es-SV" sz="1700" i="1">
                              <a:solidFill>
                                <a:srgbClr val="FFFFFF"/>
                              </a:solidFill>
                              <a:latin typeface="Cambria Math"/>
                            </a:rPr>
                            <m:t>𝐶</m:t>
                          </m:r>
                        </m:e>
                      </m:d>
                      <m:r>
                        <a:rPr lang="es-SV" sz="1700" i="1">
                          <a:solidFill>
                            <a:srgbClr val="FFFFFF"/>
                          </a:solidFill>
                          <a:latin typeface="Cambria Math"/>
                        </a:rPr>
                        <m:t>−</m:t>
                      </m:r>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𝐵</m:t>
                          </m:r>
                          <m:r>
                            <a:rPr lang="es-SV" sz="1700" i="1">
                              <a:solidFill>
                                <a:srgbClr val="FFFFFF"/>
                              </a:solidFill>
                              <a:latin typeface="Cambria Math"/>
                            </a:rPr>
                            <m:t>∩</m:t>
                          </m:r>
                          <m:r>
                            <a:rPr lang="es-SV" sz="1700" i="1">
                              <a:solidFill>
                                <a:srgbClr val="FFFFFF"/>
                              </a:solidFill>
                              <a:latin typeface="Cambria Math"/>
                            </a:rPr>
                            <m:t>𝐶</m:t>
                          </m:r>
                        </m:e>
                      </m:d>
                      <m:r>
                        <a:rPr lang="es-SV" sz="1700" i="1">
                          <a:solidFill>
                            <a:srgbClr val="FFFFFF"/>
                          </a:solidFill>
                          <a:latin typeface="Cambria Math"/>
                        </a:rPr>
                        <m:t>+</m:t>
                      </m:r>
                      <m:r>
                        <a:rPr lang="es-SV" sz="1700" i="1">
                          <a:solidFill>
                            <a:srgbClr val="FFFFFF"/>
                          </a:solidFill>
                          <a:latin typeface="Cambria Math"/>
                        </a:rPr>
                        <m:t>𝑃</m:t>
                      </m:r>
                      <m:d>
                        <m:dPr>
                          <m:ctrlPr>
                            <a:rPr lang="es-SV" sz="1700" i="1">
                              <a:solidFill>
                                <a:srgbClr val="FFFFFF"/>
                              </a:solidFill>
                              <a:latin typeface="Cambria Math" panose="02040503050406030204" pitchFamily="18" charset="0"/>
                            </a:rPr>
                          </m:ctrlPr>
                        </m:dPr>
                        <m:e>
                          <m:r>
                            <a:rPr lang="es-SV" sz="1700" i="1">
                              <a:solidFill>
                                <a:srgbClr val="FFFFFF"/>
                              </a:solidFill>
                              <a:latin typeface="Cambria Math"/>
                            </a:rPr>
                            <m:t>𝐴</m:t>
                          </m:r>
                          <m:r>
                            <a:rPr lang="es-SV" sz="1700" i="1">
                              <a:solidFill>
                                <a:srgbClr val="FFFFFF"/>
                              </a:solidFill>
                              <a:latin typeface="Cambria Math"/>
                            </a:rPr>
                            <m:t>∩</m:t>
                          </m:r>
                          <m:r>
                            <a:rPr lang="es-SV" sz="1700" i="1">
                              <a:solidFill>
                                <a:srgbClr val="FFFFFF"/>
                              </a:solidFill>
                              <a:latin typeface="Cambria Math"/>
                            </a:rPr>
                            <m:t>𝐵</m:t>
                          </m:r>
                          <m:r>
                            <a:rPr lang="es-SV" sz="1700" i="1">
                              <a:solidFill>
                                <a:srgbClr val="FFFFFF"/>
                              </a:solidFill>
                              <a:latin typeface="Cambria Math"/>
                            </a:rPr>
                            <m:t>∩</m:t>
                          </m:r>
                          <m:r>
                            <a:rPr lang="es-SV" sz="1700" i="1">
                              <a:solidFill>
                                <a:srgbClr val="FFFFFF"/>
                              </a:solidFill>
                              <a:latin typeface="Cambria Math"/>
                            </a:rPr>
                            <m:t>𝐶</m:t>
                          </m:r>
                        </m:e>
                      </m:d>
                    </m:oMath>
                  </m:oMathPara>
                </a14:m>
                <a:endParaRPr lang="es-SV" sz="1700" dirty="0">
                  <a:solidFill>
                    <a:srgbClr val="FFFFFF"/>
                  </a:solidFill>
                </a:endParaRPr>
              </a:p>
              <a:p>
                <a:pPr marL="0" indent="0">
                  <a:buNone/>
                </a:pPr>
                <a:endParaRPr lang="es-SV" sz="1700" dirty="0">
                  <a:solidFill>
                    <a:srgbClr val="FFFFFF"/>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5801526" y="1002818"/>
                <a:ext cx="3234970" cy="4852362"/>
              </a:xfrm>
              <a:blipFill>
                <a:blip r:embed="rId3"/>
                <a:stretch>
                  <a:fillRect/>
                </a:stretch>
              </a:blipFill>
            </p:spPr>
            <p:txBody>
              <a:bodyPr/>
              <a:lstStyle/>
              <a:p>
                <a:r>
                  <a:rPr lang="es-SV">
                    <a:noFill/>
                  </a:rPr>
                  <a:t> </a:t>
                </a:r>
              </a:p>
            </p:txBody>
          </p:sp>
        </mc:Fallback>
      </mc:AlternateContent>
    </p:spTree>
    <p:extLst>
      <p:ext uri="{BB962C8B-B14F-4D97-AF65-F5344CB8AC3E}">
        <p14:creationId xmlns:p14="http://schemas.microsoft.com/office/powerpoint/2010/main" val="2262393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ítulo 1">
            <a:extLst>
              <a:ext uri="{FF2B5EF4-FFF2-40B4-BE49-F238E27FC236}">
                <a16:creationId xmlns:a16="http://schemas.microsoft.com/office/drawing/2014/main" id="{B6AEBDFB-3CA8-434F-948C-B78539B448A7}"/>
              </a:ext>
            </a:extLst>
          </p:cNvPr>
          <p:cNvSpPr>
            <a:spLocks noGrp="1"/>
          </p:cNvSpPr>
          <p:nvPr>
            <p:ph type="title"/>
          </p:nvPr>
        </p:nvSpPr>
        <p:spPr>
          <a:xfrm>
            <a:off x="582930" y="731519"/>
            <a:ext cx="2133893" cy="3237579"/>
          </a:xfrm>
        </p:spPr>
        <p:txBody>
          <a:bodyPr>
            <a:normAutofit/>
          </a:bodyPr>
          <a:lstStyle/>
          <a:p>
            <a:r>
              <a:rPr lang="es-SV" sz="2300">
                <a:solidFill>
                  <a:srgbClr val="FFFFFF"/>
                </a:solidFill>
              </a:rPr>
              <a:t>Ejercicio sobre cálculo de probabilidades </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1C091803-41C2-48E0-9228-5148460C747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7CD60C4-02B6-414F-ACB6-E6FDBA574818}"/>
              </a:ext>
            </a:extLst>
          </p:cNvPr>
          <p:cNvSpPr>
            <a:spLocks noGrp="1"/>
          </p:cNvSpPr>
          <p:nvPr>
            <p:ph idx="1"/>
          </p:nvPr>
        </p:nvSpPr>
        <p:spPr>
          <a:xfrm>
            <a:off x="3284781" y="686862"/>
            <a:ext cx="5278194" cy="5475129"/>
          </a:xfrm>
        </p:spPr>
        <p:txBody>
          <a:bodyPr anchor="ctr">
            <a:normAutofit/>
          </a:bodyPr>
          <a:lstStyle/>
          <a:p>
            <a:pPr marL="0" indent="0" algn="just">
              <a:buNone/>
            </a:pPr>
            <a:r>
              <a:rPr lang="es-SV" sz="2100" dirty="0"/>
              <a:t>En la banca salvadoreña se tiene la premisa de que el 80% de las PYMES poseen créditos comercial, el 50% posee créditos de consumo y 10% no posee ningún tipo de crédito con la banca salvadoreña (hipótesis a probar). Si seleccionamos una PYME determine: </a:t>
            </a:r>
          </a:p>
          <a:p>
            <a:pPr marL="514350" indent="-514350" algn="just">
              <a:buAutoNum type="alphaLcParenR"/>
            </a:pPr>
            <a:r>
              <a:rPr lang="es-SV" sz="2100" dirty="0"/>
              <a:t>La probabilidad de que una PYME tenga ambos tipos de créditos.</a:t>
            </a:r>
          </a:p>
          <a:p>
            <a:pPr marL="514350" indent="-514350" algn="just">
              <a:buAutoNum type="alphaLcParenR"/>
            </a:pPr>
            <a:r>
              <a:rPr lang="es-SV" sz="2100" dirty="0"/>
              <a:t>Tenga al menos uno de los dos tipos de crédito con la banca salvadoreña.</a:t>
            </a:r>
          </a:p>
          <a:p>
            <a:pPr marL="514350" indent="-514350" algn="just">
              <a:buAutoNum type="alphaLcParenR"/>
            </a:pPr>
            <a:r>
              <a:rPr lang="es-SV" sz="2100" dirty="0"/>
              <a:t>La probabilidad de que solo tenga créditos comerciales.</a:t>
            </a:r>
          </a:p>
          <a:p>
            <a:pPr marL="514350" indent="-514350" algn="just">
              <a:buAutoNum type="alphaLcParenR"/>
            </a:pPr>
            <a:r>
              <a:rPr lang="es-SV" sz="2100" dirty="0"/>
              <a:t>La probabilidad de que tenga solo uno de los tipos de créditos disponibles en la banca salvadoreña </a:t>
            </a:r>
          </a:p>
        </p:txBody>
      </p:sp>
    </p:spTree>
    <p:extLst>
      <p:ext uri="{BB962C8B-B14F-4D97-AF65-F5344CB8AC3E}">
        <p14:creationId xmlns:p14="http://schemas.microsoft.com/office/powerpoint/2010/main" val="1979375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ítulo 1">
            <a:extLst>
              <a:ext uri="{FF2B5EF4-FFF2-40B4-BE49-F238E27FC236}">
                <a16:creationId xmlns:a16="http://schemas.microsoft.com/office/drawing/2014/main" id="{4D944E63-31AF-4A5E-9899-5621A8DA90B1}"/>
              </a:ext>
            </a:extLst>
          </p:cNvPr>
          <p:cNvSpPr>
            <a:spLocks noGrp="1"/>
          </p:cNvSpPr>
          <p:nvPr>
            <p:ph type="title"/>
          </p:nvPr>
        </p:nvSpPr>
        <p:spPr>
          <a:xfrm>
            <a:off x="582930" y="731519"/>
            <a:ext cx="2133893" cy="3237579"/>
          </a:xfrm>
        </p:spPr>
        <p:txBody>
          <a:bodyPr>
            <a:normAutofit/>
          </a:bodyPr>
          <a:lstStyle/>
          <a:p>
            <a:r>
              <a:rPr lang="es-SV" sz="2300">
                <a:solidFill>
                  <a:srgbClr val="FFFFFF"/>
                </a:solidFill>
              </a:rPr>
              <a:t>Ejercicios sobre probabilidades </a:t>
            </a: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1C091803-41C2-48E0-9228-5148460C747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D29F204-91F5-4131-8C64-F3910BCAA01A}"/>
              </a:ext>
            </a:extLst>
          </p:cNvPr>
          <p:cNvSpPr>
            <a:spLocks noGrp="1"/>
          </p:cNvSpPr>
          <p:nvPr>
            <p:ph idx="1"/>
          </p:nvPr>
        </p:nvSpPr>
        <p:spPr>
          <a:xfrm>
            <a:off x="3284781" y="686862"/>
            <a:ext cx="5278194" cy="5475129"/>
          </a:xfrm>
        </p:spPr>
        <p:txBody>
          <a:bodyPr anchor="ctr">
            <a:normAutofit/>
          </a:bodyPr>
          <a:lstStyle/>
          <a:p>
            <a:pPr marL="0" indent="0" algn="just">
              <a:buNone/>
            </a:pPr>
            <a:r>
              <a:rPr lang="es-SV" sz="2100" dirty="0"/>
              <a:t>La gerencia de desarrollo de productos hizo una encuesta a 2500 personas a nivel nacional para saber la aceptación de dos nuevos productos (A= paga fácil y B= el borra saldos) que se pretenden sacar a los tarjetahabientes. De los encuestados 2100 respondieron que les gustaría el producto A, 1500 el producto B y 350 ninguno de los dos productos. Si elegimos al azar uno de los encuestados, a la gerencia le gustaría saber: </a:t>
            </a:r>
          </a:p>
          <a:p>
            <a:pPr marL="514350" indent="-514350" algn="just">
              <a:buAutoNum type="alphaLcParenR"/>
            </a:pPr>
            <a:r>
              <a:rPr lang="es-SV" sz="2100" dirty="0"/>
              <a:t>La probabilidad de que prefiera ambos productos.</a:t>
            </a:r>
          </a:p>
          <a:p>
            <a:pPr marL="514350" indent="-514350" algn="just">
              <a:buAutoNum type="alphaLcParenR"/>
            </a:pPr>
            <a:r>
              <a:rPr lang="es-SV" sz="2100" dirty="0"/>
              <a:t>La probabilidad de que solo prefiera el producto B.</a:t>
            </a:r>
          </a:p>
          <a:p>
            <a:pPr marL="514350" indent="-514350" algn="just">
              <a:buAutoNum type="alphaLcParenR"/>
            </a:pPr>
            <a:r>
              <a:rPr lang="es-SV" sz="2100" dirty="0"/>
              <a:t>La probabilidad de que solo prefiera uno de los dos productos.</a:t>
            </a:r>
          </a:p>
          <a:p>
            <a:pPr marL="514350" indent="-514350">
              <a:buAutoNum type="alphaLcParenR"/>
            </a:pPr>
            <a:endParaRPr lang="es-SV" sz="2100" dirty="0"/>
          </a:p>
          <a:p>
            <a:pPr marL="0" indent="0">
              <a:buNone/>
            </a:pPr>
            <a:endParaRPr lang="es-SV" sz="2100" dirty="0"/>
          </a:p>
        </p:txBody>
      </p:sp>
    </p:spTree>
    <p:extLst>
      <p:ext uri="{BB962C8B-B14F-4D97-AF65-F5344CB8AC3E}">
        <p14:creationId xmlns:p14="http://schemas.microsoft.com/office/powerpoint/2010/main" val="309037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822960" y="325550"/>
            <a:ext cx="75438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4500">
                <a:solidFill>
                  <a:srgbClr val="FFFFFF"/>
                </a:solidFill>
              </a:rPr>
              <a:t>Guía de trabajo </a:t>
            </a:r>
          </a:p>
        </p:txBody>
      </p:sp>
    </p:spTree>
    <p:extLst>
      <p:ext uri="{BB962C8B-B14F-4D97-AF65-F5344CB8AC3E}">
        <p14:creationId xmlns:p14="http://schemas.microsoft.com/office/powerpoint/2010/main" val="3451875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1</a:t>
            </a:r>
          </a:p>
        </p:txBody>
      </p:sp>
      <p:sp>
        <p:nvSpPr>
          <p:cNvPr id="3" name="Marcador de contenido 2"/>
          <p:cNvSpPr>
            <a:spLocks noGrp="1"/>
          </p:cNvSpPr>
          <p:nvPr>
            <p:ph idx="1"/>
          </p:nvPr>
        </p:nvSpPr>
        <p:spPr/>
        <p:txBody>
          <a:bodyPr>
            <a:normAutofit fontScale="85000" lnSpcReduction="20000"/>
          </a:bodyPr>
          <a:lstStyle/>
          <a:p>
            <a:pPr marL="0" indent="0" algn="just">
              <a:buNone/>
            </a:pPr>
            <a:r>
              <a:rPr lang="es-SV" dirty="0"/>
              <a:t>En un sondeo se les pidió a 1035 adultos su opinión respecto a los negocios (</a:t>
            </a:r>
            <a:r>
              <a:rPr lang="es-SV" i="1" dirty="0" err="1"/>
              <a:t>BusinessWeek</a:t>
            </a:r>
            <a:r>
              <a:rPr lang="es-SV" dirty="0"/>
              <a:t>, 11 de septiembre de 2000). Una de las preguntas era: “¿Cómo califica usted a las empresas estadounidenses respecto a la calidad de los productos y competitividad a nivel mundial?” Las respuestas fueron: excelentes, 18%; bastante buenas, 50%; regulares, 26%; malas, 5% y no saben o no contestaron 1%. </a:t>
            </a:r>
            <a:r>
              <a:rPr lang="es-SV" sz="2800" dirty="0"/>
              <a:t>(Anderson, </a:t>
            </a:r>
            <a:r>
              <a:rPr lang="es-SV" sz="2800" dirty="0" err="1"/>
              <a:t>Sweeney</a:t>
            </a:r>
            <a:r>
              <a:rPr lang="es-SV" sz="2800" dirty="0"/>
              <a:t> y Williams 2008)</a:t>
            </a:r>
            <a:endParaRPr lang="es-SV" dirty="0"/>
          </a:p>
          <a:p>
            <a:pPr algn="just"/>
            <a:r>
              <a:rPr lang="es-SV" dirty="0"/>
              <a:t>¿Cuál es la probabilidad de que un interrogado considere a las empresas estadounidenses bastante buenas o excelentes?</a:t>
            </a:r>
          </a:p>
          <a:p>
            <a:pPr algn="just"/>
            <a:r>
              <a:rPr lang="es-SV" dirty="0"/>
              <a:t>¿Cuántos de los interrogados consideraron malas a las empresas estadounidenses?</a:t>
            </a:r>
          </a:p>
          <a:p>
            <a:pPr algn="just"/>
            <a:r>
              <a:rPr lang="es-SV" dirty="0"/>
              <a:t>¿Cuántos de los interrogados dijo no saber o no contestó?</a:t>
            </a:r>
          </a:p>
        </p:txBody>
      </p:sp>
    </p:spTree>
    <p:extLst>
      <p:ext uri="{BB962C8B-B14F-4D97-AF65-F5344CB8AC3E}">
        <p14:creationId xmlns:p14="http://schemas.microsoft.com/office/powerpoint/2010/main" val="170244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2</a:t>
            </a:r>
          </a:p>
        </p:txBody>
      </p:sp>
      <p:sp>
        <p:nvSpPr>
          <p:cNvPr id="3" name="Marcador de contenido 2"/>
          <p:cNvSpPr>
            <a:spLocks noGrp="1"/>
          </p:cNvSpPr>
          <p:nvPr>
            <p:ph idx="1"/>
          </p:nvPr>
        </p:nvSpPr>
        <p:spPr/>
        <p:txBody>
          <a:bodyPr>
            <a:normAutofit fontScale="92500"/>
          </a:bodyPr>
          <a:lstStyle/>
          <a:p>
            <a:pPr marL="0" lvl="0" indent="0" algn="just">
              <a:buNone/>
            </a:pPr>
            <a:r>
              <a:rPr lang="es-SV" dirty="0"/>
              <a:t>En un curso de matemáticas impartido a 40 mujeres y 26 hombres, se les pregunto cuántos tenían computadora. Once hombres y siete mujeres respondieron afirmativamente. Si luego se selecciona al azar, un estudiante de la nómina de alumnos, determinar las probabilidades de que el estudiante elegido:</a:t>
            </a:r>
          </a:p>
          <a:p>
            <a:pPr lvl="0"/>
            <a:r>
              <a:rPr lang="es-SV" dirty="0"/>
              <a:t>Sea mujer. </a:t>
            </a:r>
          </a:p>
          <a:p>
            <a:pPr lvl="0"/>
            <a:r>
              <a:rPr lang="es-SV" dirty="0"/>
              <a:t>Sea mujer y tenga computadora. </a:t>
            </a:r>
          </a:p>
          <a:p>
            <a:pPr lvl="0"/>
            <a:r>
              <a:rPr lang="es-SV" dirty="0"/>
              <a:t>Sea hombre. </a:t>
            </a:r>
          </a:p>
          <a:p>
            <a:pPr lvl="0"/>
            <a:r>
              <a:rPr lang="es-SV" dirty="0"/>
              <a:t>Sea hombre y no tenga computadora. </a:t>
            </a:r>
          </a:p>
          <a:p>
            <a:pPr marL="0" indent="0">
              <a:buNone/>
            </a:pPr>
            <a:endParaRPr lang="es-SV" dirty="0"/>
          </a:p>
        </p:txBody>
      </p:sp>
    </p:spTree>
    <p:extLst>
      <p:ext uri="{BB962C8B-B14F-4D97-AF65-F5344CB8AC3E}">
        <p14:creationId xmlns:p14="http://schemas.microsoft.com/office/powerpoint/2010/main" val="2523505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95536" y="476672"/>
            <a:ext cx="8229600" cy="612304"/>
          </a:xfrm>
        </p:spPr>
        <p:txBody>
          <a:bodyPr>
            <a:normAutofit fontScale="90000"/>
          </a:bodyPr>
          <a:lstStyle/>
          <a:p>
            <a:r>
              <a:rPr lang="es-SV" dirty="0"/>
              <a:t>Ejercicio 3</a:t>
            </a:r>
          </a:p>
        </p:txBody>
      </p:sp>
      <p:sp>
        <p:nvSpPr>
          <p:cNvPr id="3" name="Marcador de contenido 2"/>
          <p:cNvSpPr>
            <a:spLocks noGrp="1"/>
          </p:cNvSpPr>
          <p:nvPr>
            <p:ph idx="1"/>
          </p:nvPr>
        </p:nvSpPr>
        <p:spPr>
          <a:xfrm>
            <a:off x="251520" y="1196752"/>
            <a:ext cx="8712968" cy="4960208"/>
          </a:xfrm>
        </p:spPr>
        <p:txBody>
          <a:bodyPr>
            <a:noAutofit/>
          </a:bodyPr>
          <a:lstStyle/>
          <a:p>
            <a:pPr marL="0" indent="0" algn="just">
              <a:buNone/>
            </a:pPr>
            <a:r>
              <a:rPr lang="es-SV" sz="1800" dirty="0"/>
              <a:t>A principios de 2003, el presidente de Estados Unidos propuso eliminar los impuestos a los dividendos de los accionistas con el argumento de que era un doble impuesto. Las corporaciones pagan impuestos sobre las ganancias que luego son repartidas como dividendos. En un sondeo realizado a 671 estadounidenses, Techno </a:t>
            </a:r>
            <a:r>
              <a:rPr lang="es-SV" sz="1800" dirty="0" err="1"/>
              <a:t>Metrica</a:t>
            </a:r>
            <a:r>
              <a:rPr lang="es-SV" sz="1800" dirty="0"/>
              <a:t> </a:t>
            </a:r>
            <a:r>
              <a:rPr lang="es-SV" sz="1800" dirty="0" err="1"/>
              <a:t>Market</a:t>
            </a:r>
            <a:r>
              <a:rPr lang="es-SV" sz="1800" dirty="0"/>
              <a:t> </a:t>
            </a:r>
            <a:r>
              <a:rPr lang="es-SV" sz="1800" dirty="0" err="1"/>
              <a:t>Intelligence</a:t>
            </a:r>
            <a:r>
              <a:rPr lang="es-SV" sz="1800" dirty="0"/>
              <a:t> halló que 47% estaban a favor de la propuesta, 44% se oponían a ella y 9% no estaban seguros (</a:t>
            </a:r>
            <a:r>
              <a:rPr lang="es-SV" sz="1800" i="1" dirty="0" err="1"/>
              <a:t>Investor’s</a:t>
            </a:r>
            <a:r>
              <a:rPr lang="es-SV" sz="1800" i="1" dirty="0"/>
              <a:t> Business Daily,</a:t>
            </a:r>
            <a:r>
              <a:rPr lang="es-SV" sz="1800" dirty="0"/>
              <a:t>13 de enero de 2003). Al analizar las respuestas de acuerdo con la pertenencia a los partidos políticos, se encontró en el sondeo que 29% de los demócratas estaban a favor, 64% de los republicanos estaban a favor y 48% de los independientes estaban a favor. (Anderson, </a:t>
            </a:r>
            <a:r>
              <a:rPr lang="es-SV" sz="1800" dirty="0" err="1"/>
              <a:t>Sweeney</a:t>
            </a:r>
            <a:r>
              <a:rPr lang="es-SV" sz="1800" dirty="0"/>
              <a:t> y Williams 2008)</a:t>
            </a:r>
          </a:p>
          <a:p>
            <a:pPr algn="just"/>
            <a:r>
              <a:rPr lang="es-SV" sz="1800" dirty="0"/>
              <a:t>¿Cuántos de los encuestados estuvieron a favor de la eliminación de los impuestos a los dividendos?</a:t>
            </a:r>
          </a:p>
          <a:p>
            <a:pPr algn="just"/>
            <a:r>
              <a:rPr lang="es-SV" sz="1800" dirty="0"/>
              <a:t>¿Cuál es la probabilidad condicional de que una persona sea demócrata dado que estuvo a favor?</a:t>
            </a:r>
          </a:p>
          <a:p>
            <a:pPr algn="just"/>
            <a:r>
              <a:rPr lang="es-SV" sz="1800" dirty="0"/>
              <a:t>¿Es la afiliación partidaria independiente de que una persona esté a favor de la propuesta?</a:t>
            </a:r>
          </a:p>
        </p:txBody>
      </p:sp>
    </p:spTree>
    <p:extLst>
      <p:ext uri="{BB962C8B-B14F-4D97-AF65-F5344CB8AC3E}">
        <p14:creationId xmlns:p14="http://schemas.microsoft.com/office/powerpoint/2010/main" val="2088833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SV" dirty="0"/>
              <a:t>Ejercicio 4</a:t>
            </a:r>
          </a:p>
        </p:txBody>
      </p:sp>
      <p:sp>
        <p:nvSpPr>
          <p:cNvPr id="3" name="Marcador de contenido 2"/>
          <p:cNvSpPr>
            <a:spLocks noGrp="1"/>
          </p:cNvSpPr>
          <p:nvPr>
            <p:ph idx="1"/>
          </p:nvPr>
        </p:nvSpPr>
        <p:spPr/>
        <p:txBody>
          <a:bodyPr/>
          <a:lstStyle/>
          <a:p>
            <a:pPr marL="0" lvl="0" indent="0">
              <a:buNone/>
            </a:pPr>
            <a:r>
              <a:rPr lang="es-SV" dirty="0"/>
              <a:t>Una empresa lanzara dos productos nuevos al mercado el próximo año; después de una investigación se encontró que la probabilidad de que el producto A tenga éxito es de 0.45 y la probabilidad de que el producto B tenga éxito es de 0.70.</a:t>
            </a:r>
          </a:p>
          <a:p>
            <a:pPr lvl="0"/>
            <a:r>
              <a:rPr lang="es-SV" dirty="0"/>
              <a:t>¿Cuál es la probabilidad de que ambos tenga éxito?</a:t>
            </a:r>
          </a:p>
          <a:p>
            <a:pPr lvl="0"/>
            <a:r>
              <a:rPr lang="es-SV" dirty="0"/>
              <a:t>¿Cuál es la probabilidad de que al menos uno de ellos tenga éxito?</a:t>
            </a:r>
          </a:p>
          <a:p>
            <a:pPr marL="0" indent="0">
              <a:buNone/>
            </a:pPr>
            <a:endParaRPr lang="es-SV" dirty="0"/>
          </a:p>
        </p:txBody>
      </p:sp>
    </p:spTree>
    <p:extLst>
      <p:ext uri="{BB962C8B-B14F-4D97-AF65-F5344CB8AC3E}">
        <p14:creationId xmlns:p14="http://schemas.microsoft.com/office/powerpoint/2010/main" val="2101485279"/>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3785</TotalTime>
  <Words>1323</Words>
  <Application>Microsoft Office PowerPoint</Application>
  <PresentationFormat>Presentación en pantalla (4:3)</PresentationFormat>
  <Paragraphs>135</Paragraphs>
  <Slides>28</Slides>
  <Notes>0</Notes>
  <HiddenSlides>0</HiddenSlides>
  <MMClips>1</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Arial</vt:lpstr>
      <vt:lpstr>Calibri</vt:lpstr>
      <vt:lpstr>Calibri Light</vt:lpstr>
      <vt:lpstr>Cambria Math</vt:lpstr>
      <vt:lpstr>Office Theme</vt:lpstr>
      <vt:lpstr>Universidad centroamericana  “José Simeón Cañas” </vt:lpstr>
      <vt:lpstr>Conceptos básicos</vt:lpstr>
      <vt:lpstr>Probabilidades </vt:lpstr>
      <vt:lpstr>Fundamentos de Probabilidades </vt:lpstr>
      <vt:lpstr>Probabilidades </vt:lpstr>
      <vt:lpstr>Fenómeno aleatorio </vt:lpstr>
      <vt:lpstr>Experimento aleatorio</vt:lpstr>
      <vt:lpstr>Espacio muestral </vt:lpstr>
      <vt:lpstr>Suceso o evento</vt:lpstr>
      <vt:lpstr>Ocurrencia de un suceso</vt:lpstr>
      <vt:lpstr>Sucesos mutuamente excluyentes</vt:lpstr>
      <vt:lpstr>Sucesos complementarios </vt:lpstr>
      <vt:lpstr>Probabilidad de un suceso A</vt:lpstr>
      <vt:lpstr>Formas de calcular la probabilidad de un suceso.</vt:lpstr>
      <vt:lpstr>Probabilidad clásica de Laplace (a priori)</vt:lpstr>
      <vt:lpstr>Propiedades básicas de la probabilidad</vt:lpstr>
      <vt:lpstr>Probabilidad complementaria </vt:lpstr>
      <vt:lpstr>Probabilidad de A y no B</vt:lpstr>
      <vt:lpstr>Probabilidad de no A y B</vt:lpstr>
      <vt:lpstr>Probabilidad de A ó B ó ambos</vt:lpstr>
      <vt:lpstr>Nota: La probabilidad c se puede generalizar.</vt:lpstr>
      <vt:lpstr>Ejercicio sobre cálculo de probabilidades </vt:lpstr>
      <vt:lpstr>Ejercicios sobre probabilidades </vt:lpstr>
      <vt:lpstr>Guía de trabajo </vt:lpstr>
      <vt:lpstr>Ejercicio 1</vt:lpstr>
      <vt:lpstr>Ejercicio 2</vt:lpstr>
      <vt:lpstr>Ejercicio 3</vt:lpstr>
      <vt:lpstr>Ejercicio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centroamericana José Simeón Cañas</dc:title>
  <dc:creator>UCA</dc:creator>
  <cp:lastModifiedBy>uca</cp:lastModifiedBy>
  <cp:revision>173</cp:revision>
  <cp:lastPrinted>2025-10-15T20:44:41Z</cp:lastPrinted>
  <dcterms:created xsi:type="dcterms:W3CDTF">2015-01-09T20:37:27Z</dcterms:created>
  <dcterms:modified xsi:type="dcterms:W3CDTF">2026-05-06T21:08:32Z</dcterms:modified>
</cp:coreProperties>
</file>