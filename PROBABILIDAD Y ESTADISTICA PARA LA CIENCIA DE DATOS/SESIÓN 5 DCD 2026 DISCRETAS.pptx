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5"/>
  </p:notesMasterIdLst>
  <p:sldIdLst>
    <p:sldId id="401" r:id="rId2"/>
    <p:sldId id="278" r:id="rId3"/>
    <p:sldId id="383" r:id="rId4"/>
    <p:sldId id="385" r:id="rId5"/>
    <p:sldId id="386" r:id="rId6"/>
    <p:sldId id="387" r:id="rId7"/>
    <p:sldId id="390" r:id="rId8"/>
    <p:sldId id="391" r:id="rId9"/>
    <p:sldId id="392" r:id="rId10"/>
    <p:sldId id="394" r:id="rId11"/>
    <p:sldId id="395" r:id="rId12"/>
    <p:sldId id="396" r:id="rId13"/>
    <p:sldId id="397" r:id="rId14"/>
    <p:sldId id="398" r:id="rId15"/>
    <p:sldId id="399" r:id="rId16"/>
    <p:sldId id="400" r:id="rId17"/>
    <p:sldId id="377" r:id="rId18"/>
    <p:sldId id="368" r:id="rId19"/>
    <p:sldId id="381" r:id="rId20"/>
    <p:sldId id="382" r:id="rId21"/>
    <p:sldId id="378" r:id="rId22"/>
    <p:sldId id="379" r:id="rId23"/>
    <p:sldId id="380" r:id="rId24"/>
  </p:sldIdLst>
  <p:sldSz cx="9144000" cy="6858000" type="screen4x3"/>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7B469-6375-4B31-9E8D-F0F5D1F96C44}" type="datetimeFigureOut">
              <a:rPr lang="es-SV" smtClean="0"/>
              <a:t>13/5/2026</a:t>
            </a:fld>
            <a:endParaRPr lang="es-SV"/>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CFB16-7B83-48BD-9148-02186C72AF1D}" type="slidenum">
              <a:rPr lang="es-SV" smtClean="0"/>
              <a:t>‹Nº›</a:t>
            </a:fld>
            <a:endParaRPr lang="es-SV"/>
          </a:p>
        </p:txBody>
      </p:sp>
    </p:spTree>
    <p:extLst>
      <p:ext uri="{BB962C8B-B14F-4D97-AF65-F5344CB8AC3E}">
        <p14:creationId xmlns:p14="http://schemas.microsoft.com/office/powerpoint/2010/main" val="185917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6400800" y="6355080"/>
            <a:ext cx="2286000" cy="365760"/>
          </a:xfrm>
        </p:spPr>
        <p:txBody>
          <a:bodyPr/>
          <a:lstStyle>
            <a:lvl1pPr>
              <a:defRPr sz="1400"/>
            </a:lvl1pPr>
          </a:lstStyle>
          <a:p>
            <a:fld id="{4B5F6883-5435-47D5-880C-1B4DF04FBDCC}" type="datetimeFigureOut">
              <a:rPr lang="es-SV" smtClean="0"/>
              <a:pPr/>
              <a:t>13/5/2026</a:t>
            </a:fld>
            <a:endParaRPr lang="es-SV"/>
          </a:p>
        </p:txBody>
      </p:sp>
      <p:sp>
        <p:nvSpPr>
          <p:cNvPr id="17" name="16 Marcador de pie de página"/>
          <p:cNvSpPr>
            <a:spLocks noGrp="1"/>
          </p:cNvSpPr>
          <p:nvPr>
            <p:ph type="ftr" sz="quarter" idx="11"/>
          </p:nvPr>
        </p:nvSpPr>
        <p:spPr>
          <a:xfrm>
            <a:off x="2898648" y="6355080"/>
            <a:ext cx="3474720" cy="365760"/>
          </a:xfrm>
        </p:spPr>
        <p:txBody>
          <a:bodyPr/>
          <a:lstStyle/>
          <a:p>
            <a:endParaRPr lang="es-SV"/>
          </a:p>
        </p:txBody>
      </p:sp>
      <p:sp>
        <p:nvSpPr>
          <p:cNvPr id="29" name="28 Marcador de número de diapositiva"/>
          <p:cNvSpPr>
            <a:spLocks noGrp="1"/>
          </p:cNvSpPr>
          <p:nvPr>
            <p:ph type="sldNum" sz="quarter" idx="12"/>
          </p:nvPr>
        </p:nvSpPr>
        <p:spPr>
          <a:xfrm>
            <a:off x="1216152" y="6355080"/>
            <a:ext cx="1219200" cy="365760"/>
          </a:xfrm>
        </p:spPr>
        <p:txBody>
          <a:bodyPr/>
          <a:lstStyle/>
          <a:p>
            <a:fld id="{2D022E58-9AF6-4173-9FFF-BFAAE1D0EF7D}" type="slidenum">
              <a:rPr lang="es-SV" smtClean="0"/>
              <a:pPr/>
              <a:t>‹Nº›</a:t>
            </a:fld>
            <a:endParaRPr lang="es-SV"/>
          </a:p>
        </p:txBody>
      </p:sp>
      <p:sp>
        <p:nvSpPr>
          <p:cNvPr id="21" name="20 Rectángulo"/>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32 Rectángulo"/>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21 Rectángulo"/>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4" name="3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4 Marcador de pie de página"/>
          <p:cNvSpPr>
            <a:spLocks noGrp="1"/>
          </p:cNvSpPr>
          <p:nvPr>
            <p:ph type="ftr" sz="quarter" idx="11"/>
          </p:nvPr>
        </p:nvSpPr>
        <p:spPr/>
        <p:txBody>
          <a:bodyPr/>
          <a:lstStyle/>
          <a:p>
            <a:endParaRPr lang="es-SV"/>
          </a:p>
        </p:txBody>
      </p:sp>
      <p:sp>
        <p:nvSpPr>
          <p:cNvPr id="6" name="5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8" name="7 Marcador de contenido"/>
          <p:cNvSpPr>
            <a:spLocks noGrp="1"/>
          </p:cNvSpPr>
          <p:nvPr>
            <p:ph sz="quarter" idx="1"/>
          </p:nvPr>
        </p:nvSpPr>
        <p:spPr>
          <a:xfrm>
            <a:off x="457200" y="1219200"/>
            <a:ext cx="8229600" cy="493776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a:xfrm>
            <a:off x="6400800" y="6355080"/>
            <a:ext cx="2286000" cy="365760"/>
          </a:xfrm>
        </p:spPr>
        <p:txBody>
          <a:bodyPr/>
          <a:lstStyle/>
          <a:p>
            <a:fld id="{4B5F6883-5435-47D5-880C-1B4DF04FBDCC}" type="datetimeFigureOut">
              <a:rPr lang="es-SV" smtClean="0"/>
              <a:pPr/>
              <a:t>13/5/2026</a:t>
            </a:fld>
            <a:endParaRPr lang="es-SV"/>
          </a:p>
        </p:txBody>
      </p:sp>
      <p:sp>
        <p:nvSpPr>
          <p:cNvPr id="5" name="4 Marcador de pie de página"/>
          <p:cNvSpPr>
            <a:spLocks noGrp="1"/>
          </p:cNvSpPr>
          <p:nvPr>
            <p:ph type="ftr" sz="quarter" idx="11"/>
          </p:nvPr>
        </p:nvSpPr>
        <p:spPr>
          <a:xfrm>
            <a:off x="2898648" y="6355080"/>
            <a:ext cx="3474720" cy="365760"/>
          </a:xfrm>
        </p:spPr>
        <p:txBody>
          <a:bodyPr/>
          <a:lstStyle/>
          <a:p>
            <a:endParaRPr lang="es-SV"/>
          </a:p>
        </p:txBody>
      </p:sp>
      <p:sp>
        <p:nvSpPr>
          <p:cNvPr id="6" name="5 Marcador de número de diapositiva"/>
          <p:cNvSpPr>
            <a:spLocks noGrp="1"/>
          </p:cNvSpPr>
          <p:nvPr>
            <p:ph type="sldNum" sz="quarter" idx="12"/>
          </p:nvPr>
        </p:nvSpPr>
        <p:spPr>
          <a:xfrm>
            <a:off x="1069848" y="6355080"/>
            <a:ext cx="1520952" cy="365760"/>
          </a:xfrm>
        </p:spPr>
        <p:txBody>
          <a:bodyPr/>
          <a:lstStyle/>
          <a:p>
            <a:fld id="{2D022E58-9AF6-4173-9FFF-BFAAE1D0EF7D}" type="slidenum">
              <a:rPr lang="es-SV" smtClean="0"/>
              <a:pPr/>
              <a:t>‹Nº›</a:t>
            </a:fld>
            <a:endParaRPr lang="es-SV"/>
          </a:p>
        </p:txBody>
      </p:sp>
      <p:sp>
        <p:nvSpPr>
          <p:cNvPr id="7" name="6 Rectángulo"/>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6" name="5 Marcador de pie de página"/>
          <p:cNvSpPr>
            <a:spLocks noGrp="1"/>
          </p:cNvSpPr>
          <p:nvPr>
            <p:ph type="ftr" sz="quarter" idx="11"/>
          </p:nvPr>
        </p:nvSpPr>
        <p:spPr/>
        <p:txBody>
          <a:bodyPr/>
          <a:lstStyle/>
          <a:p>
            <a:endParaRPr lang="es-SV"/>
          </a:p>
        </p:txBody>
      </p:sp>
      <p:sp>
        <p:nvSpPr>
          <p:cNvPr id="7" name="6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9" name="8 Marcador de contenido"/>
          <p:cNvSpPr>
            <a:spLocks noGrp="1"/>
          </p:cNvSpPr>
          <p:nvPr>
            <p:ph sz="quarter" idx="1"/>
          </p:nvPr>
        </p:nvSpPr>
        <p:spPr>
          <a:xfrm>
            <a:off x="457200" y="1219200"/>
            <a:ext cx="4041648" cy="493776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1" name="10 Marcador de contenido"/>
          <p:cNvSpPr>
            <a:spLocks noGrp="1"/>
          </p:cNvSpPr>
          <p:nvPr>
            <p:ph sz="quarter" idx="2"/>
          </p:nvPr>
        </p:nvSpPr>
        <p:spPr>
          <a:xfrm>
            <a:off x="4632198" y="1216152"/>
            <a:ext cx="4041648" cy="493776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7" name="6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8" name="7 Marcador de pie de página"/>
          <p:cNvSpPr>
            <a:spLocks noGrp="1"/>
          </p:cNvSpPr>
          <p:nvPr>
            <p:ph type="ftr" sz="quarter" idx="11"/>
          </p:nvPr>
        </p:nvSpPr>
        <p:spPr/>
        <p:txBody>
          <a:bodyPr/>
          <a:lstStyle/>
          <a:p>
            <a:endParaRPr lang="es-SV"/>
          </a:p>
        </p:txBody>
      </p:sp>
      <p:sp>
        <p:nvSpPr>
          <p:cNvPr id="9" name="8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11" name="10 Marcador de contenido"/>
          <p:cNvSpPr>
            <a:spLocks noGrp="1"/>
          </p:cNvSpPr>
          <p:nvPr>
            <p:ph sz="quarter" idx="2"/>
          </p:nvPr>
        </p:nvSpPr>
        <p:spPr>
          <a:xfrm>
            <a:off x="457200" y="2133600"/>
            <a:ext cx="4038600" cy="40386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3" name="12 Marcador de contenido"/>
          <p:cNvSpPr>
            <a:spLocks noGrp="1"/>
          </p:cNvSpPr>
          <p:nvPr>
            <p:ph sz="quarter" idx="4"/>
          </p:nvPr>
        </p:nvSpPr>
        <p:spPr>
          <a:xfrm>
            <a:off x="4648200" y="2133600"/>
            <a:ext cx="4038600" cy="40386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4" name="3 Marcador de pie de página"/>
          <p:cNvSpPr>
            <a:spLocks noGrp="1"/>
          </p:cNvSpPr>
          <p:nvPr>
            <p:ph type="ftr" sz="quarter" idx="11"/>
          </p:nvPr>
        </p:nvSpPr>
        <p:spPr/>
        <p:txBody>
          <a:bodyPr/>
          <a:lstStyle/>
          <a:p>
            <a:endParaRPr lang="es-SV"/>
          </a:p>
        </p:txBody>
      </p:sp>
      <p:sp>
        <p:nvSpPr>
          <p:cNvPr id="5" name="4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3" name="2 Marcador de pie de página"/>
          <p:cNvSpPr>
            <a:spLocks noGrp="1"/>
          </p:cNvSpPr>
          <p:nvPr>
            <p:ph type="ftr" sz="quarter" idx="11"/>
          </p:nvPr>
        </p:nvSpPr>
        <p:spPr/>
        <p:txBody>
          <a:bodyPr/>
          <a:lstStyle/>
          <a:p>
            <a:endParaRPr lang="es-SV"/>
          </a:p>
        </p:txBody>
      </p:sp>
      <p:sp>
        <p:nvSpPr>
          <p:cNvPr id="4" name="3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5" name="4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6" name="5 Marcador de pie de página"/>
          <p:cNvSpPr>
            <a:spLocks noGrp="1"/>
          </p:cNvSpPr>
          <p:nvPr>
            <p:ph type="ftr" sz="quarter" idx="11"/>
          </p:nvPr>
        </p:nvSpPr>
        <p:spPr/>
        <p:txBody>
          <a:bodyPr/>
          <a:lstStyle/>
          <a:p>
            <a:endParaRPr lang="es-SV"/>
          </a:p>
        </p:txBody>
      </p:sp>
      <p:sp>
        <p:nvSpPr>
          <p:cNvPr id="7" name="6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Conector recto"/>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Marcador de contenido"/>
          <p:cNvSpPr>
            <a:spLocks noGrp="1"/>
          </p:cNvSpPr>
          <p:nvPr>
            <p:ph sz="quarter" idx="1"/>
          </p:nvPr>
        </p:nvSpPr>
        <p:spPr>
          <a:xfrm>
            <a:off x="304800" y="304800"/>
            <a:ext cx="5715000" cy="57150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6" name="5 Marcador de pie de página"/>
          <p:cNvSpPr>
            <a:spLocks noGrp="1"/>
          </p:cNvSpPr>
          <p:nvPr>
            <p:ph type="ftr" sz="quarter" idx="11"/>
          </p:nvPr>
        </p:nvSpPr>
        <p:spPr/>
        <p:txBody>
          <a:bodyPr/>
          <a:lstStyle/>
          <a:p>
            <a:endParaRPr lang="es-SV"/>
          </a:p>
        </p:txBody>
      </p:sp>
      <p:sp>
        <p:nvSpPr>
          <p:cNvPr id="7" name="6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4 Marcador de pie de página"/>
          <p:cNvSpPr>
            <a:spLocks noGrp="1"/>
          </p:cNvSpPr>
          <p:nvPr>
            <p:ph type="ftr" sz="quarter" idx="11"/>
          </p:nvPr>
        </p:nvSpPr>
        <p:spPr/>
        <p:txBody>
          <a:bodyPr/>
          <a:lstStyle/>
          <a:p>
            <a:endParaRPr lang="es-SV"/>
          </a:p>
        </p:txBody>
      </p:sp>
      <p:sp>
        <p:nvSpPr>
          <p:cNvPr id="6" name="5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4 Marcador de pie de página"/>
          <p:cNvSpPr>
            <a:spLocks noGrp="1"/>
          </p:cNvSpPr>
          <p:nvPr>
            <p:ph type="ftr" sz="quarter" idx="11"/>
          </p:nvPr>
        </p:nvSpPr>
        <p:spPr/>
        <p:txBody>
          <a:bodyPr/>
          <a:lstStyle/>
          <a:p>
            <a:endParaRPr lang="es-SV"/>
          </a:p>
        </p:txBody>
      </p:sp>
      <p:sp>
        <p:nvSpPr>
          <p:cNvPr id="6" name="5 Marcador de número de diapositiva"/>
          <p:cNvSpPr>
            <a:spLocks noGrp="1"/>
          </p:cNvSpPr>
          <p:nvPr>
            <p:ph type="sldNum" sz="quarter" idx="12"/>
          </p:nvPr>
        </p:nvSpPr>
        <p:spPr/>
        <p:txBody>
          <a:bodyPr/>
          <a:lstStyle/>
          <a:p>
            <a:fld id="{2D022E58-9AF6-4173-9FFF-BFAAE1D0EF7D}" type="slidenum">
              <a:rPr lang="es-SV" smtClean="0"/>
              <a:pPr/>
              <a:t>‹Nº›</a:t>
            </a:fld>
            <a:endParaRPr lang="es-SV"/>
          </a:p>
        </p:txBody>
      </p:sp>
      <p:sp>
        <p:nvSpPr>
          <p:cNvPr id="7" name="6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7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Conector recto"/>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57200" y="152400"/>
            <a:ext cx="8229600" cy="990600"/>
          </a:xfrm>
          <a:prstGeom prst="rect">
            <a:avLst/>
          </a:prstGeom>
        </p:spPr>
        <p:txBody>
          <a:bodyPr vert="horz" anchor="b" anchorCtr="0">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4B5F6883-5435-47D5-880C-1B4DF04FBDCC}" type="datetimeFigureOut">
              <a:rPr lang="es-SV" smtClean="0"/>
              <a:pPr/>
              <a:t>13/5/2026</a:t>
            </a:fld>
            <a:endParaRPr lang="es-SV"/>
          </a:p>
        </p:txBody>
      </p:sp>
      <p:sp>
        <p:nvSpPr>
          <p:cNvPr id="3" name="2 Marcador de pie de página"/>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s-SV"/>
          </a:p>
        </p:txBody>
      </p:sp>
      <p:sp>
        <p:nvSpPr>
          <p:cNvPr id="23" name="22 Marcador de número de diapositiva"/>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2D022E58-9AF6-4173-9FFF-BFAAE1D0EF7D}" type="slidenum">
              <a:rPr lang="es-SV" smtClean="0"/>
              <a:pPr/>
              <a:t>‹Nº›</a:t>
            </a:fld>
            <a:endParaRPr lang="es-SV"/>
          </a:p>
        </p:txBody>
      </p:sp>
      <p:sp>
        <p:nvSpPr>
          <p:cNvPr id="28" name="2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28 Conector recto"/>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475656" y="3861048"/>
            <a:ext cx="6480720" cy="990600"/>
          </a:xfrm>
        </p:spPr>
        <p:txBody>
          <a:bodyPr>
            <a:normAutofit fontScale="90000"/>
          </a:bodyPr>
          <a:lstStyle/>
          <a:p>
            <a:pPr algn="ctr"/>
            <a:r>
              <a:rPr lang="es-MX" dirty="0"/>
              <a:t>Universidad centroamericana </a:t>
            </a:r>
            <a:br>
              <a:rPr lang="es-MX" dirty="0"/>
            </a:br>
            <a:r>
              <a:rPr lang="es-MX" dirty="0"/>
              <a:t>“José Simeón Cañas” </a:t>
            </a:r>
            <a:endParaRPr lang="es-SV" dirty="0"/>
          </a:p>
        </p:txBody>
      </p:sp>
      <p:sp>
        <p:nvSpPr>
          <p:cNvPr id="3" name="2 Subtítulo"/>
          <p:cNvSpPr>
            <a:spLocks noGrp="1"/>
          </p:cNvSpPr>
          <p:nvPr>
            <p:ph type="subTitle" idx="1"/>
          </p:nvPr>
        </p:nvSpPr>
        <p:spPr>
          <a:xfrm>
            <a:off x="1331640" y="5157192"/>
            <a:ext cx="6337720" cy="864096"/>
          </a:xfrm>
        </p:spPr>
        <p:txBody>
          <a:bodyPr>
            <a:noAutofit/>
          </a:bodyPr>
          <a:lstStyle/>
          <a:p>
            <a:r>
              <a:rPr lang="es-ES_tradnl" dirty="0"/>
              <a:t> </a:t>
            </a:r>
            <a:endParaRPr lang="es-SV" dirty="0"/>
          </a:p>
          <a:p>
            <a:endParaRPr lang="es-SV" sz="4000" dirty="0"/>
          </a:p>
        </p:txBody>
      </p:sp>
      <p:sp>
        <p:nvSpPr>
          <p:cNvPr id="4" name="2 Subtítulo"/>
          <p:cNvSpPr txBox="1">
            <a:spLocks/>
          </p:cNvSpPr>
          <p:nvPr/>
        </p:nvSpPr>
        <p:spPr>
          <a:xfrm>
            <a:off x="2699792" y="5301208"/>
            <a:ext cx="4104456" cy="576064"/>
          </a:xfrm>
          <a:prstGeom prst="rect">
            <a:avLst/>
          </a:prstGeom>
        </p:spPr>
        <p:txBody>
          <a:bodyPr vert="horz">
            <a:no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es-SV"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6" name="AutoShape 4" descr="10+ perfiles de «Departamento Operaciones» | LinkedIn"/>
          <p:cNvSpPr>
            <a:spLocks noChangeAspect="1" noChangeArrowheads="1"/>
          </p:cNvSpPr>
          <p:nvPr/>
        </p:nvSpPr>
        <p:spPr bwMode="auto">
          <a:xfrm>
            <a:off x="1520205" y="764704"/>
            <a:ext cx="3264297" cy="3264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ángulo 7"/>
          <p:cNvSpPr/>
          <p:nvPr/>
        </p:nvSpPr>
        <p:spPr>
          <a:xfrm>
            <a:off x="2051720" y="5024155"/>
            <a:ext cx="5617640" cy="369332"/>
          </a:xfrm>
          <a:prstGeom prst="rect">
            <a:avLst/>
          </a:prstGeom>
        </p:spPr>
        <p:txBody>
          <a:bodyPr wrap="square">
            <a:spAutoFit/>
          </a:bodyPr>
          <a:lstStyle/>
          <a:p>
            <a:r>
              <a:rPr lang="es-MX" i="1" dirty="0">
                <a:solidFill>
                  <a:srgbClr val="212529"/>
                </a:solidFill>
                <a:latin typeface="Poppins"/>
              </a:rPr>
              <a:t> Probabilidad y estadística para la ciencia de datos</a:t>
            </a:r>
            <a:endParaRPr lang="en-US" dirty="0"/>
          </a:p>
        </p:txBody>
      </p:sp>
    </p:spTree>
    <p:extLst>
      <p:ext uri="{BB962C8B-B14F-4D97-AF65-F5344CB8AC3E}">
        <p14:creationId xmlns:p14="http://schemas.microsoft.com/office/powerpoint/2010/main" val="1035026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Conceptos básicos</a:t>
            </a:r>
            <a:endParaRPr lang="es-SV" dirty="0"/>
          </a:p>
        </p:txBody>
      </p:sp>
      <p:sp>
        <p:nvSpPr>
          <p:cNvPr id="3" name="2 Marcador de contenido"/>
          <p:cNvSpPr>
            <a:spLocks noGrp="1"/>
          </p:cNvSpPr>
          <p:nvPr>
            <p:ph idx="1"/>
          </p:nvPr>
        </p:nvSpPr>
        <p:spPr>
          <a:xfrm>
            <a:off x="457200" y="1052736"/>
            <a:ext cx="8229600" cy="5472608"/>
          </a:xfrm>
        </p:spPr>
        <p:txBody>
          <a:bodyPr>
            <a:normAutofit fontScale="40000" lnSpcReduction="20000"/>
          </a:bodyPr>
          <a:lstStyle/>
          <a:p>
            <a:pPr marL="0" indent="0" algn="just">
              <a:lnSpc>
                <a:spcPct val="260000"/>
              </a:lnSpc>
              <a:buNone/>
            </a:pPr>
            <a:r>
              <a:rPr lang="es-SV" sz="6700" dirty="0"/>
              <a:t>DISTRIBUCIONES DE PROBABILIDAD DISCRETA</a:t>
            </a:r>
          </a:p>
          <a:p>
            <a:pPr algn="just">
              <a:lnSpc>
                <a:spcPct val="120000"/>
              </a:lnSpc>
            </a:pPr>
            <a:r>
              <a:rPr lang="es-MX" sz="7200" dirty="0"/>
              <a:t>Distribuciones de probabilidad de variable aleatoria discreta.</a:t>
            </a:r>
          </a:p>
          <a:p>
            <a:pPr algn="just">
              <a:lnSpc>
                <a:spcPct val="120000"/>
              </a:lnSpc>
            </a:pPr>
            <a:endParaRPr lang="es-MX" sz="7200" dirty="0"/>
          </a:p>
          <a:p>
            <a:pPr algn="just">
              <a:lnSpc>
                <a:spcPct val="120000"/>
              </a:lnSpc>
            </a:pPr>
            <a:r>
              <a:rPr lang="es-MX" sz="7200" dirty="0"/>
              <a:t>Valor esperado y varianza de una distribución de probabilidad discreta.</a:t>
            </a:r>
          </a:p>
          <a:p>
            <a:endParaRPr lang="es-MX" dirty="0"/>
          </a:p>
          <a:p>
            <a:pPr>
              <a:buNone/>
            </a:pPr>
            <a:endParaRPr lang="es-MX" dirty="0"/>
          </a:p>
          <a:p>
            <a:endParaRPr lang="es-MX" dirty="0"/>
          </a:p>
          <a:p>
            <a:endParaRPr lang="es-MX" dirty="0"/>
          </a:p>
          <a:p>
            <a:pPr>
              <a:buNone/>
            </a:pPr>
            <a:r>
              <a:rPr lang="es-MX" dirty="0"/>
              <a:t> </a:t>
            </a:r>
          </a:p>
          <a:p>
            <a:endParaRPr lang="es-SV" dirty="0"/>
          </a:p>
        </p:txBody>
      </p:sp>
    </p:spTree>
    <p:extLst>
      <p:ext uri="{BB962C8B-B14F-4D97-AF65-F5344CB8AC3E}">
        <p14:creationId xmlns:p14="http://schemas.microsoft.com/office/powerpoint/2010/main" val="1053019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SV" sz="2400" dirty="0"/>
              <a:t>DISTRIBUCIONES DE PROBABILIDAD DISCRETA</a:t>
            </a:r>
          </a:p>
        </p:txBody>
      </p:sp>
      <p:sp>
        <p:nvSpPr>
          <p:cNvPr id="3" name="Marcador de contenido 2"/>
          <p:cNvSpPr>
            <a:spLocks noGrp="1"/>
          </p:cNvSpPr>
          <p:nvPr>
            <p:ph sz="quarter" idx="1"/>
          </p:nvPr>
        </p:nvSpPr>
        <p:spPr/>
        <p:txBody>
          <a:bodyPr>
            <a:normAutofit fontScale="92500" lnSpcReduction="10000"/>
          </a:bodyPr>
          <a:lstStyle/>
          <a:p>
            <a:pPr marL="0" indent="0" algn="just">
              <a:buNone/>
            </a:pPr>
            <a:r>
              <a:rPr lang="es-SV" dirty="0"/>
              <a:t>La </a:t>
            </a:r>
            <a:r>
              <a:rPr lang="es-SV" b="1" dirty="0"/>
              <a:t>distribución de probabilidad </a:t>
            </a:r>
            <a:r>
              <a:rPr lang="es-SV" dirty="0"/>
              <a:t>de una variable aleatoria describe cómo se distribuyen las probabilidades entre los valores de la variable aleatoria. En el caso de una variable aleatoria discreta </a:t>
            </a:r>
            <a:r>
              <a:rPr lang="es-SV" i="1" dirty="0"/>
              <a:t>x</a:t>
            </a:r>
            <a:r>
              <a:rPr lang="es-SV" dirty="0"/>
              <a:t>, la distribución de probabilidad está definida por una </a:t>
            </a:r>
            <a:r>
              <a:rPr lang="es-SV" b="1" dirty="0"/>
              <a:t>función de probabilidad</a:t>
            </a:r>
            <a:r>
              <a:rPr lang="es-SV" dirty="0"/>
              <a:t>, denotada por </a:t>
            </a:r>
            <a:r>
              <a:rPr lang="es-SV" i="1" dirty="0"/>
              <a:t>f</a:t>
            </a:r>
            <a:r>
              <a:rPr lang="es-SV" dirty="0"/>
              <a:t>(</a:t>
            </a:r>
            <a:r>
              <a:rPr lang="es-SV" i="1" dirty="0"/>
              <a:t>x</a:t>
            </a:r>
            <a:r>
              <a:rPr lang="es-SV" dirty="0"/>
              <a:t>). La función de probabilidad da la probabilidad de cada valor de la variable aleatoria en este caso para la variable discreta. </a:t>
            </a:r>
          </a:p>
          <a:p>
            <a:pPr marL="0" indent="0" algn="just">
              <a:buNone/>
            </a:pPr>
            <a:endParaRPr lang="es-SV" sz="2800" dirty="0"/>
          </a:p>
          <a:p>
            <a:pPr marL="0" indent="0" algn="just">
              <a:buNone/>
            </a:pPr>
            <a:r>
              <a:rPr lang="es-SV" dirty="0"/>
              <a:t>Una ventaja importante de definir una variable aleatoria y su correspondiente distribución de probabilidad es que una vez que se conoce la distribución de probabilidad, es relativamente fácil determinar la probabilidad de diversos eventos que pueden ser útiles para tomar decisiones. </a:t>
            </a:r>
            <a:r>
              <a:rPr lang="es-SV" sz="2800" dirty="0"/>
              <a:t>(Anderson, </a:t>
            </a:r>
            <a:r>
              <a:rPr lang="es-SV" sz="2800" dirty="0" err="1"/>
              <a:t>Sweeney</a:t>
            </a:r>
            <a:r>
              <a:rPr lang="es-SV" sz="2800" dirty="0"/>
              <a:t> y Williams 2008)</a:t>
            </a:r>
          </a:p>
          <a:p>
            <a:pPr marL="0" indent="0" algn="just">
              <a:buNone/>
            </a:pPr>
            <a:endParaRPr lang="es-SV" dirty="0"/>
          </a:p>
        </p:txBody>
      </p:sp>
    </p:spTree>
    <p:extLst>
      <p:ext uri="{BB962C8B-B14F-4D97-AF65-F5344CB8AC3E}">
        <p14:creationId xmlns:p14="http://schemas.microsoft.com/office/powerpoint/2010/main" val="1847739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457200" y="1412776"/>
                <a:ext cx="7890080" cy="4800600"/>
              </a:xfrm>
            </p:spPr>
            <p:txBody>
              <a:bodyPr>
                <a:normAutofit/>
              </a:bodyPr>
              <a:lstStyle/>
              <a:p>
                <a:pPr marL="82296" indent="0" algn="just">
                  <a:buNone/>
                </a:pPr>
                <a:r>
                  <a:rPr lang="es-SV" dirty="0"/>
                  <a:t>Una definición más formal de variable aleatoria es la siguiente:</a:t>
                </a:r>
              </a:p>
              <a:p>
                <a:pPr marL="82296" indent="0" algn="just">
                  <a:buNone/>
                </a:pPr>
                <a:endParaRPr lang="es-SV" dirty="0"/>
              </a:p>
              <a:p>
                <a:pPr marL="82296" indent="0" algn="just">
                  <a:buNone/>
                </a:pPr>
                <a:r>
                  <a:rPr lang="es-SV" dirty="0"/>
                  <a:t>Si “</a:t>
                </a:r>
                <a:r>
                  <a:rPr lang="es-SV" i="1" dirty="0"/>
                  <a:t>S” </a:t>
                </a:r>
                <a:r>
                  <a:rPr lang="es-SV" dirty="0"/>
                  <a:t>es un espacio </a:t>
                </a:r>
                <a:r>
                  <a:rPr lang="es-SV" dirty="0" err="1"/>
                  <a:t>muestral</a:t>
                </a:r>
                <a:r>
                  <a:rPr lang="es-SV" dirty="0"/>
                  <a:t> de una experiencia aleatoria E, una variable aleatoria X numérica asociada a “</a:t>
                </a:r>
                <a:r>
                  <a:rPr lang="es-SV" i="1" dirty="0"/>
                  <a:t>S”</a:t>
                </a:r>
                <a:r>
                  <a:rPr lang="es-SV" dirty="0"/>
                  <a:t> es una función: </a:t>
                </a:r>
              </a:p>
              <a:p>
                <a:pPr marL="82296" indent="0" algn="just">
                  <a:buNone/>
                </a:pPr>
                <a14:m>
                  <m:oMathPara xmlns:m="http://schemas.openxmlformats.org/officeDocument/2006/math">
                    <m:oMathParaPr>
                      <m:jc m:val="centerGroup"/>
                    </m:oMathParaPr>
                    <m:oMath xmlns:m="http://schemas.openxmlformats.org/officeDocument/2006/math">
                      <m:r>
                        <a:rPr lang="es-SV" b="0" i="1" smtClean="0">
                          <a:latin typeface="Cambria Math"/>
                        </a:rPr>
                        <m:t>𝑋</m:t>
                      </m:r>
                      <m:r>
                        <a:rPr lang="es-SV" b="0" i="1" smtClean="0">
                          <a:latin typeface="Cambria Math"/>
                        </a:rPr>
                        <m:t>:</m:t>
                      </m:r>
                      <m:r>
                        <a:rPr lang="es-SV" b="0" i="1" smtClean="0">
                          <a:latin typeface="Cambria Math"/>
                        </a:rPr>
                        <m:t>𝑆</m:t>
                      </m:r>
                      <m:r>
                        <a:rPr lang="es-SV" b="0" i="1" smtClean="0">
                          <a:latin typeface="Cambria Math"/>
                          <a:ea typeface="Cambria Math"/>
                        </a:rPr>
                        <m:t>→</m:t>
                      </m:r>
                      <m:r>
                        <a:rPr lang="es-SV" b="0" i="1" smtClean="0">
                          <a:latin typeface="Cambria Math"/>
                          <a:ea typeface="Cambria Math"/>
                        </a:rPr>
                        <m:t>𝑅</m:t>
                      </m:r>
                    </m:oMath>
                  </m:oMathPara>
                </a14:m>
                <a:endParaRPr lang="es-SV" b="0" dirty="0">
                  <a:ea typeface="Cambria Math"/>
                </a:endParaRPr>
              </a:p>
              <a:p>
                <a:pPr marL="82296" indent="0" algn="just">
                  <a:buNone/>
                </a:pPr>
                <a:endParaRPr lang="es-SV" b="0" dirty="0">
                  <a:ea typeface="Cambria Math"/>
                </a:endParaRPr>
              </a:p>
              <a:p>
                <a:pPr marL="82296" indent="0" algn="just">
                  <a:buNone/>
                </a:pPr>
                <a:r>
                  <a:rPr lang="es-SV" dirty="0"/>
                  <a:t>Donde R es el conjunto de números reales.</a:t>
                </a: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457200" y="1412776"/>
                <a:ext cx="7890080" cy="4800600"/>
              </a:xfrm>
              <a:blipFill>
                <a:blip r:embed="rId2"/>
                <a:stretch>
                  <a:fillRect l="-309" t="-1144" r="-1391"/>
                </a:stretch>
              </a:blipFill>
            </p:spPr>
            <p:txBody>
              <a:bodyPr/>
              <a:lstStyle/>
              <a:p>
                <a:r>
                  <a:rPr lang="es-SV">
                    <a:noFill/>
                  </a:rPr>
                  <a:t> </a:t>
                </a:r>
              </a:p>
            </p:txBody>
          </p:sp>
        </mc:Fallback>
      </mc:AlternateContent>
      <p:sp>
        <p:nvSpPr>
          <p:cNvPr id="4" name="Título 3"/>
          <p:cNvSpPr>
            <a:spLocks noGrp="1"/>
          </p:cNvSpPr>
          <p:nvPr>
            <p:ph type="title"/>
          </p:nvPr>
        </p:nvSpPr>
        <p:spPr/>
        <p:txBody>
          <a:bodyPr>
            <a:normAutofit/>
          </a:bodyPr>
          <a:lstStyle/>
          <a:p>
            <a:r>
              <a:rPr lang="es-SV" dirty="0"/>
              <a:t>Características de la variable aleatoria.</a:t>
            </a:r>
          </a:p>
        </p:txBody>
      </p:sp>
    </p:spTree>
    <p:extLst>
      <p:ext uri="{BB962C8B-B14F-4D97-AF65-F5344CB8AC3E}">
        <p14:creationId xmlns:p14="http://schemas.microsoft.com/office/powerpoint/2010/main" val="2622473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23528" y="1196753"/>
                <a:ext cx="8610160" cy="5358796"/>
              </a:xfrm>
            </p:spPr>
            <p:txBody>
              <a:bodyPr>
                <a:normAutofit lnSpcReduction="10000"/>
              </a:bodyPr>
              <a:lstStyle/>
              <a:p>
                <a:pPr marL="82296" indent="0" algn="just">
                  <a:buNone/>
                </a:pPr>
                <a:r>
                  <a:rPr lang="es-SV" dirty="0"/>
                  <a:t>Los valores que toma la variable en el conjunto de los números reales se denominan “rango de la variable aleatoria X” y lo simbolizamos </a:t>
                </a:r>
                <a14:m>
                  <m:oMath xmlns:m="http://schemas.openxmlformats.org/officeDocument/2006/math">
                    <m:sSub>
                      <m:sSubPr>
                        <m:ctrlPr>
                          <a:rPr lang="es-SV" i="1" smtClean="0">
                            <a:latin typeface="Cambria Math" panose="02040503050406030204" pitchFamily="18" charset="0"/>
                          </a:rPr>
                        </m:ctrlPr>
                      </m:sSubPr>
                      <m:e>
                        <m:r>
                          <a:rPr lang="es-SV" b="0" i="1" smtClean="0">
                            <a:latin typeface="Cambria Math"/>
                          </a:rPr>
                          <m:t>𝑅</m:t>
                        </m:r>
                      </m:e>
                      <m:sub>
                        <m:r>
                          <a:rPr lang="es-SV" b="0" i="1" smtClean="0">
                            <a:latin typeface="Cambria Math"/>
                          </a:rPr>
                          <m:t>𝑥</m:t>
                        </m:r>
                      </m:sub>
                    </m:sSub>
                    <m:r>
                      <a:rPr lang="es-SV" b="0" i="0" smtClean="0">
                        <a:latin typeface="Cambria Math"/>
                      </a:rPr>
                      <m:t>.</m:t>
                    </m:r>
                  </m:oMath>
                </a14:m>
                <a:r>
                  <a:rPr lang="es-SV" dirty="0"/>
                  <a:t> Otras convenciones son las siguientes:</a:t>
                </a:r>
              </a:p>
              <a:p>
                <a:pPr marL="539496" indent="-457200" algn="just"/>
                <a14:m>
                  <m:oMath xmlns:m="http://schemas.openxmlformats.org/officeDocument/2006/math">
                    <m:r>
                      <a:rPr lang="es-SV" b="0" i="1" smtClean="0">
                        <a:latin typeface="Cambria Math"/>
                      </a:rPr>
                      <m:t>𝑋</m:t>
                    </m:r>
                    <m:r>
                      <a:rPr lang="es-SV" b="0" i="1" smtClean="0">
                        <a:latin typeface="Cambria Math"/>
                      </a:rPr>
                      <m:t>, </m:t>
                    </m:r>
                    <m:r>
                      <a:rPr lang="es-SV" b="0" i="1" smtClean="0">
                        <a:latin typeface="Cambria Math"/>
                      </a:rPr>
                      <m:t>𝑌</m:t>
                    </m:r>
                    <m:r>
                      <a:rPr lang="es-SV" b="0" i="1" smtClean="0">
                        <a:latin typeface="Cambria Math"/>
                      </a:rPr>
                      <m:t>,</m:t>
                    </m:r>
                    <m:r>
                      <a:rPr lang="es-SV" b="0" i="1" smtClean="0">
                        <a:latin typeface="Cambria Math"/>
                      </a:rPr>
                      <m:t>𝑊</m:t>
                    </m:r>
                    <m:r>
                      <a:rPr lang="es-SV" b="0" i="1" smtClean="0">
                        <a:latin typeface="Cambria Math"/>
                      </a:rPr>
                      <m:t>, </m:t>
                    </m:r>
                    <m:r>
                      <a:rPr lang="es-SV" b="0" i="1" smtClean="0">
                        <a:latin typeface="Cambria Math"/>
                      </a:rPr>
                      <m:t>𝑍</m:t>
                    </m:r>
                    <m:r>
                      <a:rPr lang="es-SV" b="0" i="1" smtClean="0">
                        <a:latin typeface="Cambria Math"/>
                      </a:rPr>
                      <m:t>… </m:t>
                    </m:r>
                  </m:oMath>
                </a14:m>
                <a:r>
                  <a:rPr lang="es-SV" dirty="0"/>
                  <a:t>en mayúsculas, denotan variables aleatorias.</a:t>
                </a:r>
              </a:p>
              <a:p>
                <a:pPr marL="539496" indent="-457200" algn="just"/>
                <a14:m>
                  <m:oMath xmlns:m="http://schemas.openxmlformats.org/officeDocument/2006/math">
                    <m:r>
                      <a:rPr lang="es-SV" b="0" i="1" smtClean="0">
                        <a:latin typeface="Cambria Math"/>
                      </a:rPr>
                      <m:t>𝑥</m:t>
                    </m:r>
                    <m:r>
                      <a:rPr lang="es-SV" i="1">
                        <a:latin typeface="Cambria Math"/>
                      </a:rPr>
                      <m:t>,</m:t>
                    </m:r>
                    <m:r>
                      <a:rPr lang="es-SV" b="0" i="1" smtClean="0">
                        <a:latin typeface="Cambria Math"/>
                      </a:rPr>
                      <m:t>𝑦</m:t>
                    </m:r>
                    <m:r>
                      <a:rPr lang="es-SV" i="1">
                        <a:latin typeface="Cambria Math"/>
                      </a:rPr>
                      <m:t>, </m:t>
                    </m:r>
                    <m:r>
                      <a:rPr lang="es-SV" b="0" i="1" smtClean="0">
                        <a:latin typeface="Cambria Math"/>
                      </a:rPr>
                      <m:t>𝑤</m:t>
                    </m:r>
                    <m:r>
                      <a:rPr lang="es-SV" b="0" i="1" smtClean="0">
                        <a:latin typeface="Cambria Math"/>
                      </a:rPr>
                      <m:t>, </m:t>
                    </m:r>
                    <m:r>
                      <a:rPr lang="es-SV" b="0" i="1" smtClean="0">
                        <a:latin typeface="Cambria Math"/>
                      </a:rPr>
                      <m:t>𝑧</m:t>
                    </m:r>
                    <m:r>
                      <a:rPr lang="es-SV" i="1">
                        <a:latin typeface="Cambria Math"/>
                      </a:rPr>
                      <m:t>… </m:t>
                    </m:r>
                  </m:oMath>
                </a14:m>
                <a:r>
                  <a:rPr lang="es-SV" dirty="0"/>
                  <a:t>en minúsculas, denotan los valores de las variables.</a:t>
                </a:r>
              </a:p>
              <a:p>
                <a:pPr marL="539496" indent="-457200" algn="just"/>
                <a14:m>
                  <m:oMath xmlns:m="http://schemas.openxmlformats.org/officeDocument/2006/math">
                    <m:r>
                      <a:rPr lang="es-SV" b="0" i="1" smtClean="0">
                        <a:latin typeface="Cambria Math"/>
                      </a:rPr>
                      <m:t>𝑃</m:t>
                    </m:r>
                    <m:d>
                      <m:dPr>
                        <m:ctrlPr>
                          <a:rPr lang="es-SV" b="0" i="1" smtClean="0">
                            <a:latin typeface="Cambria Math" panose="02040503050406030204" pitchFamily="18" charset="0"/>
                          </a:rPr>
                        </m:ctrlPr>
                      </m:dPr>
                      <m:e>
                        <m:r>
                          <a:rPr lang="es-SV" b="0" i="1" smtClean="0">
                            <a:latin typeface="Cambria Math"/>
                          </a:rPr>
                          <m:t>𝑋</m:t>
                        </m:r>
                        <m:r>
                          <a:rPr lang="es-SV" b="0" i="1" smtClean="0">
                            <a:latin typeface="Cambria Math"/>
                          </a:rPr>
                          <m:t>=</m:t>
                        </m:r>
                        <m:r>
                          <a:rPr lang="es-SV" b="0" i="1" smtClean="0">
                            <a:latin typeface="Cambria Math"/>
                          </a:rPr>
                          <m:t>𝑥</m:t>
                        </m:r>
                      </m:e>
                    </m:d>
                    <m:r>
                      <a:rPr lang="es-SV" b="0" i="1" smtClean="0">
                        <a:latin typeface="Cambria Math" panose="02040503050406030204" pitchFamily="18" charset="0"/>
                      </a:rPr>
                      <m:t> </m:t>
                    </m:r>
                    <m:r>
                      <a:rPr lang="es-SV" b="0" i="1" smtClean="0">
                        <a:latin typeface="Cambria Math"/>
                      </a:rPr>
                      <m:t>ó </m:t>
                    </m:r>
                    <m:r>
                      <a:rPr lang="es-SV" b="0" i="1" smtClean="0">
                        <a:latin typeface="Cambria Math"/>
                      </a:rPr>
                      <m:t>𝑃</m:t>
                    </m:r>
                    <m:r>
                      <a:rPr lang="es-SV" b="0" i="1" smtClean="0">
                        <a:latin typeface="Cambria Math"/>
                      </a:rPr>
                      <m:t>(</m:t>
                    </m:r>
                    <m:r>
                      <a:rPr lang="es-SV" b="0" i="1" smtClean="0">
                        <a:latin typeface="Cambria Math"/>
                      </a:rPr>
                      <m:t>𝑥</m:t>
                    </m:r>
                    <m:r>
                      <a:rPr lang="es-SV" b="0" i="1" smtClean="0">
                        <a:latin typeface="Cambria Math"/>
                      </a:rPr>
                      <m:t>)</m:t>
                    </m:r>
                  </m:oMath>
                </a14:m>
                <a:r>
                  <a:rPr lang="es-SV" dirty="0"/>
                  <a:t>: probabilidad de que la variable aleatoria X tome el valor de x.</a:t>
                </a:r>
              </a:p>
              <a:p>
                <a:pPr marL="539496" indent="-457200" algn="just"/>
                <a14:m>
                  <m:oMath xmlns:m="http://schemas.openxmlformats.org/officeDocument/2006/math">
                    <m:r>
                      <a:rPr lang="es-SV" b="0" i="1" smtClean="0">
                        <a:latin typeface="Cambria Math"/>
                      </a:rPr>
                      <m:t>𝑃</m:t>
                    </m:r>
                    <m:r>
                      <a:rPr lang="es-SV" b="0" i="1" smtClean="0">
                        <a:latin typeface="Cambria Math"/>
                      </a:rPr>
                      <m:t>(</m:t>
                    </m:r>
                    <m:r>
                      <a:rPr lang="es-SV" b="0" i="1" smtClean="0">
                        <a:latin typeface="Cambria Math"/>
                      </a:rPr>
                      <m:t>𝑋</m:t>
                    </m:r>
                    <m:r>
                      <a:rPr lang="es-SV" b="0" i="1" smtClean="0">
                        <a:latin typeface="Cambria Math"/>
                        <a:ea typeface="Cambria Math"/>
                      </a:rPr>
                      <m:t>≤</m:t>
                    </m:r>
                    <m:r>
                      <a:rPr lang="es-SV" b="0" i="1" smtClean="0">
                        <a:latin typeface="Cambria Math"/>
                        <a:ea typeface="Cambria Math"/>
                      </a:rPr>
                      <m:t>𝑥</m:t>
                    </m:r>
                    <m:r>
                      <a:rPr lang="es-SV" b="0" i="1" smtClean="0">
                        <a:latin typeface="Cambria Math"/>
                        <a:ea typeface="Cambria Math"/>
                      </a:rPr>
                      <m:t>)</m:t>
                    </m:r>
                  </m:oMath>
                </a14:m>
                <a:r>
                  <a:rPr lang="es-SV" dirty="0"/>
                  <a:t>: probabilidad de que la variable aleatoria X tome valores menores o iguales que x.</a:t>
                </a:r>
              </a:p>
              <a:p>
                <a:pPr marL="82296" indent="0" algn="just">
                  <a:buNone/>
                </a:pPr>
                <a:endParaRPr lang="es-SV" dirty="0"/>
              </a:p>
              <a:p>
                <a:pPr marL="82296" indent="0" algn="just">
                  <a:buNone/>
                </a:pPr>
                <a14:m>
                  <m:oMathPara xmlns:m="http://schemas.openxmlformats.org/officeDocument/2006/math">
                    <m:oMathParaPr>
                      <m:jc m:val="centerGroup"/>
                    </m:oMathParaPr>
                    <m:oMath xmlns:m="http://schemas.openxmlformats.org/officeDocument/2006/math">
                      <m:sSub>
                        <m:sSubPr>
                          <m:ctrlPr>
                            <a:rPr lang="es-SV" sz="2600" i="1" smtClean="0">
                              <a:latin typeface="Cambria Math" panose="02040503050406030204" pitchFamily="18" charset="0"/>
                            </a:rPr>
                          </m:ctrlPr>
                        </m:sSubPr>
                        <m:e>
                          <m:r>
                            <a:rPr lang="es-SV" sz="2600" b="0" i="1" smtClean="0">
                              <a:latin typeface="Cambria Math"/>
                            </a:rPr>
                            <m:t>𝑅</m:t>
                          </m:r>
                        </m:e>
                        <m:sub>
                          <m:r>
                            <a:rPr lang="es-SV" sz="2600" b="0" i="1" smtClean="0">
                              <a:latin typeface="Cambria Math"/>
                            </a:rPr>
                            <m:t>𝑥</m:t>
                          </m:r>
                        </m:sub>
                      </m:sSub>
                      <m:r>
                        <a:rPr lang="es-SV" sz="2600" b="0" i="1" smtClean="0">
                          <a:latin typeface="Cambria Math"/>
                        </a:rPr>
                        <m:t>:(</m:t>
                      </m:r>
                      <m:r>
                        <a:rPr lang="es-SV" sz="2600" b="0" i="1" smtClean="0">
                          <a:latin typeface="Cambria Math"/>
                        </a:rPr>
                        <m:t>𝑥</m:t>
                      </m:r>
                      <m:r>
                        <a:rPr lang="es-SV" sz="2600" b="0" i="1" smtClean="0">
                          <a:latin typeface="Cambria Math"/>
                          <a:ea typeface="Cambria Math"/>
                        </a:rPr>
                        <m:t>∈</m:t>
                      </m:r>
                      <m:r>
                        <a:rPr lang="es-SV" sz="2600" b="0" i="1" smtClean="0">
                          <a:latin typeface="Cambria Math"/>
                          <a:ea typeface="Cambria Math"/>
                        </a:rPr>
                        <m:t>𝑅</m:t>
                      </m:r>
                      <m:r>
                        <a:rPr lang="es-SV" sz="2600" b="0" i="1" smtClean="0">
                          <a:latin typeface="Cambria Math" panose="02040503050406030204" pitchFamily="18" charset="0"/>
                          <a:ea typeface="Cambria Math"/>
                        </a:rPr>
                        <m:t>/</m:t>
                      </m:r>
                      <m:r>
                        <m:rPr>
                          <m:sty m:val="p"/>
                        </m:rPr>
                        <a:rPr lang="es-SV" sz="2600" b="0" i="1" smtClean="0">
                          <a:latin typeface="Cambria Math"/>
                          <a:ea typeface="Cambria Math"/>
                        </a:rPr>
                        <m:t>x</m:t>
                      </m:r>
                      <m:r>
                        <a:rPr lang="es-SV" sz="2600" b="0" i="1" smtClean="0">
                          <a:latin typeface="Cambria Math"/>
                          <a:ea typeface="Cambria Math"/>
                        </a:rPr>
                        <m:t> </m:t>
                      </m:r>
                      <m:r>
                        <a:rPr lang="es-SV" sz="2600" b="0" i="1" smtClean="0">
                          <a:latin typeface="Cambria Math"/>
                          <a:ea typeface="Cambria Math"/>
                        </a:rPr>
                        <m:t>𝑒𝑠𝑡𝑎</m:t>
                      </m:r>
                      <m:r>
                        <a:rPr lang="es-SV" sz="2600" b="0" i="1" smtClean="0">
                          <a:latin typeface="Cambria Math"/>
                          <a:ea typeface="Cambria Math"/>
                        </a:rPr>
                        <m:t> </m:t>
                      </m:r>
                      <m:r>
                        <a:rPr lang="es-SV" sz="2600" b="0" i="1" smtClean="0">
                          <a:latin typeface="Cambria Math"/>
                          <a:ea typeface="Cambria Math"/>
                        </a:rPr>
                        <m:t>𝑎𝑠𝑜𝑐𝑖𝑎𝑑𝑜</m:t>
                      </m:r>
                      <m:r>
                        <a:rPr lang="es-SV" sz="2600" b="0" i="1" smtClean="0">
                          <a:latin typeface="Cambria Math"/>
                          <a:ea typeface="Cambria Math"/>
                        </a:rPr>
                        <m:t> </m:t>
                      </m:r>
                      <m:r>
                        <a:rPr lang="es-SV" sz="2600" b="0" i="1" smtClean="0">
                          <a:latin typeface="Cambria Math"/>
                          <a:ea typeface="Cambria Math"/>
                        </a:rPr>
                        <m:t>𝑎</m:t>
                      </m:r>
                      <m:r>
                        <a:rPr lang="es-SV" sz="2600" b="0" i="1" smtClean="0">
                          <a:latin typeface="Cambria Math"/>
                          <a:ea typeface="Cambria Math"/>
                        </a:rPr>
                        <m:t> </m:t>
                      </m:r>
                      <m:r>
                        <a:rPr lang="es-SV" sz="2600" b="0" i="1" smtClean="0">
                          <a:latin typeface="Cambria Math"/>
                          <a:ea typeface="Cambria Math"/>
                        </a:rPr>
                        <m:t>𝑎𝑙𝑔</m:t>
                      </m:r>
                      <m:r>
                        <a:rPr lang="es-SV" sz="2600" b="0" i="1" smtClean="0">
                          <a:latin typeface="Cambria Math"/>
                          <a:ea typeface="Cambria Math"/>
                        </a:rPr>
                        <m:t>ú</m:t>
                      </m:r>
                      <m:r>
                        <a:rPr lang="es-SV" sz="2600" b="0" i="1" smtClean="0">
                          <a:latin typeface="Cambria Math"/>
                          <a:ea typeface="Cambria Math"/>
                        </a:rPr>
                        <m:t>𝑛</m:t>
                      </m:r>
                      <m:r>
                        <a:rPr lang="es-SV" sz="2600" b="0" i="1" smtClean="0">
                          <a:latin typeface="Cambria Math"/>
                          <a:ea typeface="Cambria Math"/>
                        </a:rPr>
                        <m:t> </m:t>
                      </m:r>
                      <m:r>
                        <a:rPr lang="es-SV" sz="2600" b="0" i="1" smtClean="0">
                          <a:latin typeface="Cambria Math"/>
                          <a:ea typeface="Cambria Math"/>
                        </a:rPr>
                        <m:t>𝑝𝑢𝑛𝑡𝑜</m:t>
                      </m:r>
                      <m:r>
                        <a:rPr lang="es-SV" sz="2600" b="0" i="1" smtClean="0">
                          <a:latin typeface="Cambria Math"/>
                          <a:ea typeface="Cambria Math"/>
                        </a:rPr>
                        <m:t> </m:t>
                      </m:r>
                      <m:r>
                        <a:rPr lang="es-SV" sz="2600" b="0" i="1" smtClean="0">
                          <a:latin typeface="Cambria Math"/>
                          <a:ea typeface="Cambria Math"/>
                        </a:rPr>
                        <m:t>𝑚𝑢𝑒𝑠𝑡𝑟𝑎𝑙</m:t>
                      </m:r>
                      <m:r>
                        <a:rPr lang="es-SV" sz="2600" b="0" i="1" smtClean="0">
                          <a:latin typeface="Cambria Math"/>
                          <a:ea typeface="Cambria Math"/>
                        </a:rPr>
                        <m:t> </m:t>
                      </m:r>
                      <m:r>
                        <a:rPr lang="es-SV" sz="2600" b="0" i="1" smtClean="0">
                          <a:latin typeface="Cambria Math"/>
                          <a:ea typeface="Cambria Math"/>
                        </a:rPr>
                        <m:t>𝑑𝑒</m:t>
                      </m:r>
                      <m:r>
                        <a:rPr lang="es-SV" sz="2600" b="0" i="1" smtClean="0">
                          <a:latin typeface="Cambria Math"/>
                          <a:ea typeface="Cambria Math"/>
                        </a:rPr>
                        <m:t> </m:t>
                      </m:r>
                      <m:r>
                        <a:rPr lang="es-SV" sz="2600" b="0" i="1" smtClean="0">
                          <a:latin typeface="Cambria Math"/>
                          <a:ea typeface="Cambria Math"/>
                        </a:rPr>
                        <m:t>𝑆</m:t>
                      </m:r>
                      <m:r>
                        <a:rPr lang="es-SV" sz="2600" b="0" i="1" smtClean="0">
                          <a:latin typeface="Cambria Math"/>
                          <a:ea typeface="Cambria Math"/>
                        </a:rPr>
                        <m:t>)</m:t>
                      </m:r>
                    </m:oMath>
                  </m:oMathPara>
                </a14:m>
                <a:endParaRPr lang="es-SV" sz="2600" dirty="0"/>
              </a:p>
              <a:p>
                <a:pPr marL="82296" indent="0" algn="just">
                  <a:buNone/>
                </a:pPr>
                <a:endParaRPr lang="es-SV" dirty="0"/>
              </a:p>
              <a:p>
                <a:pPr marL="82296" indent="0" algn="just">
                  <a:buNone/>
                </a:pPr>
                <a:endParaRPr lang="es-SV" dirty="0"/>
              </a:p>
              <a:p>
                <a:pPr marL="82296" indent="0" algn="just">
                  <a:buNone/>
                </a:pPr>
                <a:endParaRPr lang="es-SV" dirty="0"/>
              </a:p>
              <a:p>
                <a:pPr marL="82296" indent="0">
                  <a:buNone/>
                </a:pPr>
                <a:endParaRPr lang="es-SV"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23528" y="1196753"/>
                <a:ext cx="8610160" cy="5358796"/>
              </a:xfrm>
              <a:blipFill>
                <a:blip r:embed="rId2"/>
                <a:stretch>
                  <a:fillRect l="-283" t="-1706" r="-1203"/>
                </a:stretch>
              </a:blipFill>
            </p:spPr>
            <p:txBody>
              <a:bodyPr/>
              <a:lstStyle/>
              <a:p>
                <a:r>
                  <a:rPr lang="es-SV">
                    <a:noFill/>
                  </a:rPr>
                  <a:t> </a:t>
                </a:r>
              </a:p>
            </p:txBody>
          </p:sp>
        </mc:Fallback>
      </mc:AlternateContent>
    </p:spTree>
    <p:extLst>
      <p:ext uri="{BB962C8B-B14F-4D97-AF65-F5344CB8AC3E}">
        <p14:creationId xmlns:p14="http://schemas.microsoft.com/office/powerpoint/2010/main" val="555491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539552" y="1340768"/>
                <a:ext cx="8136904" cy="4608512"/>
              </a:xfrm>
            </p:spPr>
            <p:txBody>
              <a:bodyPr/>
              <a:lstStyle/>
              <a:p>
                <a:pPr marL="82296" indent="0" algn="just">
                  <a:buNone/>
                </a:pPr>
                <a:r>
                  <a:rPr lang="es-SV" dirty="0"/>
                  <a:t>La distribución de la probabilidad de una variable aleatoria discreta X, queda completamente determinada si conocemos los valores del rango de la variable y sus respectivas probabilidades.  </a:t>
                </a:r>
              </a:p>
              <a:p>
                <a:pPr marL="82296" indent="0" algn="just">
                  <a:buNone/>
                </a:pPr>
                <a:r>
                  <a:rPr lang="es-SV" dirty="0"/>
                  <a:t>Además, la distribución de probabilidad de una variable discreta X tiene las siguientes propiedades:</a:t>
                </a:r>
              </a:p>
              <a:p>
                <a:pPr algn="just"/>
                <a14:m>
                  <m:oMath xmlns:m="http://schemas.openxmlformats.org/officeDocument/2006/math">
                    <m:r>
                      <a:rPr lang="es-SV" b="0" i="1" smtClean="0">
                        <a:latin typeface="Cambria Math"/>
                      </a:rPr>
                      <m:t>𝑓</m:t>
                    </m:r>
                    <m:d>
                      <m:dPr>
                        <m:ctrlPr>
                          <a:rPr lang="es-SV" b="0" i="1" smtClean="0">
                            <a:latin typeface="Cambria Math" panose="02040503050406030204" pitchFamily="18" charset="0"/>
                          </a:rPr>
                        </m:ctrlPr>
                      </m:dPr>
                      <m:e>
                        <m:r>
                          <a:rPr lang="es-SV" b="0" i="1" smtClean="0">
                            <a:latin typeface="Cambria Math"/>
                          </a:rPr>
                          <m:t>𝑥</m:t>
                        </m:r>
                      </m:e>
                    </m:d>
                    <m:r>
                      <a:rPr lang="es-SV" b="0" i="1" smtClean="0">
                        <a:latin typeface="Cambria Math"/>
                        <a:ea typeface="Cambria Math"/>
                      </a:rPr>
                      <m:t>≥0 ;</m:t>
                    </m:r>
                    <m:r>
                      <a:rPr lang="es-SV" b="0" i="1" smtClean="0">
                        <a:latin typeface="Cambria Math"/>
                        <a:ea typeface="Cambria Math"/>
                      </a:rPr>
                      <m:t>𝑥</m:t>
                    </m:r>
                    <m:r>
                      <a:rPr lang="es-SV" b="0" i="1" smtClean="0">
                        <a:latin typeface="Cambria Math"/>
                        <a:ea typeface="Cambria Math"/>
                      </a:rPr>
                      <m:t>∈</m:t>
                    </m:r>
                    <m:sSub>
                      <m:sSubPr>
                        <m:ctrlPr>
                          <a:rPr lang="es-SV" b="0" i="1" smtClean="0">
                            <a:latin typeface="Cambria Math" panose="02040503050406030204" pitchFamily="18" charset="0"/>
                            <a:ea typeface="Cambria Math"/>
                          </a:rPr>
                        </m:ctrlPr>
                      </m:sSubPr>
                      <m:e>
                        <m:r>
                          <a:rPr lang="es-SV" b="0" i="1" smtClean="0">
                            <a:latin typeface="Cambria Math"/>
                            <a:ea typeface="Cambria Math"/>
                          </a:rPr>
                          <m:t>𝑅</m:t>
                        </m:r>
                      </m:e>
                      <m:sub>
                        <m:r>
                          <a:rPr lang="es-SV" b="0" i="1" smtClean="0">
                            <a:latin typeface="Cambria Math"/>
                            <a:ea typeface="Cambria Math"/>
                          </a:rPr>
                          <m:t>𝑥</m:t>
                        </m:r>
                      </m:sub>
                    </m:sSub>
                  </m:oMath>
                </a14:m>
                <a:endParaRPr lang="es-SV" dirty="0"/>
              </a:p>
              <a:p>
                <a:pPr algn="just"/>
                <a14:m>
                  <m:oMath xmlns:m="http://schemas.openxmlformats.org/officeDocument/2006/math">
                    <m:nary>
                      <m:naryPr>
                        <m:chr m:val="∑"/>
                        <m:supHide m:val="on"/>
                        <m:ctrlPr>
                          <a:rPr lang="es-SV" i="1" smtClean="0">
                            <a:latin typeface="Cambria Math" panose="02040503050406030204" pitchFamily="18" charset="0"/>
                          </a:rPr>
                        </m:ctrlPr>
                      </m:naryPr>
                      <m:sub>
                        <m:r>
                          <m:rPr>
                            <m:brk m:alnAt="7"/>
                          </m:rPr>
                          <a:rPr lang="es-SV" b="0" i="1" smtClean="0">
                            <a:latin typeface="Cambria Math"/>
                          </a:rPr>
                          <m:t>𝑥</m:t>
                        </m:r>
                        <m:r>
                          <a:rPr lang="es-SV" b="0" i="1" smtClean="0">
                            <a:latin typeface="Cambria Math"/>
                            <a:ea typeface="Cambria Math"/>
                          </a:rPr>
                          <m:t>∈</m:t>
                        </m:r>
                        <m:sSub>
                          <m:sSubPr>
                            <m:ctrlPr>
                              <a:rPr lang="es-SV" b="0" i="1" smtClean="0">
                                <a:latin typeface="Cambria Math" panose="02040503050406030204" pitchFamily="18" charset="0"/>
                                <a:ea typeface="Cambria Math"/>
                              </a:rPr>
                            </m:ctrlPr>
                          </m:sSubPr>
                          <m:e>
                            <m:r>
                              <a:rPr lang="es-SV" b="0" i="1" smtClean="0">
                                <a:latin typeface="Cambria Math"/>
                                <a:ea typeface="Cambria Math"/>
                              </a:rPr>
                              <m:t>𝑅</m:t>
                            </m:r>
                          </m:e>
                          <m:sub>
                            <m:r>
                              <a:rPr lang="es-SV" b="0" i="1" smtClean="0">
                                <a:latin typeface="Cambria Math"/>
                                <a:ea typeface="Cambria Math"/>
                              </a:rPr>
                              <m:t>𝑥</m:t>
                            </m:r>
                          </m:sub>
                        </m:sSub>
                      </m:sub>
                      <m:sup/>
                      <m:e>
                        <m:r>
                          <a:rPr lang="es-SV" b="0" i="1" smtClean="0">
                            <a:latin typeface="Cambria Math"/>
                          </a:rPr>
                          <m:t>𝑓</m:t>
                        </m:r>
                        <m:d>
                          <m:dPr>
                            <m:ctrlPr>
                              <a:rPr lang="es-SV" b="0" i="1" smtClean="0">
                                <a:latin typeface="Cambria Math" panose="02040503050406030204" pitchFamily="18" charset="0"/>
                              </a:rPr>
                            </m:ctrlPr>
                          </m:dPr>
                          <m:e>
                            <m:r>
                              <a:rPr lang="es-SV" b="0" i="1" smtClean="0">
                                <a:latin typeface="Cambria Math"/>
                              </a:rPr>
                              <m:t>𝑥</m:t>
                            </m:r>
                          </m:e>
                        </m:d>
                        <m:r>
                          <a:rPr lang="es-SV" b="0" i="1" smtClean="0">
                            <a:latin typeface="Cambria Math"/>
                          </a:rPr>
                          <m:t>=1</m:t>
                        </m:r>
                      </m:e>
                    </m:nary>
                  </m:oMath>
                </a14:m>
                <a:endParaRPr lang="es-SV" dirty="0"/>
              </a:p>
              <a:p>
                <a:pPr algn="just"/>
                <a14:m>
                  <m:oMath xmlns:m="http://schemas.openxmlformats.org/officeDocument/2006/math">
                    <m:r>
                      <a:rPr lang="es-SV" b="0" i="1" smtClean="0">
                        <a:latin typeface="Cambria Math"/>
                      </a:rPr>
                      <m:t>𝑓</m:t>
                    </m:r>
                    <m:d>
                      <m:dPr>
                        <m:ctrlPr>
                          <a:rPr lang="es-SV" b="0" i="1" smtClean="0">
                            <a:latin typeface="Cambria Math" panose="02040503050406030204" pitchFamily="18" charset="0"/>
                          </a:rPr>
                        </m:ctrlPr>
                      </m:dPr>
                      <m:e>
                        <m:r>
                          <a:rPr lang="es-SV" b="0" i="1" smtClean="0">
                            <a:latin typeface="Cambria Math"/>
                          </a:rPr>
                          <m:t>𝑥</m:t>
                        </m:r>
                      </m:e>
                    </m:d>
                    <m:r>
                      <a:rPr lang="es-SV" b="0" i="1" smtClean="0">
                        <a:latin typeface="Cambria Math"/>
                      </a:rPr>
                      <m:t>=</m:t>
                    </m:r>
                    <m:r>
                      <a:rPr lang="es-SV" b="0" i="1" smtClean="0">
                        <a:latin typeface="Cambria Math"/>
                      </a:rPr>
                      <m:t>𝑃</m:t>
                    </m:r>
                    <m:r>
                      <a:rPr lang="es-SV" b="0" i="1" smtClean="0">
                        <a:latin typeface="Cambria Math"/>
                      </a:rPr>
                      <m:t>(</m:t>
                    </m:r>
                    <m:r>
                      <a:rPr lang="es-SV" b="0" i="1" smtClean="0">
                        <a:latin typeface="Cambria Math"/>
                      </a:rPr>
                      <m:t>𝑋</m:t>
                    </m:r>
                    <m:r>
                      <a:rPr lang="es-SV" b="0" i="1" smtClean="0">
                        <a:latin typeface="Cambria Math"/>
                      </a:rPr>
                      <m:t>=</m:t>
                    </m:r>
                    <m:r>
                      <a:rPr lang="es-SV" b="0" i="1" smtClean="0">
                        <a:latin typeface="Cambria Math"/>
                      </a:rPr>
                      <m:t>𝑥</m:t>
                    </m:r>
                    <m:r>
                      <a:rPr lang="es-SV" b="0" i="1" smtClean="0">
                        <a:latin typeface="Cambria Math"/>
                      </a:rPr>
                      <m:t>)</m:t>
                    </m:r>
                  </m:oMath>
                </a14:m>
                <a:endParaRPr lang="es-SV" dirty="0"/>
              </a:p>
              <a:p>
                <a:pPr marL="82296" indent="0" algn="just">
                  <a:buNone/>
                </a:pPr>
                <a:endParaRPr lang="es-SV"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539552" y="1340768"/>
                <a:ext cx="8136904" cy="4608512"/>
              </a:xfrm>
              <a:blipFill>
                <a:blip r:embed="rId2"/>
                <a:stretch>
                  <a:fillRect l="-300" t="-1190" r="-1424"/>
                </a:stretch>
              </a:blipFill>
            </p:spPr>
            <p:txBody>
              <a:bodyPr/>
              <a:lstStyle/>
              <a:p>
                <a:r>
                  <a:rPr lang="es-SV">
                    <a:noFill/>
                  </a:rPr>
                  <a:t> </a:t>
                </a:r>
              </a:p>
            </p:txBody>
          </p:sp>
        </mc:Fallback>
      </mc:AlternateContent>
    </p:spTree>
    <p:extLst>
      <p:ext uri="{BB962C8B-B14F-4D97-AF65-F5344CB8AC3E}">
        <p14:creationId xmlns:p14="http://schemas.microsoft.com/office/powerpoint/2010/main" val="12963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274638"/>
            <a:ext cx="8754176" cy="778098"/>
          </a:xfrm>
        </p:spPr>
        <p:txBody>
          <a:bodyPr>
            <a:normAutofit fontScale="90000"/>
          </a:bodyPr>
          <a:lstStyle/>
          <a:p>
            <a:r>
              <a:rPr lang="es-SV" dirty="0"/>
              <a:t>Valor esperado y varianza de una distribución de probabilidad discreta</a:t>
            </a: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539552" y="1268760"/>
                <a:ext cx="7920880" cy="5221560"/>
              </a:xfrm>
            </p:spPr>
            <p:txBody>
              <a:bodyPr>
                <a:normAutofit/>
              </a:bodyPr>
              <a:lstStyle/>
              <a:p>
                <a:pPr marL="82296" indent="0" algn="just">
                  <a:buNone/>
                </a:pPr>
                <a:r>
                  <a:rPr lang="es-SV" dirty="0"/>
                  <a:t>La media aritmética de un conjunto de observaciones, organizadas en clases y frecuencias absolutas, se expresa así:</a:t>
                </a:r>
              </a:p>
              <a:p>
                <a:pPr marL="82296" indent="0" algn="just">
                  <a:buNone/>
                </a:pPr>
                <a:endParaRPr lang="es-SV" dirty="0"/>
              </a:p>
              <a:p>
                <a:pPr marL="82296" indent="0" algn="just">
                  <a:buNone/>
                </a:pPr>
                <a14:m>
                  <m:oMath xmlns:m="http://schemas.openxmlformats.org/officeDocument/2006/math">
                    <m:acc>
                      <m:accPr>
                        <m:chr m:val="̅"/>
                        <m:ctrlPr>
                          <a:rPr lang="es-SV" i="1" smtClean="0">
                            <a:latin typeface="Cambria Math" panose="02040503050406030204" pitchFamily="18" charset="0"/>
                          </a:rPr>
                        </m:ctrlPr>
                      </m:accPr>
                      <m:e>
                        <m:r>
                          <a:rPr lang="es-SV" b="0" i="1" smtClean="0">
                            <a:latin typeface="Cambria Math"/>
                          </a:rPr>
                          <m:t>𝑥</m:t>
                        </m:r>
                      </m:e>
                    </m:acc>
                    <m:r>
                      <a:rPr lang="es-SV" b="0" i="1" smtClean="0">
                        <a:latin typeface="Cambria Math"/>
                      </a:rPr>
                      <m:t>=</m:t>
                    </m:r>
                    <m:f>
                      <m:fPr>
                        <m:ctrlPr>
                          <a:rPr lang="es-SV" b="0" i="1" smtClean="0">
                            <a:latin typeface="Cambria Math" panose="02040503050406030204" pitchFamily="18" charset="0"/>
                          </a:rPr>
                        </m:ctrlPr>
                      </m:fPr>
                      <m:num>
                        <m:nary>
                          <m:naryPr>
                            <m:chr m:val="∑"/>
                            <m:subHide m:val="on"/>
                            <m:supHide m:val="on"/>
                            <m:ctrlPr>
                              <a:rPr lang="es-SV" b="0" i="1" smtClean="0">
                                <a:latin typeface="Cambria Math" panose="02040503050406030204" pitchFamily="18" charset="0"/>
                              </a:rPr>
                            </m:ctrlPr>
                          </m:naryPr>
                          <m:sub/>
                          <m:sup/>
                          <m:e>
                            <m:sSub>
                              <m:sSubPr>
                                <m:ctrlPr>
                                  <a:rPr lang="es-SV" b="0"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sSub>
                              <m:sSubPr>
                                <m:ctrlPr>
                                  <a:rPr lang="es-SV" b="0" i="1" smtClean="0">
                                    <a:latin typeface="Cambria Math" panose="02040503050406030204" pitchFamily="18" charset="0"/>
                                  </a:rPr>
                                </m:ctrlPr>
                              </m:sSubPr>
                              <m:e>
                                <m:r>
                                  <a:rPr lang="es-SV" b="0" i="1" smtClean="0">
                                    <a:latin typeface="Cambria Math"/>
                                  </a:rPr>
                                  <m:t>𝑓</m:t>
                                </m:r>
                              </m:e>
                              <m:sub>
                                <m:r>
                                  <a:rPr lang="es-SV" b="0" i="1" smtClean="0">
                                    <a:latin typeface="Cambria Math"/>
                                  </a:rPr>
                                  <m:t>𝑖</m:t>
                                </m:r>
                              </m:sub>
                            </m:sSub>
                          </m:e>
                        </m:nary>
                      </m:num>
                      <m:den>
                        <m:r>
                          <a:rPr lang="es-SV" b="0" i="1" smtClean="0">
                            <a:latin typeface="Cambria Math"/>
                          </a:rPr>
                          <m:t>𝑛</m:t>
                        </m:r>
                      </m:den>
                    </m:f>
                  </m:oMath>
                </a14:m>
                <a:r>
                  <a:rPr lang="es-SV" dirty="0"/>
                  <a:t>,  o también </a:t>
                </a:r>
                <a14:m>
                  <m:oMath xmlns:m="http://schemas.openxmlformats.org/officeDocument/2006/math">
                    <m:nary>
                      <m:naryPr>
                        <m:chr m:val="∑"/>
                        <m:subHide m:val="on"/>
                        <m:supHide m:val="on"/>
                        <m:ctrlPr>
                          <a:rPr lang="es-SV" i="1" smtClean="0">
                            <a:latin typeface="Cambria Math" panose="02040503050406030204" pitchFamily="18" charset="0"/>
                          </a:rPr>
                        </m:ctrlPr>
                      </m:naryPr>
                      <m:sub/>
                      <m:sup/>
                      <m:e>
                        <m:sSub>
                          <m:sSubPr>
                            <m:ctrlPr>
                              <a:rPr lang="es-SV"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d>
                          <m:dPr>
                            <m:ctrlPr>
                              <a:rPr lang="es-SV" i="1" smtClean="0">
                                <a:latin typeface="Cambria Math" panose="02040503050406030204" pitchFamily="18" charset="0"/>
                              </a:rPr>
                            </m:ctrlPr>
                          </m:dPr>
                          <m:e>
                            <m:f>
                              <m:fPr>
                                <m:ctrlPr>
                                  <a:rPr lang="es-SV" i="1" smtClean="0">
                                    <a:latin typeface="Cambria Math" panose="02040503050406030204" pitchFamily="18" charset="0"/>
                                  </a:rPr>
                                </m:ctrlPr>
                              </m:fPr>
                              <m:num>
                                <m:sSub>
                                  <m:sSubPr>
                                    <m:ctrlPr>
                                      <a:rPr lang="es-SV" i="1" smtClean="0">
                                        <a:latin typeface="Cambria Math" panose="02040503050406030204" pitchFamily="18" charset="0"/>
                                      </a:rPr>
                                    </m:ctrlPr>
                                  </m:sSubPr>
                                  <m:e>
                                    <m:r>
                                      <a:rPr lang="es-SV" b="0" i="1" smtClean="0">
                                        <a:latin typeface="Cambria Math"/>
                                      </a:rPr>
                                      <m:t>𝑓</m:t>
                                    </m:r>
                                  </m:e>
                                  <m:sub>
                                    <m:r>
                                      <a:rPr lang="es-SV" b="0" i="1" smtClean="0">
                                        <a:latin typeface="Cambria Math"/>
                                      </a:rPr>
                                      <m:t>𝑖</m:t>
                                    </m:r>
                                  </m:sub>
                                </m:sSub>
                              </m:num>
                              <m:den>
                                <m:r>
                                  <a:rPr lang="es-SV" b="0" i="1" smtClean="0">
                                    <a:latin typeface="Cambria Math"/>
                                  </a:rPr>
                                  <m:t>𝑛</m:t>
                                </m:r>
                              </m:den>
                            </m:f>
                          </m:e>
                        </m:d>
                      </m:e>
                    </m:nary>
                  </m:oMath>
                </a14:m>
                <a:endParaRPr lang="es-SV" dirty="0"/>
              </a:p>
              <a:p>
                <a:pPr marL="82296" indent="0" algn="just">
                  <a:buNone/>
                </a:pPr>
                <a:endParaRPr lang="es-SV" dirty="0"/>
              </a:p>
              <a:p>
                <a:pPr marL="82296" indent="0" algn="just">
                  <a:buNone/>
                </a:pPr>
                <a:r>
                  <a:rPr lang="es-SV" dirty="0"/>
                  <a:t>Si la frecuencia relativa </a:t>
                </a:r>
                <a14:m>
                  <m:oMath xmlns:m="http://schemas.openxmlformats.org/officeDocument/2006/math">
                    <m:f>
                      <m:fPr>
                        <m:ctrlPr>
                          <a:rPr lang="es-SV" i="1" smtClean="0">
                            <a:latin typeface="Cambria Math" panose="02040503050406030204" pitchFamily="18" charset="0"/>
                          </a:rPr>
                        </m:ctrlPr>
                      </m:fPr>
                      <m:num>
                        <m:sSub>
                          <m:sSubPr>
                            <m:ctrlPr>
                              <a:rPr lang="es-SV" i="1" smtClean="0">
                                <a:latin typeface="Cambria Math" panose="02040503050406030204" pitchFamily="18" charset="0"/>
                              </a:rPr>
                            </m:ctrlPr>
                          </m:sSubPr>
                          <m:e>
                            <m:r>
                              <a:rPr lang="es-SV" b="0" i="1" smtClean="0">
                                <a:latin typeface="Cambria Math"/>
                              </a:rPr>
                              <m:t>𝑓</m:t>
                            </m:r>
                          </m:e>
                          <m:sub>
                            <m:r>
                              <a:rPr lang="es-SV" b="0" i="1" smtClean="0">
                                <a:latin typeface="Cambria Math"/>
                              </a:rPr>
                              <m:t>𝑖</m:t>
                            </m:r>
                          </m:sub>
                        </m:sSub>
                      </m:num>
                      <m:den>
                        <m:r>
                          <a:rPr lang="es-SV" b="0" i="1" smtClean="0">
                            <a:latin typeface="Cambria Math"/>
                          </a:rPr>
                          <m:t>𝑛</m:t>
                        </m:r>
                      </m:den>
                    </m:f>
                  </m:oMath>
                </a14:m>
                <a:r>
                  <a:rPr lang="es-SV" dirty="0"/>
                  <a:t> se estima como una aproximación a la probabilidad de la observación </a:t>
                </a:r>
                <a14:m>
                  <m:oMath xmlns:m="http://schemas.openxmlformats.org/officeDocument/2006/math">
                    <m:sSub>
                      <m:sSubPr>
                        <m:ctrlPr>
                          <a:rPr lang="es-SV"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r>
                      <a:rPr lang="es-SV" b="0" i="0" smtClean="0">
                        <a:latin typeface="Cambria Math"/>
                      </a:rPr>
                      <m:t>, </m:t>
                    </m:r>
                  </m:oMath>
                </a14:m>
                <a:r>
                  <a:rPr lang="es-SV" dirty="0"/>
                  <a:t>es decir, </a:t>
                </a:r>
                <a14:m>
                  <m:oMath xmlns:m="http://schemas.openxmlformats.org/officeDocument/2006/math">
                    <m:r>
                      <a:rPr lang="es-SV" b="0" i="1" smtClean="0">
                        <a:latin typeface="Cambria Math"/>
                      </a:rPr>
                      <m:t>𝑃</m:t>
                    </m:r>
                    <m:d>
                      <m:dPr>
                        <m:ctrlPr>
                          <a:rPr lang="es-SV" b="0" i="1" smtClean="0">
                            <a:latin typeface="Cambria Math" panose="02040503050406030204" pitchFamily="18" charset="0"/>
                          </a:rPr>
                        </m:ctrlPr>
                      </m:dPr>
                      <m:e>
                        <m:r>
                          <a:rPr lang="es-SV" b="0" i="1" smtClean="0">
                            <a:latin typeface="Cambria Math"/>
                          </a:rPr>
                          <m:t>𝑋</m:t>
                        </m:r>
                        <m:r>
                          <a:rPr lang="es-SV" b="0" i="1" smtClean="0">
                            <a:latin typeface="Cambria Math"/>
                          </a:rPr>
                          <m:t>=</m:t>
                        </m:r>
                        <m:sSub>
                          <m:sSubPr>
                            <m:ctrlPr>
                              <a:rPr lang="es-SV" b="0"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e>
                    </m:d>
                    <m:r>
                      <a:rPr lang="es-SV" b="0" i="1" smtClean="0">
                        <a:latin typeface="Cambria Math"/>
                      </a:rPr>
                      <m:t>=</m:t>
                    </m:r>
                    <m:r>
                      <a:rPr lang="es-SV" b="0" i="1" smtClean="0">
                        <a:latin typeface="Cambria Math"/>
                      </a:rPr>
                      <m:t>𝑓</m:t>
                    </m:r>
                    <m:d>
                      <m:dPr>
                        <m:ctrlPr>
                          <a:rPr lang="es-SV" b="0" i="1" smtClean="0">
                            <a:latin typeface="Cambria Math" panose="02040503050406030204" pitchFamily="18" charset="0"/>
                          </a:rPr>
                        </m:ctrlPr>
                      </m:dPr>
                      <m:e>
                        <m:sSub>
                          <m:sSubPr>
                            <m:ctrlPr>
                              <a:rPr lang="es-SV" b="0"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e>
                    </m:d>
                    <m:r>
                      <a:rPr lang="es-SV" b="0" i="1" smtClean="0">
                        <a:latin typeface="Cambria Math"/>
                      </a:rPr>
                      <m:t>;</m:t>
                    </m:r>
                  </m:oMath>
                </a14:m>
                <a:r>
                  <a:rPr lang="es-SV" dirty="0"/>
                  <a:t> entonces la expresión  </a:t>
                </a:r>
                <a14:m>
                  <m:oMath xmlns:m="http://schemas.openxmlformats.org/officeDocument/2006/math">
                    <m:nary>
                      <m:naryPr>
                        <m:chr m:val="∑"/>
                        <m:subHide m:val="on"/>
                        <m:supHide m:val="on"/>
                        <m:ctrlPr>
                          <a:rPr lang="es-SV" i="1">
                            <a:latin typeface="Cambria Math" panose="02040503050406030204" pitchFamily="18" charset="0"/>
                          </a:rPr>
                        </m:ctrlPr>
                      </m:naryPr>
                      <m:sub/>
                      <m:sup/>
                      <m:e>
                        <m:sSub>
                          <m:sSubPr>
                            <m:ctrlPr>
                              <a:rPr lang="es-SV" i="1">
                                <a:latin typeface="Cambria Math" panose="02040503050406030204" pitchFamily="18" charset="0"/>
                              </a:rPr>
                            </m:ctrlPr>
                          </m:sSubPr>
                          <m:e>
                            <m:r>
                              <a:rPr lang="es-SV" i="1">
                                <a:latin typeface="Cambria Math"/>
                              </a:rPr>
                              <m:t>𝑥</m:t>
                            </m:r>
                          </m:e>
                          <m:sub>
                            <m:r>
                              <a:rPr lang="es-SV" i="1">
                                <a:latin typeface="Cambria Math"/>
                              </a:rPr>
                              <m:t>𝑖</m:t>
                            </m:r>
                          </m:sub>
                        </m:sSub>
                        <m:r>
                          <a:rPr lang="es-SV" i="1">
                            <a:latin typeface="Cambria Math"/>
                          </a:rPr>
                          <m:t>𝑓</m:t>
                        </m:r>
                        <m:d>
                          <m:dPr>
                            <m:ctrlPr>
                              <a:rPr lang="es-SV" i="1">
                                <a:latin typeface="Cambria Math" panose="02040503050406030204" pitchFamily="18" charset="0"/>
                              </a:rPr>
                            </m:ctrlPr>
                          </m:dPr>
                          <m:e>
                            <m:sSub>
                              <m:sSubPr>
                                <m:ctrlPr>
                                  <a:rPr lang="es-SV" i="1">
                                    <a:latin typeface="Cambria Math" panose="02040503050406030204" pitchFamily="18" charset="0"/>
                                  </a:rPr>
                                </m:ctrlPr>
                              </m:sSubPr>
                              <m:e>
                                <m:r>
                                  <a:rPr lang="es-SV" i="1">
                                    <a:latin typeface="Cambria Math"/>
                                  </a:rPr>
                                  <m:t>𝑥</m:t>
                                </m:r>
                              </m:e>
                              <m:sub>
                                <m:r>
                                  <a:rPr lang="es-SV" i="1">
                                    <a:latin typeface="Cambria Math"/>
                                  </a:rPr>
                                  <m:t>𝑖</m:t>
                                </m:r>
                              </m:sub>
                            </m:sSub>
                          </m:e>
                        </m:d>
                      </m:e>
                    </m:nary>
                    <m:r>
                      <a:rPr lang="es-SV" b="0" i="1" smtClean="0">
                        <a:latin typeface="Cambria Math"/>
                      </a:rPr>
                      <m:t> </m:t>
                    </m:r>
                  </m:oMath>
                </a14:m>
                <a:r>
                  <a:rPr lang="es-SV" dirty="0"/>
                  <a:t>recibe el nombre especial de “esperanza matemática” o valor esperado de la variable x.</a:t>
                </a: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539552" y="1268760"/>
                <a:ext cx="7920880" cy="5221560"/>
              </a:xfrm>
              <a:blipFill>
                <a:blip r:embed="rId2"/>
                <a:stretch>
                  <a:fillRect l="-308" t="-1050" r="-1386" b="-1284"/>
                </a:stretch>
              </a:blipFill>
            </p:spPr>
            <p:txBody>
              <a:bodyPr/>
              <a:lstStyle/>
              <a:p>
                <a:r>
                  <a:rPr lang="es-SV">
                    <a:noFill/>
                  </a:rPr>
                  <a:t> </a:t>
                </a:r>
              </a:p>
            </p:txBody>
          </p:sp>
        </mc:Fallback>
      </mc:AlternateContent>
    </p:spTree>
    <p:extLst>
      <p:ext uri="{BB962C8B-B14F-4D97-AF65-F5344CB8AC3E}">
        <p14:creationId xmlns:p14="http://schemas.microsoft.com/office/powerpoint/2010/main" val="3414820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611560" y="1268760"/>
                <a:ext cx="7704856" cy="5328592"/>
              </a:xfrm>
            </p:spPr>
            <p:txBody>
              <a:bodyPr>
                <a:normAutofit lnSpcReduction="10000"/>
              </a:bodyPr>
              <a:lstStyle/>
              <a:p>
                <a:pPr marL="82296" indent="0" algn="just">
                  <a:buNone/>
                </a:pPr>
                <a:r>
                  <a:rPr lang="es-SV" dirty="0"/>
                  <a:t>La misma idea es valida para la varianza de las observaciones, la cual puede considerarse como la esperanza matemática de las desviaciones cuadráticas </a:t>
                </a:r>
                <a14:m>
                  <m:oMath xmlns:m="http://schemas.openxmlformats.org/officeDocument/2006/math">
                    <m:sSup>
                      <m:sSupPr>
                        <m:ctrlPr>
                          <a:rPr lang="es-SV" i="1" smtClean="0">
                            <a:latin typeface="Cambria Math" panose="02040503050406030204" pitchFamily="18" charset="0"/>
                          </a:rPr>
                        </m:ctrlPr>
                      </m:sSupPr>
                      <m:e>
                        <m:d>
                          <m:dPr>
                            <m:ctrlPr>
                              <a:rPr lang="es-SV" i="1" smtClean="0">
                                <a:latin typeface="Cambria Math" panose="02040503050406030204" pitchFamily="18" charset="0"/>
                              </a:rPr>
                            </m:ctrlPr>
                          </m:dPr>
                          <m:e>
                            <m:sSub>
                              <m:sSubPr>
                                <m:ctrlPr>
                                  <a:rPr lang="es-SV"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r>
                              <a:rPr lang="es-SV" b="0" i="1" smtClean="0">
                                <a:latin typeface="Cambria Math"/>
                              </a:rPr>
                              <m:t>−</m:t>
                            </m:r>
                            <m:acc>
                              <m:accPr>
                                <m:chr m:val="̅"/>
                                <m:ctrlPr>
                                  <a:rPr lang="es-SV" b="0" i="1" smtClean="0">
                                    <a:latin typeface="Cambria Math" panose="02040503050406030204" pitchFamily="18" charset="0"/>
                                  </a:rPr>
                                </m:ctrlPr>
                              </m:accPr>
                              <m:e>
                                <m:r>
                                  <a:rPr lang="es-SV" b="0" i="1" smtClean="0">
                                    <a:latin typeface="Cambria Math"/>
                                  </a:rPr>
                                  <m:t>𝑥</m:t>
                                </m:r>
                              </m:e>
                            </m:acc>
                          </m:e>
                        </m:d>
                      </m:e>
                      <m:sup>
                        <m:r>
                          <a:rPr lang="es-SV" b="0" i="1" smtClean="0">
                            <a:latin typeface="Cambria Math"/>
                          </a:rPr>
                          <m:t>2</m:t>
                        </m:r>
                      </m:sup>
                    </m:sSup>
                  </m:oMath>
                </a14:m>
                <a:r>
                  <a:rPr lang="es-SV" dirty="0"/>
                  <a:t>.</a:t>
                </a:r>
              </a:p>
              <a:p>
                <a:pPr marL="82296" indent="0" algn="just">
                  <a:buNone/>
                </a:pPr>
                <a:r>
                  <a:rPr lang="es-SV" dirty="0"/>
                  <a:t>Haciendo: </a:t>
                </a:r>
              </a:p>
              <a:p>
                <a:pPr marL="82296" indent="0" algn="just">
                  <a:buNone/>
                </a:pPr>
                <a:endParaRPr lang="es-SV" dirty="0"/>
              </a:p>
              <a:p>
                <a:pPr marL="82296" indent="0" algn="just">
                  <a:buNone/>
                </a:pPr>
                <a14:m>
                  <m:oMathPara xmlns:m="http://schemas.openxmlformats.org/officeDocument/2006/math">
                    <m:oMathParaPr>
                      <m:jc m:val="centerGroup"/>
                    </m:oMathParaPr>
                    <m:oMath xmlns:m="http://schemas.openxmlformats.org/officeDocument/2006/math">
                      <m:sSup>
                        <m:sSupPr>
                          <m:ctrlPr>
                            <a:rPr lang="es-SV" sz="2400" i="1" smtClean="0">
                              <a:latin typeface="Cambria Math" panose="02040503050406030204" pitchFamily="18" charset="0"/>
                            </a:rPr>
                          </m:ctrlPr>
                        </m:sSupPr>
                        <m:e>
                          <m:r>
                            <a:rPr lang="es-SV" sz="2400" b="0" i="1" smtClean="0">
                              <a:latin typeface="Cambria Math"/>
                            </a:rPr>
                            <m:t>𝑆</m:t>
                          </m:r>
                        </m:e>
                        <m:sup>
                          <m:r>
                            <a:rPr lang="es-SV" sz="2400" b="0" i="1" smtClean="0">
                              <a:latin typeface="Cambria Math"/>
                            </a:rPr>
                            <m:t>2</m:t>
                          </m:r>
                        </m:sup>
                      </m:sSup>
                      <m:r>
                        <a:rPr lang="es-SV" sz="2400" b="0" i="1" smtClean="0">
                          <a:latin typeface="Cambria Math"/>
                        </a:rPr>
                        <m:t>=</m:t>
                      </m:r>
                      <m:f>
                        <m:fPr>
                          <m:ctrlPr>
                            <a:rPr lang="es-SV" sz="2400" b="0" i="1" smtClean="0">
                              <a:latin typeface="Cambria Math" panose="02040503050406030204" pitchFamily="18" charset="0"/>
                            </a:rPr>
                          </m:ctrlPr>
                        </m:fPr>
                        <m:num>
                          <m:nary>
                            <m:naryPr>
                              <m:chr m:val="∑"/>
                              <m:subHide m:val="on"/>
                              <m:supHide m:val="on"/>
                              <m:ctrlPr>
                                <a:rPr lang="es-SV" sz="2400" b="0" i="1" smtClean="0">
                                  <a:latin typeface="Cambria Math" panose="02040503050406030204" pitchFamily="18" charset="0"/>
                                </a:rPr>
                              </m:ctrlPr>
                            </m:naryPr>
                            <m:sub/>
                            <m:sup/>
                            <m:e>
                              <m:sSup>
                                <m:sSupPr>
                                  <m:ctrlPr>
                                    <a:rPr lang="es-SV" sz="2400" b="0" i="1" smtClean="0">
                                      <a:latin typeface="Cambria Math" panose="02040503050406030204" pitchFamily="18" charset="0"/>
                                    </a:rPr>
                                  </m:ctrlPr>
                                </m:sSupPr>
                                <m:e>
                                  <m:d>
                                    <m:dPr>
                                      <m:ctrlPr>
                                        <a:rPr lang="es-SV" sz="2400" b="0" i="1" smtClean="0">
                                          <a:latin typeface="Cambria Math" panose="02040503050406030204" pitchFamily="18" charset="0"/>
                                        </a:rPr>
                                      </m:ctrlPr>
                                    </m:dPr>
                                    <m:e>
                                      <m:sSub>
                                        <m:sSubPr>
                                          <m:ctrlPr>
                                            <a:rPr lang="es-SV" sz="2400" b="0" i="1" smtClean="0">
                                              <a:latin typeface="Cambria Math" panose="02040503050406030204" pitchFamily="18" charset="0"/>
                                            </a:rPr>
                                          </m:ctrlPr>
                                        </m:sSubPr>
                                        <m:e>
                                          <m:r>
                                            <a:rPr lang="es-SV" sz="2400" b="0" i="1" smtClean="0">
                                              <a:latin typeface="Cambria Math"/>
                                            </a:rPr>
                                            <m:t>𝑥</m:t>
                                          </m:r>
                                        </m:e>
                                        <m:sub>
                                          <m:r>
                                            <a:rPr lang="es-SV" sz="2400" b="0" i="1" smtClean="0">
                                              <a:latin typeface="Cambria Math"/>
                                            </a:rPr>
                                            <m:t>𝑖</m:t>
                                          </m:r>
                                        </m:sub>
                                      </m:sSub>
                                      <m:r>
                                        <a:rPr lang="es-SV" sz="2400" b="0" i="1" smtClean="0">
                                          <a:latin typeface="Cambria Math"/>
                                        </a:rPr>
                                        <m:t>−</m:t>
                                      </m:r>
                                      <m:acc>
                                        <m:accPr>
                                          <m:chr m:val="̅"/>
                                          <m:ctrlPr>
                                            <a:rPr lang="es-SV" sz="2400" b="0" i="1" smtClean="0">
                                              <a:latin typeface="Cambria Math" panose="02040503050406030204" pitchFamily="18" charset="0"/>
                                            </a:rPr>
                                          </m:ctrlPr>
                                        </m:accPr>
                                        <m:e>
                                          <m:r>
                                            <a:rPr lang="es-SV" sz="2400" b="0" i="1" smtClean="0">
                                              <a:latin typeface="Cambria Math"/>
                                            </a:rPr>
                                            <m:t>𝑥</m:t>
                                          </m:r>
                                        </m:e>
                                      </m:acc>
                                    </m:e>
                                  </m:d>
                                </m:e>
                                <m:sup>
                                  <m:r>
                                    <a:rPr lang="es-SV" sz="2400" b="0" i="1" smtClean="0">
                                      <a:latin typeface="Cambria Math"/>
                                    </a:rPr>
                                    <m:t>2</m:t>
                                  </m:r>
                                </m:sup>
                              </m:sSup>
                              <m:sSub>
                                <m:sSubPr>
                                  <m:ctrlPr>
                                    <a:rPr lang="es-SV" sz="2400" b="0" i="1" smtClean="0">
                                      <a:latin typeface="Cambria Math" panose="02040503050406030204" pitchFamily="18" charset="0"/>
                                    </a:rPr>
                                  </m:ctrlPr>
                                </m:sSubPr>
                                <m:e>
                                  <m:r>
                                    <a:rPr lang="es-SV" sz="2400" b="0" i="1" smtClean="0">
                                      <a:latin typeface="Cambria Math"/>
                                    </a:rPr>
                                    <m:t>𝑓</m:t>
                                  </m:r>
                                </m:e>
                                <m:sub>
                                  <m:r>
                                    <a:rPr lang="es-SV" sz="2400" b="0" i="1" smtClean="0">
                                      <a:latin typeface="Cambria Math"/>
                                    </a:rPr>
                                    <m:t>𝑖</m:t>
                                  </m:r>
                                </m:sub>
                              </m:sSub>
                            </m:e>
                          </m:nary>
                        </m:num>
                        <m:den>
                          <m:r>
                            <a:rPr lang="es-SV" sz="2400" b="0" i="1" smtClean="0">
                              <a:latin typeface="Cambria Math"/>
                            </a:rPr>
                            <m:t>𝑛</m:t>
                          </m:r>
                        </m:den>
                      </m:f>
                      <m:r>
                        <a:rPr lang="es-SV" sz="2400" b="0" i="1" smtClean="0">
                          <a:latin typeface="Cambria Math"/>
                        </a:rPr>
                        <m:t>=</m:t>
                      </m:r>
                      <m:nary>
                        <m:naryPr>
                          <m:chr m:val="∑"/>
                          <m:subHide m:val="on"/>
                          <m:supHide m:val="on"/>
                          <m:ctrlPr>
                            <a:rPr lang="es-SV" sz="2400" b="0" i="1" smtClean="0">
                              <a:latin typeface="Cambria Math" panose="02040503050406030204" pitchFamily="18" charset="0"/>
                            </a:rPr>
                          </m:ctrlPr>
                        </m:naryPr>
                        <m:sub/>
                        <m:sup/>
                        <m:e>
                          <m:sSup>
                            <m:sSupPr>
                              <m:ctrlPr>
                                <a:rPr lang="es-SV" sz="2400" b="0" i="1" smtClean="0">
                                  <a:latin typeface="Cambria Math" panose="02040503050406030204" pitchFamily="18" charset="0"/>
                                </a:rPr>
                              </m:ctrlPr>
                            </m:sSupPr>
                            <m:e>
                              <m:d>
                                <m:dPr>
                                  <m:ctrlPr>
                                    <a:rPr lang="es-SV" sz="2400" b="0" i="1" smtClean="0">
                                      <a:latin typeface="Cambria Math" panose="02040503050406030204" pitchFamily="18" charset="0"/>
                                    </a:rPr>
                                  </m:ctrlPr>
                                </m:dPr>
                                <m:e>
                                  <m:sSub>
                                    <m:sSubPr>
                                      <m:ctrlPr>
                                        <a:rPr lang="es-SV" sz="2400" b="0" i="1" smtClean="0">
                                          <a:latin typeface="Cambria Math" panose="02040503050406030204" pitchFamily="18" charset="0"/>
                                        </a:rPr>
                                      </m:ctrlPr>
                                    </m:sSubPr>
                                    <m:e>
                                      <m:r>
                                        <a:rPr lang="es-SV" sz="2400" b="0" i="1" smtClean="0">
                                          <a:latin typeface="Cambria Math"/>
                                        </a:rPr>
                                        <m:t>𝑥</m:t>
                                      </m:r>
                                    </m:e>
                                    <m:sub>
                                      <m:r>
                                        <a:rPr lang="es-SV" sz="2400" b="0" i="1" smtClean="0">
                                          <a:latin typeface="Cambria Math"/>
                                        </a:rPr>
                                        <m:t>𝑖</m:t>
                                      </m:r>
                                    </m:sub>
                                  </m:sSub>
                                  <m:r>
                                    <a:rPr lang="es-SV" sz="2400" b="0" i="1" smtClean="0">
                                      <a:latin typeface="Cambria Math"/>
                                    </a:rPr>
                                    <m:t>−</m:t>
                                  </m:r>
                                  <m:acc>
                                    <m:accPr>
                                      <m:chr m:val="̅"/>
                                      <m:ctrlPr>
                                        <a:rPr lang="es-SV" sz="2400" b="0" i="1" smtClean="0">
                                          <a:latin typeface="Cambria Math" panose="02040503050406030204" pitchFamily="18" charset="0"/>
                                        </a:rPr>
                                      </m:ctrlPr>
                                    </m:accPr>
                                    <m:e>
                                      <m:r>
                                        <a:rPr lang="es-SV" sz="2400" b="0" i="1" smtClean="0">
                                          <a:latin typeface="Cambria Math"/>
                                        </a:rPr>
                                        <m:t>𝑥</m:t>
                                      </m:r>
                                    </m:e>
                                  </m:acc>
                                </m:e>
                              </m:d>
                            </m:e>
                            <m:sup>
                              <m:r>
                                <a:rPr lang="es-SV" sz="2400" b="0" i="1" smtClean="0">
                                  <a:latin typeface="Cambria Math"/>
                                </a:rPr>
                                <m:t>2</m:t>
                              </m:r>
                            </m:sup>
                          </m:sSup>
                          <m:d>
                            <m:dPr>
                              <m:ctrlPr>
                                <a:rPr lang="es-SV" sz="2400" b="0" i="1" smtClean="0">
                                  <a:latin typeface="Cambria Math" panose="02040503050406030204" pitchFamily="18" charset="0"/>
                                </a:rPr>
                              </m:ctrlPr>
                            </m:dPr>
                            <m:e>
                              <m:f>
                                <m:fPr>
                                  <m:ctrlPr>
                                    <a:rPr lang="es-SV" sz="2400" i="1">
                                      <a:latin typeface="Cambria Math" panose="02040503050406030204" pitchFamily="18" charset="0"/>
                                    </a:rPr>
                                  </m:ctrlPr>
                                </m:fPr>
                                <m:num>
                                  <m:sSub>
                                    <m:sSubPr>
                                      <m:ctrlPr>
                                        <a:rPr lang="es-SV" sz="2400" i="1">
                                          <a:latin typeface="Cambria Math" panose="02040503050406030204" pitchFamily="18" charset="0"/>
                                        </a:rPr>
                                      </m:ctrlPr>
                                    </m:sSubPr>
                                    <m:e>
                                      <m:r>
                                        <a:rPr lang="es-SV" sz="2400" i="1">
                                          <a:latin typeface="Cambria Math"/>
                                        </a:rPr>
                                        <m:t>𝑓</m:t>
                                      </m:r>
                                    </m:e>
                                    <m:sub>
                                      <m:r>
                                        <a:rPr lang="es-SV" sz="2400" i="1">
                                          <a:latin typeface="Cambria Math"/>
                                        </a:rPr>
                                        <m:t>𝑖</m:t>
                                      </m:r>
                                    </m:sub>
                                  </m:sSub>
                                </m:num>
                                <m:den>
                                  <m:r>
                                    <a:rPr lang="es-SV" sz="2400" i="1">
                                      <a:latin typeface="Cambria Math"/>
                                    </a:rPr>
                                    <m:t>𝑛</m:t>
                                  </m:r>
                                </m:den>
                              </m:f>
                            </m:e>
                          </m:d>
                        </m:e>
                      </m:nary>
                      <m:r>
                        <a:rPr lang="es-SV" sz="2400" b="0" i="1" smtClean="0">
                          <a:latin typeface="Cambria Math"/>
                        </a:rPr>
                        <m:t>=</m:t>
                      </m:r>
                      <m:nary>
                        <m:naryPr>
                          <m:chr m:val="∑"/>
                          <m:subHide m:val="on"/>
                          <m:supHide m:val="on"/>
                          <m:ctrlPr>
                            <a:rPr lang="es-SV" sz="2400" i="1">
                              <a:latin typeface="Cambria Math" panose="02040503050406030204" pitchFamily="18" charset="0"/>
                            </a:rPr>
                          </m:ctrlPr>
                        </m:naryPr>
                        <m:sub/>
                        <m:sup/>
                        <m:e>
                          <m:sSup>
                            <m:sSupPr>
                              <m:ctrlPr>
                                <a:rPr lang="es-SV" sz="2400" i="1">
                                  <a:latin typeface="Cambria Math" panose="02040503050406030204" pitchFamily="18" charset="0"/>
                                </a:rPr>
                              </m:ctrlPr>
                            </m:sSupPr>
                            <m:e>
                              <m:d>
                                <m:dPr>
                                  <m:ctrlPr>
                                    <a:rPr lang="es-SV" sz="2400" i="1">
                                      <a:latin typeface="Cambria Math" panose="02040503050406030204" pitchFamily="18" charset="0"/>
                                    </a:rPr>
                                  </m:ctrlPr>
                                </m:dPr>
                                <m:e>
                                  <m:sSub>
                                    <m:sSubPr>
                                      <m:ctrlPr>
                                        <a:rPr lang="es-SV" sz="2400" i="1">
                                          <a:latin typeface="Cambria Math" panose="02040503050406030204" pitchFamily="18" charset="0"/>
                                        </a:rPr>
                                      </m:ctrlPr>
                                    </m:sSubPr>
                                    <m:e>
                                      <m:r>
                                        <a:rPr lang="es-SV" sz="2400" i="1">
                                          <a:latin typeface="Cambria Math"/>
                                        </a:rPr>
                                        <m:t>𝑥</m:t>
                                      </m:r>
                                    </m:e>
                                    <m:sub>
                                      <m:r>
                                        <a:rPr lang="es-SV" sz="2400" i="1">
                                          <a:latin typeface="Cambria Math"/>
                                        </a:rPr>
                                        <m:t>𝑖</m:t>
                                      </m:r>
                                    </m:sub>
                                  </m:sSub>
                                  <m:r>
                                    <a:rPr lang="es-SV" sz="2400" i="1">
                                      <a:latin typeface="Cambria Math"/>
                                    </a:rPr>
                                    <m:t>−</m:t>
                                  </m:r>
                                  <m:acc>
                                    <m:accPr>
                                      <m:chr m:val="̅"/>
                                      <m:ctrlPr>
                                        <a:rPr lang="es-SV" sz="2400" i="1">
                                          <a:latin typeface="Cambria Math" panose="02040503050406030204" pitchFamily="18" charset="0"/>
                                        </a:rPr>
                                      </m:ctrlPr>
                                    </m:accPr>
                                    <m:e>
                                      <m:r>
                                        <a:rPr lang="es-SV" sz="2400" i="1">
                                          <a:latin typeface="Cambria Math"/>
                                        </a:rPr>
                                        <m:t>𝑥</m:t>
                                      </m:r>
                                    </m:e>
                                  </m:acc>
                                </m:e>
                              </m:d>
                            </m:e>
                            <m:sup>
                              <m:r>
                                <a:rPr lang="es-SV" sz="2400" i="1">
                                  <a:latin typeface="Cambria Math"/>
                                </a:rPr>
                                <m:t>2</m:t>
                              </m:r>
                            </m:sup>
                          </m:sSup>
                          <m:r>
                            <a:rPr lang="es-SV" sz="2400" b="0" i="1" smtClean="0">
                              <a:latin typeface="Cambria Math"/>
                            </a:rPr>
                            <m:t>𝑓</m:t>
                          </m:r>
                          <m:r>
                            <a:rPr lang="es-SV" sz="2400" b="0" i="1" smtClean="0">
                              <a:latin typeface="Cambria Math"/>
                            </a:rPr>
                            <m:t>(</m:t>
                          </m:r>
                          <m:r>
                            <a:rPr lang="es-SV" sz="2400" b="0" i="1" smtClean="0">
                              <a:latin typeface="Cambria Math"/>
                            </a:rPr>
                            <m:t>𝑥</m:t>
                          </m:r>
                          <m:r>
                            <a:rPr lang="es-SV" sz="2400" b="0" i="1" smtClean="0">
                              <a:latin typeface="Cambria Math"/>
                            </a:rPr>
                            <m:t>)</m:t>
                          </m:r>
                        </m:e>
                      </m:nary>
                    </m:oMath>
                  </m:oMathPara>
                </a14:m>
                <a:endParaRPr lang="es-SV" sz="2400" b="0" dirty="0"/>
              </a:p>
              <a:p>
                <a:pPr marL="82296" indent="0" algn="just">
                  <a:buNone/>
                </a:pPr>
                <a:r>
                  <a:rPr lang="es-SV" sz="2800" dirty="0"/>
                  <a:t>Obtenemos una versión modificada,  en términos de la probabilidad, para la varianza.</a:t>
                </a:r>
                <a:endParaRPr lang="es-SV" sz="2800" b="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611560" y="1268760"/>
                <a:ext cx="7704856" cy="5328592"/>
              </a:xfrm>
              <a:blipFill>
                <a:blip r:embed="rId2"/>
                <a:stretch>
                  <a:fillRect l="-475" t="-1716" r="-1661"/>
                </a:stretch>
              </a:blipFill>
            </p:spPr>
            <p:txBody>
              <a:bodyPr/>
              <a:lstStyle/>
              <a:p>
                <a:r>
                  <a:rPr lang="es-SV">
                    <a:noFill/>
                  </a:rPr>
                  <a:t> </a:t>
                </a:r>
              </a:p>
            </p:txBody>
          </p:sp>
        </mc:Fallback>
      </mc:AlternateContent>
    </p:spTree>
    <p:extLst>
      <p:ext uri="{BB962C8B-B14F-4D97-AF65-F5344CB8AC3E}">
        <p14:creationId xmlns:p14="http://schemas.microsoft.com/office/powerpoint/2010/main" val="355004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SV" dirty="0"/>
              <a:t>Esperanza matemática y varianza</a:t>
            </a: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p:txBody>
              <a:bodyPr/>
              <a:lstStyle/>
              <a:p>
                <a:pPr marL="82296" indent="0">
                  <a:buNone/>
                </a:pPr>
                <a:r>
                  <a:rPr lang="es-SV" dirty="0"/>
                  <a:t>Forma de expresar la esperanza matemática y varianza:</a:t>
                </a:r>
              </a:p>
              <a:p>
                <a:pPr marL="82296" indent="0">
                  <a:buNone/>
                </a:pPr>
                <a:endParaRPr lang="es-SV" dirty="0"/>
              </a:p>
              <a:p>
                <a14:m>
                  <m:oMath xmlns:m="http://schemas.openxmlformats.org/officeDocument/2006/math">
                    <m:r>
                      <a:rPr lang="es-SV" b="0" i="1" smtClean="0">
                        <a:latin typeface="Cambria Math"/>
                      </a:rPr>
                      <m:t>𝐸</m:t>
                    </m:r>
                    <m:d>
                      <m:dPr>
                        <m:ctrlPr>
                          <a:rPr lang="es-SV" b="0" i="1" smtClean="0">
                            <a:latin typeface="Cambria Math" panose="02040503050406030204" pitchFamily="18" charset="0"/>
                          </a:rPr>
                        </m:ctrlPr>
                      </m:dPr>
                      <m:e>
                        <m:r>
                          <a:rPr lang="es-SV" b="0" i="1" smtClean="0">
                            <a:latin typeface="Cambria Math"/>
                          </a:rPr>
                          <m:t>𝑥</m:t>
                        </m:r>
                      </m:e>
                    </m:d>
                    <m:r>
                      <a:rPr lang="es-SV" b="0" i="1" smtClean="0">
                        <a:latin typeface="Cambria Math"/>
                      </a:rPr>
                      <m:t>=</m:t>
                    </m:r>
                    <m:r>
                      <a:rPr lang="es-SV" b="0" i="1" smtClean="0">
                        <a:latin typeface="Cambria Math"/>
                        <a:ea typeface="Cambria Math"/>
                      </a:rPr>
                      <m:t>𝜇</m:t>
                    </m:r>
                    <m:r>
                      <a:rPr lang="es-SV" b="0" i="1" smtClean="0">
                        <a:latin typeface="Cambria Math"/>
                        <a:ea typeface="Cambria Math"/>
                      </a:rPr>
                      <m:t>=</m:t>
                    </m:r>
                    <m:nary>
                      <m:naryPr>
                        <m:chr m:val="∑"/>
                        <m:ctrlPr>
                          <a:rPr lang="es-SV" b="0" i="1" smtClean="0">
                            <a:latin typeface="Cambria Math" panose="02040503050406030204" pitchFamily="18" charset="0"/>
                            <a:ea typeface="Cambria Math"/>
                          </a:rPr>
                        </m:ctrlPr>
                      </m:naryPr>
                      <m:sub>
                        <m:r>
                          <m:rPr>
                            <m:brk m:alnAt="23"/>
                          </m:rPr>
                          <a:rPr lang="es-SV" b="0" i="1" smtClean="0">
                            <a:latin typeface="Cambria Math"/>
                            <a:ea typeface="Cambria Math"/>
                          </a:rPr>
                          <m:t>𝑖</m:t>
                        </m:r>
                        <m:r>
                          <a:rPr lang="es-SV" b="0" i="1" smtClean="0">
                            <a:latin typeface="Cambria Math"/>
                            <a:ea typeface="Cambria Math"/>
                          </a:rPr>
                          <m:t>=1</m:t>
                        </m:r>
                      </m:sub>
                      <m:sup>
                        <m:r>
                          <a:rPr lang="es-SV" b="0" i="1" smtClean="0">
                            <a:latin typeface="Cambria Math"/>
                            <a:ea typeface="Cambria Math"/>
                          </a:rPr>
                          <m:t>𝑟</m:t>
                        </m:r>
                      </m:sup>
                      <m:e>
                        <m:sSub>
                          <m:sSubPr>
                            <m:ctrlPr>
                              <a:rPr lang="es-SV" b="0" i="1" smtClean="0">
                                <a:latin typeface="Cambria Math" panose="02040503050406030204" pitchFamily="18" charset="0"/>
                                <a:ea typeface="Cambria Math"/>
                              </a:rPr>
                            </m:ctrlPr>
                          </m:sSubPr>
                          <m:e>
                            <m:r>
                              <a:rPr lang="es-SV" b="0" i="1" smtClean="0">
                                <a:latin typeface="Cambria Math"/>
                                <a:ea typeface="Cambria Math"/>
                              </a:rPr>
                              <m:t>𝑥</m:t>
                            </m:r>
                          </m:e>
                          <m:sub>
                            <m:r>
                              <a:rPr lang="es-SV" b="0" i="1" smtClean="0">
                                <a:latin typeface="Cambria Math"/>
                                <a:ea typeface="Cambria Math"/>
                              </a:rPr>
                              <m:t>𝑖</m:t>
                            </m:r>
                          </m:sub>
                        </m:sSub>
                        <m:r>
                          <a:rPr lang="es-SV" b="0" i="1" smtClean="0">
                            <a:latin typeface="Cambria Math"/>
                            <a:ea typeface="Cambria Math"/>
                          </a:rPr>
                          <m:t>𝑓</m:t>
                        </m:r>
                        <m:r>
                          <a:rPr lang="es-SV" b="0" i="1" smtClean="0">
                            <a:latin typeface="Cambria Math"/>
                            <a:ea typeface="Cambria Math"/>
                          </a:rPr>
                          <m:t>(</m:t>
                        </m:r>
                        <m:sSub>
                          <m:sSubPr>
                            <m:ctrlPr>
                              <a:rPr lang="es-SV" b="0" i="1" smtClean="0">
                                <a:latin typeface="Cambria Math" panose="02040503050406030204" pitchFamily="18" charset="0"/>
                                <a:ea typeface="Cambria Math"/>
                              </a:rPr>
                            </m:ctrlPr>
                          </m:sSubPr>
                          <m:e>
                            <m:r>
                              <a:rPr lang="es-SV" b="0" i="1" smtClean="0">
                                <a:latin typeface="Cambria Math"/>
                                <a:ea typeface="Cambria Math"/>
                              </a:rPr>
                              <m:t>𝑥</m:t>
                            </m:r>
                          </m:e>
                          <m:sub>
                            <m:r>
                              <a:rPr lang="es-SV" b="0" i="1" smtClean="0">
                                <a:latin typeface="Cambria Math"/>
                                <a:ea typeface="Cambria Math"/>
                              </a:rPr>
                              <m:t>𝑖</m:t>
                            </m:r>
                          </m:sub>
                        </m:sSub>
                      </m:e>
                    </m:nary>
                    <m:r>
                      <a:rPr lang="es-SV" b="0" i="1" smtClean="0">
                        <a:latin typeface="Cambria Math"/>
                        <a:ea typeface="Cambria Math"/>
                      </a:rPr>
                      <m:t>)</m:t>
                    </m:r>
                  </m:oMath>
                </a14:m>
                <a:endParaRPr lang="es-SV" dirty="0"/>
              </a:p>
              <a:p>
                <a:pPr marL="82296" indent="0">
                  <a:buNone/>
                </a:pPr>
                <a:endParaRPr lang="es-SV" dirty="0"/>
              </a:p>
              <a:p>
                <a14:m>
                  <m:oMath xmlns:m="http://schemas.openxmlformats.org/officeDocument/2006/math">
                    <m:r>
                      <a:rPr lang="es-SV" b="0" i="1" smtClean="0">
                        <a:latin typeface="Cambria Math"/>
                      </a:rPr>
                      <m:t>𝑉𝑎𝑟</m:t>
                    </m:r>
                    <m:d>
                      <m:dPr>
                        <m:ctrlPr>
                          <a:rPr lang="es-SV" b="0" i="1" smtClean="0">
                            <a:latin typeface="Cambria Math" panose="02040503050406030204" pitchFamily="18" charset="0"/>
                          </a:rPr>
                        </m:ctrlPr>
                      </m:dPr>
                      <m:e>
                        <m:r>
                          <a:rPr lang="es-SV" b="0" i="1" smtClean="0">
                            <a:latin typeface="Cambria Math"/>
                          </a:rPr>
                          <m:t>𝑥</m:t>
                        </m:r>
                      </m:e>
                    </m:d>
                    <m:r>
                      <a:rPr lang="es-SV" b="0" i="1" smtClean="0">
                        <a:latin typeface="Cambria Math"/>
                      </a:rPr>
                      <m:t>=</m:t>
                    </m:r>
                    <m:sSup>
                      <m:sSupPr>
                        <m:ctrlPr>
                          <a:rPr lang="es-SV" b="0" i="1" smtClean="0">
                            <a:latin typeface="Cambria Math" panose="02040503050406030204" pitchFamily="18" charset="0"/>
                          </a:rPr>
                        </m:ctrlPr>
                      </m:sSupPr>
                      <m:e>
                        <m:r>
                          <a:rPr lang="es-SV" b="0" i="1" smtClean="0">
                            <a:latin typeface="Cambria Math"/>
                            <a:ea typeface="Cambria Math"/>
                          </a:rPr>
                          <m:t>𝜎</m:t>
                        </m:r>
                      </m:e>
                      <m:sup>
                        <m:r>
                          <a:rPr lang="es-SV" b="0" i="1" smtClean="0">
                            <a:latin typeface="Cambria Math"/>
                          </a:rPr>
                          <m:t>2</m:t>
                        </m:r>
                      </m:sup>
                    </m:sSup>
                    <m:r>
                      <a:rPr lang="es-SV" b="0" i="1" smtClean="0">
                        <a:latin typeface="Cambria Math"/>
                      </a:rPr>
                      <m:t>=</m:t>
                    </m:r>
                    <m:nary>
                      <m:naryPr>
                        <m:chr m:val="∑"/>
                        <m:ctrlPr>
                          <a:rPr lang="es-SV" b="0" i="1" smtClean="0">
                            <a:latin typeface="Cambria Math" panose="02040503050406030204" pitchFamily="18" charset="0"/>
                          </a:rPr>
                        </m:ctrlPr>
                      </m:naryPr>
                      <m:sub>
                        <m:r>
                          <m:rPr>
                            <m:brk m:alnAt="23"/>
                          </m:rPr>
                          <a:rPr lang="es-SV" b="0" i="1" smtClean="0">
                            <a:latin typeface="Cambria Math"/>
                          </a:rPr>
                          <m:t>𝑖</m:t>
                        </m:r>
                        <m:r>
                          <a:rPr lang="es-SV" b="0" i="1" smtClean="0">
                            <a:latin typeface="Cambria Math"/>
                          </a:rPr>
                          <m:t>=1</m:t>
                        </m:r>
                      </m:sub>
                      <m:sup>
                        <m:r>
                          <a:rPr lang="es-SV" b="0" i="1" smtClean="0">
                            <a:latin typeface="Cambria Math"/>
                          </a:rPr>
                          <m:t>𝑟</m:t>
                        </m:r>
                      </m:sup>
                      <m:e>
                        <m:sSup>
                          <m:sSupPr>
                            <m:ctrlPr>
                              <a:rPr lang="es-SV" b="0" i="1" smtClean="0">
                                <a:latin typeface="Cambria Math" panose="02040503050406030204" pitchFamily="18" charset="0"/>
                              </a:rPr>
                            </m:ctrlPr>
                          </m:sSupPr>
                          <m:e>
                            <m:d>
                              <m:dPr>
                                <m:ctrlPr>
                                  <a:rPr lang="es-SV" b="0" i="1" smtClean="0">
                                    <a:latin typeface="Cambria Math" panose="02040503050406030204" pitchFamily="18" charset="0"/>
                                  </a:rPr>
                                </m:ctrlPr>
                              </m:dPr>
                              <m:e>
                                <m:sSub>
                                  <m:sSubPr>
                                    <m:ctrlPr>
                                      <a:rPr lang="es-SV" b="0"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r>
                                  <a:rPr lang="es-SV" b="0" i="1" smtClean="0">
                                    <a:latin typeface="Cambria Math"/>
                                  </a:rPr>
                                  <m:t>−</m:t>
                                </m:r>
                                <m:acc>
                                  <m:accPr>
                                    <m:chr m:val="̅"/>
                                    <m:ctrlPr>
                                      <a:rPr lang="es-SV" b="0" i="1" smtClean="0">
                                        <a:latin typeface="Cambria Math" panose="02040503050406030204" pitchFamily="18" charset="0"/>
                                      </a:rPr>
                                    </m:ctrlPr>
                                  </m:accPr>
                                  <m:e>
                                    <m:r>
                                      <a:rPr lang="es-SV" b="0" i="1" smtClean="0">
                                        <a:latin typeface="Cambria Math"/>
                                      </a:rPr>
                                      <m:t>𝑥</m:t>
                                    </m:r>
                                  </m:e>
                                </m:acc>
                              </m:e>
                            </m:d>
                          </m:e>
                          <m:sup>
                            <m:r>
                              <a:rPr lang="es-SV" b="0" i="1" smtClean="0">
                                <a:latin typeface="Cambria Math"/>
                              </a:rPr>
                              <m:t>2</m:t>
                            </m:r>
                          </m:sup>
                        </m:sSup>
                        <m:r>
                          <a:rPr lang="es-SV" b="0" i="1" smtClean="0">
                            <a:latin typeface="Cambria Math"/>
                          </a:rPr>
                          <m:t>𝑓</m:t>
                        </m:r>
                        <m:r>
                          <a:rPr lang="es-SV" b="0" i="1" smtClean="0">
                            <a:latin typeface="Cambria Math"/>
                          </a:rPr>
                          <m:t>(</m:t>
                        </m:r>
                        <m:sSub>
                          <m:sSubPr>
                            <m:ctrlPr>
                              <a:rPr lang="es-SV" b="0" i="1" smtClean="0">
                                <a:latin typeface="Cambria Math" panose="02040503050406030204" pitchFamily="18" charset="0"/>
                              </a:rPr>
                            </m:ctrlPr>
                          </m:sSubPr>
                          <m:e>
                            <m:r>
                              <a:rPr lang="es-SV" b="0" i="1" smtClean="0">
                                <a:latin typeface="Cambria Math"/>
                              </a:rPr>
                              <m:t>𝑥</m:t>
                            </m:r>
                          </m:e>
                          <m:sub>
                            <m:r>
                              <a:rPr lang="es-SV" b="0" i="1" smtClean="0">
                                <a:latin typeface="Cambria Math"/>
                              </a:rPr>
                              <m:t>𝑖</m:t>
                            </m:r>
                          </m:sub>
                        </m:sSub>
                        <m:r>
                          <a:rPr lang="es-SV" b="0" i="1" smtClean="0">
                            <a:latin typeface="Cambria Math"/>
                          </a:rPr>
                          <m:t>)</m:t>
                        </m:r>
                      </m:e>
                    </m:nary>
                  </m:oMath>
                </a14:m>
                <a:endParaRPr lang="es-SV" b="0" dirty="0"/>
              </a:p>
              <a:p>
                <a:pPr marL="82296" indent="0">
                  <a:buNone/>
                </a:pPr>
                <a:endParaRPr lang="es-SV" dirty="0"/>
              </a:p>
              <a:p>
                <a:pPr marL="82296" indent="0">
                  <a:buNone/>
                </a:pPr>
                <a:endParaRPr lang="es-SV"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blipFill rotWithShape="1">
                <a:blip r:embed="rId2" cstate="print"/>
                <a:stretch>
                  <a:fillRect l="-976" t="-1652" r="-3252"/>
                </a:stretch>
              </a:blipFill>
            </p:spPr>
            <p:txBody>
              <a:bodyPr/>
              <a:lstStyle/>
              <a:p>
                <a:r>
                  <a:rPr lang="es-SV">
                    <a:noFill/>
                  </a:rPr>
                  <a:t> </a:t>
                </a:r>
              </a:p>
            </p:txBody>
          </p:sp>
        </mc:Fallback>
      </mc:AlternateContent>
    </p:spTree>
    <p:extLst>
      <p:ext uri="{BB962C8B-B14F-4D97-AF65-F5344CB8AC3E}">
        <p14:creationId xmlns:p14="http://schemas.microsoft.com/office/powerpoint/2010/main" val="655053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Distribuciones de probabilidad discretas</a:t>
            </a:r>
          </a:p>
        </p:txBody>
      </p:sp>
      <p:sp>
        <p:nvSpPr>
          <p:cNvPr id="3" name="Marcador de contenido 2"/>
          <p:cNvSpPr>
            <a:spLocks noGrp="1"/>
          </p:cNvSpPr>
          <p:nvPr>
            <p:ph sz="quarter" idx="1"/>
          </p:nvPr>
        </p:nvSpPr>
        <p:spPr/>
        <p:txBody>
          <a:bodyPr/>
          <a:lstStyle/>
          <a:p>
            <a:endParaRPr lang="es-SV" dirty="0"/>
          </a:p>
          <a:p>
            <a:endParaRPr lang="es-SV" dirty="0"/>
          </a:p>
          <a:p>
            <a:r>
              <a:rPr lang="es-SV" dirty="0"/>
              <a:t>Distribución de probabilidad Binomial.</a:t>
            </a:r>
          </a:p>
          <a:p>
            <a:pPr marL="0" indent="0">
              <a:buNone/>
            </a:pPr>
            <a:endParaRPr lang="es-SV" dirty="0"/>
          </a:p>
          <a:p>
            <a:r>
              <a:rPr lang="es-SV" dirty="0"/>
              <a:t>Distribución de probabilidad de </a:t>
            </a:r>
            <a:r>
              <a:rPr lang="es-SV" dirty="0" err="1"/>
              <a:t>Poisson</a:t>
            </a:r>
            <a:r>
              <a:rPr lang="es-SV" dirty="0"/>
              <a:t>.</a:t>
            </a:r>
          </a:p>
        </p:txBody>
      </p:sp>
    </p:spTree>
    <p:extLst>
      <p:ext uri="{BB962C8B-B14F-4D97-AF65-F5344CB8AC3E}">
        <p14:creationId xmlns:p14="http://schemas.microsoft.com/office/powerpoint/2010/main" val="1113568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SV" dirty="0"/>
              <a:t>Distribución Binomial.</a:t>
            </a:r>
          </a:p>
        </p:txBody>
      </p:sp>
      <p:sp>
        <p:nvSpPr>
          <p:cNvPr id="3" name="2 Marcador de contenido"/>
          <p:cNvSpPr>
            <a:spLocks noGrp="1"/>
          </p:cNvSpPr>
          <p:nvPr>
            <p:ph idx="1"/>
          </p:nvPr>
        </p:nvSpPr>
        <p:spPr>
          <a:xfrm>
            <a:off x="539552" y="1484784"/>
            <a:ext cx="7962088" cy="5149552"/>
          </a:xfrm>
        </p:spPr>
        <p:txBody>
          <a:bodyPr>
            <a:normAutofit/>
          </a:bodyPr>
          <a:lstStyle/>
          <a:p>
            <a:pPr marL="82296" indent="0" algn="just">
              <a:buNone/>
            </a:pPr>
            <a:r>
              <a:rPr lang="es-SV" dirty="0"/>
              <a:t>Si x es una variable aleatoria discreta se dice que se comporta según una distribución binomial si se cumplen las siguientes características:</a:t>
            </a:r>
          </a:p>
          <a:p>
            <a:pPr marL="596646" indent="-514350" algn="just">
              <a:buAutoNum type="arabicPeriod"/>
            </a:pPr>
            <a:r>
              <a:rPr lang="es-SV" dirty="0"/>
              <a:t>Se realiza un número determinado de veces un ensayo o experimento.</a:t>
            </a:r>
          </a:p>
          <a:p>
            <a:pPr marL="596646" indent="-514350" algn="just">
              <a:buAutoNum type="arabicPeriod"/>
            </a:pPr>
            <a:r>
              <a:rPr lang="es-SV" dirty="0"/>
              <a:t>Cada ensayo o experimento tiene únicamente dos posibles resultados: éxito o fracaso.</a:t>
            </a:r>
          </a:p>
          <a:p>
            <a:pPr marL="596646" indent="-514350" algn="just">
              <a:buAutoNum type="arabicPeriod"/>
            </a:pPr>
            <a:r>
              <a:rPr lang="es-SV" dirty="0"/>
              <a:t>La probabilidad de éxito (p) es constante en cada ensayo. (q) fracaso q=1-p.</a:t>
            </a:r>
          </a:p>
          <a:p>
            <a:pPr marL="596646" indent="-514350" algn="just">
              <a:buAutoNum type="arabicPeriod"/>
            </a:pPr>
            <a:r>
              <a:rPr lang="es-SV" dirty="0"/>
              <a:t>Los ensayos son independientes.</a:t>
            </a:r>
          </a:p>
        </p:txBody>
      </p:sp>
    </p:spTree>
    <p:extLst>
      <p:ext uri="{BB962C8B-B14F-4D97-AF65-F5344CB8AC3E}">
        <p14:creationId xmlns:p14="http://schemas.microsoft.com/office/powerpoint/2010/main" val="160214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23528" y="1268760"/>
                <a:ext cx="7818072" cy="4979640"/>
              </a:xfrm>
            </p:spPr>
            <p:txBody>
              <a:bodyPr>
                <a:normAutofit/>
              </a:bodyPr>
              <a:lstStyle/>
              <a:p>
                <a:pPr algn="just"/>
                <a:r>
                  <a:rPr lang="es-SV"/>
                  <a:t>Recordar </a:t>
                </a:r>
                <a:r>
                  <a:rPr lang="es-SV" dirty="0"/>
                  <a:t>que x es la variable aleatoria que representa el numero de éxitos en los n ensayos.</a:t>
                </a:r>
              </a:p>
              <a:p>
                <a:pPr algn="just"/>
                <a:r>
                  <a:rPr lang="es-SV" dirty="0"/>
                  <a:t>Proviene del proceso de Bernoulli x=0,1</a:t>
                </a:r>
              </a:p>
              <a:p>
                <a:pPr marL="82296" indent="0">
                  <a:buNone/>
                </a:pPr>
                <a:r>
                  <a:rPr lang="es-SV" dirty="0"/>
                  <a:t>Formulas: </a:t>
                </a:r>
              </a:p>
              <a:p>
                <a:pPr marL="82296" indent="0">
                  <a:buNone/>
                </a:pPr>
                <a:r>
                  <a:rPr lang="es-SV" dirty="0"/>
                  <a:t>Probabilidad</a:t>
                </a:r>
              </a:p>
              <a:p>
                <a:pPr marL="82296" indent="0">
                  <a:buNone/>
                </a:pPr>
                <a14:m>
                  <m:oMathPara xmlns:m="http://schemas.openxmlformats.org/officeDocument/2006/math">
                    <m:oMathParaPr>
                      <m:jc m:val="centerGroup"/>
                    </m:oMathParaPr>
                    <m:oMath xmlns:m="http://schemas.openxmlformats.org/officeDocument/2006/math">
                      <m:r>
                        <a:rPr lang="es-SV" b="0" i="1" smtClean="0">
                          <a:latin typeface="Cambria Math"/>
                        </a:rPr>
                        <m:t>𝑃</m:t>
                      </m:r>
                      <m:d>
                        <m:dPr>
                          <m:ctrlPr>
                            <a:rPr lang="es-SV" b="0" i="1" smtClean="0">
                              <a:latin typeface="Cambria Math" panose="02040503050406030204" pitchFamily="18" charset="0"/>
                            </a:rPr>
                          </m:ctrlPr>
                        </m:dPr>
                        <m:e>
                          <m:r>
                            <a:rPr lang="es-SV" b="0" i="1" smtClean="0">
                              <a:latin typeface="Cambria Math"/>
                            </a:rPr>
                            <m:t>𝑋</m:t>
                          </m:r>
                          <m:r>
                            <a:rPr lang="es-SV" b="0" i="1" smtClean="0">
                              <a:latin typeface="Cambria Math"/>
                            </a:rPr>
                            <m:t>=</m:t>
                          </m:r>
                          <m:r>
                            <a:rPr lang="es-SV" b="0" i="1" smtClean="0">
                              <a:latin typeface="Cambria Math"/>
                            </a:rPr>
                            <m:t>𝑥</m:t>
                          </m:r>
                        </m:e>
                      </m:d>
                      <m:r>
                        <a:rPr lang="es-SV" b="0" i="1" smtClean="0">
                          <a:latin typeface="Cambria Math"/>
                        </a:rPr>
                        <m:t>=</m:t>
                      </m:r>
                      <m:d>
                        <m:dPr>
                          <m:ctrlPr>
                            <a:rPr lang="es-SV" b="0" i="1" smtClean="0">
                              <a:latin typeface="Cambria Math" panose="02040503050406030204" pitchFamily="18" charset="0"/>
                            </a:rPr>
                          </m:ctrlPr>
                        </m:dPr>
                        <m:e>
                          <m:m>
                            <m:mPr>
                              <m:mcs>
                                <m:mc>
                                  <m:mcPr>
                                    <m:count m:val="1"/>
                                    <m:mcJc m:val="center"/>
                                  </m:mcPr>
                                </m:mc>
                              </m:mcs>
                              <m:ctrlPr>
                                <a:rPr lang="es-SV" b="0" i="1" smtClean="0">
                                  <a:latin typeface="Cambria Math" panose="02040503050406030204" pitchFamily="18" charset="0"/>
                                </a:rPr>
                              </m:ctrlPr>
                            </m:mPr>
                            <m:mr>
                              <m:e>
                                <m:r>
                                  <m:rPr>
                                    <m:brk m:alnAt="7"/>
                                  </m:rPr>
                                  <a:rPr lang="es-SV" b="0" i="1" smtClean="0">
                                    <a:latin typeface="Cambria Math"/>
                                  </a:rPr>
                                  <m:t>𝑛</m:t>
                                </m:r>
                              </m:e>
                            </m:mr>
                            <m:mr>
                              <m:e>
                                <m:r>
                                  <a:rPr lang="es-SV" b="0" i="1" smtClean="0">
                                    <a:latin typeface="Cambria Math"/>
                                  </a:rPr>
                                  <m:t>𝑥</m:t>
                                </m:r>
                              </m:e>
                            </m:mr>
                          </m:m>
                        </m:e>
                      </m:d>
                      <m:sSup>
                        <m:sSupPr>
                          <m:ctrlPr>
                            <a:rPr lang="es-SV" b="0" i="1" smtClean="0">
                              <a:latin typeface="Cambria Math" panose="02040503050406030204" pitchFamily="18" charset="0"/>
                            </a:rPr>
                          </m:ctrlPr>
                        </m:sSupPr>
                        <m:e>
                          <m:r>
                            <a:rPr lang="es-SV" b="0" i="1" smtClean="0">
                              <a:latin typeface="Cambria Math"/>
                            </a:rPr>
                            <m:t>𝑝</m:t>
                          </m:r>
                        </m:e>
                        <m:sup>
                          <m:r>
                            <a:rPr lang="es-SV" b="0" i="1" smtClean="0">
                              <a:latin typeface="Cambria Math"/>
                            </a:rPr>
                            <m:t>𝑥</m:t>
                          </m:r>
                        </m:sup>
                      </m:sSup>
                      <m:sSup>
                        <m:sSupPr>
                          <m:ctrlPr>
                            <a:rPr lang="es-SV" b="0" i="1" smtClean="0">
                              <a:latin typeface="Cambria Math" panose="02040503050406030204" pitchFamily="18" charset="0"/>
                            </a:rPr>
                          </m:ctrlPr>
                        </m:sSupPr>
                        <m:e>
                          <m:r>
                            <a:rPr lang="es-SV" b="0" i="1" smtClean="0">
                              <a:latin typeface="Cambria Math"/>
                            </a:rPr>
                            <m:t>𝑞</m:t>
                          </m:r>
                        </m:e>
                        <m:sup>
                          <m:r>
                            <a:rPr lang="es-SV" b="0" i="1" smtClean="0">
                              <a:latin typeface="Cambria Math"/>
                            </a:rPr>
                            <m:t>𝑛</m:t>
                          </m:r>
                          <m:r>
                            <a:rPr lang="es-SV" b="0" i="1" smtClean="0">
                              <a:latin typeface="Cambria Math"/>
                            </a:rPr>
                            <m:t>−</m:t>
                          </m:r>
                          <m:r>
                            <a:rPr lang="es-SV" b="0" i="1" smtClean="0">
                              <a:latin typeface="Cambria Math"/>
                            </a:rPr>
                            <m:t>𝑥</m:t>
                          </m:r>
                        </m:sup>
                      </m:sSup>
                    </m:oMath>
                  </m:oMathPara>
                </a14:m>
                <a:endParaRPr lang="es-SV" dirty="0"/>
              </a:p>
              <a:p>
                <a:pPr marL="82296" indent="0">
                  <a:buNone/>
                </a:pPr>
                <a:r>
                  <a:rPr lang="es-SV" dirty="0"/>
                  <a:t>Valor esperado</a:t>
                </a:r>
              </a:p>
              <a:p>
                <a:pPr marL="82296" indent="0">
                  <a:buNone/>
                </a:pPr>
                <a14:m>
                  <m:oMathPara xmlns:m="http://schemas.openxmlformats.org/officeDocument/2006/math">
                    <m:oMathParaPr>
                      <m:jc m:val="centerGroup"/>
                    </m:oMathParaPr>
                    <m:oMath xmlns:m="http://schemas.openxmlformats.org/officeDocument/2006/math">
                      <m:r>
                        <a:rPr lang="es-SV" i="1" smtClean="0">
                          <a:latin typeface="Cambria Math"/>
                          <a:ea typeface="Cambria Math"/>
                        </a:rPr>
                        <m:t>𝜇</m:t>
                      </m:r>
                      <m:r>
                        <a:rPr lang="es-SV" b="0" i="1" smtClean="0">
                          <a:latin typeface="Cambria Math"/>
                          <a:ea typeface="Cambria Math"/>
                        </a:rPr>
                        <m:t>=</m:t>
                      </m:r>
                      <m:r>
                        <a:rPr lang="es-SV" b="0" i="1" smtClean="0">
                          <a:latin typeface="Cambria Math"/>
                          <a:ea typeface="Cambria Math"/>
                        </a:rPr>
                        <m:t>𝑛𝑝</m:t>
                      </m:r>
                    </m:oMath>
                  </m:oMathPara>
                </a14:m>
                <a:endParaRPr lang="es-SV" b="0" dirty="0">
                  <a:ea typeface="Cambria Math"/>
                </a:endParaRPr>
              </a:p>
              <a:p>
                <a:pPr marL="82296" indent="0">
                  <a:buNone/>
                </a:pPr>
                <a:r>
                  <a:rPr lang="es-SV" dirty="0"/>
                  <a:t>Varianza</a:t>
                </a:r>
              </a:p>
              <a:p>
                <a:pPr marL="82296" indent="0">
                  <a:buNone/>
                </a:pPr>
                <a14:m>
                  <m:oMathPara xmlns:m="http://schemas.openxmlformats.org/officeDocument/2006/math">
                    <m:oMathParaPr>
                      <m:jc m:val="centerGroup"/>
                    </m:oMathParaPr>
                    <m:oMath xmlns:m="http://schemas.openxmlformats.org/officeDocument/2006/math">
                      <m:sSup>
                        <m:sSupPr>
                          <m:ctrlPr>
                            <a:rPr lang="es-SV" i="1" smtClean="0">
                              <a:latin typeface="Cambria Math" panose="02040503050406030204" pitchFamily="18" charset="0"/>
                            </a:rPr>
                          </m:ctrlPr>
                        </m:sSupPr>
                        <m:e>
                          <m:r>
                            <a:rPr lang="es-SV" i="1" smtClean="0">
                              <a:latin typeface="Cambria Math"/>
                              <a:ea typeface="Cambria Math"/>
                            </a:rPr>
                            <m:t>𝜎</m:t>
                          </m:r>
                        </m:e>
                        <m:sup>
                          <m:r>
                            <a:rPr lang="es-SV" b="0" i="1" smtClean="0">
                              <a:latin typeface="Cambria Math"/>
                            </a:rPr>
                            <m:t>2</m:t>
                          </m:r>
                        </m:sup>
                      </m:sSup>
                      <m:r>
                        <a:rPr lang="es-SV" b="0" i="1" smtClean="0">
                          <a:latin typeface="Cambria Math"/>
                        </a:rPr>
                        <m:t>=</m:t>
                      </m:r>
                      <m:r>
                        <a:rPr lang="es-SV" b="0" i="1" smtClean="0">
                          <a:latin typeface="Cambria Math"/>
                        </a:rPr>
                        <m:t>𝑛𝑝𝑞</m:t>
                      </m:r>
                    </m:oMath>
                  </m:oMathPara>
                </a14:m>
                <a:endParaRPr lang="es-SV" dirty="0"/>
              </a:p>
              <a:p>
                <a:pPr marL="82296" indent="0">
                  <a:buNone/>
                </a:pPr>
                <a:endParaRPr lang="es-SV" dirty="0"/>
              </a:p>
              <a:p>
                <a:pPr marL="82296" indent="0">
                  <a:buNone/>
                </a:pPr>
                <a:endParaRPr lang="es-SV"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23528" y="1268760"/>
                <a:ext cx="7818072" cy="4979640"/>
              </a:xfrm>
              <a:blipFill>
                <a:blip r:embed="rId2"/>
                <a:stretch>
                  <a:fillRect l="-701" t="-1102" r="-1325"/>
                </a:stretch>
              </a:blipFill>
            </p:spPr>
            <p:txBody>
              <a:bodyPr/>
              <a:lstStyle/>
              <a:p>
                <a:r>
                  <a:rPr lang="es-SV">
                    <a:noFill/>
                  </a:rPr>
                  <a:t> </a:t>
                </a:r>
              </a:p>
            </p:txBody>
          </p:sp>
        </mc:Fallback>
      </mc:AlternateContent>
    </p:spTree>
    <p:extLst>
      <p:ext uri="{BB962C8B-B14F-4D97-AF65-F5344CB8AC3E}">
        <p14:creationId xmlns:p14="http://schemas.microsoft.com/office/powerpoint/2010/main" val="340421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SV" dirty="0"/>
              <a:t>Ejemplo 1</a:t>
            </a:r>
          </a:p>
        </p:txBody>
      </p:sp>
      <p:sp>
        <p:nvSpPr>
          <p:cNvPr id="3" name="2 Marcador de contenido"/>
          <p:cNvSpPr>
            <a:spLocks noGrp="1"/>
          </p:cNvSpPr>
          <p:nvPr>
            <p:ph idx="1"/>
          </p:nvPr>
        </p:nvSpPr>
        <p:spPr>
          <a:xfrm>
            <a:off x="454523" y="1196752"/>
            <a:ext cx="7890080" cy="5400600"/>
          </a:xfrm>
        </p:spPr>
        <p:txBody>
          <a:bodyPr>
            <a:normAutofit/>
          </a:bodyPr>
          <a:lstStyle/>
          <a:p>
            <a:pPr marL="82296" indent="0" algn="just">
              <a:buNone/>
            </a:pPr>
            <a:r>
              <a:rPr lang="es-SV" dirty="0"/>
              <a:t>El gerente de ventas de un almacén de departamentos sostiene que el 40% de los clientes que ingresan al almacén con la intención de compra generan alguna factura ¿Cuál es la probabilidad que de un grupo de 6 clientes con intención de compra exactamente 4 generen factura?</a:t>
            </a:r>
          </a:p>
          <a:p>
            <a:pPr marL="82296" indent="0" algn="just">
              <a:buNone/>
            </a:pPr>
            <a:r>
              <a:rPr lang="es-SV" dirty="0"/>
              <a:t>¿Cuál es la probabilidad de que al menos 4 de los clientes que entren en la tienda compren? Considerando que ingresa un grupo de 6</a:t>
            </a:r>
          </a:p>
        </p:txBody>
      </p:sp>
    </p:spTree>
    <p:extLst>
      <p:ext uri="{BB962C8B-B14F-4D97-AF65-F5344CB8AC3E}">
        <p14:creationId xmlns:p14="http://schemas.microsoft.com/office/powerpoint/2010/main" val="4122997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Distribución de probabilidad de </a:t>
            </a:r>
            <a:r>
              <a:rPr lang="es-SV" dirty="0" err="1"/>
              <a:t>Poisson</a:t>
            </a:r>
            <a:endParaRPr lang="es-SV" dirty="0"/>
          </a:p>
        </p:txBody>
      </p:sp>
      <p:sp>
        <p:nvSpPr>
          <p:cNvPr id="3" name="Marcador de contenido 2"/>
          <p:cNvSpPr>
            <a:spLocks noGrp="1"/>
          </p:cNvSpPr>
          <p:nvPr>
            <p:ph sz="quarter" idx="1"/>
          </p:nvPr>
        </p:nvSpPr>
        <p:spPr/>
        <p:txBody>
          <a:bodyPr>
            <a:normAutofit/>
          </a:bodyPr>
          <a:lstStyle/>
          <a:p>
            <a:pPr marL="0" indent="0" algn="just">
              <a:buNone/>
            </a:pPr>
            <a:endParaRPr lang="es-SV" sz="2800" dirty="0"/>
          </a:p>
          <a:p>
            <a:pPr marL="0" indent="0" algn="just">
              <a:buNone/>
            </a:pPr>
            <a:r>
              <a:rPr lang="es-SV" sz="2800" dirty="0"/>
              <a:t>Se estudiará una variable aleatoria discreta que se suele usar para estimar el número de veces que sucede un hecho determinado (ocurrencias) en un intervalo de tiempo o de espacio.</a:t>
            </a:r>
          </a:p>
          <a:p>
            <a:pPr marL="0" indent="0" algn="just">
              <a:buNone/>
            </a:pPr>
            <a:r>
              <a:rPr lang="es-SV" sz="2800" dirty="0"/>
              <a:t>La distribución de probabilidad de </a:t>
            </a:r>
            <a:r>
              <a:rPr lang="es-SV" sz="2800" dirty="0" err="1"/>
              <a:t>Poisson</a:t>
            </a:r>
            <a:r>
              <a:rPr lang="es-SV" sz="2800" dirty="0"/>
              <a:t> suele emplearse para modelar las llegadas aleatorias a una línea de espera (fila). (Anderson, </a:t>
            </a:r>
            <a:r>
              <a:rPr lang="es-SV" sz="2800" dirty="0" err="1"/>
              <a:t>Sweeney</a:t>
            </a:r>
            <a:r>
              <a:rPr lang="es-SV" sz="2800" dirty="0"/>
              <a:t> y Williams 2008)</a:t>
            </a:r>
          </a:p>
        </p:txBody>
      </p:sp>
    </p:spTree>
    <p:extLst>
      <p:ext uri="{BB962C8B-B14F-4D97-AF65-F5344CB8AC3E}">
        <p14:creationId xmlns:p14="http://schemas.microsoft.com/office/powerpoint/2010/main" val="336079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SV" dirty="0"/>
              <a:t>Propiedades de un experimento de </a:t>
            </a:r>
            <a:r>
              <a:rPr lang="es-SV" dirty="0" err="1"/>
              <a:t>Poisson</a:t>
            </a:r>
            <a:endParaRPr lang="es-SV" dirty="0"/>
          </a:p>
        </p:txBody>
      </p:sp>
      <p:sp>
        <p:nvSpPr>
          <p:cNvPr id="3" name="Marcador de contenido 2"/>
          <p:cNvSpPr>
            <a:spLocks noGrp="1"/>
          </p:cNvSpPr>
          <p:nvPr>
            <p:ph sz="quarter" idx="1"/>
          </p:nvPr>
        </p:nvSpPr>
        <p:spPr>
          <a:xfrm>
            <a:off x="457200" y="1219200"/>
            <a:ext cx="8229600" cy="5306144"/>
          </a:xfrm>
        </p:spPr>
        <p:txBody>
          <a:bodyPr>
            <a:normAutofit lnSpcReduction="10000"/>
          </a:bodyPr>
          <a:lstStyle/>
          <a:p>
            <a:pPr marL="514350" indent="-514350" algn="just">
              <a:buFont typeface="+mj-lt"/>
              <a:buAutoNum type="arabicPeriod"/>
            </a:pPr>
            <a:r>
              <a:rPr lang="es-SV" dirty="0"/>
              <a:t>La probabilidad de ocurrencia es la misma para cualesquiera dos intervalos de la misma magnitud.</a:t>
            </a:r>
          </a:p>
          <a:p>
            <a:pPr marL="514350" indent="-514350" algn="just">
              <a:buFont typeface="+mj-lt"/>
              <a:buAutoNum type="arabicPeriod"/>
            </a:pPr>
            <a:r>
              <a:rPr lang="es-SV" dirty="0"/>
              <a:t>La ocurrencia o no-ocurrencia en cualquier intervalo es independiente de la ocurrencia o no-ocurrencia en cualquier otro intervalo.</a:t>
            </a:r>
          </a:p>
          <a:p>
            <a:pPr marL="514350" indent="-514350" algn="just">
              <a:buFont typeface="+mj-lt"/>
              <a:buAutoNum type="arabicPeriod"/>
            </a:pPr>
            <a:endParaRPr lang="es-SV" dirty="0"/>
          </a:p>
          <a:p>
            <a:pPr marL="514350" indent="-514350" algn="just">
              <a:buFont typeface="+mj-lt"/>
              <a:buAutoNum type="arabicPeriod"/>
            </a:pPr>
            <a:endParaRPr lang="es-SV" dirty="0"/>
          </a:p>
          <a:p>
            <a:pPr marL="514350" indent="-514350" algn="just">
              <a:buFont typeface="+mj-lt"/>
              <a:buAutoNum type="arabicPeriod"/>
            </a:pPr>
            <a:endParaRPr lang="es-SV" dirty="0"/>
          </a:p>
          <a:p>
            <a:pPr marL="514350" indent="-514350" algn="just">
              <a:buFont typeface="+mj-lt"/>
              <a:buAutoNum type="arabicPeriod"/>
            </a:pPr>
            <a:endParaRPr lang="es-SV" dirty="0"/>
          </a:p>
          <a:p>
            <a:pPr marL="514350" indent="-514350" algn="just">
              <a:buFont typeface="+mj-lt"/>
              <a:buAutoNum type="arabicPeriod"/>
            </a:pPr>
            <a:endParaRPr lang="es-SV" dirty="0"/>
          </a:p>
          <a:p>
            <a:pPr marL="514350" indent="-514350" algn="just">
              <a:buFont typeface="+mj-lt"/>
              <a:buAutoNum type="arabicPeriod"/>
            </a:pPr>
            <a:endParaRPr lang="es-SV" dirty="0"/>
          </a:p>
          <a:p>
            <a:pPr marL="0" indent="0" algn="r">
              <a:buNone/>
            </a:pPr>
            <a:r>
              <a:rPr lang="es-SV" sz="2400" dirty="0"/>
              <a:t>(Anderson, </a:t>
            </a:r>
            <a:r>
              <a:rPr lang="es-SV" sz="2400" dirty="0" err="1"/>
              <a:t>Sweeney</a:t>
            </a:r>
            <a:r>
              <a:rPr lang="es-SV" sz="2400" dirty="0"/>
              <a:t> y Williams 2008)</a:t>
            </a:r>
            <a:endParaRPr lang="es-SV" dirty="0"/>
          </a:p>
          <a:p>
            <a:pPr marL="0" indent="0" algn="just">
              <a:buNone/>
            </a:pPr>
            <a:endParaRPr lang="es-SV" dirty="0"/>
          </a:p>
        </p:txBody>
      </p:sp>
      <p:pic>
        <p:nvPicPr>
          <p:cNvPr id="4" name="Imagen 3"/>
          <p:cNvPicPr>
            <a:picLocks noChangeAspect="1"/>
          </p:cNvPicPr>
          <p:nvPr/>
        </p:nvPicPr>
        <p:blipFill>
          <a:blip r:embed="rId2"/>
          <a:stretch>
            <a:fillRect/>
          </a:stretch>
        </p:blipFill>
        <p:spPr>
          <a:xfrm>
            <a:off x="1187624" y="3140968"/>
            <a:ext cx="6002855" cy="2503525"/>
          </a:xfrm>
          <a:prstGeom prst="rect">
            <a:avLst/>
          </a:prstGeom>
        </p:spPr>
      </p:pic>
    </p:spTree>
    <p:extLst>
      <p:ext uri="{BB962C8B-B14F-4D97-AF65-F5344CB8AC3E}">
        <p14:creationId xmlns:p14="http://schemas.microsoft.com/office/powerpoint/2010/main" val="896117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Ejemplo 1</a:t>
            </a:r>
          </a:p>
        </p:txBody>
      </p:sp>
      <p:sp>
        <p:nvSpPr>
          <p:cNvPr id="3" name="Marcador de contenido 2"/>
          <p:cNvSpPr>
            <a:spLocks noGrp="1"/>
          </p:cNvSpPr>
          <p:nvPr>
            <p:ph sz="quarter" idx="1"/>
          </p:nvPr>
        </p:nvSpPr>
        <p:spPr/>
        <p:txBody>
          <a:bodyPr>
            <a:normAutofit lnSpcReduction="10000"/>
          </a:bodyPr>
          <a:lstStyle/>
          <a:p>
            <a:pPr marL="0" indent="0" algn="just">
              <a:buNone/>
            </a:pPr>
            <a:r>
              <a:rPr lang="es-SV" dirty="0"/>
              <a:t>A la oficina de reservaciones de una aerolínea regional llegan 48 llamadas por hora. </a:t>
            </a:r>
            <a:r>
              <a:rPr lang="es-SV" sz="2400" dirty="0"/>
              <a:t>(Anderson, </a:t>
            </a:r>
            <a:r>
              <a:rPr lang="es-SV" sz="2400" dirty="0" err="1"/>
              <a:t>Sweeney</a:t>
            </a:r>
            <a:r>
              <a:rPr lang="es-SV" sz="2400" dirty="0"/>
              <a:t> y Williams 2008)</a:t>
            </a:r>
            <a:endParaRPr lang="es-SV" dirty="0"/>
          </a:p>
          <a:p>
            <a:pPr algn="just"/>
            <a:r>
              <a:rPr lang="es-SV" dirty="0"/>
              <a:t>Calcule la probabilidad de recibir cinco llamadas en un lapso de 5 minutos.</a:t>
            </a:r>
          </a:p>
          <a:p>
            <a:pPr algn="just"/>
            <a:r>
              <a:rPr lang="es-SV" dirty="0"/>
              <a:t>Estime la probabilidad de recibir exactamente 10 llamadas en un lapso de 15 minutos.</a:t>
            </a:r>
          </a:p>
          <a:p>
            <a:pPr algn="just"/>
            <a:r>
              <a:rPr lang="es-SV" dirty="0"/>
              <a:t>Suponga que no hay ninguna llamada en espera. Si el agente de viajes necesitará 5 minutos para la llamada que está atendiendo, ¿cuántas llamadas habrá en espera para cuando él termine?  ¿Cuál es la probabilidad de que no haya ninguna llamada en espera?</a:t>
            </a:r>
          </a:p>
        </p:txBody>
      </p:sp>
    </p:spTree>
    <p:extLst>
      <p:ext uri="{BB962C8B-B14F-4D97-AF65-F5344CB8AC3E}">
        <p14:creationId xmlns:p14="http://schemas.microsoft.com/office/powerpoint/2010/main" val="3933717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636912"/>
            <a:ext cx="8229600" cy="914400"/>
          </a:xfrm>
        </p:spPr>
        <p:txBody>
          <a:bodyPr>
            <a:noAutofit/>
          </a:bodyPr>
          <a:lstStyle/>
          <a:p>
            <a:r>
              <a:rPr lang="es-SV" sz="2400" dirty="0"/>
              <a:t>APLICACIONES EN EL MUNDO DE LOS NEGOCIOS </a:t>
            </a:r>
          </a:p>
        </p:txBody>
      </p:sp>
    </p:spTree>
    <p:extLst>
      <p:ext uri="{BB962C8B-B14F-4D97-AF65-F5344CB8AC3E}">
        <p14:creationId xmlns:p14="http://schemas.microsoft.com/office/powerpoint/2010/main" val="2726264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SV" dirty="0"/>
              <a:t>Ejercicio 1</a:t>
            </a:r>
          </a:p>
        </p:txBody>
      </p:sp>
      <p:sp>
        <p:nvSpPr>
          <p:cNvPr id="3" name="2 Marcador de contenido"/>
          <p:cNvSpPr>
            <a:spLocks noGrp="1"/>
          </p:cNvSpPr>
          <p:nvPr>
            <p:ph sz="quarter" idx="1"/>
          </p:nvPr>
        </p:nvSpPr>
        <p:spPr/>
        <p:txBody>
          <a:bodyPr>
            <a:normAutofit fontScale="92500" lnSpcReduction="20000"/>
          </a:bodyPr>
          <a:lstStyle/>
          <a:p>
            <a:pPr marL="0" indent="0" algn="just">
              <a:buNone/>
            </a:pPr>
            <a:r>
              <a:rPr lang="es-SV" dirty="0"/>
              <a:t>Nueve por ciento de los estudiantes tienen un balance en su tarjeta de crédito mayor a $7000 (</a:t>
            </a:r>
            <a:r>
              <a:rPr lang="es-SV" i="1" dirty="0" err="1"/>
              <a:t>Reader’s</a:t>
            </a:r>
            <a:r>
              <a:rPr lang="es-SV" i="1" dirty="0"/>
              <a:t> </a:t>
            </a:r>
            <a:r>
              <a:rPr lang="es-SV" i="1" dirty="0" err="1"/>
              <a:t>Digest</a:t>
            </a:r>
            <a:r>
              <a:rPr lang="es-SV" dirty="0"/>
              <a:t>, julio de 2002). Suponga que selecciona aleatoriamente 10 estudiantes para entrevistarlos respecto del uso de su tarjeta de crédito. </a:t>
            </a:r>
            <a:r>
              <a:rPr lang="es-SV" sz="2800" dirty="0"/>
              <a:t>(Anderson, </a:t>
            </a:r>
            <a:r>
              <a:rPr lang="es-SV" sz="2800" dirty="0" err="1"/>
              <a:t>Sweeney</a:t>
            </a:r>
            <a:r>
              <a:rPr lang="es-SV" sz="2800" dirty="0"/>
              <a:t> y Williams 2008)</a:t>
            </a:r>
            <a:endParaRPr lang="es-SV" dirty="0"/>
          </a:p>
          <a:p>
            <a:pPr algn="just"/>
            <a:r>
              <a:rPr lang="es-SV" dirty="0"/>
              <a:t>¿Es la selección de 10 estudiantes un experimento binomial? Explique.</a:t>
            </a:r>
          </a:p>
          <a:p>
            <a:pPr algn="just"/>
            <a:r>
              <a:rPr lang="es-SV" dirty="0"/>
              <a:t>¿Cuál es la probabilidad de que dos de los estudiantes tengan un balance en su tarjeta de crédito superior a $7000?</a:t>
            </a:r>
          </a:p>
          <a:p>
            <a:pPr algn="just"/>
            <a:r>
              <a:rPr lang="es-SV" dirty="0"/>
              <a:t>¿De que ninguno tenga un balance en su tarjeta de crédito superior a $7000?</a:t>
            </a:r>
          </a:p>
          <a:p>
            <a:pPr algn="just"/>
            <a:r>
              <a:rPr lang="es-SV" dirty="0"/>
              <a:t>¿De que por lo menos tres tengan un balance en su tarjeta de crédito superior a $7000? </a:t>
            </a:r>
            <a:r>
              <a:rPr lang="es-ES" dirty="0"/>
              <a:t>						</a:t>
            </a:r>
            <a:endParaRPr lang="es-SV" dirty="0"/>
          </a:p>
          <a:p>
            <a:pPr marL="0" indent="0" algn="just">
              <a:buNone/>
            </a:pPr>
            <a:endParaRPr lang="es-SV" dirty="0"/>
          </a:p>
        </p:txBody>
      </p:sp>
    </p:spTree>
    <p:extLst>
      <p:ext uri="{BB962C8B-B14F-4D97-AF65-F5344CB8AC3E}">
        <p14:creationId xmlns:p14="http://schemas.microsoft.com/office/powerpoint/2010/main" val="741674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2</a:t>
            </a:r>
          </a:p>
        </p:txBody>
      </p:sp>
      <p:sp>
        <p:nvSpPr>
          <p:cNvPr id="3" name="Marcador de contenido 2"/>
          <p:cNvSpPr>
            <a:spLocks noGrp="1"/>
          </p:cNvSpPr>
          <p:nvPr>
            <p:ph sz="quarter" idx="1"/>
          </p:nvPr>
        </p:nvSpPr>
        <p:spPr>
          <a:xfrm>
            <a:off x="457200" y="1219200"/>
            <a:ext cx="8229600" cy="5162128"/>
          </a:xfrm>
        </p:spPr>
        <p:txBody>
          <a:bodyPr>
            <a:normAutofit fontScale="92500" lnSpcReduction="10000"/>
          </a:bodyPr>
          <a:lstStyle/>
          <a:p>
            <a:pPr marL="0" indent="0">
              <a:buNone/>
            </a:pPr>
            <a:r>
              <a:rPr lang="es-SV" dirty="0"/>
              <a:t>Cincuenta por ciento de los estadounidenses creyeron que el país se encontraba en una recesión aun cuando en la economía no se habían observado dos trimestres seguidos con crecimiento negativo. (</a:t>
            </a:r>
            <a:r>
              <a:rPr lang="es-SV" i="1" dirty="0" err="1"/>
              <a:t>BusinessWeek</a:t>
            </a:r>
            <a:r>
              <a:rPr lang="es-SV" i="1" dirty="0"/>
              <a:t>, </a:t>
            </a:r>
            <a:r>
              <a:rPr lang="es-SV" dirty="0"/>
              <a:t>30 de julio de 2001). Dada una muestra de 20 estadounidenses, calcule lo siguiente. </a:t>
            </a:r>
            <a:r>
              <a:rPr lang="es-SV" sz="2400" dirty="0"/>
              <a:t>(Anderson, </a:t>
            </a:r>
            <a:r>
              <a:rPr lang="es-SV" sz="2400" dirty="0" err="1"/>
              <a:t>Sweeney</a:t>
            </a:r>
            <a:r>
              <a:rPr lang="es-SV" sz="2400" dirty="0"/>
              <a:t> y Williams 2008)</a:t>
            </a:r>
            <a:endParaRPr lang="es-SV" dirty="0"/>
          </a:p>
          <a:p>
            <a:r>
              <a:rPr lang="es-SV" dirty="0"/>
              <a:t>Calcule la probabilidad de que exactamente 12 personas hayan creído que el país estaba en recesión.</a:t>
            </a:r>
          </a:p>
          <a:p>
            <a:r>
              <a:rPr lang="es-SV" dirty="0"/>
              <a:t>De que no más de cinco personas hayan creído que el país estaba en recesión</a:t>
            </a:r>
          </a:p>
          <a:p>
            <a:r>
              <a:rPr lang="es-SV" dirty="0"/>
              <a:t>¿Cuántas personas esperaría usted que dijeran que el país estuvo en recesión?</a:t>
            </a:r>
          </a:p>
          <a:p>
            <a:r>
              <a:rPr lang="es-SV" dirty="0"/>
              <a:t>Calcule la varianza y la desviación estándar del número de personas que creyeron que el país estuvo en recesión.</a:t>
            </a:r>
          </a:p>
        </p:txBody>
      </p:sp>
    </p:spTree>
    <p:extLst>
      <p:ext uri="{BB962C8B-B14F-4D97-AF65-F5344CB8AC3E}">
        <p14:creationId xmlns:p14="http://schemas.microsoft.com/office/powerpoint/2010/main" val="3844487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3</a:t>
            </a:r>
          </a:p>
        </p:txBody>
      </p:sp>
      <p:sp>
        <p:nvSpPr>
          <p:cNvPr id="3" name="Marcador de contenido 2"/>
          <p:cNvSpPr>
            <a:spLocks noGrp="1"/>
          </p:cNvSpPr>
          <p:nvPr>
            <p:ph sz="quarter" idx="1"/>
          </p:nvPr>
        </p:nvSpPr>
        <p:spPr/>
        <p:txBody>
          <a:bodyPr>
            <a:normAutofit fontScale="92500" lnSpcReduction="20000"/>
          </a:bodyPr>
          <a:lstStyle/>
          <a:p>
            <a:pPr marL="0" indent="0" algn="just">
              <a:buNone/>
            </a:pPr>
            <a:r>
              <a:rPr lang="es-SV" dirty="0"/>
              <a:t>El </a:t>
            </a:r>
            <a:r>
              <a:rPr lang="es-SV" dirty="0" err="1"/>
              <a:t>National</a:t>
            </a:r>
            <a:r>
              <a:rPr lang="es-SV" dirty="0"/>
              <a:t> Safety Council de Estados Unidos estima que los accidentes fuera del trabajo tienen para las empresas un costo de casi $200 mil millones anuales en pérdida de productividad. Con base en estos datos, las empresas que tienen 50 empleados esperan tener por lo menos tres accidentes fuera del trabajo por año. Para estas empresas con 50 empleados, conteste las preguntas siguientes. </a:t>
            </a:r>
            <a:r>
              <a:rPr lang="es-SV" sz="2800" dirty="0"/>
              <a:t>(Anderson, </a:t>
            </a:r>
            <a:r>
              <a:rPr lang="es-SV" sz="2800" dirty="0" err="1"/>
              <a:t>Sweeney</a:t>
            </a:r>
            <a:r>
              <a:rPr lang="es-SV" sz="2800" dirty="0"/>
              <a:t> y Williams 2008)</a:t>
            </a:r>
            <a:endParaRPr lang="es-SV" dirty="0"/>
          </a:p>
          <a:p>
            <a:pPr algn="just"/>
            <a:r>
              <a:rPr lang="es-SV" dirty="0"/>
              <a:t>¿Cuál es la probabilidad de que no haya ningún accidente fuera del trabajo en un año?</a:t>
            </a:r>
          </a:p>
          <a:p>
            <a:pPr algn="just"/>
            <a:r>
              <a:rPr lang="es-SV" dirty="0"/>
              <a:t>¿De que haya por lo menos dos accidentes fuera del trabajo en un año?</a:t>
            </a:r>
          </a:p>
          <a:p>
            <a:pPr algn="just"/>
            <a:r>
              <a:rPr lang="es-SV" dirty="0"/>
              <a:t>¿Cuál es el número esperado de accidentes fuera del trabajo en un lapso de seis meses?</a:t>
            </a:r>
          </a:p>
          <a:p>
            <a:pPr algn="just"/>
            <a:r>
              <a:rPr lang="es-SV" dirty="0"/>
              <a:t>¿Cuál es la probabilidad de que no haya ningún accidente fuera del trabajo en los próximos seis meses?</a:t>
            </a:r>
          </a:p>
        </p:txBody>
      </p:sp>
    </p:spTree>
    <p:extLst>
      <p:ext uri="{BB962C8B-B14F-4D97-AF65-F5344CB8AC3E}">
        <p14:creationId xmlns:p14="http://schemas.microsoft.com/office/powerpoint/2010/main" val="1817572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95536" y="476672"/>
            <a:ext cx="8229600" cy="612304"/>
          </a:xfrm>
        </p:spPr>
        <p:txBody>
          <a:bodyPr/>
          <a:lstStyle/>
          <a:p>
            <a:r>
              <a:rPr lang="es-SV" dirty="0"/>
              <a:t>Ejercicio 4</a:t>
            </a:r>
          </a:p>
        </p:txBody>
      </p:sp>
      <p:sp>
        <p:nvSpPr>
          <p:cNvPr id="3" name="Marcador de contenido 2"/>
          <p:cNvSpPr>
            <a:spLocks noGrp="1"/>
          </p:cNvSpPr>
          <p:nvPr>
            <p:ph sz="quarter" idx="1"/>
          </p:nvPr>
        </p:nvSpPr>
        <p:spPr>
          <a:xfrm>
            <a:off x="251520" y="1196752"/>
            <a:ext cx="8712968" cy="4960208"/>
          </a:xfrm>
        </p:spPr>
        <p:txBody>
          <a:bodyPr>
            <a:noAutofit/>
          </a:bodyPr>
          <a:lstStyle/>
          <a:p>
            <a:pPr marL="0" indent="0" algn="just">
              <a:buNone/>
            </a:pPr>
            <a:r>
              <a:rPr lang="en-US" dirty="0" err="1"/>
              <a:t>Cada</a:t>
            </a:r>
            <a:r>
              <a:rPr lang="en-US" dirty="0"/>
              <a:t> </a:t>
            </a:r>
            <a:r>
              <a:rPr lang="en-US" dirty="0" err="1"/>
              <a:t>año</a:t>
            </a:r>
            <a:r>
              <a:rPr lang="en-US" dirty="0"/>
              <a:t> </a:t>
            </a:r>
            <a:r>
              <a:rPr lang="en-US" dirty="0" err="1"/>
              <a:t>ocurren</a:t>
            </a:r>
            <a:r>
              <a:rPr lang="en-US" dirty="0"/>
              <a:t> </a:t>
            </a:r>
            <a:r>
              <a:rPr lang="en-US" dirty="0" err="1"/>
              <a:t>en</a:t>
            </a:r>
            <a:r>
              <a:rPr lang="en-US" dirty="0"/>
              <a:t> </a:t>
            </a:r>
            <a:r>
              <a:rPr lang="en-US" dirty="0" err="1"/>
              <a:t>promedio</a:t>
            </a:r>
            <a:r>
              <a:rPr lang="en-US" dirty="0"/>
              <a:t> 15 </a:t>
            </a:r>
            <a:r>
              <a:rPr lang="en-US" dirty="0" err="1"/>
              <a:t>accidentes</a:t>
            </a:r>
            <a:r>
              <a:rPr lang="en-US" dirty="0"/>
              <a:t> </a:t>
            </a:r>
            <a:r>
              <a:rPr lang="en-US" dirty="0" err="1"/>
              <a:t>aéreos</a:t>
            </a:r>
            <a:r>
              <a:rPr lang="en-US" dirty="0"/>
              <a:t> (</a:t>
            </a:r>
            <a:r>
              <a:rPr lang="en-US" i="1" dirty="0"/>
              <a:t>The World Almanac and Book of Facts</a:t>
            </a:r>
            <a:r>
              <a:rPr lang="en-US" dirty="0"/>
              <a:t>, 2004). </a:t>
            </a:r>
            <a:r>
              <a:rPr lang="es-SV" sz="2400" dirty="0"/>
              <a:t>(Anderson, </a:t>
            </a:r>
            <a:r>
              <a:rPr lang="es-SV" sz="2400" dirty="0" err="1"/>
              <a:t>Sweeney</a:t>
            </a:r>
            <a:r>
              <a:rPr lang="es-SV" sz="2400" dirty="0"/>
              <a:t> y Williams 2008)</a:t>
            </a:r>
            <a:endParaRPr lang="en-US" dirty="0"/>
          </a:p>
          <a:p>
            <a:pPr algn="just"/>
            <a:r>
              <a:rPr lang="es-SV" dirty="0"/>
              <a:t>Calcule el número medio de accidentes aéreos por mes.</a:t>
            </a:r>
          </a:p>
          <a:p>
            <a:pPr algn="just"/>
            <a:r>
              <a:rPr lang="es-SV" dirty="0"/>
              <a:t>Calcule la probabilidad de que no haya ningún accidente en un mes.</a:t>
            </a:r>
          </a:p>
          <a:p>
            <a:pPr algn="just"/>
            <a:r>
              <a:rPr lang="es-SV" dirty="0"/>
              <a:t>De que haya exactamente un accidente en un mes.</a:t>
            </a:r>
          </a:p>
          <a:p>
            <a:pPr algn="just"/>
            <a:r>
              <a:rPr lang="es-SV" dirty="0"/>
              <a:t>De que haya más de un accidente en un mes.</a:t>
            </a:r>
            <a:endParaRPr lang="es-SV" sz="1800" dirty="0"/>
          </a:p>
        </p:txBody>
      </p:sp>
    </p:spTree>
    <p:extLst>
      <p:ext uri="{BB962C8B-B14F-4D97-AF65-F5344CB8AC3E}">
        <p14:creationId xmlns:p14="http://schemas.microsoft.com/office/powerpoint/2010/main" val="2745746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5</a:t>
            </a:r>
          </a:p>
        </p:txBody>
      </p:sp>
      <p:sp>
        <p:nvSpPr>
          <p:cNvPr id="3" name="Marcador de contenido 2"/>
          <p:cNvSpPr>
            <a:spLocks noGrp="1"/>
          </p:cNvSpPr>
          <p:nvPr>
            <p:ph sz="quarter" idx="1"/>
          </p:nvPr>
        </p:nvSpPr>
        <p:spPr>
          <a:xfrm>
            <a:off x="179512" y="1219200"/>
            <a:ext cx="8784976" cy="5306144"/>
          </a:xfrm>
        </p:spPr>
        <p:txBody>
          <a:bodyPr>
            <a:noAutofit/>
          </a:bodyPr>
          <a:lstStyle/>
          <a:p>
            <a:pPr marL="0" indent="0" algn="just">
              <a:buNone/>
            </a:pPr>
            <a:r>
              <a:rPr lang="es-SV" sz="2000" dirty="0"/>
              <a:t>La demanda de un producto de una empresa varía enormemente de mes a mes. La distribución de probabilidad que se presenta en la tabla siguiente, basada en los datos de los dos últimos años, muestra la demanda mensual de la empresa. </a:t>
            </a:r>
            <a:r>
              <a:rPr lang="es-SV" sz="1600" dirty="0"/>
              <a:t>(Anderson, </a:t>
            </a:r>
            <a:r>
              <a:rPr lang="es-SV" sz="1600" dirty="0" err="1"/>
              <a:t>Sweeney</a:t>
            </a:r>
            <a:r>
              <a:rPr lang="es-SV" sz="1600" dirty="0"/>
              <a:t> y Williams 2008)</a:t>
            </a:r>
          </a:p>
          <a:p>
            <a:pPr marL="0" indent="0" algn="just">
              <a:buNone/>
            </a:pPr>
            <a:endParaRPr lang="es-SV" sz="1600" dirty="0"/>
          </a:p>
          <a:p>
            <a:pPr marL="0" indent="0" algn="just">
              <a:buNone/>
            </a:pPr>
            <a:endParaRPr lang="es-SV" sz="1600" dirty="0"/>
          </a:p>
          <a:p>
            <a:pPr marL="0" indent="0" algn="just">
              <a:buNone/>
            </a:pPr>
            <a:endParaRPr lang="es-SV" sz="1600" dirty="0"/>
          </a:p>
          <a:p>
            <a:pPr marL="0" indent="0" algn="just">
              <a:buNone/>
            </a:pPr>
            <a:endParaRPr lang="es-SV" sz="2000" dirty="0"/>
          </a:p>
          <a:p>
            <a:pPr algn="just"/>
            <a:endParaRPr lang="es-SV" sz="2000" dirty="0"/>
          </a:p>
          <a:p>
            <a:pPr algn="just"/>
            <a:r>
              <a:rPr lang="es-SV" sz="2000" dirty="0"/>
              <a:t>Si la empresa basa las órdenes mensuales en el valor esperado de la demanda mensual, ¿cuál será la cantidad ordenada mensualmente por la empresa para este producto?</a:t>
            </a:r>
          </a:p>
          <a:p>
            <a:pPr algn="just"/>
            <a:r>
              <a:rPr lang="es-SV" sz="2000" dirty="0"/>
              <a:t>Suponga que cada unidad demandada genera $70 de ganancia y que cada unidad ordenada cuesta $50. ¿Cuánto ganará o perderá la empresa en un mes si coloca una orden con base en su respuesta al inciso a y la demanda real de este artículo es de 300 unidades?</a:t>
            </a:r>
            <a:endParaRPr lang="es-SV" sz="1400" dirty="0"/>
          </a:p>
        </p:txBody>
      </p:sp>
      <p:pic>
        <p:nvPicPr>
          <p:cNvPr id="5" name="Imagen 4"/>
          <p:cNvPicPr>
            <a:picLocks noChangeAspect="1"/>
          </p:cNvPicPr>
          <p:nvPr/>
        </p:nvPicPr>
        <p:blipFill>
          <a:blip r:embed="rId2"/>
          <a:stretch>
            <a:fillRect/>
          </a:stretch>
        </p:blipFill>
        <p:spPr>
          <a:xfrm>
            <a:off x="2267744" y="2708920"/>
            <a:ext cx="4176900" cy="1286400"/>
          </a:xfrm>
          <a:prstGeom prst="rect">
            <a:avLst/>
          </a:prstGeom>
        </p:spPr>
      </p:pic>
    </p:spTree>
    <p:extLst>
      <p:ext uri="{BB962C8B-B14F-4D97-AF65-F5344CB8AC3E}">
        <p14:creationId xmlns:p14="http://schemas.microsoft.com/office/powerpoint/2010/main" val="2928166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6</a:t>
            </a:r>
          </a:p>
        </p:txBody>
      </p:sp>
      <p:sp>
        <p:nvSpPr>
          <p:cNvPr id="3" name="Marcador de contenido 2"/>
          <p:cNvSpPr>
            <a:spLocks noGrp="1"/>
          </p:cNvSpPr>
          <p:nvPr>
            <p:ph sz="quarter" idx="1"/>
          </p:nvPr>
        </p:nvSpPr>
        <p:spPr>
          <a:xfrm>
            <a:off x="457200" y="1219200"/>
            <a:ext cx="8229600" cy="5234136"/>
          </a:xfrm>
        </p:spPr>
        <p:txBody>
          <a:bodyPr>
            <a:normAutofit fontScale="85000" lnSpcReduction="20000"/>
          </a:bodyPr>
          <a:lstStyle/>
          <a:p>
            <a:pPr marL="0" indent="0" algn="just">
              <a:buNone/>
            </a:pPr>
            <a:r>
              <a:rPr lang="es-SV" dirty="0"/>
              <a:t>A continuación se presenta la distribución de probabilidad para los daños pagados por una empresa de seguros para automóviles, en seguros contra choques. </a:t>
            </a:r>
            <a:r>
              <a:rPr lang="es-SV" sz="2800" dirty="0"/>
              <a:t>(Anderson, </a:t>
            </a:r>
            <a:r>
              <a:rPr lang="es-SV" sz="2800" dirty="0" err="1"/>
              <a:t>Sweeney</a:t>
            </a:r>
            <a:r>
              <a:rPr lang="es-SV" sz="2800" dirty="0"/>
              <a:t> y Williams 2008)</a:t>
            </a:r>
          </a:p>
          <a:p>
            <a:pPr marL="0" indent="0" algn="just">
              <a:buNone/>
            </a:pPr>
            <a:endParaRPr lang="es-SV" sz="2800" dirty="0"/>
          </a:p>
          <a:p>
            <a:pPr marL="0" indent="0" algn="just">
              <a:buNone/>
            </a:pPr>
            <a:endParaRPr lang="es-SV" sz="2800" dirty="0"/>
          </a:p>
          <a:p>
            <a:pPr marL="0" indent="0" algn="just">
              <a:buNone/>
            </a:pPr>
            <a:endParaRPr lang="es-SV" sz="2800" dirty="0"/>
          </a:p>
          <a:p>
            <a:pPr marL="0" indent="0" algn="just">
              <a:buNone/>
            </a:pPr>
            <a:endParaRPr lang="es-SV" sz="2800" dirty="0"/>
          </a:p>
          <a:p>
            <a:pPr marL="0" indent="0" algn="just">
              <a:buNone/>
            </a:pPr>
            <a:endParaRPr lang="es-SV" sz="2800" dirty="0"/>
          </a:p>
          <a:p>
            <a:pPr marL="0" indent="0" algn="just">
              <a:buNone/>
            </a:pPr>
            <a:endParaRPr lang="es-SV" sz="2800" dirty="0"/>
          </a:p>
          <a:p>
            <a:pPr algn="just"/>
            <a:r>
              <a:rPr lang="es-SV" dirty="0"/>
              <a:t>Use el pago esperado para determinar la prima en el seguro de choques que le permitirá a la empresa cubrir los gastos.</a:t>
            </a:r>
          </a:p>
          <a:p>
            <a:pPr algn="just"/>
            <a:r>
              <a:rPr lang="es-SV" dirty="0"/>
              <a:t>La empresa de seguros cobra una tasa anual de $520 por la cobertura de choques. ¿Cuál es el valor esperado de un seguro de choques para un asegurado? (</a:t>
            </a:r>
            <a:r>
              <a:rPr lang="es-SV" i="1" dirty="0"/>
              <a:t>Indicación</a:t>
            </a:r>
            <a:r>
              <a:rPr lang="es-SV" dirty="0"/>
              <a:t>: son los pagos esperados de la empresa menos el costo de cobertura.) ¿Por qué compran los asegurados un seguro de choques con este valor esperado?</a:t>
            </a:r>
            <a:endParaRPr lang="es-SV" sz="2800" dirty="0"/>
          </a:p>
          <a:p>
            <a:pPr marL="0" indent="0" algn="just">
              <a:buNone/>
            </a:pPr>
            <a:endParaRPr lang="es-SV" dirty="0"/>
          </a:p>
        </p:txBody>
      </p:sp>
      <p:pic>
        <p:nvPicPr>
          <p:cNvPr id="4" name="Imagen 3"/>
          <p:cNvPicPr>
            <a:picLocks noChangeAspect="1"/>
          </p:cNvPicPr>
          <p:nvPr/>
        </p:nvPicPr>
        <p:blipFill>
          <a:blip r:embed="rId2"/>
          <a:stretch>
            <a:fillRect/>
          </a:stretch>
        </p:blipFill>
        <p:spPr>
          <a:xfrm>
            <a:off x="2483768" y="2348880"/>
            <a:ext cx="3641400" cy="1911733"/>
          </a:xfrm>
          <a:prstGeom prst="rect">
            <a:avLst/>
          </a:prstGeom>
        </p:spPr>
      </p:pic>
    </p:spTree>
    <p:extLst>
      <p:ext uri="{BB962C8B-B14F-4D97-AF65-F5344CB8AC3E}">
        <p14:creationId xmlns:p14="http://schemas.microsoft.com/office/powerpoint/2010/main" val="29584510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en">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4772</TotalTime>
  <Words>1765</Words>
  <Application>Microsoft Office PowerPoint</Application>
  <PresentationFormat>Presentación en pantalla (4:3)</PresentationFormat>
  <Paragraphs>142</Paragraphs>
  <Slides>23</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Bookman Old Style</vt:lpstr>
      <vt:lpstr>Calibri</vt:lpstr>
      <vt:lpstr>Cambria Math</vt:lpstr>
      <vt:lpstr>Gill Sans MT</vt:lpstr>
      <vt:lpstr>Poppins</vt:lpstr>
      <vt:lpstr>Wingdings</vt:lpstr>
      <vt:lpstr>Wingdings 3</vt:lpstr>
      <vt:lpstr>Origen</vt:lpstr>
      <vt:lpstr>Universidad centroamericana  “José Simeón Cañas” </vt:lpstr>
      <vt:lpstr>Conceptos básicos</vt:lpstr>
      <vt:lpstr>DISTRIBUCIONES DE PROBABILIDAD DISCRETA</vt:lpstr>
      <vt:lpstr>Características de la variable aleatoria.</vt:lpstr>
      <vt:lpstr>Presentación de PowerPoint</vt:lpstr>
      <vt:lpstr>Presentación de PowerPoint</vt:lpstr>
      <vt:lpstr>Valor esperado y varianza de una distribución de probabilidad discreta</vt:lpstr>
      <vt:lpstr>Presentación de PowerPoint</vt:lpstr>
      <vt:lpstr>Esperanza matemática y varianza</vt:lpstr>
      <vt:lpstr>Distribuciones de probabilidad discretas</vt:lpstr>
      <vt:lpstr>Distribución Binomial.</vt:lpstr>
      <vt:lpstr>Presentación de PowerPoint</vt:lpstr>
      <vt:lpstr>Ejemplo 1</vt:lpstr>
      <vt:lpstr>Distribución de probabilidad de Poisson</vt:lpstr>
      <vt:lpstr>Propiedades de un experimento de Poisson</vt:lpstr>
      <vt:lpstr>Ejemplo 1</vt:lpstr>
      <vt:lpstr>APLICACIONES EN EL MUNDO DE LOS NEGOCIOS </vt:lpstr>
      <vt:lpstr>Ejercicio 1</vt:lpstr>
      <vt:lpstr>Ejercicio 2</vt:lpstr>
      <vt:lpstr>Ejercicio 3</vt:lpstr>
      <vt:lpstr>Ejercicio 4</vt:lpstr>
      <vt:lpstr>Ejercicio 5</vt:lpstr>
      <vt:lpstr>Ejercicio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centroamericana José Simeón Cañas</dc:title>
  <dc:creator>UCA</dc:creator>
  <cp:lastModifiedBy>Daisy Michelle Molina</cp:lastModifiedBy>
  <cp:revision>184</cp:revision>
  <dcterms:created xsi:type="dcterms:W3CDTF">2015-01-09T20:37:27Z</dcterms:created>
  <dcterms:modified xsi:type="dcterms:W3CDTF">2026-05-13T23:56:44Z</dcterms:modified>
</cp:coreProperties>
</file>