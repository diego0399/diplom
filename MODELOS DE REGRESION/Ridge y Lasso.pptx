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80" r:id="rId3"/>
    <p:sldId id="257" r:id="rId4"/>
    <p:sldId id="28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B7E07-D029-43F0-93AB-118D3A727236}" v="436" dt="2023-11-11T03:46:44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Regresión Lineal Múltiple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Lasso y Ridge</a:t>
            </a:r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 err="1">
                <a:solidFill>
                  <a:srgbClr val="FFFFFF"/>
                </a:solidFill>
              </a:rPr>
              <a:t>Bias</a:t>
            </a:r>
            <a:r>
              <a:rPr lang="es-SV" sz="4800" dirty="0">
                <a:solidFill>
                  <a:srgbClr val="FFFFFF"/>
                </a:solidFill>
              </a:rPr>
              <a:t> </a:t>
            </a:r>
            <a:r>
              <a:rPr lang="es-SV" sz="4800" dirty="0" err="1">
                <a:solidFill>
                  <a:srgbClr val="FFFFFF"/>
                </a:solidFill>
              </a:rPr>
              <a:t>Variance</a:t>
            </a:r>
            <a:r>
              <a:rPr lang="es-SV" sz="4800" dirty="0">
                <a:solidFill>
                  <a:srgbClr val="FFFFFF"/>
                </a:solidFill>
              </a:rPr>
              <a:t> </a:t>
            </a:r>
            <a:r>
              <a:rPr lang="es-SV" sz="4800" dirty="0" err="1">
                <a:solidFill>
                  <a:srgbClr val="FFFFFF"/>
                </a:solidFill>
              </a:rPr>
              <a:t>trade</a:t>
            </a:r>
            <a:r>
              <a:rPr lang="es-SV" sz="4800" dirty="0">
                <a:solidFill>
                  <a:srgbClr val="FFFFFF"/>
                </a:solidFill>
              </a:rPr>
              <a:t>-off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The intuition behind bias and variance | by Seth Mottaghinejad | Towards  Data Science">
            <a:extLst>
              <a:ext uri="{FF2B5EF4-FFF2-40B4-BE49-F238E27FC236}">
                <a16:creationId xmlns:a16="http://schemas.microsoft.com/office/drawing/2014/main" id="{7F4481DF-6C68-6353-93D0-F46404B12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89" y="1885279"/>
            <a:ext cx="7243763" cy="45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E275E9-E024-D00B-3958-00A880168BA5}"/>
              </a:ext>
            </a:extLst>
          </p:cNvPr>
          <p:cNvSpPr txBox="1"/>
          <p:nvPr/>
        </p:nvSpPr>
        <p:spPr>
          <a:xfrm>
            <a:off x="8437418" y="2275609"/>
            <a:ext cx="33562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regresi</a:t>
            </a:r>
            <a:r>
              <a:rPr lang="es-SV" dirty="0" err="1"/>
              <a:t>ón</a:t>
            </a:r>
            <a:r>
              <a:rPr lang="es-SV" dirty="0"/>
              <a:t> lineal que generamos se dicen que son (por sus siglas en inglés) BLUE: </a:t>
            </a:r>
            <a:r>
              <a:rPr lang="es-SV" b="1" dirty="0" err="1"/>
              <a:t>B</a:t>
            </a:r>
            <a:r>
              <a:rPr lang="es-SV" dirty="0" err="1"/>
              <a:t>est</a:t>
            </a:r>
            <a:r>
              <a:rPr lang="es-SV" dirty="0"/>
              <a:t> </a:t>
            </a:r>
            <a:r>
              <a:rPr lang="es-SV" b="1" dirty="0"/>
              <a:t>L</a:t>
            </a:r>
            <a:r>
              <a:rPr lang="es-SV" dirty="0"/>
              <a:t>inear </a:t>
            </a:r>
            <a:r>
              <a:rPr lang="es-SV" b="1" dirty="0" err="1"/>
              <a:t>U</a:t>
            </a:r>
            <a:r>
              <a:rPr lang="es-SV" dirty="0" err="1"/>
              <a:t>nbiased</a:t>
            </a:r>
            <a:r>
              <a:rPr lang="es-SV" dirty="0"/>
              <a:t> </a:t>
            </a:r>
            <a:r>
              <a:rPr lang="es-SV" b="1" dirty="0" err="1"/>
              <a:t>E</a:t>
            </a:r>
            <a:r>
              <a:rPr lang="es-SV" dirty="0" err="1"/>
              <a:t>stimator</a:t>
            </a:r>
            <a:r>
              <a:rPr lang="es-SV" dirty="0"/>
              <a:t>, en otras palabras los parámetros/coeficientes que encontramos son con el menor sesgo posible.</a:t>
            </a:r>
          </a:p>
          <a:p>
            <a:endParaRPr lang="es-SV" dirty="0"/>
          </a:p>
          <a:p>
            <a:r>
              <a:rPr lang="es-SV" dirty="0"/>
              <a:t>Los método de regularización me permiten introducir “ruido” a mis modelos, con el fin de evitar </a:t>
            </a:r>
            <a:r>
              <a:rPr lang="es-SV" i="1" dirty="0" err="1"/>
              <a:t>overfitting</a:t>
            </a:r>
            <a:r>
              <a:rPr lang="es-SV" i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41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Ridge y Lasso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s-SV" sz="2000" i="1" dirty="0"/>
                  <a:t>Partimos de nuestra fórmula de error:</a:t>
                </a:r>
              </a:p>
              <a:p>
                <a:pPr marL="0" indent="0" algn="just">
                  <a:buNone/>
                </a:pPr>
                <a:endParaRPr lang="es-SV" sz="200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SV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SV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𝑝𝑒𝑛𝑎𝑙𝑖𝑧𝑎𝑐𝑖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ES" sz="2000" i="1" dirty="0"/>
              </a:p>
              <a:p>
                <a:pPr marL="0" indent="0" algn="just">
                  <a:buNone/>
                </a:pPr>
                <a:endParaRPr lang="es-ES" sz="200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SV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𝐿𝑎𝑠𝑠𝑜𝐿𝑜𝑠𝑠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SV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s-SV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𝑠𝑢𝑗𝑒𝑡𝑜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nary>
                            <m:naryPr>
                              <m:chr m:val="∑"/>
                              <m:ctrlPr>
                                <a:rPr lang="es-SV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i="1" dirty="0"/>
              </a:p>
              <a:p>
                <a:pPr marL="0" indent="0" algn="just">
                  <a:buNone/>
                </a:pPr>
                <a:endParaRPr lang="en-US" sz="200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SV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𝑅𝑖𝑑𝑔𝑒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SV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s-SV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𝑠𝑢𝑗𝑒𝑡𝑜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nary>
                            <m:naryPr>
                              <m:chr m:val="∑"/>
                              <m:ctrlPr>
                                <a:rPr lang="es-SV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ES" sz="2000" i="1" dirty="0"/>
              </a:p>
              <a:p>
                <a:pPr marL="0" indent="0" algn="just">
                  <a:buNone/>
                </a:pPr>
                <a:endParaRPr lang="es-ES" sz="2000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627" t="-5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800" dirty="0" err="1">
                <a:solidFill>
                  <a:srgbClr val="FFFFFF"/>
                </a:solidFill>
              </a:rPr>
              <a:t>Explicaci</a:t>
            </a:r>
            <a:r>
              <a:rPr lang="es-SV" sz="4800" dirty="0" err="1">
                <a:solidFill>
                  <a:srgbClr val="FFFFFF"/>
                </a:solidFill>
              </a:rPr>
              <a:t>ón</a:t>
            </a:r>
            <a:r>
              <a:rPr lang="es-SV" sz="4800" dirty="0">
                <a:solidFill>
                  <a:srgbClr val="FFFFFF"/>
                </a:solidFill>
              </a:rPr>
              <a:t> gráfica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Regularization: Ridge (L2), Lasso (L1), and Elastic Net regression -  tyami's study blog">
            <a:extLst>
              <a:ext uri="{FF2B5EF4-FFF2-40B4-BE49-F238E27FC236}">
                <a16:creationId xmlns:a16="http://schemas.microsoft.com/office/drawing/2014/main" id="{690EEDA3-8A16-ECD3-0B77-66F0401AC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462" y="1645136"/>
            <a:ext cx="8368723" cy="471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B88D85-7749-8A3F-BDE8-85C3ED7B375B}"/>
              </a:ext>
            </a:extLst>
          </p:cNvPr>
          <p:cNvSpPr txBox="1"/>
          <p:nvPr/>
        </p:nvSpPr>
        <p:spPr>
          <a:xfrm>
            <a:off x="2060861" y="6357451"/>
            <a:ext cx="8239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200" dirty="0"/>
              <a:t>Tomado de: https://tyami.github.io/machine%20learning/regularization-Ridge-Lasso-ElasticNet/#google_vignette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98953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4677</TotalTime>
  <Words>133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Regresión Lineal Múltiple</vt:lpstr>
      <vt:lpstr>Bias Variance trade-off</vt:lpstr>
      <vt:lpstr>Ridge y Lasso</vt:lpstr>
      <vt:lpstr>Explicación gráfica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2</cp:revision>
  <dcterms:created xsi:type="dcterms:W3CDTF">2023-06-19T22:41:02Z</dcterms:created>
  <dcterms:modified xsi:type="dcterms:W3CDTF">2025-02-22T05:50:27Z</dcterms:modified>
</cp:coreProperties>
</file>