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73" r:id="rId4"/>
    <p:sldId id="265" r:id="rId5"/>
    <p:sldId id="264" r:id="rId6"/>
    <p:sldId id="274" r:id="rId7"/>
    <p:sldId id="275" r:id="rId8"/>
    <p:sldId id="266" r:id="rId9"/>
    <p:sldId id="276" r:id="rId10"/>
    <p:sldId id="277" r:id="rId11"/>
    <p:sldId id="268" r:id="rId12"/>
    <p:sldId id="269" r:id="rId13"/>
    <p:sldId id="270" r:id="rId14"/>
    <p:sldId id="271" r:id="rId15"/>
    <p:sldId id="27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001540-7C7A-4589-9B96-C81874AC31F2}" v="3030" dt="2024-08-28T23:47:19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F1001540-7C7A-4589-9B96-C81874AC31F2}"/>
    <pc:docChg chg="undo custSel addSld delSld modSld sldOrd">
      <pc:chgData name="Christian Villanueva" userId="9367907e4847b616" providerId="LiveId" clId="{F1001540-7C7A-4589-9B96-C81874AC31F2}" dt="2024-08-28T23:47:19.392" v="6830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4-08-28T23:37:06.481" v="6797" actId="403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4-08-28T23:34:25.969" v="6542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4-08-28T23:37:06.481" v="6797" actId="403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 ord">
        <pc:chgData name="Christian Villanueva" userId="9367907e4847b616" providerId="LiveId" clId="{F1001540-7C7A-4589-9B96-C81874AC31F2}" dt="2024-08-28T23:47:19.392" v="6830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4-08-28T23:47:19.392" v="6830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  <pc:sldChg chg="new del">
        <pc:chgData name="Christian Villanueva" userId="9367907e4847b616" providerId="LiveId" clId="{F1001540-7C7A-4589-9B96-C81874AC31F2}" dt="2024-08-28T23:33:23.875" v="6474" actId="680"/>
        <pc:sldMkLst>
          <pc:docMk/>
          <pc:sldMk cId="154829225" sldId="273"/>
        </pc:sldMkLst>
      </pc:sldChg>
      <pc:sldChg chg="add">
        <pc:chgData name="Christian Villanueva" userId="9367907e4847b616" providerId="LiveId" clId="{F1001540-7C7A-4589-9B96-C81874AC31F2}" dt="2024-08-28T23:33:26.752" v="6475" actId="2890"/>
        <pc:sldMkLst>
          <pc:docMk/>
          <pc:sldMk cId="3441307237" sldId="273"/>
        </pc:sldMkLst>
      </pc:sldChg>
      <pc:sldChg chg="addSp delSp modSp add mod">
        <pc:chgData name="Christian Villanueva" userId="9367907e4847b616" providerId="LiveId" clId="{F1001540-7C7A-4589-9B96-C81874AC31F2}" dt="2024-08-28T23:42:58.924" v="6809" actId="1076"/>
        <pc:sldMkLst>
          <pc:docMk/>
          <pc:sldMk cId="2568915255" sldId="274"/>
        </pc:sldMkLst>
        <pc:spChg chg="del">
          <ac:chgData name="Christian Villanueva" userId="9367907e4847b616" providerId="LiveId" clId="{F1001540-7C7A-4589-9B96-C81874AC31F2}" dt="2024-08-28T23:39:01.352" v="6799" actId="478"/>
          <ac:spMkLst>
            <pc:docMk/>
            <pc:sldMk cId="2568915255" sldId="274"/>
            <ac:spMk id="3" creationId="{08D62982-4107-D75F-CB7C-97EE84C54343}"/>
          </ac:spMkLst>
        </pc:spChg>
        <pc:spChg chg="add del mod">
          <ac:chgData name="Christian Villanueva" userId="9367907e4847b616" providerId="LiveId" clId="{F1001540-7C7A-4589-9B96-C81874AC31F2}" dt="2024-08-28T23:39:13.477" v="6802" actId="478"/>
          <ac:spMkLst>
            <pc:docMk/>
            <pc:sldMk cId="2568915255" sldId="274"/>
            <ac:spMk id="5" creationId="{9A77D6F4-6CA9-7907-7446-E589AC718C67}"/>
          </ac:spMkLst>
        </pc:spChg>
        <pc:picChg chg="add del mod">
          <ac:chgData name="Christian Villanueva" userId="9367907e4847b616" providerId="LiveId" clId="{F1001540-7C7A-4589-9B96-C81874AC31F2}" dt="2024-08-28T23:42:58.924" v="6809" actId="1076"/>
          <ac:picMkLst>
            <pc:docMk/>
            <pc:sldMk cId="2568915255" sldId="274"/>
            <ac:picMk id="1026" creationId="{A1E443BA-446A-0544-C9D7-3CE5C7920A27}"/>
          </ac:picMkLst>
        </pc:picChg>
        <pc:picChg chg="add">
          <ac:chgData name="Christian Villanueva" userId="9367907e4847b616" providerId="LiveId" clId="{F1001540-7C7A-4589-9B96-C81874AC31F2}" dt="2024-08-28T23:42:41.096" v="6804"/>
          <ac:picMkLst>
            <pc:docMk/>
            <pc:sldMk cId="2568915255" sldId="274"/>
            <ac:picMk id="1028" creationId="{C9D1AA0E-2CC2-E554-E878-2A085BE8AE35}"/>
          </ac:picMkLst>
        </pc:picChg>
      </pc:sldChg>
      <pc:sldChg chg="addSp delSp modSp add">
        <pc:chgData name="Christian Villanueva" userId="9367907e4847b616" providerId="LiveId" clId="{F1001540-7C7A-4589-9B96-C81874AC31F2}" dt="2024-08-28T23:43:22.640" v="6815" actId="1076"/>
        <pc:sldMkLst>
          <pc:docMk/>
          <pc:sldMk cId="3754174393" sldId="275"/>
        </pc:sldMkLst>
        <pc:picChg chg="del">
          <ac:chgData name="Christian Villanueva" userId="9367907e4847b616" providerId="LiveId" clId="{F1001540-7C7A-4589-9B96-C81874AC31F2}" dt="2024-08-28T23:43:15.146" v="6811" actId="478"/>
          <ac:picMkLst>
            <pc:docMk/>
            <pc:sldMk cId="3754174393" sldId="275"/>
            <ac:picMk id="1026" creationId="{A1E443BA-446A-0544-C9D7-3CE5C7920A27}"/>
          </ac:picMkLst>
        </pc:picChg>
        <pc:picChg chg="add mod">
          <ac:chgData name="Christian Villanueva" userId="9367907e4847b616" providerId="LiveId" clId="{F1001540-7C7A-4589-9B96-C81874AC31F2}" dt="2024-08-28T23:43:22.640" v="6815" actId="1076"/>
          <ac:picMkLst>
            <pc:docMk/>
            <pc:sldMk cId="3754174393" sldId="275"/>
            <ac:picMk id="2050" creationId="{1180F8D4-6831-5689-7197-74C43A22DF62}"/>
          </ac:picMkLst>
        </pc:picChg>
      </pc:sldChg>
      <pc:sldChg chg="addSp delSp modSp add mod">
        <pc:chgData name="Christian Villanueva" userId="9367907e4847b616" providerId="LiveId" clId="{F1001540-7C7A-4589-9B96-C81874AC31F2}" dt="2024-08-28T23:45:40.489" v="6823" actId="1076"/>
        <pc:sldMkLst>
          <pc:docMk/>
          <pc:sldMk cId="330862692" sldId="276"/>
        </pc:sldMkLst>
        <pc:spChg chg="del">
          <ac:chgData name="Christian Villanueva" userId="9367907e4847b616" providerId="LiveId" clId="{F1001540-7C7A-4589-9B96-C81874AC31F2}" dt="2024-08-28T23:45:29.961" v="6817" actId="478"/>
          <ac:spMkLst>
            <pc:docMk/>
            <pc:sldMk cId="330862692" sldId="276"/>
            <ac:spMk id="3" creationId="{08D62982-4107-D75F-CB7C-97EE84C54343}"/>
          </ac:spMkLst>
        </pc:spChg>
        <pc:spChg chg="add del mod">
          <ac:chgData name="Christian Villanueva" userId="9367907e4847b616" providerId="LiveId" clId="{F1001540-7C7A-4589-9B96-C81874AC31F2}" dt="2024-08-28T23:45:31.913" v="6818" actId="478"/>
          <ac:spMkLst>
            <pc:docMk/>
            <pc:sldMk cId="330862692" sldId="276"/>
            <ac:spMk id="5" creationId="{3571C4CC-42FB-50A7-9919-BA525259F43A}"/>
          </ac:spMkLst>
        </pc:spChg>
        <pc:picChg chg="add mod">
          <ac:chgData name="Christian Villanueva" userId="9367907e4847b616" providerId="LiveId" clId="{F1001540-7C7A-4589-9B96-C81874AC31F2}" dt="2024-08-28T23:45:40.489" v="6823" actId="1076"/>
          <ac:picMkLst>
            <pc:docMk/>
            <pc:sldMk cId="330862692" sldId="276"/>
            <ac:picMk id="7" creationId="{0E265733-7BF5-D246-7CA2-8CD90B06580D}"/>
          </ac:picMkLst>
        </pc:picChg>
      </pc:sldChg>
      <pc:sldChg chg="modSp add mod">
        <pc:chgData name="Christian Villanueva" userId="9367907e4847b616" providerId="LiveId" clId="{F1001540-7C7A-4589-9B96-C81874AC31F2}" dt="2024-08-28T23:46:49.374" v="6826" actId="1076"/>
        <pc:sldMkLst>
          <pc:docMk/>
          <pc:sldMk cId="1993446561" sldId="277"/>
        </pc:sldMkLst>
        <pc:picChg chg="mod">
          <ac:chgData name="Christian Villanueva" userId="9367907e4847b616" providerId="LiveId" clId="{F1001540-7C7A-4589-9B96-C81874AC31F2}" dt="2024-08-28T23:46:49.374" v="6826" actId="1076"/>
          <ac:picMkLst>
            <pc:docMk/>
            <pc:sldMk cId="1993446561" sldId="277"/>
            <ac:picMk id="7" creationId="{0E265733-7BF5-D246-7CA2-8CD90B06580D}"/>
          </ac:picMkLst>
        </pc:pic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s\Downloads\sales%20(3)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0.5</c:v>
                </c:pt>
                <c:pt idx="2">
                  <c:v>0.25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8D6-4FBE-9B97-E80E8FF8F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3579631"/>
        <c:axId val="1846359135"/>
      </c:scatterChart>
      <c:valAx>
        <c:axId val="1863579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6359135"/>
        <c:crosses val="autoZero"/>
        <c:crossBetween val="midCat"/>
        <c:majorUnit val="1"/>
      </c:valAx>
      <c:valAx>
        <c:axId val="1846359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Probabilidad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3579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Regresión Lineal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¿Qué podré responder?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endParaRPr lang="es-SV" sz="3200" b="1" i="1" dirty="0"/>
          </a:p>
          <a:p>
            <a:pPr marL="0" indent="0" algn="just">
              <a:buNone/>
            </a:pPr>
            <a:r>
              <a:rPr lang="es-SV" sz="3200" b="1" i="1" dirty="0"/>
              <a:t>¿Cuándo puedo utilizar regresión lineal?</a:t>
            </a:r>
          </a:p>
          <a:p>
            <a:pPr marL="0" indent="0" algn="just">
              <a:buNone/>
            </a:pPr>
            <a:r>
              <a:rPr lang="es-SV" sz="3200" b="1" i="1" dirty="0"/>
              <a:t>Entre más grande es mi R cuadrado es mejor mi modelo</a:t>
            </a:r>
          </a:p>
          <a:p>
            <a:pPr marL="0" indent="0" algn="just">
              <a:buNone/>
            </a:pPr>
            <a:r>
              <a:rPr lang="es-SV" sz="3200" b="1" i="1" dirty="0"/>
              <a:t>Todas las variables son importantes</a:t>
            </a:r>
          </a:p>
          <a:p>
            <a:pPr marL="0" indent="0" algn="just">
              <a:buNone/>
            </a:pPr>
            <a:r>
              <a:rPr lang="es-SV" sz="3200" b="1" i="1" dirty="0"/>
              <a:t>Lo importante es generar la línea (la ecuación)</a:t>
            </a:r>
            <a:endParaRPr lang="es-ES" sz="3200" b="1" i="1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SV" sz="2000" b="1" dirty="0"/>
                  <a:t>Terminología</a:t>
                </a:r>
              </a:p>
              <a:p>
                <a:pPr algn="just"/>
                <a:r>
                  <a:rPr lang="es-SV" sz="2000" b="1" i="1" dirty="0"/>
                  <a:t>Variable aleatoria: </a:t>
                </a:r>
                <a:r>
                  <a:rPr lang="es-SV" sz="2000" i="1" dirty="0"/>
                  <a:t>usualmente denotados con letras latinas, son números asignados a los resultados de un experimento aleatorio. Consiste en todos los posibles valores que una función de probabilidad puede tener. Estas pueden ser </a:t>
                </a:r>
                <a:r>
                  <a:rPr lang="es-SV" sz="2000" b="1" i="1" dirty="0"/>
                  <a:t>discretas </a:t>
                </a:r>
                <a:r>
                  <a:rPr lang="es-SV" sz="2000" i="1" dirty="0"/>
                  <a:t>o </a:t>
                </a:r>
                <a:r>
                  <a:rPr lang="es-SV" sz="2000" b="1" i="1" dirty="0"/>
                  <a:t>continuas.</a:t>
                </a:r>
                <a:endParaRPr lang="es-SV" sz="2000" i="1" dirty="0"/>
              </a:p>
              <a:p>
                <a:pPr algn="just"/>
                <a:r>
                  <a:rPr lang="es-SV" sz="2000" b="1" i="1" dirty="0"/>
                  <a:t>Variable discreta: </a:t>
                </a:r>
                <a:r>
                  <a:rPr lang="es-SV" sz="2000" i="1" dirty="0"/>
                  <a:t>es aquella que tiene resultados finitos o infinitos, pero que no puede tomar valor entre dos consecutivos. Matemáticamente se define: </a:t>
                </a:r>
                <a14:m>
                  <m:oMath xmlns:m="http://schemas.openxmlformats.org/officeDocument/2006/math"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SV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SV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SV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SV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SV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SV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SV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SV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SV" sz="2000" b="0" i="1" dirty="0"/>
              </a:p>
              <a:p>
                <a:pPr algn="just"/>
                <a:r>
                  <a:rPr lang="es-SV" sz="2000" b="1" i="1" dirty="0"/>
                  <a:t>Variable continua: </a:t>
                </a:r>
                <a:r>
                  <a:rPr lang="es-SV" sz="2000" i="1" dirty="0"/>
                  <a:t>es aquella que tiene resultados finitos o infinitos, pero que puede tomar cualquier valor entre (</a:t>
                </a:r>
                <a:r>
                  <a:rPr lang="es-SV" sz="2000" i="1" dirty="0" err="1"/>
                  <a:t>a,b</a:t>
                </a:r>
                <a:r>
                  <a:rPr lang="es-SV" sz="2000" i="1" dirty="0"/>
                  <a:t>). Matemáticamente se define: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SV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es-SV" sz="2000" b="1" i="1" dirty="0"/>
              </a:p>
              <a:p>
                <a:pPr marL="0" indent="0" algn="just">
                  <a:buNone/>
                </a:pPr>
                <a:endParaRPr lang="es-ES" sz="2000" b="1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627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30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Variables continuas y discretas</a:t>
            </a:r>
            <a:endParaRPr lang="en-US" sz="4800" dirty="0">
              <a:solidFill>
                <a:srgbClr val="FFFFFF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8B7CF51-CF92-0D93-E153-6303C9E4F1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9547695"/>
              </p:ext>
            </p:extLst>
          </p:nvPr>
        </p:nvGraphicFramePr>
        <p:xfrm>
          <a:off x="867454" y="2985058"/>
          <a:ext cx="4544301" cy="3387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Picture 10" descr="A diagram of a slope&#10;&#10;Description automatically generated">
            <a:extLst>
              <a:ext uri="{FF2B5EF4-FFF2-40B4-BE49-F238E27FC236}">
                <a16:creationId xmlns:a16="http://schemas.microsoft.com/office/drawing/2014/main" id="{0590BB66-4364-F3E3-FBEB-E61872E82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3638199"/>
            <a:ext cx="5071585" cy="20814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549D14-0D53-8466-18F0-0DBB2E3D8D00}"/>
              </a:ext>
            </a:extLst>
          </p:cNvPr>
          <p:cNvSpPr txBox="1"/>
          <p:nvPr/>
        </p:nvSpPr>
        <p:spPr>
          <a:xfrm>
            <a:off x="2905320" y="2306609"/>
            <a:ext cx="10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Discreta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904C2E-9BA4-9254-D384-8A336AF0764A}"/>
              </a:ext>
            </a:extLst>
          </p:cNvPr>
          <p:cNvSpPr txBox="1"/>
          <p:nvPr/>
        </p:nvSpPr>
        <p:spPr>
          <a:xfrm>
            <a:off x="8005665" y="2306609"/>
            <a:ext cx="128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Continua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CD8CE-2A87-2758-2E8E-338254DEDB55}"/>
              </a:ext>
            </a:extLst>
          </p:cNvPr>
          <p:cNvSpPr txBox="1"/>
          <p:nvPr/>
        </p:nvSpPr>
        <p:spPr>
          <a:xfrm>
            <a:off x="6096000" y="5962650"/>
            <a:ext cx="531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Tomado</a:t>
            </a:r>
            <a:r>
              <a:rPr lang="en-US" sz="1000" dirty="0"/>
              <a:t> de: https://math.stackexchange.com/questions/2780096/expectation-as-integral-visualizing-the-area-under-the-curve</a:t>
            </a:r>
          </a:p>
        </p:txBody>
      </p:sp>
    </p:spTree>
    <p:extLst>
      <p:ext uri="{BB962C8B-B14F-4D97-AF65-F5344CB8AC3E}">
        <p14:creationId xmlns:p14="http://schemas.microsoft.com/office/powerpoint/2010/main" val="177844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 lnSpcReduction="10000"/>
              </a:bodyPr>
              <a:lstStyle/>
              <a:p>
                <a:pPr algn="just"/>
                <a:r>
                  <a:rPr lang="es-SV" sz="2000" b="1" i="1" dirty="0"/>
                  <a:t>Media 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s-SV" sz="2000" i="1" dirty="0"/>
                  <a:t>): medida de tendencia central mejor conocido como promedio. Determina el valor más típico.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𝑑𝑖𝑠𝑐𝑟𝑒𝑡𝑎</m:t>
                      </m:r>
                    </m:oMath>
                  </m:oMathPara>
                </a14:m>
                <a:endParaRPr lang="es-SV" sz="2000" i="1" dirty="0"/>
              </a:p>
              <a:p>
                <a:pPr marL="0" indent="0" algn="just">
                  <a:buNone/>
                </a:pPr>
                <a:endParaRPr lang="es-SV" sz="20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𝑐𝑜𝑛𝑡𝑖𝑛𝑢𝑎</m:t>
                      </m:r>
                    </m:oMath>
                  </m:oMathPara>
                </a14:m>
                <a:endParaRPr lang="es-SV" sz="2000" i="1" dirty="0"/>
              </a:p>
              <a:p>
                <a:pPr algn="just"/>
                <a:r>
                  <a:rPr lang="es-SV" sz="2000" b="1" i="1" dirty="0"/>
                  <a:t>Varianza (Var): </a:t>
                </a:r>
                <a:r>
                  <a:rPr lang="es-SV" sz="2000" i="1" dirty="0"/>
                  <a:t>medida de dispersión de los datos.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b="0" i="1" dirty="0"/>
              </a:p>
              <a:p>
                <a:pPr marL="0" indent="0" algn="just">
                  <a:buNone/>
                </a:pPr>
                <a:endParaRPr lang="en-US" sz="2000" b="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𝑑𝑖𝑠𝑐𝑟𝑒𝑡𝑎</m:t>
                      </m:r>
                    </m:oMath>
                  </m:oMathPara>
                </a14:m>
                <a:endParaRPr lang="en-US" sz="2000" b="0" i="1" dirty="0"/>
              </a:p>
              <a:p>
                <a:pPr marL="0" indent="0" algn="just">
                  <a:buNone/>
                </a:pPr>
                <a:endParaRPr lang="es-ES" sz="20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564" t="-6636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86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An Inclusive Guide to Weight Lifting for Weight Loss">
            <a:extLst>
              <a:ext uri="{FF2B5EF4-FFF2-40B4-BE49-F238E27FC236}">
                <a16:creationId xmlns:a16="http://schemas.microsoft.com/office/drawing/2014/main" id="{A1E443BA-446A-0544-C9D7-3CE5C7920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371" y="2040124"/>
            <a:ext cx="5833579" cy="437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91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2050" name="Picture 2" descr="Static Analysis of an Unbalanced Barbell – Numerickly">
            <a:extLst>
              <a:ext uri="{FF2B5EF4-FFF2-40B4-BE49-F238E27FC236}">
                <a16:creationId xmlns:a16="http://schemas.microsoft.com/office/drawing/2014/main" id="{1180F8D4-6831-5689-7197-74C43A22D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4" y="2434176"/>
            <a:ext cx="11096625" cy="337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17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 fontScale="92500" lnSpcReduction="10000"/>
              </a:bodyPr>
              <a:lstStyle/>
              <a:p>
                <a:pPr algn="just"/>
                <a:r>
                  <a:rPr lang="en-US" sz="2000" b="1" i="1" dirty="0"/>
                  <a:t>Covarianza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s-SV" sz="2000" i="1" dirty="0"/>
                  <a:t>): mide la dirección y el grado de relación lineal entre dos variables aleatorias. Puede tomar cualquier valor del dominio real.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s-SV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SV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s-SV" sz="20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SV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  <m:r>
                                <a:rPr lang="es-SV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𝑑𝑖𝑠𝑐𝑟𝑒𝑡𝑎</m:t>
                      </m:r>
                    </m:oMath>
                  </m:oMathPara>
                </a14:m>
                <a:endParaRPr lang="en-US" sz="2000" b="0" i="1" dirty="0"/>
              </a:p>
              <a:p>
                <a:pPr marL="0" indent="0" algn="just">
                  <a:buNone/>
                </a:pPr>
                <a:endParaRPr lang="en-US" sz="2000" b="0" i="1" dirty="0"/>
              </a:p>
              <a:p>
                <a:pPr algn="just"/>
                <a:r>
                  <a:rPr lang="en-US" sz="2000" b="1" i="1" dirty="0" err="1"/>
                  <a:t>Correlaci</a:t>
                </a:r>
                <a:r>
                  <a:rPr lang="es-SV" sz="2000" b="1" i="1" dirty="0" err="1"/>
                  <a:t>ón</a:t>
                </a:r>
                <a:r>
                  <a:rPr lang="es-SV" sz="2000" b="1" i="1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sz="2000" b="1" i="1" dirty="0"/>
                  <a:t>): </a:t>
                </a:r>
                <a:r>
                  <a:rPr lang="en-US" sz="2000" i="1" dirty="0"/>
                  <a:t>es </a:t>
                </a:r>
                <a:r>
                  <a:rPr lang="en-US" sz="2000" i="1" dirty="0" err="1"/>
                  <a:t>igual</a:t>
                </a:r>
                <a:r>
                  <a:rPr lang="en-US" sz="2000" i="1" dirty="0"/>
                  <a:t> a la </a:t>
                </a:r>
                <a:r>
                  <a:rPr lang="en-US" sz="2000" i="1" dirty="0" err="1"/>
                  <a:t>covarianza</a:t>
                </a:r>
                <a:r>
                  <a:rPr lang="en-US" sz="2000" i="1" dirty="0"/>
                  <a:t>, </a:t>
                </a:r>
                <a:r>
                  <a:rPr lang="en-US" sz="2000" i="1" dirty="0" err="1"/>
                  <a:t>pero</a:t>
                </a:r>
                <a:r>
                  <a:rPr lang="en-US" sz="2000" i="1" dirty="0"/>
                  <a:t> </a:t>
                </a:r>
                <a:r>
                  <a:rPr lang="en-US" sz="2000" i="1" dirty="0" err="1"/>
                  <a:t>normalizado</a:t>
                </a:r>
                <a:r>
                  <a:rPr lang="en-US" sz="2000" i="1" dirty="0"/>
                  <a:t>. Su </a:t>
                </a:r>
                <a:r>
                  <a:rPr lang="en-US" sz="2000" i="1" dirty="0" err="1"/>
                  <a:t>rango</a:t>
                </a:r>
                <a:r>
                  <a:rPr lang="en-US" sz="2000" i="1" dirty="0"/>
                  <a:t> es entre -1 y 1.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i="1" dirty="0"/>
              </a:p>
              <a:p>
                <a:pPr marL="0" indent="0" algn="just">
                  <a:buNone/>
                </a:pPr>
                <a:r>
                  <a:rPr lang="es-SV" sz="2000" i="1" dirty="0"/>
                  <a:t>Propiedades: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=0→</m:t>
                    </m:r>
                  </m:oMath>
                </a14:m>
                <a:r>
                  <a:rPr lang="es-SV" sz="2000" i="1" dirty="0"/>
                  <a:t> x ^ y no están correlacionadas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i="1" dirty="0"/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s-SV" sz="2000" i="1" dirty="0"/>
                  <a:t>Si x ^ y son independientes → x ^ y no están correlacionadas</a:t>
                </a:r>
              </a:p>
              <a:p>
                <a:pPr marL="0" indent="0" algn="just">
                  <a:buNone/>
                </a:pPr>
                <a:endParaRPr lang="es-ES" sz="20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564" t="-5093" r="-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59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65733-7BF5-D246-7CA2-8CD90B06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5" y="1981110"/>
            <a:ext cx="6953250" cy="451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2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65733-7BF5-D246-7CA2-8CD90B065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1465" y="2090975"/>
            <a:ext cx="6953250" cy="350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4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351" y="2143999"/>
                <a:ext cx="4943476" cy="856667"/>
              </a:xfrm>
            </p:spPr>
            <p:txBody>
              <a:bodyPr anchor="ctr">
                <a:noAutofit/>
              </a:bodyPr>
              <a:lstStyle/>
              <a:p>
                <a:pPr algn="just"/>
                <a:r>
                  <a:rPr lang="en-US" sz="1800" b="1" i="1" dirty="0"/>
                  <a:t>Distribuci</a:t>
                </a:r>
                <a:r>
                  <a:rPr lang="es-SV" sz="1800" b="1" i="1" dirty="0" err="1"/>
                  <a:t>ón</a:t>
                </a:r>
                <a:r>
                  <a:rPr lang="es-SV" sz="1800" b="1" i="1" dirty="0"/>
                  <a:t> Normal N(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s-SV" sz="1800" b="1" i="1" dirty="0"/>
                  <a:t>)</a:t>
                </a:r>
              </a:p>
              <a:p>
                <a:pPr algn="just"/>
                <a:r>
                  <a:rPr lang="en-US" sz="1800" b="1" i="1" dirty="0" err="1"/>
                  <a:t>Distribuci</a:t>
                </a:r>
                <a:r>
                  <a:rPr lang="es-SV" sz="1800" b="1" i="1" dirty="0" err="1"/>
                  <a:t>ón</a:t>
                </a:r>
                <a:r>
                  <a:rPr lang="es-SV" sz="1800" b="1" i="1" dirty="0"/>
                  <a:t> Normal</a:t>
                </a:r>
                <a:r>
                  <a:rPr lang="es-SV" sz="1800" i="1" dirty="0"/>
                  <a:t> </a:t>
                </a:r>
                <a:r>
                  <a:rPr lang="es-SV" sz="1800" b="1" i="1" dirty="0"/>
                  <a:t>estándar</a:t>
                </a:r>
                <a:r>
                  <a:rPr lang="es-SV" sz="1800" i="1" dirty="0"/>
                  <a:t> </a:t>
                </a:r>
                <a:r>
                  <a:rPr lang="es-SV" sz="1800" b="1" i="1" dirty="0"/>
                  <a:t>N(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SV" sz="1800" b="1" i="1" dirty="0"/>
                  <a:t>)</a:t>
                </a:r>
                <a:endParaRPr lang="es-SV" sz="18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51" y="2143999"/>
                <a:ext cx="4943476" cy="856667"/>
              </a:xfrm>
              <a:blipFill>
                <a:blip r:embed="rId2"/>
                <a:stretch>
                  <a:fillRect l="-740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Qué es la distribución normal? - Minitab">
            <a:extLst>
              <a:ext uri="{FF2B5EF4-FFF2-40B4-BE49-F238E27FC236}">
                <a16:creationId xmlns:a16="http://schemas.microsoft.com/office/drawing/2014/main" id="{3A5F7F1E-0910-0776-7011-6CA3D5DEF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50" y="3114675"/>
            <a:ext cx="4943477" cy="329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68CFB57-4CC2-9CC8-7094-D8B207E85E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8710" y="2372016"/>
                <a:ext cx="4721291" cy="6286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1600" b="1" i="1" dirty="0"/>
                  <a:t>Distribuci</a:t>
                </a:r>
                <a:r>
                  <a:rPr lang="es-SV" sz="1600" b="1" i="1" dirty="0" err="1"/>
                  <a:t>ón</a:t>
                </a:r>
                <a:r>
                  <a:rPr lang="es-SV" sz="1600" b="1" i="1" dirty="0"/>
                  <a:t> T-</a:t>
                </a:r>
                <a:r>
                  <a:rPr lang="es-SV" sz="1600" b="1" i="1" dirty="0" err="1"/>
                  <a:t>Student</a:t>
                </a:r>
                <a:r>
                  <a:rPr lang="es-SV" sz="1600" b="1" i="1" dirty="0"/>
                  <a:t> T(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𝝂</m:t>
                    </m:r>
                  </m:oMath>
                </a14:m>
                <a:r>
                  <a:rPr lang="es-SV" sz="1600" b="1" i="1" dirty="0"/>
                  <a:t>)</a:t>
                </a:r>
              </a:p>
              <a:p>
                <a:pPr marL="0" indent="0" algn="just">
                  <a:buNone/>
                </a:pPr>
                <a:r>
                  <a:rPr lang="es-SV" sz="1600" i="1" dirty="0"/>
                  <a:t>Distribución normal con varianza desconocida y muestra pequeña.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68CFB57-4CC2-9CC8-7094-D8B207E85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710" y="2372016"/>
                <a:ext cx="4721291" cy="628650"/>
              </a:xfrm>
              <a:prstGeom prst="rect">
                <a:avLst/>
              </a:prstGeom>
              <a:blipFill>
                <a:blip r:embed="rId4"/>
                <a:stretch>
                  <a:fillRect l="-775" t="-26214" r="-646" b="-33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Distribución t de Student - Wikipedia, la enciclopedia libre">
            <a:extLst>
              <a:ext uri="{FF2B5EF4-FFF2-40B4-BE49-F238E27FC236}">
                <a16:creationId xmlns:a16="http://schemas.microsoft.com/office/drawing/2014/main" id="{C235552A-395E-CEE3-FA10-39C089092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022" y="3114674"/>
            <a:ext cx="5214646" cy="322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856916-9E78-C94C-CB26-9A6C91B05C22}"/>
              </a:ext>
            </a:extLst>
          </p:cNvPr>
          <p:cNvSpPr txBox="1"/>
          <p:nvPr/>
        </p:nvSpPr>
        <p:spPr>
          <a:xfrm>
            <a:off x="6801033" y="6291265"/>
            <a:ext cx="5105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900" dirty="0"/>
              <a:t>Tomado de: https://es.wikipedia.org/wiki/Distribuci%C3%B3n_t_de_Student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8225B-4FC7-C143-2D54-B375A6D9F8AB}"/>
              </a:ext>
            </a:extLst>
          </p:cNvPr>
          <p:cNvSpPr txBox="1"/>
          <p:nvPr/>
        </p:nvSpPr>
        <p:spPr>
          <a:xfrm>
            <a:off x="459350" y="6518747"/>
            <a:ext cx="510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900" dirty="0"/>
              <a:t>Tomado de: https://support.minitab.com/es-mx/minitab/20/help-and-how-to/statistics/basic-statistics/supporting-topics/normality/what-is-the-normal-distribution/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69622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351" y="2143999"/>
                <a:ext cx="4943476" cy="856667"/>
              </a:xfrm>
            </p:spPr>
            <p:txBody>
              <a:bodyPr anchor="ctr">
                <a:noAutofit/>
              </a:bodyPr>
              <a:lstStyle/>
              <a:p>
                <a:pPr algn="just"/>
                <a:r>
                  <a:rPr lang="en-US" sz="1800" b="1" i="1" dirty="0"/>
                  <a:t>Distribuci</a:t>
                </a:r>
                <a:r>
                  <a:rPr lang="es-SV" sz="1800" b="1" i="1" dirty="0" err="1"/>
                  <a:t>ón</a:t>
                </a:r>
                <a:r>
                  <a:rPr lang="es-SV" sz="1800" b="1" i="1" dirty="0"/>
                  <a:t> Chi-Cuadrado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𝝂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SV" sz="1800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51" y="2143999"/>
                <a:ext cx="4943476" cy="856667"/>
              </a:xfrm>
              <a:blipFill>
                <a:blip r:embed="rId2"/>
                <a:stretch>
                  <a:fillRect l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8CFB57-4CC2-9CC8-7094-D8B207E85E78}"/>
              </a:ext>
            </a:extLst>
          </p:cNvPr>
          <p:cNvSpPr txBox="1">
            <a:spLocks/>
          </p:cNvSpPr>
          <p:nvPr/>
        </p:nvSpPr>
        <p:spPr>
          <a:xfrm>
            <a:off x="6708710" y="2372016"/>
            <a:ext cx="4721291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i="1" dirty="0" err="1"/>
              <a:t>Distribucion</a:t>
            </a:r>
            <a:r>
              <a:rPr lang="en-US" sz="1600" b="1" i="1" dirty="0"/>
              <a:t> F (d1,d2)</a:t>
            </a:r>
            <a:endParaRPr lang="es-SV" sz="16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56916-9E78-C94C-CB26-9A6C91B05C22}"/>
              </a:ext>
            </a:extLst>
          </p:cNvPr>
          <p:cNvSpPr txBox="1"/>
          <p:nvPr/>
        </p:nvSpPr>
        <p:spPr>
          <a:xfrm>
            <a:off x="6409148" y="6037349"/>
            <a:ext cx="5105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900" dirty="0"/>
              <a:t>Tomado de: https://sixsigmastudyguide.com/f-distributionf-statistic-f-test/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8225B-4FC7-C143-2D54-B375A6D9F8AB}"/>
              </a:ext>
            </a:extLst>
          </p:cNvPr>
          <p:cNvSpPr txBox="1"/>
          <p:nvPr/>
        </p:nvSpPr>
        <p:spPr>
          <a:xfrm>
            <a:off x="459350" y="5966786"/>
            <a:ext cx="510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900" dirty="0"/>
              <a:t>Tomado de:  https://www.jmp.com/es_co/statistics-knowledge-portal/chi-square-test/chi-square-distribution.html</a:t>
            </a:r>
            <a:endParaRPr lang="en-US" sz="900" dirty="0"/>
          </a:p>
        </p:txBody>
      </p:sp>
      <p:pic>
        <p:nvPicPr>
          <p:cNvPr id="2050" name="Picture 2" descr="Distribución de ji cuadrado | Introducción a la estadística | JMP">
            <a:extLst>
              <a:ext uri="{FF2B5EF4-FFF2-40B4-BE49-F238E27FC236}">
                <a16:creationId xmlns:a16="http://schemas.microsoft.com/office/drawing/2014/main" id="{7D5A6C4D-357B-85C2-0BE1-0742F40C7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32" y="2941034"/>
            <a:ext cx="3607563" cy="298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 Distribution, F Statistic, F Test">
            <a:extLst>
              <a:ext uri="{FF2B5EF4-FFF2-40B4-BE49-F238E27FC236}">
                <a16:creationId xmlns:a16="http://schemas.microsoft.com/office/drawing/2014/main" id="{F3D82B58-29BF-067C-C01F-37E5A0C97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574" y="3000666"/>
            <a:ext cx="5261256" cy="272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012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Nomenclatura</a:t>
            </a:r>
            <a:endParaRPr lang="en-US" sz="4800" dirty="0">
              <a:solidFill>
                <a:srgbClr val="FFFF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149E2C-C2F0-9F7F-6F29-6D44F7BD3E84}"/>
              </a:ext>
            </a:extLst>
          </p:cNvPr>
          <p:cNvGrpSpPr/>
          <p:nvPr/>
        </p:nvGrpSpPr>
        <p:grpSpPr>
          <a:xfrm>
            <a:off x="2099387" y="2318657"/>
            <a:ext cx="2034074" cy="2220685"/>
            <a:chOff x="4198775" y="3760237"/>
            <a:chExt cx="2034074" cy="222068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309B420-9FCF-9302-A391-1D620C107C2B}"/>
                </a:ext>
              </a:extLst>
            </p:cNvPr>
            <p:cNvSpPr/>
            <p:nvPr/>
          </p:nvSpPr>
          <p:spPr>
            <a:xfrm>
              <a:off x="4198775" y="3760237"/>
              <a:ext cx="2034074" cy="222068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FE7B3C4-3E58-CEF6-C5B2-AF39D72E54A6}"/>
                    </a:ext>
                  </a:extLst>
                </p:cNvPr>
                <p:cNvSpPr txBox="1"/>
                <p:nvPr/>
              </p:nvSpPr>
              <p:spPr>
                <a:xfrm>
                  <a:off x="4198775" y="3901082"/>
                  <a:ext cx="2034074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Muestra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  <a:p>
                  <a:pPr algn="ctr"/>
                  <a:r>
                    <a:rPr lang="en-US" sz="2400" dirty="0"/>
                    <a:t>s</a:t>
                  </a:r>
                </a:p>
                <a:p>
                  <a:pPr algn="ctr"/>
                  <a:r>
                    <a:rPr lang="en-US" sz="2400" dirty="0"/>
                    <a:t>r</a:t>
                  </a:r>
                </a:p>
                <a:p>
                  <a:pPr algn="ctr"/>
                  <a:endParaRPr lang="en-US" sz="24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FE7B3C4-3E58-CEF6-C5B2-AF39D72E5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8775" y="3901082"/>
                  <a:ext cx="2034074" cy="1938992"/>
                </a:xfrm>
                <a:prstGeom prst="rect">
                  <a:avLst/>
                </a:prstGeom>
                <a:blipFill>
                  <a:blip r:embed="rId2"/>
                  <a:stretch>
                    <a:fillRect t="-25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71F992-AE95-E711-07D0-3695D4CE60C6}"/>
              </a:ext>
            </a:extLst>
          </p:cNvPr>
          <p:cNvGrpSpPr/>
          <p:nvPr/>
        </p:nvGrpSpPr>
        <p:grpSpPr>
          <a:xfrm>
            <a:off x="6790351" y="2318657"/>
            <a:ext cx="2048848" cy="2220685"/>
            <a:chOff x="4198775" y="3760237"/>
            <a:chExt cx="2048848" cy="222068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34CADA8-25F8-3300-D126-1B983023795A}"/>
                </a:ext>
              </a:extLst>
            </p:cNvPr>
            <p:cNvSpPr/>
            <p:nvPr/>
          </p:nvSpPr>
          <p:spPr>
            <a:xfrm>
              <a:off x="4198775" y="3760237"/>
              <a:ext cx="2034074" cy="222068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3833F23-55A3-3651-7EC1-8C8907DD64D2}"/>
                    </a:ext>
                  </a:extLst>
                </p:cNvPr>
                <p:cNvSpPr txBox="1"/>
                <p:nvPr/>
              </p:nvSpPr>
              <p:spPr>
                <a:xfrm>
                  <a:off x="4213549" y="3901083"/>
                  <a:ext cx="2034074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Poblacional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3833F23-55A3-3651-7EC1-8C8907DD64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549" y="3901083"/>
                  <a:ext cx="2034074" cy="1938992"/>
                </a:xfrm>
                <a:prstGeom prst="rect">
                  <a:avLst/>
                </a:prstGeom>
                <a:blipFill>
                  <a:blip r:embed="rId3"/>
                  <a:stretch>
                    <a:fillRect t="-25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A502E6-BB33-B6AA-9918-FE9FE8242F83}"/>
                  </a:ext>
                </a:extLst>
              </p:cNvPr>
              <p:cNvSpPr txBox="1"/>
              <p:nvPr/>
            </p:nvSpPr>
            <p:spPr>
              <a:xfrm>
                <a:off x="830424" y="5098350"/>
                <a:ext cx="9899780" cy="679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Los </a:t>
                </a:r>
                <a:r>
                  <a:rPr lang="en-US" dirty="0" err="1"/>
                  <a:t>estimadores</a:t>
                </a:r>
                <a:r>
                  <a:rPr lang="en-US" dirty="0"/>
                  <a:t> </a:t>
                </a:r>
                <a:r>
                  <a:rPr lang="en-US" dirty="0" err="1"/>
                  <a:t>usualmente</a:t>
                </a:r>
                <a:r>
                  <a:rPr lang="en-US" dirty="0"/>
                  <a:t> </a:t>
                </a:r>
                <a:r>
                  <a:rPr lang="en-US" dirty="0" err="1"/>
                  <a:t>los</a:t>
                </a:r>
                <a:r>
                  <a:rPr lang="en-US" dirty="0"/>
                  <a:t> </a:t>
                </a:r>
                <a:r>
                  <a:rPr lang="en-US" dirty="0" err="1"/>
                  <a:t>simbolizamos</a:t>
                </a:r>
                <a:r>
                  <a:rPr lang="en-US" dirty="0"/>
                  <a:t> con </a:t>
                </a:r>
                <a:r>
                  <a:rPr lang="en-US" dirty="0" err="1"/>
                  <a:t>letras</a:t>
                </a:r>
                <a:r>
                  <a:rPr lang="en-US" dirty="0"/>
                  <a:t> </a:t>
                </a:r>
                <a:r>
                  <a:rPr lang="en-US" dirty="0" err="1"/>
                  <a:t>latinas</a:t>
                </a:r>
                <a:r>
                  <a:rPr lang="en-US" dirty="0"/>
                  <a:t> (es </a:t>
                </a:r>
                <a:r>
                  <a:rPr lang="en-US" dirty="0" err="1"/>
                  <a:t>decir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es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estimador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 o se </a:t>
                </a:r>
                <a:r>
                  <a:rPr lang="en-US" dirty="0" err="1"/>
                  <a:t>hacen</a:t>
                </a:r>
                <a:r>
                  <a:rPr lang="en-US" dirty="0"/>
                  <a:t> </a:t>
                </a:r>
                <a:r>
                  <a:rPr lang="en-US" dirty="0" err="1"/>
                  <a:t>utilizando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acento</a:t>
                </a:r>
                <a:r>
                  <a:rPr lang="en-US" dirty="0"/>
                  <a:t> </a:t>
                </a:r>
                <a:r>
                  <a:rPr lang="en-US" dirty="0" err="1"/>
                  <a:t>circunflejo</a:t>
                </a:r>
                <a:r>
                  <a:rPr lang="en-US" dirty="0"/>
                  <a:t> </a:t>
                </a:r>
                <a:r>
                  <a:rPr lang="en-US" dirty="0" err="1"/>
                  <a:t>sobre</a:t>
                </a:r>
                <a:r>
                  <a:rPr lang="en-US" dirty="0"/>
                  <a:t> la </a:t>
                </a:r>
                <a:r>
                  <a:rPr lang="en-US" dirty="0" err="1"/>
                  <a:t>letra</a:t>
                </a:r>
                <a:r>
                  <a:rPr lang="en-US" dirty="0"/>
                  <a:t>, es </a:t>
                </a:r>
                <a:r>
                  <a:rPr lang="en-US" dirty="0" err="1"/>
                  <a:t>decir</a:t>
                </a:r>
                <a:r>
                  <a:rPr lang="en-US" dirty="0"/>
                  <a:t> que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estimador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A502E6-BB33-B6AA-9918-FE9FE8242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24" y="5098350"/>
                <a:ext cx="9899780" cy="679481"/>
              </a:xfrm>
              <a:prstGeom prst="rect">
                <a:avLst/>
              </a:prstGeom>
              <a:blipFill>
                <a:blip r:embed="rId4"/>
                <a:stretch>
                  <a:fillRect l="-493" t="-4464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043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Regresión Lineal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A502E6-BB33-B6AA-9918-FE9FE8242F83}"/>
                  </a:ext>
                </a:extLst>
              </p:cNvPr>
              <p:cNvSpPr txBox="1"/>
              <p:nvPr/>
            </p:nvSpPr>
            <p:spPr>
              <a:xfrm>
                <a:off x="459350" y="2009918"/>
                <a:ext cx="9899780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 </a:t>
                </a:r>
                <a:r>
                  <a:rPr lang="en-US" dirty="0" err="1"/>
                  <a:t>acuerdo</a:t>
                </a:r>
                <a:r>
                  <a:rPr lang="en-US" dirty="0"/>
                  <a:t> a Kutner et al. (2013), un </a:t>
                </a:r>
                <a:r>
                  <a:rPr lang="en-US" dirty="0" err="1"/>
                  <a:t>modelo</a:t>
                </a:r>
                <a:r>
                  <a:rPr lang="en-US" dirty="0"/>
                  <a:t> de </a:t>
                </a:r>
                <a:r>
                  <a:rPr lang="en-US" dirty="0" err="1"/>
                  <a:t>regresión</a:t>
                </a:r>
                <a:r>
                  <a:rPr lang="en-US" dirty="0"/>
                  <a:t> lineal </a:t>
                </a:r>
                <a:r>
                  <a:rPr lang="en-US" dirty="0" err="1"/>
                  <a:t>expresa</a:t>
                </a:r>
                <a:r>
                  <a:rPr lang="en-US" dirty="0"/>
                  <a:t> dos </a:t>
                </a:r>
                <a:r>
                  <a:rPr lang="en-US" dirty="0" err="1"/>
                  <a:t>ingredientes</a:t>
                </a:r>
                <a:r>
                  <a:rPr lang="en-US" dirty="0"/>
                  <a:t> </a:t>
                </a:r>
                <a:r>
                  <a:rPr lang="en-US" dirty="0" err="1"/>
                  <a:t>fundamentales</a:t>
                </a:r>
                <a:r>
                  <a:rPr lang="en-US" dirty="0"/>
                  <a:t> de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relación</a:t>
                </a:r>
                <a:r>
                  <a:rPr lang="en-US" dirty="0"/>
                  <a:t> </a:t>
                </a:r>
                <a:r>
                  <a:rPr lang="en-US" dirty="0" err="1"/>
                  <a:t>estadística</a:t>
                </a:r>
                <a:r>
                  <a:rPr lang="en-US" dirty="0"/>
                  <a:t>: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Una </a:t>
                </a:r>
                <a:r>
                  <a:rPr lang="en-US" dirty="0" err="1"/>
                  <a:t>tendencia</a:t>
                </a:r>
                <a:r>
                  <a:rPr lang="en-US" dirty="0"/>
                  <a:t> de la variable </a:t>
                </a:r>
                <a:r>
                  <a:rPr lang="en-US" dirty="0" err="1"/>
                  <a:t>respuesta</a:t>
                </a:r>
                <a:r>
                  <a:rPr lang="en-US" dirty="0"/>
                  <a:t> Y a </a:t>
                </a:r>
                <a:r>
                  <a:rPr lang="en-US" dirty="0" err="1"/>
                  <a:t>variar</a:t>
                </a:r>
                <a:r>
                  <a:rPr lang="en-US" dirty="0"/>
                  <a:t> con la variable </a:t>
                </a:r>
                <a:r>
                  <a:rPr lang="en-US" dirty="0" err="1"/>
                  <a:t>predictora</a:t>
                </a:r>
                <a:r>
                  <a:rPr lang="en-US" dirty="0"/>
                  <a:t> X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forma </a:t>
                </a:r>
                <a:r>
                  <a:rPr lang="en-US" dirty="0" err="1"/>
                  <a:t>sistemática</a:t>
                </a:r>
                <a:r>
                  <a:rPr lang="en-US" dirty="0"/>
                  <a:t>. 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Una </a:t>
                </a:r>
                <a:r>
                  <a:rPr lang="en-US" dirty="0" err="1"/>
                  <a:t>dispersión</a:t>
                </a:r>
                <a:r>
                  <a:rPr lang="en-US" dirty="0"/>
                  <a:t> de puntos </a:t>
                </a:r>
                <a:r>
                  <a:rPr lang="en-US" dirty="0" err="1"/>
                  <a:t>alrededor</a:t>
                </a:r>
                <a:r>
                  <a:rPr lang="en-US" dirty="0"/>
                  <a:t> de </a:t>
                </a:r>
                <a:r>
                  <a:rPr lang="en-US" dirty="0" err="1"/>
                  <a:t>una</a:t>
                </a:r>
                <a:r>
                  <a:rPr lang="en-US" dirty="0"/>
                  <a:t> curva que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relación</a:t>
                </a:r>
                <a:r>
                  <a:rPr lang="en-US" dirty="0"/>
                  <a:t> </a:t>
                </a:r>
                <a:r>
                  <a:rPr lang="en-US" dirty="0" err="1"/>
                  <a:t>estadística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Por </a:t>
                </a:r>
                <a:r>
                  <a:rPr lang="en-US" dirty="0" err="1"/>
                  <a:t>esta</a:t>
                </a:r>
                <a:r>
                  <a:rPr lang="en-US" dirty="0"/>
                  <a:t> </a:t>
                </a:r>
                <a:r>
                  <a:rPr lang="en-US" dirty="0" err="1"/>
                  <a:t>razón</a:t>
                </a:r>
                <a:r>
                  <a:rPr lang="en-US" dirty="0"/>
                  <a:t>, se dice que un </a:t>
                </a:r>
                <a:r>
                  <a:rPr lang="en-US" dirty="0" err="1"/>
                  <a:t>modelo</a:t>
                </a:r>
                <a:r>
                  <a:rPr lang="en-US" dirty="0"/>
                  <a:t> de </a:t>
                </a:r>
                <a:r>
                  <a:rPr lang="en-US" dirty="0" err="1"/>
                  <a:t>regresión</a:t>
                </a:r>
                <a:r>
                  <a:rPr lang="en-US" dirty="0"/>
                  <a:t> lineal simple es:</a:t>
                </a:r>
              </a:p>
              <a:p>
                <a:pPr algn="ctr"/>
                <a:endParaRPr lang="en-US" sz="28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SV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SV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SV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SV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A502E6-BB33-B6AA-9918-FE9FE8242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50" y="2009918"/>
                <a:ext cx="9899780" cy="2893100"/>
              </a:xfrm>
              <a:prstGeom prst="rect">
                <a:avLst/>
              </a:prstGeom>
              <a:blipFill>
                <a:blip r:embed="rId2"/>
                <a:stretch>
                  <a:fillRect l="-493" t="-1266" b="-5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C09846-1A3B-8730-ADDF-13E20DA0A5A4}"/>
              </a:ext>
            </a:extLst>
          </p:cNvPr>
          <p:cNvCxnSpPr/>
          <p:nvPr/>
        </p:nvCxnSpPr>
        <p:spPr>
          <a:xfrm flipV="1">
            <a:off x="3480318" y="4903018"/>
            <a:ext cx="457200" cy="518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6D14C0-7D53-6A4D-9283-B4804125BD51}"/>
              </a:ext>
            </a:extLst>
          </p:cNvPr>
          <p:cNvSpPr txBox="1"/>
          <p:nvPr/>
        </p:nvSpPr>
        <p:spPr>
          <a:xfrm>
            <a:off x="1371599" y="5621475"/>
            <a:ext cx="303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Valor de la variable </a:t>
            </a:r>
            <a:r>
              <a:rPr lang="en-US" dirty="0" err="1"/>
              <a:t>respuesta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8F46F8-A345-1927-3F49-75CE8FE07D94}"/>
              </a:ext>
            </a:extLst>
          </p:cNvPr>
          <p:cNvCxnSpPr>
            <a:cxnSpLocks/>
          </p:cNvCxnSpPr>
          <p:nvPr/>
        </p:nvCxnSpPr>
        <p:spPr>
          <a:xfrm flipH="1" flipV="1">
            <a:off x="4823927" y="4903018"/>
            <a:ext cx="317240" cy="718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75F739-EB0B-433B-615F-87ED5F91A897}"/>
              </a:ext>
            </a:extLst>
          </p:cNvPr>
          <p:cNvCxnSpPr>
            <a:cxnSpLocks/>
          </p:cNvCxnSpPr>
          <p:nvPr/>
        </p:nvCxnSpPr>
        <p:spPr>
          <a:xfrm flipV="1">
            <a:off x="5186745" y="4903018"/>
            <a:ext cx="374300" cy="718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355A0F-2B9E-CA5E-3F19-915C940FC5CA}"/>
              </a:ext>
            </a:extLst>
          </p:cNvPr>
          <p:cNvSpPr txBox="1"/>
          <p:nvPr/>
        </p:nvSpPr>
        <p:spPr>
          <a:xfrm>
            <a:off x="4404049" y="5621475"/>
            <a:ext cx="137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Parámetros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D9C5E-B451-48BE-12A1-9DCEF0795C80}"/>
              </a:ext>
            </a:extLst>
          </p:cNvPr>
          <p:cNvCxnSpPr>
            <a:cxnSpLocks/>
          </p:cNvCxnSpPr>
          <p:nvPr/>
        </p:nvCxnSpPr>
        <p:spPr>
          <a:xfrm flipH="1" flipV="1">
            <a:off x="6027576" y="4903018"/>
            <a:ext cx="388778" cy="1021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66BAF03-3582-2CE7-CF69-4A26686F29D3}"/>
              </a:ext>
            </a:extLst>
          </p:cNvPr>
          <p:cNvSpPr txBox="1"/>
          <p:nvPr/>
        </p:nvSpPr>
        <p:spPr>
          <a:xfrm>
            <a:off x="6221964" y="5943600"/>
            <a:ext cx="4023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Constante</a:t>
            </a:r>
            <a:r>
              <a:rPr lang="en-US" dirty="0"/>
              <a:t> </a:t>
            </a:r>
            <a:r>
              <a:rPr lang="en-US" dirty="0" err="1"/>
              <a:t>conocida</a:t>
            </a:r>
            <a:r>
              <a:rPr lang="en-US" dirty="0"/>
              <a:t>. Variable </a:t>
            </a:r>
            <a:r>
              <a:rPr lang="en-US" dirty="0" err="1"/>
              <a:t>predictora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B82B06-2345-EEFD-A8F6-7530EC40831F}"/>
              </a:ext>
            </a:extLst>
          </p:cNvPr>
          <p:cNvCxnSpPr>
            <a:cxnSpLocks/>
          </p:cNvCxnSpPr>
          <p:nvPr/>
        </p:nvCxnSpPr>
        <p:spPr>
          <a:xfrm flipH="1">
            <a:off x="7050835" y="4478694"/>
            <a:ext cx="1533328" cy="185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78416D4-94E4-540C-9457-E3BE9B610293}"/>
              </a:ext>
            </a:extLst>
          </p:cNvPr>
          <p:cNvSpPr txBox="1"/>
          <p:nvPr/>
        </p:nvSpPr>
        <p:spPr>
          <a:xfrm>
            <a:off x="8621486" y="3909527"/>
            <a:ext cx="3111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Error aleatorio. Estos están </a:t>
            </a:r>
            <a:r>
              <a:rPr lang="es-SV" b="1" dirty="0">
                <a:solidFill>
                  <a:srgbClr val="FF0000"/>
                </a:solidFill>
              </a:rPr>
              <a:t>distribuidos normalmente</a:t>
            </a:r>
            <a:r>
              <a:rPr lang="es-SV" dirty="0"/>
              <a:t>, </a:t>
            </a:r>
            <a:r>
              <a:rPr lang="es-SV" b="1" dirty="0">
                <a:solidFill>
                  <a:srgbClr val="FF0000"/>
                </a:solidFill>
              </a:rPr>
              <a:t>son independientes entre si y su varianza es constante.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12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Estimación y Mínimos Cuadrados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A502E6-BB33-B6AA-9918-FE9FE8242F83}"/>
                  </a:ext>
                </a:extLst>
              </p:cNvPr>
              <p:cNvSpPr txBox="1"/>
              <p:nvPr/>
            </p:nvSpPr>
            <p:spPr>
              <a:xfrm>
                <a:off x="459350" y="2009918"/>
                <a:ext cx="9899780" cy="1242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Existe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ecuación</a:t>
                </a:r>
                <a:r>
                  <a:rPr lang="en-US" dirty="0"/>
                  <a:t> que </a:t>
                </a:r>
                <a:r>
                  <a:rPr lang="en-US" dirty="0" err="1"/>
                  <a:t>estima</a:t>
                </a:r>
                <a:r>
                  <a:rPr lang="en-US" dirty="0"/>
                  <a:t> a la </a:t>
                </a:r>
                <a:r>
                  <a:rPr lang="en-US" dirty="0" err="1"/>
                  <a:t>ecuación</a:t>
                </a:r>
                <a:r>
                  <a:rPr lang="en-US" dirty="0"/>
                  <a:t> </a:t>
                </a:r>
                <a:r>
                  <a:rPr lang="en-US" dirty="0" err="1"/>
                  <a:t>madre</a:t>
                </a:r>
                <a:r>
                  <a:rPr lang="en-US" dirty="0"/>
                  <a:t>:</a:t>
                </a:r>
              </a:p>
              <a:p>
                <a:pPr algn="ctr"/>
                <a:endParaRPr lang="en-US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SV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SV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SV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SV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SV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A502E6-BB33-B6AA-9918-FE9FE8242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50" y="2009918"/>
                <a:ext cx="9899780" cy="1242648"/>
              </a:xfrm>
              <a:prstGeom prst="rect">
                <a:avLst/>
              </a:prstGeom>
              <a:blipFill>
                <a:blip r:embed="rId2"/>
                <a:stretch>
                  <a:fillRect l="-493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6B5341-BD2F-8E36-D25B-C2A2B4D7C0B8}"/>
                  </a:ext>
                </a:extLst>
              </p:cNvPr>
              <p:cNvSpPr txBox="1"/>
              <p:nvPr/>
            </p:nvSpPr>
            <p:spPr>
              <a:xfrm>
                <a:off x="625151" y="3825551"/>
                <a:ext cx="90600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SV" dirty="0"/>
                  <a:t>Lo que andamos buscando es minimizar el error que exista entre ambas, es decir:</a:t>
                </a:r>
              </a:p>
              <a:p>
                <a:endParaRPr lang="es-SV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𝑂𝑏𝑠𝑒𝑟𝑣𝑎𝑑</m:t>
                      </m:r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𝑃𝑟𝑒𝑑𝑒𝑐𝑖𝑑</m:t>
                      </m:r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6B5341-BD2F-8E36-D25B-C2A2B4D7C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51" y="3825551"/>
                <a:ext cx="9060025" cy="923330"/>
              </a:xfrm>
              <a:prstGeom prst="rect">
                <a:avLst/>
              </a:prstGeom>
              <a:blipFill>
                <a:blip r:embed="rId3"/>
                <a:stretch>
                  <a:fillRect l="-606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04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Introducción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3982" y="1590741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algn="just"/>
                <a:r>
                  <a:rPr lang="en-US" sz="2000" b="1" i="1" dirty="0"/>
                  <a:t>Teorema del </a:t>
                </a:r>
                <a:r>
                  <a:rPr lang="en-US" sz="2000" b="1" i="1" dirty="0" err="1"/>
                  <a:t>Límite</a:t>
                </a:r>
                <a:r>
                  <a:rPr lang="en-US" sz="2000" b="1" i="1" dirty="0"/>
                  <a:t> Central</a:t>
                </a:r>
                <a:endParaRPr lang="es-SV" sz="2000" i="1" dirty="0"/>
              </a:p>
              <a:p>
                <a:pPr marL="0" indent="0" algn="just">
                  <a:buNone/>
                </a:pPr>
                <a:r>
                  <a:rPr lang="es-ES" sz="2000" i="1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SV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SV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SV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" sz="2000" i="1" dirty="0"/>
                  <a:t> una muestra aleatoria de una población con media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sz="2000" i="1" dirty="0"/>
                  <a:t> y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i="1" dirty="0"/>
                  <a:t>. Las n variables aleatorias son independientes y con la misma distribución (</a:t>
                </a:r>
                <a:r>
                  <a:rPr lang="es-ES" sz="2000" i="1" dirty="0" err="1"/>
                  <a:t>iid</a:t>
                </a:r>
                <a:r>
                  <a:rPr lang="es-ES" sz="2000" i="1" dirty="0"/>
                  <a:t> = </a:t>
                </a:r>
                <a:r>
                  <a:rPr lang="es-ES" sz="2000" i="1" dirty="0" err="1"/>
                  <a:t>independent</a:t>
                </a:r>
                <a:r>
                  <a:rPr lang="es-ES" sz="2000" i="1" dirty="0"/>
                  <a:t> and </a:t>
                </a:r>
                <a:r>
                  <a:rPr lang="es-ES" sz="2000" i="1" dirty="0" err="1"/>
                  <a:t>indentical</a:t>
                </a:r>
                <a:r>
                  <a:rPr lang="es-ES" sz="2000" i="1" dirty="0"/>
                  <a:t> </a:t>
                </a:r>
                <a:r>
                  <a:rPr lang="es-ES" sz="2000" i="1" dirty="0" err="1"/>
                  <a:t>distributed</a:t>
                </a:r>
                <a:r>
                  <a:rPr lang="es-ES" sz="2000" i="1" dirty="0"/>
                  <a:t>), esto quiere decir que tienen la misma media y varianza. Por tanto, la media muestral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" sz="2000" i="1" dirty="0"/>
                  <a:t> tiene una distribución (aprox.) normal con media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" sz="2000" i="1" dirty="0"/>
                  <a:t> y varianza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ES" sz="2000" i="1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D62982-4107-D75F-CB7C-97EE84C54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3982" y="1590741"/>
                <a:ext cx="9724031" cy="3950727"/>
              </a:xfrm>
              <a:blipFill>
                <a:blip r:embed="rId2"/>
                <a:stretch>
                  <a:fillRect l="-627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485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4127</TotalTime>
  <Words>752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Wingdings</vt:lpstr>
      <vt:lpstr>Office Theme</vt:lpstr>
      <vt:lpstr>Regresión Lineal</vt:lpstr>
      <vt:lpstr>¿Qué podré responder?</vt:lpstr>
      <vt:lpstr>Introducción</vt:lpstr>
      <vt:lpstr>Variables continuas y discretas</vt:lpstr>
      <vt:lpstr>Introducción</vt:lpstr>
      <vt:lpstr>Introducción</vt:lpstr>
      <vt:lpstr>Introducción</vt:lpstr>
      <vt:lpstr>Introducción</vt:lpstr>
      <vt:lpstr>Introducción</vt:lpstr>
      <vt:lpstr>Introducción</vt:lpstr>
      <vt:lpstr>Introducción</vt:lpstr>
      <vt:lpstr>Introducción</vt:lpstr>
      <vt:lpstr>Nomenclatura</vt:lpstr>
      <vt:lpstr>Regresión Lineal</vt:lpstr>
      <vt:lpstr>Estimación y Mínimos Cuadrados</vt:lpstr>
      <vt:lpstr>Introducción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2024-08-28T23:47:28Z</dcterms:modified>
</cp:coreProperties>
</file>