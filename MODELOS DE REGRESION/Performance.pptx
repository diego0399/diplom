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283"/>
      </p:cViewPr>
      <p:guideLst>
        <p:guide orient="horz" pos="388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E2EAFC7-41C7-C2E3-77DF-58E70D0265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109075-D48F-BDC8-525B-34B8E6C9811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8DEE-E77F-4EEF-8751-05F6D319EB3C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08D36-AE77-5D5D-9167-0099D8B7AA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C11B1-7544-26CD-3BF4-B7553FA462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30410-5D39-434D-B4D5-3A7BD264C3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9488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55990D-907B-425F-9819-FDEE716732E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Version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3F0C1-2670-4899-8AC7-CECC1AAD7A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5524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DE16B-80D3-4092-B1C2-C12A08564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6AFAA1-3753-553F-CF11-8378ADB06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5B820-F300-0598-F438-109785E1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43D4-B25F-2511-FCC8-B64B0708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D4053-4DCE-9265-238A-5D7A0EC03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008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89C7-F0F4-667B-91E2-0414C42D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320D5-C55F-AAF9-4E7E-5D1C3870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1F203-388B-9176-D887-1520088B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A27F-69CE-C9A6-C25E-C3591E065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652A9-0818-8EE5-62AA-14540C78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4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C6FE-6B3B-6041-2D08-128834F5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6B763-E626-1436-AE40-7DB1931AA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45F15-5DD1-C589-F1E5-01EEE324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E885A-7EDF-BFFA-C598-EA6273D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4FFD8-5F61-9FFC-E2BF-31C6BE10F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87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DB2F3-C8B9-73B4-E5D8-58E9047F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57069-C704-AA4B-983F-CA67A4E6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3AD45-2782-7AD3-EF07-7EB8ECC7D1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A21CB-6E3B-3F5D-22B7-8223B0EDD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F8063-6C2C-0E96-1C1C-CA47A9D0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8053A-518A-E8AB-7D49-4AB0AD2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714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ACE8A-8CD6-6E81-0BB0-BB544C770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FE906-9AA3-62CA-B0C9-6D905116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739E9C-6B16-4055-4776-DB1630454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70385E-653C-7F73-A37E-3BB58FD0D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C4AE7-D1ED-743C-4D24-916F5F7D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C274F-9C5B-6517-0889-991793F51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6F1279-8029-C337-1B5F-E67A3091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B644E-A32A-AC89-FDC3-EACFA0377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9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97AA-E0B6-093C-25BA-1136157F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1D4E01-8065-D6BD-27E0-51420407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496A-664A-1761-92E6-C0370703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A3D99-1504-2CAA-AC11-C3114E2C0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75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53407-BDDA-5B3D-E5EC-B8FA5E5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7C32-5D43-0432-E970-A25513ECA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6368F-85BF-387A-E759-0DB053D03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27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8408E-30C6-2F3C-1E48-41521CBA7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587F1-27A6-615A-A1E8-D95D08E1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DA36A-34A4-518F-F85F-BF9632186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B1D15-08C5-5C08-3D79-F04449807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E644A-2A9E-C1F5-E7A0-2546EC33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DAB4C-98E3-BDF4-5B60-23888A429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78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3AC4-07CE-D397-46F2-F2C350909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F1159-24D7-9800-96A1-A2BF83B309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829C9-8705-1D5D-DDDF-175B75AC83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DBB-8A2E-8708-281E-86BEB1AE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61B2D1-EDAB-AD0E-7DAF-8AA99E669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C3E8-DBCE-C3A0-E072-20B6D09B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951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05002-5B20-2857-931E-6C9880B7D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E0F05-413F-9CC5-855E-3DDD45104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D786A-681D-F1DF-6D37-6899466B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D7DFD-215F-1F85-56CF-D4956CA78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DFD87-F400-F4C9-7FC8-824C8B65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BBD9A1-DF23-168B-6D7F-1689E8D76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7FE53-1186-BCA2-BB78-059544117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598B3-498D-1B49-5030-4A6A026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1727B-6030-39B4-1A0F-BF7F304F7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F950-F668-B371-2619-2B453A65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70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F2EA3-323A-90E0-ABB4-872172A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2A9587-5E9A-0658-CEB4-7C73B2834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81748-56D7-D837-B64C-2921E477E0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AD783-B2CD-4F08-BA7D-EA7386EB7307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DD560-A321-A30D-FA2E-A0C577845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F758D-F90E-642E-DBD5-E44EEF936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D1199-1FC2-40A9-A9B6-E8747E64A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2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9015D2-38B4-5E4E-16DE-825524BCB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s-SV" dirty="0">
                <a:solidFill>
                  <a:srgbClr val="FFFFFF"/>
                </a:solidFill>
              </a:rPr>
              <a:t>Performance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7C3FA-3E97-59DC-975E-158BB85F62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60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05015-20EE-35FE-01D6-B865C6688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SV" sz="4800" dirty="0">
                <a:solidFill>
                  <a:srgbClr val="FFFFFF"/>
                </a:solidFill>
              </a:rPr>
              <a:t>Parámetros</a:t>
            </a:r>
            <a:endParaRPr lang="en-US" sz="48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</p:spPr>
            <p:txBody>
              <a:bodyPr anchor="ctr">
                <a:normAutofit fontScale="92500" lnSpcReduction="20000"/>
              </a:bodyPr>
              <a:lstStyle/>
              <a:p>
                <a:pPr marL="0" indent="0" algn="just">
                  <a:buNone/>
                </a:pPr>
                <a:r>
                  <a:rPr lang="es-SV" sz="2000" dirty="0"/>
                  <a:t>Dentro de los parámetros para identificar si un modelo está haciendo “bien” su trabajo, tenemos:</a:t>
                </a:r>
              </a:p>
              <a:p>
                <a:pPr algn="just"/>
                <a:r>
                  <a:rPr lang="es-SV" sz="2000" b="1" dirty="0"/>
                  <a:t>R cuadrado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SV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SV" sz="20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s-SV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sz="2000" b="1" dirty="0"/>
                  <a:t>): </a:t>
                </a:r>
                <a:r>
                  <a:rPr lang="es-ES" sz="2000" dirty="0"/>
                  <a:t>mide el porcentaje de aciertos que mis </a:t>
                </a:r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sz="2000" dirty="0"/>
                  <a:t> fueron capaz de simular a mi variable respuesta </a:t>
                </a:r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sz="2000" b="1" dirty="0"/>
                  <a:t>.</a:t>
                </a:r>
              </a:p>
              <a:p>
                <a:pPr algn="just"/>
                <a:r>
                  <a:rPr lang="es-ES" sz="2000" b="1" dirty="0"/>
                  <a:t>R cuadrado ajustado: </a:t>
                </a:r>
                <a:r>
                  <a:rPr lang="es-ES" sz="2000" dirty="0"/>
                  <a:t>mide lo mismo que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s-E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s-SV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" sz="2000" b="1" dirty="0"/>
                  <a:t>, </a:t>
                </a:r>
                <a:r>
                  <a:rPr lang="es-ES" sz="2000" dirty="0"/>
                  <a:t>considerando una penalización por uso de más variables para predecir el modelo.</a:t>
                </a:r>
              </a:p>
              <a:p>
                <a:pPr algn="just"/>
                <a:r>
                  <a:rPr lang="es-ES" sz="2000" b="1" dirty="0"/>
                  <a:t>MSE (Mean </a:t>
                </a:r>
                <a:r>
                  <a:rPr lang="es-ES" sz="2000" b="1" dirty="0" err="1"/>
                  <a:t>Squared</a:t>
                </a:r>
                <a:r>
                  <a:rPr lang="es-ES" sz="2000" b="1" dirty="0"/>
                  <a:t> Error): </a:t>
                </a:r>
                <a:r>
                  <a:rPr lang="es-ES" sz="2000" dirty="0"/>
                  <a:t>mide el error cuadrado medio del modelo vs los valores observados. Se mide en unidades cuadradas y tienda a penalizar más los errores grandes.</a:t>
                </a:r>
              </a:p>
              <a:p>
                <a:pPr algn="just"/>
                <a:r>
                  <a:rPr lang="es-ES" sz="2000" b="1" dirty="0"/>
                  <a:t>RMSE (</a:t>
                </a:r>
                <a:r>
                  <a:rPr lang="es-ES" sz="2000" b="1" dirty="0" err="1"/>
                  <a:t>Root</a:t>
                </a:r>
                <a:r>
                  <a:rPr lang="es-ES" sz="2000" b="1" dirty="0"/>
                  <a:t> Mean </a:t>
                </a:r>
                <a:r>
                  <a:rPr lang="es-ES" sz="2000" b="1" dirty="0" err="1"/>
                  <a:t>Squared</a:t>
                </a:r>
                <a:r>
                  <a:rPr lang="es-ES" sz="2000" b="1" dirty="0"/>
                  <a:t> Error): </a:t>
                </a:r>
                <a:r>
                  <a:rPr lang="es-ES" sz="2000" dirty="0"/>
                  <a:t>mide lo mismo que el MSE con la diferencia que su resultado </a:t>
                </a:r>
                <a:r>
                  <a:rPr lang="es-ES" sz="2000" dirty="0" err="1"/>
                  <a:t>est</a:t>
                </a:r>
                <a:r>
                  <a:rPr lang="es-SV" sz="2000" dirty="0"/>
                  <a:t>á en las mismas unidades que </a:t>
                </a:r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sz="1200" b="1" dirty="0"/>
                  <a:t>.</a:t>
                </a:r>
              </a:p>
              <a:p>
                <a:pPr algn="just"/>
                <a:r>
                  <a:rPr lang="es-ES" sz="2000" b="1" dirty="0"/>
                  <a:t>MAE (Mean Absolute Error): </a:t>
                </a:r>
                <a:r>
                  <a:rPr lang="es-ES" sz="2000" dirty="0"/>
                  <a:t>calcula el error absoluto medio, es decir que les da el mismo peso a los errores (lineal). Tiene como ventaja estar en las mismas unidades que </a:t>
                </a:r>
                <a14:m>
                  <m:oMath xmlns:m="http://schemas.openxmlformats.org/officeDocument/2006/math">
                    <m:r>
                      <a:rPr lang="es-SV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s-ES" sz="2000" dirty="0"/>
                  <a:t>.</a:t>
                </a:r>
              </a:p>
              <a:p>
                <a:pPr algn="just"/>
                <a:r>
                  <a:rPr lang="es-ES" sz="2000" b="1" dirty="0"/>
                  <a:t>Robustez</a:t>
                </a:r>
                <a:r>
                  <a:rPr lang="en-US" sz="2000" b="1" dirty="0"/>
                  <a:t>/</a:t>
                </a:r>
                <a:r>
                  <a:rPr lang="en-US" sz="2000" b="1" dirty="0" err="1"/>
                  <a:t>Complejidad</a:t>
                </a:r>
                <a:r>
                  <a:rPr lang="en-US" sz="2000" b="1" dirty="0"/>
                  <a:t> del </a:t>
                </a:r>
                <a:r>
                  <a:rPr lang="en-US" sz="2000" b="1" dirty="0" err="1"/>
                  <a:t>modelo</a:t>
                </a:r>
                <a:r>
                  <a:rPr lang="en-US" sz="2000" b="1" dirty="0"/>
                  <a:t>: </a:t>
                </a:r>
                <a:r>
                  <a:rPr lang="en-US" sz="2000" dirty="0"/>
                  <a:t>se </a:t>
                </a:r>
                <a:r>
                  <a:rPr lang="en-US" sz="2000" dirty="0" err="1"/>
                  <a:t>refiere</a:t>
                </a:r>
                <a:r>
                  <a:rPr lang="en-US" sz="2000" dirty="0"/>
                  <a:t> a la </a:t>
                </a:r>
                <a:r>
                  <a:rPr lang="en-US" sz="2000" dirty="0" err="1"/>
                  <a:t>cantidad</a:t>
                </a:r>
                <a:r>
                  <a:rPr lang="en-US" sz="2000" dirty="0"/>
                  <a:t> de variables </a:t>
                </a:r>
                <a:r>
                  <a:rPr lang="en-US" sz="2000" dirty="0" err="1"/>
                  <a:t>independientes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que</a:t>
                </a:r>
                <a:r>
                  <a:rPr lang="en-US" sz="2000" dirty="0"/>
                  <a:t> </a:t>
                </a:r>
                <a:r>
                  <a:rPr lang="en-US" sz="2000" dirty="0" err="1"/>
                  <a:t>estamos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usando</a:t>
                </a:r>
                <a:r>
                  <a:rPr lang="en-US" sz="2000" dirty="0"/>
                  <a:t> para </a:t>
                </a:r>
                <a:r>
                  <a:rPr lang="en-US" sz="2000" dirty="0" err="1"/>
                  <a:t>nuestro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modelo</a:t>
                </a:r>
                <a:r>
                  <a:rPr lang="en-US" sz="2000" dirty="0"/>
                  <a:t>. Entre </a:t>
                </a:r>
                <a:r>
                  <a:rPr lang="en-US" sz="2000" dirty="0" err="1"/>
                  <a:t>más</a:t>
                </a:r>
                <a:r>
                  <a:rPr lang="en-US" sz="2000" dirty="0"/>
                  <a:t> se </a:t>
                </a:r>
                <a:r>
                  <a:rPr lang="en-US" sz="2000" dirty="0" err="1"/>
                  <a:t>ocupan</a:t>
                </a:r>
                <a:r>
                  <a:rPr lang="en-US" sz="2000" dirty="0"/>
                  <a:t>, </a:t>
                </a:r>
                <a:r>
                  <a:rPr lang="en-US" sz="2000" dirty="0" err="1"/>
                  <a:t>más</a:t>
                </a:r>
                <a:r>
                  <a:rPr lang="en-US" sz="2000" dirty="0"/>
                  <a:t> </a:t>
                </a:r>
                <a:r>
                  <a:rPr lang="en-US" sz="2000" dirty="0" err="1"/>
                  <a:t>robusto</a:t>
                </a:r>
                <a:r>
                  <a:rPr lang="en-US" sz="2000" dirty="0"/>
                  <a:t> es </a:t>
                </a:r>
                <a:r>
                  <a:rPr lang="en-US" sz="2000" dirty="0" err="1"/>
                  <a:t>nuestro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modelo</a:t>
                </a:r>
                <a:r>
                  <a:rPr lang="en-US" sz="2000" dirty="0"/>
                  <a:t>. </a:t>
                </a:r>
              </a:p>
              <a:p>
                <a:pPr algn="just"/>
                <a:r>
                  <a:rPr lang="en-US" sz="2000" b="1" dirty="0" err="1"/>
                  <a:t>Recursos</a:t>
                </a:r>
                <a:r>
                  <a:rPr lang="en-US" sz="2000" b="1" dirty="0"/>
                  <a:t>: </a:t>
                </a:r>
                <a:r>
                  <a:rPr lang="en-US" sz="2000" dirty="0" err="1"/>
                  <a:t>responde</a:t>
                </a:r>
                <a:r>
                  <a:rPr lang="en-US" sz="2000" dirty="0"/>
                  <a:t> la </a:t>
                </a:r>
                <a:r>
                  <a:rPr lang="en-US" sz="2000" dirty="0" err="1"/>
                  <a:t>pregunta</a:t>
                </a:r>
                <a:r>
                  <a:rPr lang="en-US" sz="2000" dirty="0"/>
                  <a:t>: </a:t>
                </a:r>
                <a:r>
                  <a:rPr lang="es-SV" sz="2000" dirty="0"/>
                  <a:t>¿Cuántos recursos utiliza mi modelo para poderse calcular?</a:t>
                </a:r>
                <a:endParaRPr lang="es-ES" sz="2000" b="1" dirty="0"/>
              </a:p>
              <a:p>
                <a:pPr algn="just"/>
                <a:endParaRPr lang="es-ES" sz="2000" dirty="0"/>
              </a:p>
              <a:p>
                <a:pPr marL="0" indent="0" algn="just">
                  <a:buNone/>
                </a:pPr>
                <a:endParaRPr lang="es-ES" sz="2000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D8EAC6-B22C-71F3-4A0A-C98523B1A8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6"/>
                <a:ext cx="9724031" cy="3950727"/>
              </a:xfrm>
              <a:blipFill>
                <a:blip r:embed="rId2"/>
                <a:stretch>
                  <a:fillRect l="-564" t="-9414" r="-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70341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10940</TotalTime>
  <Words>212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Performance</vt:lpstr>
      <vt:lpstr>Parámetros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SQL</dc:title>
  <dc:creator>Christian Villanueva</dc:creator>
  <cp:lastModifiedBy>Christian Villanueva</cp:lastModifiedBy>
  <cp:revision>3</cp:revision>
  <dcterms:created xsi:type="dcterms:W3CDTF">2023-06-19T22:41:02Z</dcterms:created>
  <dcterms:modified xsi:type="dcterms:W3CDTF">2026-02-18T23:47:48Z</dcterms:modified>
</cp:coreProperties>
</file>